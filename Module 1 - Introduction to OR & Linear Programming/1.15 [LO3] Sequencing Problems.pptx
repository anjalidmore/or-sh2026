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sldIdLst>
    <p:sldId id="256" r:id="rId5"/>
    <p:sldId id="270" r:id="rId6"/>
    <p:sldId id="284" r:id="rId7"/>
    <p:sldId id="257" r:id="rId8"/>
    <p:sldId id="258" r:id="rId9"/>
    <p:sldId id="259" r:id="rId10"/>
    <p:sldId id="260" r:id="rId11"/>
    <p:sldId id="261" r:id="rId12"/>
    <p:sldId id="262" r:id="rId13"/>
    <p:sldId id="263" r:id="rId14"/>
    <p:sldId id="264" r:id="rId15"/>
    <p:sldId id="285" r:id="rId16"/>
    <p:sldId id="265" r:id="rId17"/>
    <p:sldId id="266" r:id="rId18"/>
    <p:sldId id="267" r:id="rId19"/>
    <p:sldId id="272" r:id="rId20"/>
    <p:sldId id="273" r:id="rId21"/>
    <p:sldId id="281" r:id="rId22"/>
    <p:sldId id="282" r:id="rId23"/>
    <p:sldId id="274" r:id="rId24"/>
    <p:sldId id="269" r:id="rId25"/>
    <p:sldId id="275" r:id="rId26"/>
    <p:sldId id="283" r:id="rId27"/>
    <p:sldId id="276" r:id="rId28"/>
    <p:sldId id="277" r:id="rId29"/>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7AE4D2-C195-9E49-320D-E17A3AF0E5C8}" v="37" dt="2020-09-02T14:52:53.388"/>
    <p1510:client id="{5DE65A77-D4B0-B31B-7F8C-A122CCB85264}" v="71" dt="2020-09-02T13:21:28.234"/>
    <p1510:client id="{7F2C4F62-9434-CE12-411C-CE6A05486F92}" v="2" dt="2020-08-30T17:52:09.500"/>
    <p1510:client id="{E4D752AB-CDD7-4F8B-977D-EAC5839F4F7E}" v="429" dt="2020-08-19T14:56:20.083"/>
    <p1510:client id="{EA160D9E-C42F-E591-0BBA-9D5838921200}" v="924" dt="2020-09-02T17:01:09.4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74" d="100"/>
          <a:sy n="74" d="100"/>
        </p:scale>
        <p:origin x="-378"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23/08/2024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23/08/2024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23/08/2024</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23/08/2024</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23/08/2024</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23/08/2024</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23/08/2024</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GB" smtClean="0"/>
              <a:t>23/08/2024</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shodhganga.inflibnet.ac.in/bitstream/10603/11070/6/06_chapter2.pdf" TargetMode="External"/><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hyperlink" Target="http://ecoursesonline.iasri.res.in/mod/resource/view.php?id=90031" TargetMode="External"/><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print-graph-paper.com/virtual-graph-paper" TargetMode="External"/><Relationship Id="rId2" Type="http://schemas.openxmlformats.org/officeDocument/2006/relationships/image" Target="../media/image2.emf"/><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00995"/>
            <a:ext cx="9144000" cy="2387600"/>
          </a:xfrm>
        </p:spPr>
        <p:txBody>
          <a:bodyPr/>
          <a:lstStyle/>
          <a:p>
            <a:r>
              <a:rPr lang="en-GB" dirty="0">
                <a:ea typeface="+mj-lt"/>
                <a:cs typeface="+mj-lt"/>
              </a:rPr>
              <a:t>SEQUENCING PROBLEMS</a:t>
            </a:r>
            <a:endParaRPr lang="en-US" dirty="0"/>
          </a:p>
        </p:txBody>
      </p:sp>
      <p:sp>
        <p:nvSpPr>
          <p:cNvPr id="3" name="Subtitle 2"/>
          <p:cNvSpPr>
            <a:spLocks noGrp="1"/>
          </p:cNvSpPr>
          <p:nvPr>
            <p:ph type="subTitle" idx="1"/>
          </p:nvPr>
        </p:nvSpPr>
        <p:spPr>
          <a:xfrm>
            <a:off x="1653396" y="3501397"/>
            <a:ext cx="9431547" cy="1655762"/>
          </a:xfrm>
        </p:spPr>
        <p:txBody>
          <a:bodyPr vert="horz" lIns="91440" tIns="45720" rIns="91440" bIns="45720" rtlCol="0" anchor="t">
            <a:normAutofit/>
          </a:bodyPr>
          <a:lstStyle/>
          <a:p>
            <a:pPr algn="just"/>
            <a:r>
              <a:rPr lang="en-GB" sz="2800" dirty="0">
                <a:ea typeface="+mn-lt"/>
                <a:cs typeface="+mn-lt"/>
              </a:rPr>
              <a:t>Processing of n Jobs Through Two Machines and m Machines, </a:t>
            </a:r>
            <a:endParaRPr lang="en-US" sz="2800">
              <a:ea typeface="+mn-lt"/>
              <a:cs typeface="+mn-lt"/>
            </a:endParaRPr>
          </a:p>
          <a:p>
            <a:pPr algn="just"/>
            <a:r>
              <a:rPr lang="en-GB" sz="2800" dirty="0">
                <a:ea typeface="+mn-lt"/>
                <a:cs typeface="+mn-lt"/>
              </a:rPr>
              <a:t>Graphical Method of Two Jobs m Machines Problem</a:t>
            </a:r>
            <a:endParaRPr lang="en-GB" sz="2800">
              <a:cs typeface="Calibri" panose="020F0502020204030204"/>
            </a:endParaRPr>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A picture containing showing, photo&#10;&#10;Description automatically generated">
            <a:extLst>
              <a:ext uri="{FF2B5EF4-FFF2-40B4-BE49-F238E27FC236}">
                <a16:creationId xmlns="" xmlns:a16="http://schemas.microsoft.com/office/drawing/2014/main" id="{393D07ED-FC23-4584-B43C-943363AF4CA7}"/>
              </a:ext>
            </a:extLst>
          </p:cNvPr>
          <p:cNvPicPr>
            <a:picLocks noGrp="1" noChangeAspect="1"/>
          </p:cNvPicPr>
          <p:nvPr>
            <p:ph idx="1"/>
          </p:nvPr>
        </p:nvPicPr>
        <p:blipFill>
          <a:blip r:embed="rId2"/>
          <a:stretch>
            <a:fillRect/>
          </a:stretch>
        </p:blipFill>
        <p:spPr>
          <a:xfrm>
            <a:off x="561954" y="841490"/>
            <a:ext cx="11321271" cy="3799216"/>
          </a:xfrm>
        </p:spPr>
      </p:pic>
      <p:sp>
        <p:nvSpPr>
          <p:cNvPr id="2" name="TextBox 1">
            <a:extLst>
              <a:ext uri="{FF2B5EF4-FFF2-40B4-BE49-F238E27FC236}">
                <a16:creationId xmlns="" xmlns:a16="http://schemas.microsoft.com/office/drawing/2014/main" id="{CCDB8844-F82A-4A3B-A817-54043DE298EA}"/>
              </a:ext>
            </a:extLst>
          </p:cNvPr>
          <p:cNvSpPr txBox="1"/>
          <p:nvPr/>
        </p:nvSpPr>
        <p:spPr>
          <a:xfrm>
            <a:off x="561954" y="173891"/>
            <a:ext cx="8077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dirty="0"/>
              <a:t>Processing of n Jobs Through Two Machines</a:t>
            </a:r>
            <a:r>
              <a:rPr lang="en-GB" sz="2800" b="1" dirty="0">
                <a:cs typeface="Calibri"/>
              </a:rPr>
              <a:t>​</a:t>
            </a:r>
            <a:endParaRPr lang="en-GB" sz="2800" b="1" dirty="0"/>
          </a:p>
        </p:txBody>
      </p:sp>
    </p:spTree>
    <p:extLst>
      <p:ext uri="{BB962C8B-B14F-4D97-AF65-F5344CB8AC3E}">
        <p14:creationId xmlns:p14="http://schemas.microsoft.com/office/powerpoint/2010/main" val="135938895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5070" y="717126"/>
            <a:ext cx="11722126" cy="3098698"/>
          </a:xfrm>
          <a:prstGeom prst="rect">
            <a:avLst/>
          </a:prstGeom>
        </p:spPr>
      </p:pic>
    </p:spTree>
    <p:extLst>
      <p:ext uri="{BB962C8B-B14F-4D97-AF65-F5344CB8AC3E}">
        <p14:creationId xmlns:p14="http://schemas.microsoft.com/office/powerpoint/2010/main" val="25937896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14073002-E6E0-4365-B3A7-5DFF1B3653DC}"/>
              </a:ext>
            </a:extLst>
          </p:cNvPr>
          <p:cNvSpPr>
            <a:spLocks noGrp="1"/>
          </p:cNvSpPr>
          <p:nvPr>
            <p:ph idx="1"/>
          </p:nvPr>
        </p:nvSpPr>
        <p:spPr>
          <a:xfrm>
            <a:off x="541766" y="1498345"/>
            <a:ext cx="10515600" cy="5515119"/>
          </a:xfrm>
        </p:spPr>
        <p:txBody>
          <a:bodyPr vert="horz" lIns="91440" tIns="45720" rIns="91440" bIns="45720" rtlCol="0" anchor="t">
            <a:normAutofit/>
          </a:bodyPr>
          <a:lstStyle/>
          <a:p>
            <a:pPr algn="just">
              <a:buNone/>
            </a:pPr>
            <a:r>
              <a:rPr lang="en-GB" dirty="0">
                <a:ea typeface="+mn-lt"/>
                <a:cs typeface="+mn-lt"/>
              </a:rPr>
              <a:t> Sequencing problems are quite common in real life. They arise whenever there is a choice of determining the order in which a number of jobs can be performed. These problems play a very important role in manufacturing set-ups for the optimal use of resources and/or the customer’s satisfaction. Many-a-times, manufacturing firms produce goods made up of several components, which are sourced from other manufacturing firms. The final product undergoes many processes before it is taken to the market for sale. Since several machines are used in the production process, it is important to sequence the production process optimally so that the performance measures of the firm are satisfied. </a:t>
            </a:r>
            <a:endParaRPr lang="en-US"/>
          </a:p>
        </p:txBody>
      </p:sp>
      <p:sp>
        <p:nvSpPr>
          <p:cNvPr id="2" name="TextBox 1">
            <a:extLst>
              <a:ext uri="{FF2B5EF4-FFF2-40B4-BE49-F238E27FC236}">
                <a16:creationId xmlns="" xmlns:a16="http://schemas.microsoft.com/office/drawing/2014/main" id="{DA95DEC9-D336-4EAB-AE25-67C818265FA3}"/>
              </a:ext>
            </a:extLst>
          </p:cNvPr>
          <p:cNvSpPr txBox="1"/>
          <p:nvPr/>
        </p:nvSpPr>
        <p:spPr>
          <a:xfrm>
            <a:off x="748146" y="360218"/>
            <a:ext cx="2743200"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cs typeface="Calibri"/>
              </a:rPr>
              <a:t>Introduction</a:t>
            </a:r>
          </a:p>
        </p:txBody>
      </p:sp>
    </p:spTree>
    <p:extLst>
      <p:ext uri="{BB962C8B-B14F-4D97-AF65-F5344CB8AC3E}">
        <p14:creationId xmlns:p14="http://schemas.microsoft.com/office/powerpoint/2010/main" val="128880024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654CFCCB-5A95-4024-9657-05EA80A920E1}"/>
              </a:ext>
            </a:extLst>
          </p:cNvPr>
          <p:cNvSpPr txBox="1"/>
          <p:nvPr/>
        </p:nvSpPr>
        <p:spPr>
          <a:xfrm>
            <a:off x="415637" y="152400"/>
            <a:ext cx="11346872" cy="517064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000"/>
              <a:t>Objectives</a:t>
            </a:r>
            <a:endParaRPr lang="en-US" sz="4000" dirty="0">
              <a:cs typeface="Calibri"/>
            </a:endParaRPr>
          </a:p>
          <a:p>
            <a:endParaRPr lang="en-US" sz="4000" dirty="0">
              <a:cs typeface="Calibri"/>
            </a:endParaRPr>
          </a:p>
          <a:p>
            <a:r>
              <a:rPr lang="en-US" sz="4000"/>
              <a:t>After studying this unit, you should be able to:</a:t>
            </a:r>
            <a:endParaRPr lang="en-US" sz="4000">
              <a:cs typeface="Calibri"/>
            </a:endParaRPr>
          </a:p>
          <a:p>
            <a:endParaRPr lang="en-US" dirty="0"/>
          </a:p>
          <a:p>
            <a:pPr marL="457200" indent="-457200" algn="just">
              <a:buFont typeface="Arial"/>
              <a:buChar char="•"/>
            </a:pPr>
            <a:r>
              <a:rPr lang="en-US" sz="3200"/>
              <a:t>explain what a sequencing problem is;</a:t>
            </a:r>
            <a:endParaRPr lang="en-US" sz="3200">
              <a:cs typeface="Calibri"/>
            </a:endParaRPr>
          </a:p>
          <a:p>
            <a:pPr marL="457200" indent="-457200" algn="just">
              <a:buFont typeface="Arial"/>
              <a:buChar char="•"/>
            </a:pPr>
            <a:r>
              <a:rPr lang="en-US" sz="3200"/>
              <a:t>determine the appropriate order for the jobs to be done so as to minimise the elapsed time for 2-Machine, n-Job problems;</a:t>
            </a:r>
            <a:endParaRPr lang="en-US" sz="3200">
              <a:cs typeface="Calibri"/>
            </a:endParaRPr>
          </a:p>
          <a:p>
            <a:pPr marL="457200" indent="-457200" algn="just">
              <a:buFont typeface="Arial"/>
              <a:buChar char="•"/>
            </a:pPr>
            <a:r>
              <a:rPr lang="en-US" sz="3200"/>
              <a:t>determine the appropriate order for the jobs to be done so as to minimise the elapsed time for n-Job, m-Machine problems; and</a:t>
            </a:r>
            <a:endParaRPr lang="en-US" sz="3200">
              <a:cs typeface="Calibri"/>
            </a:endParaRPr>
          </a:p>
          <a:p>
            <a:pPr marL="457200" indent="-457200" algn="just">
              <a:buFont typeface="Arial"/>
              <a:buChar char="•"/>
            </a:pPr>
            <a:r>
              <a:rPr lang="en-US" sz="3200"/>
              <a:t>obtain the minimum elapsed times for sequencing problems.</a:t>
            </a:r>
            <a:endParaRPr lang="en-US" sz="3200">
              <a:cs typeface="Calibri"/>
            </a:endParaRPr>
          </a:p>
        </p:txBody>
      </p:sp>
    </p:spTree>
    <p:extLst>
      <p:ext uri="{BB962C8B-B14F-4D97-AF65-F5344CB8AC3E}">
        <p14:creationId xmlns:p14="http://schemas.microsoft.com/office/powerpoint/2010/main" val="7586653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F846286-7380-48F9-809F-296BB54EAC2E}"/>
              </a:ext>
            </a:extLst>
          </p:cNvPr>
          <p:cNvSpPr txBox="1"/>
          <p:nvPr/>
        </p:nvSpPr>
        <p:spPr>
          <a:xfrm>
            <a:off x="651164" y="429491"/>
            <a:ext cx="10612581"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SEQUENCING PROBLEMS</a:t>
            </a:r>
          </a:p>
          <a:p>
            <a:endParaRPr lang="en-US" sz="2800" dirty="0">
              <a:cs typeface="Calibri"/>
            </a:endParaRPr>
          </a:p>
          <a:p>
            <a:pPr algn="just"/>
            <a:r>
              <a:rPr lang="en-US" sz="2800">
                <a:ea typeface="+mn-lt"/>
                <a:cs typeface="+mn-lt"/>
              </a:rPr>
              <a:t>The selection of the appropriate order in which a number of jobs (customers) are to be performed (served) is called sequencing. In sequencing problems, there are two or more customers (jobs) to be served and one or more facilities (machines) available for this purpose. We wish to know when each job is to begin and what its due date or time is. We also wish to know which facilities are required to do each job, in which order these facilities are required and how long each operation is to take.</a:t>
            </a:r>
            <a:endParaRPr lang="en-US">
              <a:cs typeface="Calibri" panose="020F0502020204030204"/>
            </a:endParaRPr>
          </a:p>
          <a:p>
            <a:endParaRPr lang="en-US" sz="2800" dirty="0">
              <a:cs typeface="Calibri"/>
            </a:endParaRPr>
          </a:p>
        </p:txBody>
      </p:sp>
    </p:spTree>
    <p:extLst>
      <p:ext uri="{BB962C8B-B14F-4D97-AF65-F5344CB8AC3E}">
        <p14:creationId xmlns:p14="http://schemas.microsoft.com/office/powerpoint/2010/main" val="349459951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859E043A-FAEB-44AF-AEED-12B69440998A}"/>
              </a:ext>
            </a:extLst>
          </p:cNvPr>
          <p:cNvSpPr txBox="1"/>
          <p:nvPr/>
        </p:nvSpPr>
        <p:spPr>
          <a:xfrm>
            <a:off x="374073" y="360218"/>
            <a:ext cx="11097490" cy="57554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a:t>The following assumptions are usually made while dealing with sequencing problems:</a:t>
            </a:r>
          </a:p>
          <a:p>
            <a:endParaRPr lang="en-US" dirty="0">
              <a:cs typeface="Calibri"/>
            </a:endParaRPr>
          </a:p>
          <a:p>
            <a:endParaRPr lang="en-US" dirty="0">
              <a:ea typeface="+mn-lt"/>
              <a:cs typeface="+mn-lt"/>
            </a:endParaRPr>
          </a:p>
          <a:p>
            <a:pPr marL="285750" indent="-285750">
              <a:buFont typeface="Arial"/>
              <a:buChar char="•"/>
            </a:pPr>
            <a:r>
              <a:rPr lang="en-US" sz="2400">
                <a:ea typeface="+mn-lt"/>
                <a:cs typeface="+mn-lt"/>
              </a:rPr>
              <a:t>Only one operation is carried out on a machine at a time.</a:t>
            </a:r>
            <a:endParaRPr lang="en-US" sz="2400">
              <a:cs typeface="Calibri" panose="020F0502020204030204"/>
            </a:endParaRPr>
          </a:p>
          <a:p>
            <a:pPr marL="285750" indent="-285750">
              <a:buFont typeface="Arial"/>
              <a:buChar char="•"/>
            </a:pPr>
            <a:r>
              <a:rPr lang="en-US" sz="2400">
                <a:ea typeface="+mn-lt"/>
                <a:cs typeface="+mn-lt"/>
              </a:rPr>
              <a:t>Processing times are known and do not change.</a:t>
            </a:r>
            <a:endParaRPr lang="en-US" sz="2400">
              <a:cs typeface="Calibri" panose="020F0502020204030204"/>
            </a:endParaRPr>
          </a:p>
          <a:p>
            <a:pPr marL="285750" indent="-285750">
              <a:buFont typeface="Arial"/>
              <a:buChar char="•"/>
            </a:pPr>
            <a:r>
              <a:rPr lang="en-US" sz="2400">
                <a:ea typeface="+mn-lt"/>
                <a:cs typeface="+mn-lt"/>
              </a:rPr>
              <a:t>Processing times are independent of the order of processing the jobs.</a:t>
            </a:r>
            <a:endParaRPr lang="en-US" sz="2400">
              <a:cs typeface="Calibri" panose="020F0502020204030204"/>
            </a:endParaRPr>
          </a:p>
          <a:p>
            <a:pPr marL="285750" indent="-285750">
              <a:buFont typeface="Arial"/>
              <a:buChar char="•"/>
            </a:pPr>
            <a:r>
              <a:rPr lang="en-US" sz="2400">
                <a:ea typeface="+mn-lt"/>
                <a:cs typeface="+mn-lt"/>
              </a:rPr>
              <a:t>The time involved in moving jobs from one machine to another is negligible.</a:t>
            </a:r>
            <a:endParaRPr lang="en-US" sz="2400">
              <a:cs typeface="Calibri" panose="020F0502020204030204"/>
            </a:endParaRPr>
          </a:p>
          <a:p>
            <a:pPr marL="285750" indent="-285750">
              <a:buFont typeface="Arial"/>
              <a:buChar char="•"/>
            </a:pPr>
            <a:r>
              <a:rPr lang="en-US" sz="2400">
                <a:ea typeface="+mn-lt"/>
                <a:cs typeface="+mn-lt"/>
              </a:rPr>
              <a:t>Each operation, once started, must be completed.</a:t>
            </a:r>
            <a:endParaRPr lang="en-US" sz="2400">
              <a:cs typeface="Calibri" panose="020F0502020204030204"/>
            </a:endParaRPr>
          </a:p>
          <a:p>
            <a:pPr marL="285750" indent="-285750">
              <a:buFont typeface="Arial"/>
              <a:buChar char="•"/>
            </a:pPr>
            <a:r>
              <a:rPr lang="en-US" sz="2400">
                <a:ea typeface="+mn-lt"/>
                <a:cs typeface="+mn-lt"/>
              </a:rPr>
              <a:t>An operation must be completed before its succeeding operation can start.</a:t>
            </a:r>
            <a:endParaRPr lang="en-US" sz="2400">
              <a:cs typeface="Calibri" panose="020F0502020204030204"/>
            </a:endParaRPr>
          </a:p>
          <a:p>
            <a:pPr marL="285750" indent="-285750">
              <a:buFont typeface="Arial"/>
              <a:buChar char="•"/>
            </a:pPr>
            <a:r>
              <a:rPr lang="en-US" sz="2400">
                <a:ea typeface="+mn-lt"/>
                <a:cs typeface="+mn-lt"/>
              </a:rPr>
              <a:t>Only one machine of each type is available.</a:t>
            </a:r>
            <a:endParaRPr lang="en-US" sz="2400">
              <a:cs typeface="Calibri" panose="020F0502020204030204"/>
            </a:endParaRPr>
          </a:p>
          <a:p>
            <a:pPr marL="285750" indent="-285750">
              <a:buFont typeface="Arial"/>
              <a:buChar char="•"/>
            </a:pPr>
            <a:r>
              <a:rPr lang="en-US" sz="2400">
                <a:ea typeface="+mn-lt"/>
                <a:cs typeface="+mn-lt"/>
              </a:rPr>
              <a:t>A job is processed as soon as possible, but only in the order specified.</a:t>
            </a:r>
            <a:endParaRPr lang="en-US" sz="2400">
              <a:cs typeface="Calibri" panose="020F0502020204030204"/>
            </a:endParaRPr>
          </a:p>
          <a:p>
            <a:pPr marL="285750" indent="-285750">
              <a:buFont typeface="Arial"/>
              <a:buChar char="•"/>
            </a:pPr>
            <a:r>
              <a:rPr lang="en-US" sz="2400">
                <a:ea typeface="+mn-lt"/>
                <a:cs typeface="+mn-lt"/>
              </a:rPr>
              <a:t>No passing rule is followed strictly, i.e., the same order of jobs is maintained over each machine.</a:t>
            </a:r>
            <a:endParaRPr lang="en-US" sz="2400">
              <a:cs typeface="Calibri" panose="020F0502020204030204"/>
            </a:endParaRPr>
          </a:p>
          <a:p>
            <a:endParaRPr lang="en-US" dirty="0">
              <a:cs typeface="Calibri"/>
            </a:endParaRPr>
          </a:p>
          <a:p>
            <a:endParaRPr lang="en-US" dirty="0">
              <a:cs typeface="Calibri"/>
            </a:endParaRPr>
          </a:p>
        </p:txBody>
      </p:sp>
      <p:sp>
        <p:nvSpPr>
          <p:cNvPr id="3" name="TextBox 2">
            <a:extLst>
              <a:ext uri="{FF2B5EF4-FFF2-40B4-BE49-F238E27FC236}">
                <a16:creationId xmlns="" xmlns:a16="http://schemas.microsoft.com/office/drawing/2014/main" id="{01DE377F-752B-4298-A744-734003256E20}"/>
              </a:ext>
            </a:extLst>
          </p:cNvPr>
          <p:cNvSpPr txBox="1"/>
          <p:nvPr/>
        </p:nvSpPr>
        <p:spPr>
          <a:xfrm>
            <a:off x="484910" y="5708073"/>
            <a:ext cx="10861963" cy="70788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a:t>Sequencing problems have been most commonly encountered in production shops where different products are to be processed over various combinations of machines.</a:t>
            </a:r>
            <a:endParaRPr lang="en-US" sz="2000">
              <a:cs typeface="Calibri" panose="020F0502020204030204"/>
            </a:endParaRPr>
          </a:p>
        </p:txBody>
      </p:sp>
    </p:spTree>
    <p:extLst>
      <p:ext uri="{BB962C8B-B14F-4D97-AF65-F5344CB8AC3E}">
        <p14:creationId xmlns:p14="http://schemas.microsoft.com/office/powerpoint/2010/main" val="41335405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picture containing object, clock&#10;&#10;Description automatically generated">
            <a:extLst>
              <a:ext uri="{FF2B5EF4-FFF2-40B4-BE49-F238E27FC236}">
                <a16:creationId xmlns="" xmlns:a16="http://schemas.microsoft.com/office/drawing/2014/main" id="{ED757F25-53D1-43C1-9DA4-424091BDE72F}"/>
              </a:ext>
            </a:extLst>
          </p:cNvPr>
          <p:cNvPicPr>
            <a:picLocks noChangeAspect="1"/>
          </p:cNvPicPr>
          <p:nvPr/>
        </p:nvPicPr>
        <p:blipFill>
          <a:blip r:embed="rId2"/>
          <a:stretch>
            <a:fillRect/>
          </a:stretch>
        </p:blipFill>
        <p:spPr>
          <a:xfrm>
            <a:off x="3020291" y="300463"/>
            <a:ext cx="5403272" cy="1782055"/>
          </a:xfrm>
          <a:prstGeom prst="rect">
            <a:avLst/>
          </a:prstGeom>
        </p:spPr>
      </p:pic>
      <p:pic>
        <p:nvPicPr>
          <p:cNvPr id="4" name="Picture 4">
            <a:extLst>
              <a:ext uri="{FF2B5EF4-FFF2-40B4-BE49-F238E27FC236}">
                <a16:creationId xmlns="" xmlns:a16="http://schemas.microsoft.com/office/drawing/2014/main" id="{6ABCC607-990D-49CD-AC99-01E761A7B3B9}"/>
              </a:ext>
            </a:extLst>
          </p:cNvPr>
          <p:cNvPicPr>
            <a:picLocks noChangeAspect="1"/>
          </p:cNvPicPr>
          <p:nvPr/>
        </p:nvPicPr>
        <p:blipFill>
          <a:blip r:embed="rId3"/>
          <a:stretch>
            <a:fillRect/>
          </a:stretch>
        </p:blipFill>
        <p:spPr>
          <a:xfrm>
            <a:off x="304800" y="2163726"/>
            <a:ext cx="10972799" cy="604765"/>
          </a:xfrm>
          <a:prstGeom prst="rect">
            <a:avLst/>
          </a:prstGeom>
        </p:spPr>
      </p:pic>
      <p:sp>
        <p:nvSpPr>
          <p:cNvPr id="5" name="TextBox 4">
            <a:extLst>
              <a:ext uri="{FF2B5EF4-FFF2-40B4-BE49-F238E27FC236}">
                <a16:creationId xmlns="" xmlns:a16="http://schemas.microsoft.com/office/drawing/2014/main" id="{A609A599-0758-48EE-B841-1D02C21B4C5C}"/>
              </a:ext>
            </a:extLst>
          </p:cNvPr>
          <p:cNvSpPr txBox="1"/>
          <p:nvPr/>
        </p:nvSpPr>
        <p:spPr>
          <a:xfrm>
            <a:off x="540327" y="3311236"/>
            <a:ext cx="11236035"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a:t>i)  First process J</a:t>
            </a:r>
            <a:r>
              <a:rPr lang="en-US" sz="2800" baseline="-25000" dirty="0"/>
              <a:t>1</a:t>
            </a:r>
            <a:r>
              <a:rPr lang="en-US" sz="2800"/>
              <a:t> , J</a:t>
            </a:r>
            <a:r>
              <a:rPr lang="en-US" sz="2800" baseline="-25000" dirty="0"/>
              <a:t>2</a:t>
            </a:r>
            <a:r>
              <a:rPr lang="en-US" sz="2800"/>
              <a:t> in this order on machines A and B, respectively;</a:t>
            </a:r>
            <a:endParaRPr lang="en-US" sz="2800">
              <a:cs typeface="Calibri"/>
            </a:endParaRPr>
          </a:p>
          <a:p>
            <a:pPr algn="just"/>
            <a:r>
              <a:rPr lang="en-US" sz="2800"/>
              <a:t>ii) First process </a:t>
            </a:r>
            <a:r>
              <a:rPr lang="en-US" sz="2800">
                <a:ea typeface="+mn-lt"/>
                <a:cs typeface="+mn-lt"/>
              </a:rPr>
              <a:t>J</a:t>
            </a:r>
            <a:r>
              <a:rPr lang="en-US" sz="2800" baseline="-25000">
                <a:ea typeface="+mn-lt"/>
                <a:cs typeface="+mn-lt"/>
              </a:rPr>
              <a:t>1</a:t>
            </a:r>
            <a:r>
              <a:rPr lang="en-US" sz="2800">
                <a:ea typeface="+mn-lt"/>
                <a:cs typeface="+mn-lt"/>
              </a:rPr>
              <a:t> , J</a:t>
            </a:r>
            <a:r>
              <a:rPr lang="en-US" sz="2800" baseline="-25000">
                <a:ea typeface="+mn-lt"/>
                <a:cs typeface="+mn-lt"/>
              </a:rPr>
              <a:t>2</a:t>
            </a:r>
            <a:r>
              <a:rPr lang="en-US" sz="2800"/>
              <a:t> in this order on machines B and A, respectively;</a:t>
            </a:r>
            <a:endParaRPr lang="en-US" sz="2800">
              <a:cs typeface="Calibri" panose="020F0502020204030204"/>
            </a:endParaRPr>
          </a:p>
          <a:p>
            <a:pPr algn="just"/>
            <a:r>
              <a:rPr lang="en-US" sz="2800" dirty="0"/>
              <a:t>iii) First process J</a:t>
            </a:r>
            <a:r>
              <a:rPr lang="en-US" sz="2800" baseline="-25000" dirty="0">
                <a:ea typeface="+mn-lt"/>
                <a:cs typeface="+mn-lt"/>
              </a:rPr>
              <a:t>2</a:t>
            </a:r>
            <a:r>
              <a:rPr lang="en-US" sz="2800">
                <a:ea typeface="+mn-lt"/>
                <a:cs typeface="+mn-lt"/>
              </a:rPr>
              <a:t> , J</a:t>
            </a:r>
            <a:r>
              <a:rPr lang="en-US" sz="2800" baseline="-25000">
                <a:ea typeface="+mn-lt"/>
                <a:cs typeface="+mn-lt"/>
              </a:rPr>
              <a:t>1</a:t>
            </a:r>
            <a:r>
              <a:rPr lang="en-US" sz="2800" dirty="0"/>
              <a:t> in this order on machines A and B, respectively;</a:t>
            </a:r>
            <a:endParaRPr lang="en-US" sz="2800" dirty="0">
              <a:cs typeface="Calibri" panose="020F0502020204030204"/>
            </a:endParaRPr>
          </a:p>
          <a:p>
            <a:pPr algn="just"/>
            <a:r>
              <a:rPr lang="en-US" sz="2800" dirty="0"/>
              <a:t>iv) First process J</a:t>
            </a:r>
            <a:r>
              <a:rPr lang="en-US" sz="2800" baseline="-25000" dirty="0"/>
              <a:t>2</a:t>
            </a:r>
            <a:r>
              <a:rPr lang="en-US" sz="2800"/>
              <a:t> , J</a:t>
            </a:r>
            <a:r>
              <a:rPr lang="en-US" sz="2800" baseline="-25000"/>
              <a:t>1</a:t>
            </a:r>
            <a:r>
              <a:rPr lang="en-US" sz="2800" dirty="0"/>
              <a:t> in this order on machines B and A, respectively.</a:t>
            </a:r>
            <a:endParaRPr lang="en-US" sz="2800" dirty="0">
              <a:cs typeface="Calibri" panose="020F0502020204030204"/>
            </a:endParaRPr>
          </a:p>
        </p:txBody>
      </p:sp>
    </p:spTree>
    <p:extLst>
      <p:ext uri="{BB962C8B-B14F-4D97-AF65-F5344CB8AC3E}">
        <p14:creationId xmlns:p14="http://schemas.microsoft.com/office/powerpoint/2010/main" val="410732571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31DC579B-E8A8-402A-AD0A-EE8F35213FC0}"/>
              </a:ext>
            </a:extLst>
          </p:cNvPr>
          <p:cNvSpPr txBox="1"/>
          <p:nvPr/>
        </p:nvSpPr>
        <p:spPr>
          <a:xfrm>
            <a:off x="457200" y="235527"/>
            <a:ext cx="4946072"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For the first sequence, the various times can be calculated as in the following table:</a:t>
            </a:r>
          </a:p>
        </p:txBody>
      </p:sp>
      <p:pic>
        <p:nvPicPr>
          <p:cNvPr id="3" name="Picture 3" descr="A picture containing clock&#10;&#10;Description automatically generated">
            <a:extLst>
              <a:ext uri="{FF2B5EF4-FFF2-40B4-BE49-F238E27FC236}">
                <a16:creationId xmlns="" xmlns:a16="http://schemas.microsoft.com/office/drawing/2014/main" id="{AF777EB3-0DB9-4CBF-9B8E-46FFC28ECDC1}"/>
              </a:ext>
            </a:extLst>
          </p:cNvPr>
          <p:cNvPicPr>
            <a:picLocks noChangeAspect="1"/>
          </p:cNvPicPr>
          <p:nvPr/>
        </p:nvPicPr>
        <p:blipFill>
          <a:blip r:embed="rId2"/>
          <a:stretch>
            <a:fillRect/>
          </a:stretch>
        </p:blipFill>
        <p:spPr>
          <a:xfrm>
            <a:off x="221673" y="1173423"/>
            <a:ext cx="5575539" cy="1448253"/>
          </a:xfrm>
          <a:prstGeom prst="rect">
            <a:avLst/>
          </a:prstGeom>
        </p:spPr>
      </p:pic>
      <p:sp>
        <p:nvSpPr>
          <p:cNvPr id="5" name="TextBox 4">
            <a:extLst>
              <a:ext uri="{FF2B5EF4-FFF2-40B4-BE49-F238E27FC236}">
                <a16:creationId xmlns="" xmlns:a16="http://schemas.microsoft.com/office/drawing/2014/main" id="{11266DA9-C506-4464-B9DB-E253DAFAB6E1}"/>
              </a:ext>
            </a:extLst>
          </p:cNvPr>
          <p:cNvSpPr txBox="1"/>
          <p:nvPr/>
        </p:nvSpPr>
        <p:spPr>
          <a:xfrm>
            <a:off x="6818527" y="238664"/>
            <a:ext cx="497169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For the second sequence, the various times can be calculated as in the following table:</a:t>
            </a:r>
          </a:p>
        </p:txBody>
      </p:sp>
      <p:pic>
        <p:nvPicPr>
          <p:cNvPr id="6" name="Picture 6" descr="A screenshot of a cell phone&#10;&#10;Description automatically generated">
            <a:extLst>
              <a:ext uri="{FF2B5EF4-FFF2-40B4-BE49-F238E27FC236}">
                <a16:creationId xmlns="" xmlns:a16="http://schemas.microsoft.com/office/drawing/2014/main" id="{D10D31A6-D596-4FAF-8745-A3065FFEAA90}"/>
              </a:ext>
            </a:extLst>
          </p:cNvPr>
          <p:cNvPicPr>
            <a:picLocks noChangeAspect="1"/>
          </p:cNvPicPr>
          <p:nvPr/>
        </p:nvPicPr>
        <p:blipFill>
          <a:blip r:embed="rId3"/>
          <a:stretch>
            <a:fillRect/>
          </a:stretch>
        </p:blipFill>
        <p:spPr>
          <a:xfrm>
            <a:off x="6864797" y="1174138"/>
            <a:ext cx="4914182" cy="1504855"/>
          </a:xfrm>
          <a:prstGeom prst="rect">
            <a:avLst/>
          </a:prstGeom>
        </p:spPr>
      </p:pic>
      <p:sp>
        <p:nvSpPr>
          <p:cNvPr id="7" name="TextBox 6">
            <a:extLst>
              <a:ext uri="{FF2B5EF4-FFF2-40B4-BE49-F238E27FC236}">
                <a16:creationId xmlns="" xmlns:a16="http://schemas.microsoft.com/office/drawing/2014/main" id="{9B394154-BE5C-400A-87DA-4728CFE414B6}"/>
              </a:ext>
            </a:extLst>
          </p:cNvPr>
          <p:cNvSpPr txBox="1"/>
          <p:nvPr/>
        </p:nvSpPr>
        <p:spPr>
          <a:xfrm>
            <a:off x="6818527" y="3186023"/>
            <a:ext cx="4971690"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Here, the total elapsed time is 13 hours.</a:t>
            </a:r>
          </a:p>
          <a:p>
            <a:r>
              <a:rPr lang="en-US" dirty="0">
                <a:ea typeface="+mn-lt"/>
                <a:cs typeface="+mn-lt"/>
              </a:rPr>
              <a:t>The idle time for machine B</a:t>
            </a:r>
            <a:endParaRPr lang="en-US" dirty="0"/>
          </a:p>
          <a:p>
            <a:r>
              <a:rPr lang="en-US" dirty="0">
                <a:ea typeface="+mn-lt"/>
                <a:cs typeface="+mn-lt"/>
              </a:rPr>
              <a:t>= Total elapsed time - Time when the last job is out of machine B</a:t>
            </a:r>
            <a:endParaRPr lang="en-US" dirty="0"/>
          </a:p>
          <a:p>
            <a:r>
              <a:rPr lang="en-US" dirty="0">
                <a:ea typeface="+mn-lt"/>
                <a:cs typeface="+mn-lt"/>
              </a:rPr>
              <a:t>= 13 – 9 = 4 </a:t>
            </a:r>
            <a:r>
              <a:rPr lang="en-US" dirty="0" err="1">
                <a:ea typeface="+mn-lt"/>
                <a:cs typeface="+mn-lt"/>
              </a:rPr>
              <a:t>hrs</a:t>
            </a:r>
            <a:endParaRPr lang="en-US" dirty="0"/>
          </a:p>
          <a:p>
            <a:r>
              <a:rPr lang="en-US" dirty="0">
                <a:ea typeface="+mn-lt"/>
                <a:cs typeface="+mn-lt"/>
              </a:rPr>
              <a:t>The idle time for machine A</a:t>
            </a:r>
            <a:endParaRPr lang="en-US" dirty="0"/>
          </a:p>
          <a:p>
            <a:r>
              <a:rPr lang="en-US" dirty="0">
                <a:ea typeface="+mn-lt"/>
                <a:cs typeface="+mn-lt"/>
              </a:rPr>
              <a:t>= Time of starting the first job at A</a:t>
            </a:r>
            <a:endParaRPr lang="en-US" dirty="0"/>
          </a:p>
          <a:p>
            <a:r>
              <a:rPr lang="en-US" dirty="0">
                <a:ea typeface="+mn-lt"/>
                <a:cs typeface="+mn-lt"/>
              </a:rPr>
              <a:t>+ (Time of starting the second job at A</a:t>
            </a:r>
            <a:endParaRPr lang="en-US" dirty="0"/>
          </a:p>
          <a:p>
            <a:r>
              <a:rPr lang="en-US" dirty="0">
                <a:ea typeface="+mn-lt"/>
                <a:cs typeface="+mn-lt"/>
              </a:rPr>
              <a:t>– time of finishing the first job at A)</a:t>
            </a:r>
            <a:endParaRPr lang="en-US" dirty="0"/>
          </a:p>
          <a:p>
            <a:r>
              <a:rPr lang="en-US" dirty="0">
                <a:ea typeface="+mn-lt"/>
                <a:cs typeface="+mn-lt"/>
              </a:rPr>
              <a:t>= 3 + (9 – 5) = 7 </a:t>
            </a:r>
            <a:r>
              <a:rPr lang="en-US" dirty="0" err="1">
                <a:ea typeface="+mn-lt"/>
                <a:cs typeface="+mn-lt"/>
              </a:rPr>
              <a:t>hrs</a:t>
            </a:r>
            <a:endParaRPr lang="en-US" dirty="0"/>
          </a:p>
        </p:txBody>
      </p:sp>
      <p:sp>
        <p:nvSpPr>
          <p:cNvPr id="8" name="TextBox 7">
            <a:extLst>
              <a:ext uri="{FF2B5EF4-FFF2-40B4-BE49-F238E27FC236}">
                <a16:creationId xmlns="" xmlns:a16="http://schemas.microsoft.com/office/drawing/2014/main" id="{AC0AB149-1968-4B1D-AC6A-052D6B8109A6}"/>
              </a:ext>
            </a:extLst>
          </p:cNvPr>
          <p:cNvSpPr txBox="1"/>
          <p:nvPr/>
        </p:nvSpPr>
        <p:spPr>
          <a:xfrm>
            <a:off x="396815" y="3042249"/>
            <a:ext cx="5359879"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Here, the total elapsed time is 12 hours.</a:t>
            </a:r>
          </a:p>
          <a:p>
            <a:r>
              <a:rPr lang="en-US" dirty="0"/>
              <a:t>The idle time for machine A</a:t>
            </a:r>
          </a:p>
          <a:p>
            <a:r>
              <a:rPr lang="en-US" dirty="0"/>
              <a:t>= Total elapsed time - Time when the last job is out of the machine A,</a:t>
            </a:r>
            <a:endParaRPr lang="en-US" dirty="0">
              <a:cs typeface="Calibri"/>
            </a:endParaRPr>
          </a:p>
          <a:p>
            <a:r>
              <a:rPr lang="en-US" dirty="0"/>
              <a:t>= 12 – 6 = 6 </a:t>
            </a:r>
            <a:r>
              <a:rPr lang="en-US" dirty="0" err="1"/>
              <a:t>hrs</a:t>
            </a:r>
            <a:endParaRPr lang="en-US" dirty="0"/>
          </a:p>
          <a:p>
            <a:r>
              <a:rPr lang="en-US" dirty="0"/>
              <a:t>The idle time for machine B</a:t>
            </a:r>
          </a:p>
          <a:p>
            <a:r>
              <a:rPr lang="en-US" dirty="0"/>
              <a:t>= Time of starting the first job at B</a:t>
            </a:r>
          </a:p>
          <a:p>
            <a:r>
              <a:rPr lang="en-US" dirty="0"/>
              <a:t>+ (Time of starting the second job at B</a:t>
            </a:r>
          </a:p>
          <a:p>
            <a:r>
              <a:rPr lang="en-US" dirty="0"/>
              <a:t>– time of finishing the first job at B)</a:t>
            </a:r>
          </a:p>
          <a:p>
            <a:r>
              <a:rPr lang="en-US" dirty="0"/>
              <a:t>= 2 + (6 – 5) = 3 </a:t>
            </a:r>
            <a:r>
              <a:rPr lang="en-US" dirty="0" err="1"/>
              <a:t>hrs</a:t>
            </a:r>
            <a:endParaRPr lang="en-US" dirty="0"/>
          </a:p>
        </p:txBody>
      </p:sp>
    </p:spTree>
    <p:extLst>
      <p:ext uri="{BB962C8B-B14F-4D97-AF65-F5344CB8AC3E}">
        <p14:creationId xmlns:p14="http://schemas.microsoft.com/office/powerpoint/2010/main" val="3038794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500"/>
                                        <p:tgtEl>
                                          <p:spTgt spid="8"/>
                                        </p:tgtEl>
                                      </p:cBhvr>
                                    </p:animEffect>
                                  </p:childTnLst>
                                </p:cTn>
                              </p:par>
                            </p:childTnLst>
                          </p:cTn>
                        </p:par>
                      </p:childTnLst>
                    </p:cTn>
                  </p:par>
                  <p:par>
                    <p:cTn id="12" fill="hold">
                      <p:stCondLst>
                        <p:cond delay="indefinite"/>
                      </p:stCondLst>
                      <p:childTnLst>
                        <p:par>
                          <p:cTn id="13" fill="hold">
                            <p:stCondLst>
                              <p:cond delay="0"/>
                            </p:stCondLst>
                            <p:childTnLst>
                              <p:par>
                                <p:cTn id="14" presetID="42"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anim calcmode="lin" valueType="num">
                                      <p:cBhvr>
                                        <p:cTn id="17" dur="1000" fill="hold"/>
                                        <p:tgtEl>
                                          <p:spTgt spid="5"/>
                                        </p:tgtEl>
                                        <p:attrNameLst>
                                          <p:attrName>ppt_x</p:attrName>
                                        </p:attrNameLst>
                                      </p:cBhvr>
                                      <p:tavLst>
                                        <p:tav tm="0">
                                          <p:val>
                                            <p:strVal val="#ppt_x"/>
                                          </p:val>
                                        </p:tav>
                                        <p:tav tm="100000">
                                          <p:val>
                                            <p:strVal val="#ppt_x"/>
                                          </p:val>
                                        </p:tav>
                                      </p:tavLst>
                                    </p:anim>
                                    <p:anim calcmode="lin" valueType="num">
                                      <p:cBhvr>
                                        <p:cTn id="18"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 calcmode="lin" valueType="num">
                                      <p:cBhvr additive="base">
                                        <p:cTn id="23" dur="500" fill="hold"/>
                                        <p:tgtEl>
                                          <p:spTgt spid="6"/>
                                        </p:tgtEl>
                                        <p:attrNameLst>
                                          <p:attrName>ppt_x</p:attrName>
                                        </p:attrNameLst>
                                      </p:cBhvr>
                                      <p:tavLst>
                                        <p:tav tm="0">
                                          <p:val>
                                            <p:strVal val="#ppt_x"/>
                                          </p:val>
                                        </p:tav>
                                        <p:tav tm="100000">
                                          <p:val>
                                            <p:strVal val="#ppt_x"/>
                                          </p:val>
                                        </p:tav>
                                      </p:tavLst>
                                    </p:anim>
                                    <p:anim calcmode="lin" valueType="num">
                                      <p:cBhvr additive="base">
                                        <p:cTn id="24"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53" presetClass="entr" presetSubtype="16" fill="hold" grpId="0" nodeType="clickEffect">
                                  <p:stCondLst>
                                    <p:cond delay="0"/>
                                  </p:stCondLst>
                                  <p:childTnLst>
                                    <p:set>
                                      <p:cBhvr>
                                        <p:cTn id="28" dur="1" fill="hold">
                                          <p:stCondLst>
                                            <p:cond delay="0"/>
                                          </p:stCondLst>
                                        </p:cTn>
                                        <p:tgtEl>
                                          <p:spTgt spid="7"/>
                                        </p:tgtEl>
                                        <p:attrNameLst>
                                          <p:attrName>style.visibility</p:attrName>
                                        </p:attrNameLst>
                                      </p:cBhvr>
                                      <p:to>
                                        <p:strVal val="visible"/>
                                      </p:to>
                                    </p:set>
                                    <p:anim calcmode="lin" valueType="num">
                                      <p:cBhvr>
                                        <p:cTn id="29" dur="500" fill="hold"/>
                                        <p:tgtEl>
                                          <p:spTgt spid="7"/>
                                        </p:tgtEl>
                                        <p:attrNameLst>
                                          <p:attrName>ppt_w</p:attrName>
                                        </p:attrNameLst>
                                      </p:cBhvr>
                                      <p:tavLst>
                                        <p:tav tm="0">
                                          <p:val>
                                            <p:fltVal val="0"/>
                                          </p:val>
                                        </p:tav>
                                        <p:tav tm="100000">
                                          <p:val>
                                            <p:strVal val="#ppt_w"/>
                                          </p:val>
                                        </p:tav>
                                      </p:tavLst>
                                    </p:anim>
                                    <p:anim calcmode="lin" valueType="num">
                                      <p:cBhvr>
                                        <p:cTn id="30" dur="500" fill="hold"/>
                                        <p:tgtEl>
                                          <p:spTgt spid="7"/>
                                        </p:tgtEl>
                                        <p:attrNameLst>
                                          <p:attrName>ppt_h</p:attrName>
                                        </p:attrNameLst>
                                      </p:cBhvr>
                                      <p:tavLst>
                                        <p:tav tm="0">
                                          <p:val>
                                            <p:fltVal val="0"/>
                                          </p:val>
                                        </p:tav>
                                        <p:tav tm="100000">
                                          <p:val>
                                            <p:strVal val="#ppt_h"/>
                                          </p:val>
                                        </p:tav>
                                      </p:tavLst>
                                    </p:anim>
                                    <p:animEffect transition="in" filter="fade">
                                      <p:cBhvr>
                                        <p:cTn id="31"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AF9A9E70-5695-495A-8F9D-601384D69A6D}"/>
              </a:ext>
            </a:extLst>
          </p:cNvPr>
          <p:cNvSpPr txBox="1"/>
          <p:nvPr/>
        </p:nvSpPr>
        <p:spPr>
          <a:xfrm>
            <a:off x="304800" y="290945"/>
            <a:ext cx="5583381"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For the third sequence, the various times can be calculated as in the following table:</a:t>
            </a:r>
          </a:p>
        </p:txBody>
      </p:sp>
      <p:pic>
        <p:nvPicPr>
          <p:cNvPr id="3" name="Picture 3" descr="A picture containing clock&#10;&#10;Description automatically generated">
            <a:extLst>
              <a:ext uri="{FF2B5EF4-FFF2-40B4-BE49-F238E27FC236}">
                <a16:creationId xmlns="" xmlns:a16="http://schemas.microsoft.com/office/drawing/2014/main" id="{F7AE8940-AF43-4544-B350-069715B25AAF}"/>
              </a:ext>
            </a:extLst>
          </p:cNvPr>
          <p:cNvPicPr>
            <a:picLocks noChangeAspect="1"/>
          </p:cNvPicPr>
          <p:nvPr/>
        </p:nvPicPr>
        <p:blipFill>
          <a:blip r:embed="rId2"/>
          <a:stretch>
            <a:fillRect/>
          </a:stretch>
        </p:blipFill>
        <p:spPr>
          <a:xfrm>
            <a:off x="306499" y="1167343"/>
            <a:ext cx="5043577" cy="1295269"/>
          </a:xfrm>
          <a:prstGeom prst="rect">
            <a:avLst/>
          </a:prstGeom>
        </p:spPr>
      </p:pic>
      <p:sp>
        <p:nvSpPr>
          <p:cNvPr id="4" name="TextBox 3">
            <a:extLst>
              <a:ext uri="{FF2B5EF4-FFF2-40B4-BE49-F238E27FC236}">
                <a16:creationId xmlns="" xmlns:a16="http://schemas.microsoft.com/office/drawing/2014/main" id="{379BD948-F175-4E62-8BD0-5C669DDD7B0B}"/>
              </a:ext>
            </a:extLst>
          </p:cNvPr>
          <p:cNvSpPr txBox="1"/>
          <p:nvPr/>
        </p:nvSpPr>
        <p:spPr>
          <a:xfrm>
            <a:off x="310551" y="2783457"/>
            <a:ext cx="5273615"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Here, the total elapsed time is 13 hours.</a:t>
            </a:r>
          </a:p>
          <a:p>
            <a:r>
              <a:rPr lang="en-US" dirty="0"/>
              <a:t>The idle time for machine A</a:t>
            </a:r>
          </a:p>
          <a:p>
            <a:r>
              <a:rPr lang="en-US" dirty="0"/>
              <a:t>= Total elapsed time - Time when the last job is out of the machine A</a:t>
            </a:r>
            <a:endParaRPr lang="en-US" dirty="0">
              <a:cs typeface="Calibri"/>
            </a:endParaRPr>
          </a:p>
          <a:p>
            <a:r>
              <a:rPr lang="en-US" dirty="0"/>
              <a:t>= 13 – 6 = 7 </a:t>
            </a:r>
            <a:r>
              <a:rPr lang="en-US" dirty="0" err="1"/>
              <a:t>hrs</a:t>
            </a:r>
            <a:endParaRPr lang="en-US" dirty="0"/>
          </a:p>
          <a:p>
            <a:r>
              <a:rPr lang="en-US" dirty="0"/>
              <a:t>The idle time for machine B</a:t>
            </a:r>
          </a:p>
          <a:p>
            <a:r>
              <a:rPr lang="en-US" dirty="0"/>
              <a:t>= Time of starting the first job at machine B</a:t>
            </a:r>
          </a:p>
          <a:p>
            <a:r>
              <a:rPr lang="en-US" dirty="0"/>
              <a:t>+ (Time of starting the second job at machine B</a:t>
            </a:r>
          </a:p>
          <a:p>
            <a:r>
              <a:rPr lang="en-US" dirty="0"/>
              <a:t>– time of finishing the first job at machine B)</a:t>
            </a:r>
          </a:p>
          <a:p>
            <a:r>
              <a:rPr lang="en-US" dirty="0"/>
              <a:t>= 4 + (10 –10) = 4 </a:t>
            </a:r>
            <a:r>
              <a:rPr lang="en-US" dirty="0" err="1"/>
              <a:t>hrs</a:t>
            </a:r>
            <a:endParaRPr lang="en-US" dirty="0"/>
          </a:p>
        </p:txBody>
      </p:sp>
      <p:sp>
        <p:nvSpPr>
          <p:cNvPr id="5" name="TextBox 4">
            <a:extLst>
              <a:ext uri="{FF2B5EF4-FFF2-40B4-BE49-F238E27FC236}">
                <a16:creationId xmlns="" xmlns:a16="http://schemas.microsoft.com/office/drawing/2014/main" id="{8CA5D5A0-9726-446B-A4B0-9C09D2FBA89F}"/>
              </a:ext>
            </a:extLst>
          </p:cNvPr>
          <p:cNvSpPr txBox="1"/>
          <p:nvPr/>
        </p:nvSpPr>
        <p:spPr>
          <a:xfrm>
            <a:off x="6334664" y="296174"/>
            <a:ext cx="543176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For the fourth sequence, the various times can be calculated as in the following table:</a:t>
            </a:r>
          </a:p>
        </p:txBody>
      </p:sp>
      <p:pic>
        <p:nvPicPr>
          <p:cNvPr id="6" name="Picture 6" descr="A screenshot of a cell phone&#10;&#10;Description automatically generated">
            <a:extLst>
              <a:ext uri="{FF2B5EF4-FFF2-40B4-BE49-F238E27FC236}">
                <a16:creationId xmlns="" xmlns:a16="http://schemas.microsoft.com/office/drawing/2014/main" id="{402018D0-9D16-4FA1-B515-F7F8B95552C2}"/>
              </a:ext>
            </a:extLst>
          </p:cNvPr>
          <p:cNvPicPr>
            <a:picLocks noChangeAspect="1"/>
          </p:cNvPicPr>
          <p:nvPr/>
        </p:nvPicPr>
        <p:blipFill>
          <a:blip r:embed="rId3"/>
          <a:stretch>
            <a:fillRect/>
          </a:stretch>
        </p:blipFill>
        <p:spPr>
          <a:xfrm>
            <a:off x="6392173" y="1166438"/>
            <a:ext cx="5129841" cy="1290218"/>
          </a:xfrm>
          <a:prstGeom prst="rect">
            <a:avLst/>
          </a:prstGeom>
        </p:spPr>
      </p:pic>
      <p:sp>
        <p:nvSpPr>
          <p:cNvPr id="7" name="TextBox 6">
            <a:extLst>
              <a:ext uri="{FF2B5EF4-FFF2-40B4-BE49-F238E27FC236}">
                <a16:creationId xmlns="" xmlns:a16="http://schemas.microsoft.com/office/drawing/2014/main" id="{5DB547ED-EF9E-4C5C-BC4E-3B16A78DB5F5}"/>
              </a:ext>
            </a:extLst>
          </p:cNvPr>
          <p:cNvSpPr txBox="1"/>
          <p:nvPr/>
        </p:nvSpPr>
        <p:spPr>
          <a:xfrm>
            <a:off x="6334664" y="2855343"/>
            <a:ext cx="5431766"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t>Here, the total elapsed time is 12 hours.</a:t>
            </a:r>
          </a:p>
          <a:p>
            <a:r>
              <a:rPr lang="en-US" dirty="0"/>
              <a:t>The idle time for machine B</a:t>
            </a:r>
          </a:p>
          <a:p>
            <a:r>
              <a:rPr lang="en-US" dirty="0"/>
              <a:t>= Total elapsed time - Time when the last job is out of machine B</a:t>
            </a:r>
            <a:endParaRPr lang="en-US" dirty="0">
              <a:cs typeface="Calibri"/>
            </a:endParaRPr>
          </a:p>
          <a:p>
            <a:r>
              <a:rPr lang="en-US" dirty="0"/>
              <a:t>= 12 – 9 = 3 </a:t>
            </a:r>
            <a:r>
              <a:rPr lang="en-US" dirty="0" err="1"/>
              <a:t>hrs</a:t>
            </a:r>
            <a:endParaRPr lang="en-US" dirty="0"/>
          </a:p>
          <a:p>
            <a:r>
              <a:rPr lang="en-US" dirty="0"/>
              <a:t>The idle time for machine A</a:t>
            </a:r>
          </a:p>
          <a:p>
            <a:r>
              <a:rPr lang="en-US" dirty="0"/>
              <a:t>= Time of starting the first job at machine A</a:t>
            </a:r>
          </a:p>
          <a:p>
            <a:r>
              <a:rPr lang="en-US" dirty="0"/>
              <a:t>+ (Time of starting the second job at machine A</a:t>
            </a:r>
          </a:p>
          <a:p>
            <a:r>
              <a:rPr lang="en-US" dirty="0"/>
              <a:t>– time of finishing the first job at machine A)</a:t>
            </a:r>
          </a:p>
          <a:p>
            <a:r>
              <a:rPr lang="en-US" dirty="0"/>
              <a:t>= 6 + (10 – 10) = 6 </a:t>
            </a:r>
            <a:r>
              <a:rPr lang="en-US" dirty="0" err="1"/>
              <a:t>hrs</a:t>
            </a:r>
            <a:endParaRPr lang="en-US" dirty="0"/>
          </a:p>
        </p:txBody>
      </p:sp>
    </p:spTree>
    <p:extLst>
      <p:ext uri="{BB962C8B-B14F-4D97-AF65-F5344CB8AC3E}">
        <p14:creationId xmlns:p14="http://schemas.microsoft.com/office/powerpoint/2010/main" val="900229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ppt_x"/>
                                          </p:val>
                                        </p:tav>
                                        <p:tav tm="100000">
                                          <p:val>
                                            <p:strVal val="#ppt_x"/>
                                          </p:val>
                                        </p:tav>
                                      </p:tavLst>
                                    </p:anim>
                                    <p:anim calcmode="lin" valueType="num">
                                      <p:cBhvr additive="base">
                                        <p:cTn id="13" dur="500" fill="hold"/>
                                        <p:tgtEl>
                                          <p:spTgt spid="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5"/>
                                        </p:tgtEl>
                                        <p:attrNameLst>
                                          <p:attrName>style.visibility</p:attrName>
                                        </p:attrNameLst>
                                      </p:cBhvr>
                                      <p:to>
                                        <p:strVal val="visible"/>
                                      </p:to>
                                    </p:set>
                                    <p:animEffect transition="in" filter="circle(in)">
                                      <p:cBhvr>
                                        <p:cTn id="18" dur="2000"/>
                                        <p:tgtEl>
                                          <p:spTgt spid="5"/>
                                        </p:tgtEl>
                                      </p:cBhvr>
                                    </p:animEffect>
                                  </p:childTnLst>
                                </p:cTn>
                              </p:par>
                            </p:childTnLst>
                          </p:cTn>
                        </p:par>
                      </p:childTnLst>
                    </p:cTn>
                  </p:par>
                  <p:par>
                    <p:cTn id="19" fill="hold">
                      <p:stCondLst>
                        <p:cond delay="indefinite"/>
                      </p:stCondLst>
                      <p:childTnLst>
                        <p:par>
                          <p:cTn id="20" fill="hold">
                            <p:stCondLst>
                              <p:cond delay="0"/>
                            </p:stCondLst>
                            <p:childTnLst>
                              <p:par>
                                <p:cTn id="21" presetID="42"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1000"/>
                                        <p:tgtEl>
                                          <p:spTgt spid="6"/>
                                        </p:tgtEl>
                                      </p:cBhvr>
                                    </p:animEffect>
                                    <p:anim calcmode="lin" valueType="num">
                                      <p:cBhvr>
                                        <p:cTn id="24" dur="1000" fill="hold"/>
                                        <p:tgtEl>
                                          <p:spTgt spid="6"/>
                                        </p:tgtEl>
                                        <p:attrNameLst>
                                          <p:attrName>ppt_x</p:attrName>
                                        </p:attrNameLst>
                                      </p:cBhvr>
                                      <p:tavLst>
                                        <p:tav tm="0">
                                          <p:val>
                                            <p:strVal val="#ppt_x"/>
                                          </p:val>
                                        </p:tav>
                                        <p:tav tm="100000">
                                          <p:val>
                                            <p:strVal val="#ppt_x"/>
                                          </p:val>
                                        </p:tav>
                                      </p:tavLst>
                                    </p:anim>
                                    <p:anim calcmode="lin" valueType="num">
                                      <p:cBhvr>
                                        <p:cTn id="2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53" presetClass="entr" presetSubtype="16" fill="hold" grpId="0" nodeType="clickEffect">
                                  <p:stCondLst>
                                    <p:cond delay="0"/>
                                  </p:stCondLst>
                                  <p:childTnLst>
                                    <p:set>
                                      <p:cBhvr>
                                        <p:cTn id="29" dur="1" fill="hold">
                                          <p:stCondLst>
                                            <p:cond delay="0"/>
                                          </p:stCondLst>
                                        </p:cTn>
                                        <p:tgtEl>
                                          <p:spTgt spid="7"/>
                                        </p:tgtEl>
                                        <p:attrNameLst>
                                          <p:attrName>style.visibility</p:attrName>
                                        </p:attrNameLst>
                                      </p:cBhvr>
                                      <p:to>
                                        <p:strVal val="visible"/>
                                      </p:to>
                                    </p:set>
                                    <p:anim calcmode="lin" valueType="num">
                                      <p:cBhvr>
                                        <p:cTn id="30" dur="500" fill="hold"/>
                                        <p:tgtEl>
                                          <p:spTgt spid="7"/>
                                        </p:tgtEl>
                                        <p:attrNameLst>
                                          <p:attrName>ppt_w</p:attrName>
                                        </p:attrNameLst>
                                      </p:cBhvr>
                                      <p:tavLst>
                                        <p:tav tm="0">
                                          <p:val>
                                            <p:fltVal val="0"/>
                                          </p:val>
                                        </p:tav>
                                        <p:tav tm="100000">
                                          <p:val>
                                            <p:strVal val="#ppt_w"/>
                                          </p:val>
                                        </p:tav>
                                      </p:tavLst>
                                    </p:anim>
                                    <p:anim calcmode="lin" valueType="num">
                                      <p:cBhvr>
                                        <p:cTn id="31" dur="500" fill="hold"/>
                                        <p:tgtEl>
                                          <p:spTgt spid="7"/>
                                        </p:tgtEl>
                                        <p:attrNameLst>
                                          <p:attrName>ppt_h</p:attrName>
                                        </p:attrNameLst>
                                      </p:cBhvr>
                                      <p:tavLst>
                                        <p:tav tm="0">
                                          <p:val>
                                            <p:fltVal val="0"/>
                                          </p:val>
                                        </p:tav>
                                        <p:tav tm="100000">
                                          <p:val>
                                            <p:strVal val="#ppt_h"/>
                                          </p:val>
                                        </p:tav>
                                      </p:tavLst>
                                    </p:anim>
                                    <p:animEffect transition="in" filter="fade">
                                      <p:cBhvr>
                                        <p:cTn id="3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 xmlns:a16="http://schemas.microsoft.com/office/drawing/2014/main" id="{9F5E2EC5-6214-4064-B5FA-5887360C4C27}"/>
              </a:ext>
            </a:extLst>
          </p:cNvPr>
          <p:cNvSpPr txBox="1"/>
          <p:nvPr/>
        </p:nvSpPr>
        <p:spPr>
          <a:xfrm>
            <a:off x="425570" y="310551"/>
            <a:ext cx="11096445" cy="9541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800" dirty="0"/>
              <a:t>The procedure suggested by Johnson for determining the optimal sequence can be summarized as follows. </a:t>
            </a:r>
            <a:endParaRPr lang="en-US" sz="2800" dirty="0">
              <a:cs typeface="Calibri"/>
            </a:endParaRPr>
          </a:p>
        </p:txBody>
      </p:sp>
      <p:pic>
        <p:nvPicPr>
          <p:cNvPr id="3" name="Picture 3" descr="A screenshot of a cell phone&#10;&#10;Description automatically generated">
            <a:extLst>
              <a:ext uri="{FF2B5EF4-FFF2-40B4-BE49-F238E27FC236}">
                <a16:creationId xmlns="" xmlns:a16="http://schemas.microsoft.com/office/drawing/2014/main" id="{32100303-DD35-46AA-85E2-2BAC98594CCA}"/>
              </a:ext>
            </a:extLst>
          </p:cNvPr>
          <p:cNvPicPr>
            <a:picLocks noChangeAspect="1"/>
          </p:cNvPicPr>
          <p:nvPr/>
        </p:nvPicPr>
        <p:blipFill>
          <a:blip r:embed="rId2"/>
          <a:stretch>
            <a:fillRect/>
          </a:stretch>
        </p:blipFill>
        <p:spPr>
          <a:xfrm>
            <a:off x="1219200" y="1348750"/>
            <a:ext cx="9126746" cy="5207693"/>
          </a:xfrm>
          <a:prstGeom prst="rect">
            <a:avLst/>
          </a:prstGeom>
        </p:spPr>
      </p:pic>
    </p:spTree>
    <p:extLst>
      <p:ext uri="{BB962C8B-B14F-4D97-AF65-F5344CB8AC3E}">
        <p14:creationId xmlns:p14="http://schemas.microsoft.com/office/powerpoint/2010/main" val="349628485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5772959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cell phone&#10;&#10;Description automatically generated">
            <a:extLst>
              <a:ext uri="{FF2B5EF4-FFF2-40B4-BE49-F238E27FC236}">
                <a16:creationId xmlns="" xmlns:a16="http://schemas.microsoft.com/office/drawing/2014/main" id="{032049DC-437D-49E6-83E1-E6E642233BFF}"/>
              </a:ext>
            </a:extLst>
          </p:cNvPr>
          <p:cNvPicPr>
            <a:picLocks noChangeAspect="1"/>
          </p:cNvPicPr>
          <p:nvPr/>
        </p:nvPicPr>
        <p:blipFill>
          <a:blip r:embed="rId2"/>
          <a:stretch>
            <a:fillRect/>
          </a:stretch>
        </p:blipFill>
        <p:spPr>
          <a:xfrm>
            <a:off x="194689" y="194687"/>
            <a:ext cx="7789653" cy="6395432"/>
          </a:xfrm>
          <a:prstGeom prst="rect">
            <a:avLst/>
          </a:prstGeom>
        </p:spPr>
      </p:pic>
      <p:graphicFrame>
        <p:nvGraphicFramePr>
          <p:cNvPr id="3" name="Table 2">
            <a:extLst>
              <a:ext uri="{FF2B5EF4-FFF2-40B4-BE49-F238E27FC236}">
                <a16:creationId xmlns="" xmlns:a16="http://schemas.microsoft.com/office/drawing/2014/main" id="{C435925F-D234-428B-88F6-72EB08E637B4}"/>
              </a:ext>
            </a:extLst>
          </p:cNvPr>
          <p:cNvGraphicFramePr>
            <a:graphicFrameLocks noGrp="1"/>
          </p:cNvGraphicFramePr>
          <p:nvPr>
            <p:extLst>
              <p:ext uri="{D42A27DB-BD31-4B8C-83A1-F6EECF244321}">
                <p14:modId xmlns:p14="http://schemas.microsoft.com/office/powerpoint/2010/main" val="564908894"/>
              </p:ext>
            </p:extLst>
          </p:nvPr>
        </p:nvGraphicFramePr>
        <p:xfrm>
          <a:off x="8123976" y="236629"/>
          <a:ext cx="3606470" cy="1526853"/>
        </p:xfrm>
        <a:graphic>
          <a:graphicData uri="http://schemas.openxmlformats.org/drawingml/2006/table">
            <a:tbl>
              <a:tblPr firstRow="1" bandRow="1">
                <a:tableStyleId>{5C22544A-7EE6-4342-B048-85BDC9FD1C3A}</a:tableStyleId>
              </a:tblPr>
              <a:tblGrid>
                <a:gridCol w="2012600">
                  <a:extLst>
                    <a:ext uri="{9D8B030D-6E8A-4147-A177-3AD203B41FA5}">
                      <a16:colId xmlns="" xmlns:a16="http://schemas.microsoft.com/office/drawing/2014/main" val="1719567077"/>
                    </a:ext>
                  </a:extLst>
                </a:gridCol>
                <a:gridCol w="265645">
                  <a:extLst>
                    <a:ext uri="{9D8B030D-6E8A-4147-A177-3AD203B41FA5}">
                      <a16:colId xmlns="" xmlns:a16="http://schemas.microsoft.com/office/drawing/2014/main" val="2251345556"/>
                    </a:ext>
                  </a:extLst>
                </a:gridCol>
                <a:gridCol w="265645">
                  <a:extLst>
                    <a:ext uri="{9D8B030D-6E8A-4147-A177-3AD203B41FA5}">
                      <a16:colId xmlns="" xmlns:a16="http://schemas.microsoft.com/office/drawing/2014/main" val="2523352482"/>
                    </a:ext>
                  </a:extLst>
                </a:gridCol>
                <a:gridCol w="265645">
                  <a:extLst>
                    <a:ext uri="{9D8B030D-6E8A-4147-A177-3AD203B41FA5}">
                      <a16:colId xmlns="" xmlns:a16="http://schemas.microsoft.com/office/drawing/2014/main" val="4016442640"/>
                    </a:ext>
                  </a:extLst>
                </a:gridCol>
                <a:gridCol w="265645">
                  <a:extLst>
                    <a:ext uri="{9D8B030D-6E8A-4147-A177-3AD203B41FA5}">
                      <a16:colId xmlns="" xmlns:a16="http://schemas.microsoft.com/office/drawing/2014/main" val="1514746039"/>
                    </a:ext>
                  </a:extLst>
                </a:gridCol>
                <a:gridCol w="265645">
                  <a:extLst>
                    <a:ext uri="{9D8B030D-6E8A-4147-A177-3AD203B41FA5}">
                      <a16:colId xmlns="" xmlns:a16="http://schemas.microsoft.com/office/drawing/2014/main" val="1629338155"/>
                    </a:ext>
                  </a:extLst>
                </a:gridCol>
                <a:gridCol w="265645">
                  <a:extLst>
                    <a:ext uri="{9D8B030D-6E8A-4147-A177-3AD203B41FA5}">
                      <a16:colId xmlns="" xmlns:a16="http://schemas.microsoft.com/office/drawing/2014/main" val="1514270705"/>
                    </a:ext>
                  </a:extLst>
                </a:gridCol>
              </a:tblGrid>
              <a:tr h="508951">
                <a:tc>
                  <a:txBody>
                    <a:bodyPr/>
                    <a:lstStyle/>
                    <a:p>
                      <a:r>
                        <a:rPr lang="en-GB" sz="2400" dirty="0">
                          <a:solidFill>
                            <a:schemeClr val="tx1"/>
                          </a:solidFill>
                        </a:rPr>
                        <a:t>No. of jobs</a:t>
                      </a:r>
                    </a:p>
                  </a:txBody>
                  <a:tcPr/>
                </a:tc>
                <a:tc>
                  <a:txBody>
                    <a:bodyPr/>
                    <a:lstStyle/>
                    <a:p>
                      <a:pPr algn="ctr"/>
                      <a:r>
                        <a:rPr lang="en-GB" sz="2400" dirty="0">
                          <a:solidFill>
                            <a:schemeClr val="tx1"/>
                          </a:solidFill>
                        </a:rPr>
                        <a:t>1</a:t>
                      </a:r>
                    </a:p>
                  </a:txBody>
                  <a:tcPr/>
                </a:tc>
                <a:tc>
                  <a:txBody>
                    <a:bodyPr/>
                    <a:lstStyle/>
                    <a:p>
                      <a:pPr algn="ctr"/>
                      <a:r>
                        <a:rPr lang="en-GB" sz="2400" dirty="0">
                          <a:solidFill>
                            <a:schemeClr val="tx1"/>
                          </a:solidFill>
                        </a:rPr>
                        <a:t>2</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4</a:t>
                      </a:r>
                    </a:p>
                  </a:txBody>
                  <a:tcPr/>
                </a:tc>
                <a:tc>
                  <a:txBody>
                    <a:bodyPr/>
                    <a:lstStyle/>
                    <a:p>
                      <a:pPr algn="ctr"/>
                      <a:r>
                        <a:rPr lang="en-GB" sz="2400" dirty="0">
                          <a:solidFill>
                            <a:schemeClr val="tx1"/>
                          </a:solidFill>
                        </a:rPr>
                        <a:t>5</a:t>
                      </a:r>
                    </a:p>
                  </a:txBody>
                  <a:tcPr/>
                </a:tc>
                <a:tc>
                  <a:txBody>
                    <a:bodyPr/>
                    <a:lstStyle/>
                    <a:p>
                      <a:pPr algn="ctr"/>
                      <a:r>
                        <a:rPr lang="en-GB" sz="2400" dirty="0">
                          <a:solidFill>
                            <a:schemeClr val="tx1"/>
                          </a:solidFill>
                        </a:rPr>
                        <a:t>6</a:t>
                      </a:r>
                    </a:p>
                  </a:txBody>
                  <a:tcPr/>
                </a:tc>
                <a:extLst>
                  <a:ext uri="{0D108BD9-81ED-4DB2-BD59-A6C34878D82A}">
                    <a16:rowId xmlns="" xmlns:a16="http://schemas.microsoft.com/office/drawing/2014/main" val="3413330748"/>
                  </a:ext>
                </a:extLst>
              </a:tr>
              <a:tr h="508951">
                <a:tc>
                  <a:txBody>
                    <a:bodyPr/>
                    <a:lstStyle/>
                    <a:p>
                      <a:r>
                        <a:rPr lang="en-GB" sz="2400" dirty="0">
                          <a:solidFill>
                            <a:schemeClr val="tx1"/>
                          </a:solidFill>
                        </a:rPr>
                        <a:t>Machine A</a:t>
                      </a:r>
                    </a:p>
                  </a:txBody>
                  <a:tcPr/>
                </a:tc>
                <a:tc>
                  <a:txBody>
                    <a:bodyPr/>
                    <a:lstStyle/>
                    <a:p>
                      <a:pPr algn="ctr"/>
                      <a:r>
                        <a:rPr lang="en-GB" sz="2400" dirty="0">
                          <a:solidFill>
                            <a:schemeClr val="tx1"/>
                          </a:solidFill>
                        </a:rPr>
                        <a:t>4</a:t>
                      </a:r>
                    </a:p>
                  </a:txBody>
                  <a:tcPr/>
                </a:tc>
                <a:tc>
                  <a:txBody>
                    <a:bodyPr/>
                    <a:lstStyle/>
                    <a:p>
                      <a:pPr algn="ctr"/>
                      <a:r>
                        <a:rPr lang="en-GB" sz="2400" dirty="0">
                          <a:solidFill>
                            <a:schemeClr val="tx1"/>
                          </a:solidFill>
                        </a:rPr>
                        <a:t>8</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6</a:t>
                      </a:r>
                    </a:p>
                  </a:txBody>
                  <a:tcPr/>
                </a:tc>
                <a:tc>
                  <a:txBody>
                    <a:bodyPr/>
                    <a:lstStyle/>
                    <a:p>
                      <a:pPr algn="ctr"/>
                      <a:r>
                        <a:rPr lang="en-GB" sz="2400" dirty="0">
                          <a:solidFill>
                            <a:schemeClr val="tx1"/>
                          </a:solidFill>
                        </a:rPr>
                        <a:t>7</a:t>
                      </a:r>
                    </a:p>
                  </a:txBody>
                  <a:tcPr/>
                </a:tc>
                <a:tc>
                  <a:txBody>
                    <a:bodyPr/>
                    <a:lstStyle/>
                    <a:p>
                      <a:pPr algn="ctr"/>
                      <a:r>
                        <a:rPr lang="en-GB" sz="2400" dirty="0">
                          <a:solidFill>
                            <a:schemeClr val="tx1"/>
                          </a:solidFill>
                        </a:rPr>
                        <a:t>5</a:t>
                      </a:r>
                    </a:p>
                  </a:txBody>
                  <a:tcPr/>
                </a:tc>
                <a:extLst>
                  <a:ext uri="{0D108BD9-81ED-4DB2-BD59-A6C34878D82A}">
                    <a16:rowId xmlns="" xmlns:a16="http://schemas.microsoft.com/office/drawing/2014/main" val="3915113633"/>
                  </a:ext>
                </a:extLst>
              </a:tr>
              <a:tr h="508951">
                <a:tc>
                  <a:txBody>
                    <a:bodyPr/>
                    <a:lstStyle/>
                    <a:p>
                      <a:r>
                        <a:rPr lang="en-GB" sz="2400" dirty="0">
                          <a:solidFill>
                            <a:schemeClr val="tx1"/>
                          </a:solidFill>
                        </a:rPr>
                        <a:t>Machine B</a:t>
                      </a:r>
                    </a:p>
                  </a:txBody>
                  <a:tcPr/>
                </a:tc>
                <a:tc>
                  <a:txBody>
                    <a:bodyPr/>
                    <a:lstStyle/>
                    <a:p>
                      <a:pPr algn="ctr"/>
                      <a:r>
                        <a:rPr lang="en-GB" sz="2400" dirty="0">
                          <a:solidFill>
                            <a:schemeClr val="tx1"/>
                          </a:solidFill>
                        </a:rPr>
                        <a:t>6</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7</a:t>
                      </a:r>
                    </a:p>
                  </a:txBody>
                  <a:tcPr/>
                </a:tc>
                <a:tc>
                  <a:txBody>
                    <a:bodyPr/>
                    <a:lstStyle/>
                    <a:p>
                      <a:pPr algn="ctr"/>
                      <a:r>
                        <a:rPr lang="en-GB" sz="2400" dirty="0">
                          <a:solidFill>
                            <a:schemeClr val="tx1"/>
                          </a:solidFill>
                        </a:rPr>
                        <a:t>2</a:t>
                      </a:r>
                    </a:p>
                  </a:txBody>
                  <a:tcPr/>
                </a:tc>
                <a:tc>
                  <a:txBody>
                    <a:bodyPr/>
                    <a:lstStyle/>
                    <a:p>
                      <a:pPr algn="ctr"/>
                      <a:r>
                        <a:rPr lang="en-GB" sz="2400" dirty="0">
                          <a:solidFill>
                            <a:schemeClr val="tx1"/>
                          </a:solidFill>
                        </a:rPr>
                        <a:t>8</a:t>
                      </a:r>
                    </a:p>
                  </a:txBody>
                  <a:tcPr/>
                </a:tc>
                <a:tc>
                  <a:txBody>
                    <a:bodyPr/>
                    <a:lstStyle/>
                    <a:p>
                      <a:pPr algn="ctr"/>
                      <a:r>
                        <a:rPr lang="en-GB" sz="2400" dirty="0">
                          <a:solidFill>
                            <a:schemeClr val="tx1"/>
                          </a:solidFill>
                        </a:rPr>
                        <a:t>4</a:t>
                      </a:r>
                    </a:p>
                  </a:txBody>
                  <a:tcPr/>
                </a:tc>
                <a:extLst>
                  <a:ext uri="{0D108BD9-81ED-4DB2-BD59-A6C34878D82A}">
                    <a16:rowId xmlns="" xmlns:a16="http://schemas.microsoft.com/office/drawing/2014/main" val="299027971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3315419301"/>
              </p:ext>
            </p:extLst>
          </p:nvPr>
        </p:nvGraphicFramePr>
        <p:xfrm>
          <a:off x="8385233" y="1969317"/>
          <a:ext cx="3005580" cy="760820"/>
        </p:xfrm>
        <a:graphic>
          <a:graphicData uri="http://schemas.openxmlformats.org/drawingml/2006/table">
            <a:tbl>
              <a:tblPr firstRow="1" bandRow="1">
                <a:tableStyleId>{5C22544A-7EE6-4342-B048-85BDC9FD1C3A}</a:tableStyleId>
              </a:tblPr>
              <a:tblGrid>
                <a:gridCol w="500930">
                  <a:extLst>
                    <a:ext uri="{9D8B030D-6E8A-4147-A177-3AD203B41FA5}">
                      <a16:colId xmlns="" xmlns:a16="http://schemas.microsoft.com/office/drawing/2014/main" val="231459029"/>
                    </a:ext>
                  </a:extLst>
                </a:gridCol>
                <a:gridCol w="500930">
                  <a:extLst>
                    <a:ext uri="{9D8B030D-6E8A-4147-A177-3AD203B41FA5}">
                      <a16:colId xmlns="" xmlns:a16="http://schemas.microsoft.com/office/drawing/2014/main" val="1825377178"/>
                    </a:ext>
                  </a:extLst>
                </a:gridCol>
                <a:gridCol w="500930">
                  <a:extLst>
                    <a:ext uri="{9D8B030D-6E8A-4147-A177-3AD203B41FA5}">
                      <a16:colId xmlns="" xmlns:a16="http://schemas.microsoft.com/office/drawing/2014/main" val="1823603072"/>
                    </a:ext>
                  </a:extLst>
                </a:gridCol>
                <a:gridCol w="500930">
                  <a:extLst>
                    <a:ext uri="{9D8B030D-6E8A-4147-A177-3AD203B41FA5}">
                      <a16:colId xmlns="" xmlns:a16="http://schemas.microsoft.com/office/drawing/2014/main" val="3335343517"/>
                    </a:ext>
                  </a:extLst>
                </a:gridCol>
                <a:gridCol w="500930">
                  <a:extLst>
                    <a:ext uri="{9D8B030D-6E8A-4147-A177-3AD203B41FA5}">
                      <a16:colId xmlns="" xmlns:a16="http://schemas.microsoft.com/office/drawing/2014/main" val="656193704"/>
                    </a:ext>
                  </a:extLst>
                </a:gridCol>
                <a:gridCol w="500930">
                  <a:extLst>
                    <a:ext uri="{9D8B030D-6E8A-4147-A177-3AD203B41FA5}">
                      <a16:colId xmlns="" xmlns:a16="http://schemas.microsoft.com/office/drawing/2014/main" val="2981953462"/>
                    </a:ext>
                  </a:extLst>
                </a:gridCol>
              </a:tblGrid>
              <a:tr h="760820">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extLst>
                  <a:ext uri="{0D108BD9-81ED-4DB2-BD59-A6C34878D82A}">
                    <a16:rowId xmlns="" xmlns:a16="http://schemas.microsoft.com/office/drawing/2014/main" val="4131532982"/>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611035388"/>
              </p:ext>
            </p:extLst>
          </p:nvPr>
        </p:nvGraphicFramePr>
        <p:xfrm>
          <a:off x="7827588" y="3210284"/>
          <a:ext cx="4281680" cy="1526853"/>
        </p:xfrm>
        <a:graphic>
          <a:graphicData uri="http://schemas.openxmlformats.org/drawingml/2006/table">
            <a:tbl>
              <a:tblPr firstRow="1" bandRow="1">
                <a:tableStyleId>{5C22544A-7EE6-4342-B048-85BDC9FD1C3A}</a:tableStyleId>
              </a:tblPr>
              <a:tblGrid>
                <a:gridCol w="1355601">
                  <a:extLst>
                    <a:ext uri="{9D8B030D-6E8A-4147-A177-3AD203B41FA5}">
                      <a16:colId xmlns="" xmlns:a16="http://schemas.microsoft.com/office/drawing/2014/main" val="2986693594"/>
                    </a:ext>
                  </a:extLst>
                </a:gridCol>
                <a:gridCol w="287383">
                  <a:extLst>
                    <a:ext uri="{9D8B030D-6E8A-4147-A177-3AD203B41FA5}">
                      <a16:colId xmlns="" xmlns:a16="http://schemas.microsoft.com/office/drawing/2014/main" val="879653647"/>
                    </a:ext>
                  </a:extLst>
                </a:gridCol>
                <a:gridCol w="470263">
                  <a:extLst>
                    <a:ext uri="{9D8B030D-6E8A-4147-A177-3AD203B41FA5}">
                      <a16:colId xmlns="" xmlns:a16="http://schemas.microsoft.com/office/drawing/2014/main" val="2587358687"/>
                    </a:ext>
                  </a:extLst>
                </a:gridCol>
                <a:gridCol w="483326">
                  <a:extLst>
                    <a:ext uri="{9D8B030D-6E8A-4147-A177-3AD203B41FA5}">
                      <a16:colId xmlns="" xmlns:a16="http://schemas.microsoft.com/office/drawing/2014/main" val="826322989"/>
                    </a:ext>
                  </a:extLst>
                </a:gridCol>
                <a:gridCol w="404948">
                  <a:extLst>
                    <a:ext uri="{9D8B030D-6E8A-4147-A177-3AD203B41FA5}">
                      <a16:colId xmlns="" xmlns:a16="http://schemas.microsoft.com/office/drawing/2014/main" val="898711703"/>
                    </a:ext>
                  </a:extLst>
                </a:gridCol>
                <a:gridCol w="470263">
                  <a:extLst>
                    <a:ext uri="{9D8B030D-6E8A-4147-A177-3AD203B41FA5}">
                      <a16:colId xmlns="" xmlns:a16="http://schemas.microsoft.com/office/drawing/2014/main" val="1991607148"/>
                    </a:ext>
                  </a:extLst>
                </a:gridCol>
                <a:gridCol w="516152">
                  <a:extLst>
                    <a:ext uri="{9D8B030D-6E8A-4147-A177-3AD203B41FA5}">
                      <a16:colId xmlns="" xmlns:a16="http://schemas.microsoft.com/office/drawing/2014/main" val="2354048367"/>
                    </a:ext>
                  </a:extLst>
                </a:gridCol>
                <a:gridCol w="293744">
                  <a:extLst>
                    <a:ext uri="{9D8B030D-6E8A-4147-A177-3AD203B41FA5}">
                      <a16:colId xmlns="" xmlns:a16="http://schemas.microsoft.com/office/drawing/2014/main" val="2369151576"/>
                    </a:ext>
                  </a:extLst>
                </a:gridCol>
              </a:tblGrid>
              <a:tr h="508951">
                <a:tc>
                  <a:txBody>
                    <a:bodyPr/>
                    <a:lstStyle/>
                    <a:p>
                      <a:r>
                        <a:rPr lang="en-GB" sz="2000" dirty="0">
                          <a:solidFill>
                            <a:schemeClr val="tx1"/>
                          </a:solidFill>
                        </a:rPr>
                        <a:t>No. of jobs</a:t>
                      </a:r>
                    </a:p>
                  </a:txBody>
                  <a:tcPr/>
                </a:tc>
                <a:tc>
                  <a:txBody>
                    <a:bodyPr/>
                    <a:lstStyle/>
                    <a:p>
                      <a:pPr algn="ctr"/>
                      <a:r>
                        <a:rPr lang="en-GB" sz="2000" dirty="0">
                          <a:solidFill>
                            <a:schemeClr val="tx1"/>
                          </a:solidFill>
                        </a:rPr>
                        <a:t>1</a:t>
                      </a:r>
                    </a:p>
                  </a:txBody>
                  <a:tcPr/>
                </a:tc>
                <a:tc>
                  <a:txBody>
                    <a:bodyPr/>
                    <a:lstStyle/>
                    <a:p>
                      <a:pPr algn="ctr"/>
                      <a:r>
                        <a:rPr lang="en-GB" sz="2000" dirty="0">
                          <a:solidFill>
                            <a:schemeClr val="tx1"/>
                          </a:solidFill>
                        </a:rPr>
                        <a:t>2</a:t>
                      </a:r>
                    </a:p>
                  </a:txBody>
                  <a:tcPr/>
                </a:tc>
                <a:tc>
                  <a:txBody>
                    <a:bodyPr/>
                    <a:lstStyle/>
                    <a:p>
                      <a:pPr algn="ctr"/>
                      <a:r>
                        <a:rPr lang="en-GB" sz="2000" dirty="0">
                          <a:solidFill>
                            <a:schemeClr val="tx1"/>
                          </a:solidFill>
                        </a:rPr>
                        <a:t>3</a:t>
                      </a:r>
                    </a:p>
                  </a:txBody>
                  <a:tcPr/>
                </a:tc>
                <a:tc>
                  <a:txBody>
                    <a:bodyPr/>
                    <a:lstStyle/>
                    <a:p>
                      <a:pPr algn="ctr"/>
                      <a:r>
                        <a:rPr lang="en-GB" sz="2000" dirty="0">
                          <a:solidFill>
                            <a:schemeClr val="tx1"/>
                          </a:solidFill>
                        </a:rPr>
                        <a:t>4</a:t>
                      </a:r>
                    </a:p>
                  </a:txBody>
                  <a:tcPr/>
                </a:tc>
                <a:tc>
                  <a:txBody>
                    <a:bodyPr/>
                    <a:lstStyle/>
                    <a:p>
                      <a:pPr algn="ctr"/>
                      <a:r>
                        <a:rPr lang="en-GB" sz="2000" dirty="0">
                          <a:solidFill>
                            <a:schemeClr val="tx1"/>
                          </a:solidFill>
                        </a:rPr>
                        <a:t>5</a:t>
                      </a:r>
                    </a:p>
                  </a:txBody>
                  <a:tcPr/>
                </a:tc>
                <a:tc>
                  <a:txBody>
                    <a:bodyPr/>
                    <a:lstStyle/>
                    <a:p>
                      <a:pPr algn="ctr"/>
                      <a:r>
                        <a:rPr lang="en-GB" sz="2000" dirty="0">
                          <a:solidFill>
                            <a:schemeClr val="tx1"/>
                          </a:solidFill>
                        </a:rPr>
                        <a:t>6</a:t>
                      </a:r>
                    </a:p>
                  </a:txBody>
                  <a:tcPr/>
                </a:tc>
                <a:tc>
                  <a:txBody>
                    <a:bodyPr/>
                    <a:lstStyle/>
                    <a:p>
                      <a:pPr algn="ctr"/>
                      <a:r>
                        <a:rPr lang="en-GB" sz="2000" dirty="0" smtClean="0">
                          <a:solidFill>
                            <a:schemeClr val="tx1"/>
                          </a:solidFill>
                        </a:rPr>
                        <a:t>7</a:t>
                      </a:r>
                      <a:endParaRPr lang="en-GB" sz="2000" dirty="0">
                        <a:solidFill>
                          <a:schemeClr val="tx1"/>
                        </a:solidFill>
                      </a:endParaRPr>
                    </a:p>
                  </a:txBody>
                  <a:tcPr/>
                </a:tc>
                <a:extLst>
                  <a:ext uri="{0D108BD9-81ED-4DB2-BD59-A6C34878D82A}">
                    <a16:rowId xmlns="" xmlns:a16="http://schemas.microsoft.com/office/drawing/2014/main" val="1664719533"/>
                  </a:ext>
                </a:extLst>
              </a:tr>
              <a:tr h="508951">
                <a:tc>
                  <a:txBody>
                    <a:bodyPr/>
                    <a:lstStyle/>
                    <a:p>
                      <a:r>
                        <a:rPr lang="en-GB" sz="2000" dirty="0">
                          <a:solidFill>
                            <a:schemeClr val="tx1"/>
                          </a:solidFill>
                        </a:rPr>
                        <a:t>Machine A</a:t>
                      </a:r>
                    </a:p>
                  </a:txBody>
                  <a:tcPr/>
                </a:tc>
                <a:tc>
                  <a:txBody>
                    <a:bodyPr/>
                    <a:lstStyle/>
                    <a:p>
                      <a:pPr algn="ctr"/>
                      <a:r>
                        <a:rPr lang="en-GB" sz="2000" dirty="0" smtClean="0">
                          <a:solidFill>
                            <a:schemeClr val="tx1"/>
                          </a:solidFill>
                        </a:rPr>
                        <a:t>3</a:t>
                      </a:r>
                      <a:endParaRPr lang="en-GB" sz="2000" dirty="0">
                        <a:solidFill>
                          <a:schemeClr val="tx1"/>
                        </a:solidFill>
                      </a:endParaRPr>
                    </a:p>
                  </a:txBody>
                  <a:tcPr/>
                </a:tc>
                <a:tc>
                  <a:txBody>
                    <a:bodyPr/>
                    <a:lstStyle/>
                    <a:p>
                      <a:pPr algn="ctr"/>
                      <a:r>
                        <a:rPr lang="en-GB" sz="2000" dirty="0" smtClean="0">
                          <a:solidFill>
                            <a:schemeClr val="tx1"/>
                          </a:solidFill>
                        </a:rPr>
                        <a:t>12</a:t>
                      </a:r>
                      <a:endParaRPr lang="en-GB" sz="2000" dirty="0">
                        <a:solidFill>
                          <a:schemeClr val="tx1"/>
                        </a:solidFill>
                      </a:endParaRPr>
                    </a:p>
                  </a:txBody>
                  <a:tcPr/>
                </a:tc>
                <a:tc>
                  <a:txBody>
                    <a:bodyPr/>
                    <a:lstStyle/>
                    <a:p>
                      <a:pPr algn="ctr"/>
                      <a:r>
                        <a:rPr lang="en-GB" sz="2000" dirty="0" smtClean="0">
                          <a:solidFill>
                            <a:schemeClr val="tx1"/>
                          </a:solidFill>
                        </a:rPr>
                        <a:t>15</a:t>
                      </a:r>
                      <a:endParaRPr lang="en-GB" sz="2000" dirty="0">
                        <a:solidFill>
                          <a:schemeClr val="tx1"/>
                        </a:solidFill>
                      </a:endParaRPr>
                    </a:p>
                  </a:txBody>
                  <a:tcPr/>
                </a:tc>
                <a:tc>
                  <a:txBody>
                    <a:bodyPr/>
                    <a:lstStyle/>
                    <a:p>
                      <a:pPr algn="ctr"/>
                      <a:r>
                        <a:rPr lang="en-GB" sz="2000" dirty="0" smtClean="0">
                          <a:solidFill>
                            <a:schemeClr val="tx1"/>
                          </a:solidFill>
                        </a:rPr>
                        <a:t>6</a:t>
                      </a:r>
                      <a:endParaRPr lang="en-GB" sz="2000" dirty="0">
                        <a:solidFill>
                          <a:schemeClr val="tx1"/>
                        </a:solidFill>
                      </a:endParaRPr>
                    </a:p>
                  </a:txBody>
                  <a:tcPr/>
                </a:tc>
                <a:tc>
                  <a:txBody>
                    <a:bodyPr/>
                    <a:lstStyle/>
                    <a:p>
                      <a:pPr algn="ctr"/>
                      <a:r>
                        <a:rPr lang="en-GB" sz="2000" dirty="0" smtClean="0">
                          <a:solidFill>
                            <a:schemeClr val="tx1"/>
                          </a:solidFill>
                        </a:rPr>
                        <a:t>10</a:t>
                      </a:r>
                      <a:endParaRPr lang="en-GB" sz="2000" dirty="0">
                        <a:solidFill>
                          <a:schemeClr val="tx1"/>
                        </a:solidFill>
                      </a:endParaRPr>
                    </a:p>
                  </a:txBody>
                  <a:tcPr/>
                </a:tc>
                <a:tc>
                  <a:txBody>
                    <a:bodyPr/>
                    <a:lstStyle/>
                    <a:p>
                      <a:pPr algn="ctr"/>
                      <a:r>
                        <a:rPr lang="en-GB" sz="2000" dirty="0" smtClean="0">
                          <a:solidFill>
                            <a:schemeClr val="tx1"/>
                          </a:solidFill>
                        </a:rPr>
                        <a:t>11</a:t>
                      </a:r>
                      <a:endParaRPr lang="en-GB" sz="2000" dirty="0">
                        <a:solidFill>
                          <a:schemeClr val="tx1"/>
                        </a:solidFill>
                      </a:endParaRPr>
                    </a:p>
                  </a:txBody>
                  <a:tcPr/>
                </a:tc>
                <a:tc>
                  <a:txBody>
                    <a:bodyPr/>
                    <a:lstStyle/>
                    <a:p>
                      <a:pPr algn="ctr"/>
                      <a:r>
                        <a:rPr lang="en-GB" sz="2000" dirty="0" smtClean="0">
                          <a:solidFill>
                            <a:schemeClr val="tx1"/>
                          </a:solidFill>
                        </a:rPr>
                        <a:t>9</a:t>
                      </a:r>
                      <a:endParaRPr lang="en-GB" sz="2000" dirty="0">
                        <a:solidFill>
                          <a:schemeClr val="tx1"/>
                        </a:solidFill>
                      </a:endParaRPr>
                    </a:p>
                  </a:txBody>
                  <a:tcPr/>
                </a:tc>
                <a:extLst>
                  <a:ext uri="{0D108BD9-81ED-4DB2-BD59-A6C34878D82A}">
                    <a16:rowId xmlns="" xmlns:a16="http://schemas.microsoft.com/office/drawing/2014/main" val="1565280289"/>
                  </a:ext>
                </a:extLst>
              </a:tr>
              <a:tr h="508951">
                <a:tc>
                  <a:txBody>
                    <a:bodyPr/>
                    <a:lstStyle/>
                    <a:p>
                      <a:r>
                        <a:rPr lang="en-GB" sz="2000" dirty="0">
                          <a:solidFill>
                            <a:schemeClr val="tx1"/>
                          </a:solidFill>
                        </a:rPr>
                        <a:t>Machine B</a:t>
                      </a:r>
                    </a:p>
                  </a:txBody>
                  <a:tcPr/>
                </a:tc>
                <a:tc>
                  <a:txBody>
                    <a:bodyPr/>
                    <a:lstStyle/>
                    <a:p>
                      <a:pPr algn="ctr"/>
                      <a:r>
                        <a:rPr lang="en-GB" sz="2000" dirty="0" smtClean="0">
                          <a:solidFill>
                            <a:schemeClr val="tx1"/>
                          </a:solidFill>
                        </a:rPr>
                        <a:t>8</a:t>
                      </a:r>
                      <a:endParaRPr lang="en-GB" sz="2000" dirty="0">
                        <a:solidFill>
                          <a:schemeClr val="tx1"/>
                        </a:solidFill>
                      </a:endParaRPr>
                    </a:p>
                  </a:txBody>
                  <a:tcPr/>
                </a:tc>
                <a:tc>
                  <a:txBody>
                    <a:bodyPr/>
                    <a:lstStyle/>
                    <a:p>
                      <a:pPr algn="ctr"/>
                      <a:r>
                        <a:rPr lang="en-GB" sz="2000" dirty="0" smtClean="0">
                          <a:solidFill>
                            <a:schemeClr val="tx1"/>
                          </a:solidFill>
                        </a:rPr>
                        <a:t>10</a:t>
                      </a:r>
                      <a:endParaRPr lang="en-GB" sz="2000" dirty="0">
                        <a:solidFill>
                          <a:schemeClr val="tx1"/>
                        </a:solidFill>
                      </a:endParaRPr>
                    </a:p>
                  </a:txBody>
                  <a:tcPr/>
                </a:tc>
                <a:tc>
                  <a:txBody>
                    <a:bodyPr/>
                    <a:lstStyle/>
                    <a:p>
                      <a:pPr algn="ctr"/>
                      <a:r>
                        <a:rPr lang="en-GB" sz="2000" dirty="0" smtClean="0">
                          <a:solidFill>
                            <a:schemeClr val="tx1"/>
                          </a:solidFill>
                        </a:rPr>
                        <a:t>10</a:t>
                      </a:r>
                      <a:endParaRPr lang="en-GB" sz="2000" dirty="0">
                        <a:solidFill>
                          <a:schemeClr val="tx1"/>
                        </a:solidFill>
                      </a:endParaRPr>
                    </a:p>
                  </a:txBody>
                  <a:tcPr/>
                </a:tc>
                <a:tc>
                  <a:txBody>
                    <a:bodyPr/>
                    <a:lstStyle/>
                    <a:p>
                      <a:pPr algn="ctr"/>
                      <a:r>
                        <a:rPr lang="en-GB" sz="2000" dirty="0" smtClean="0">
                          <a:solidFill>
                            <a:schemeClr val="tx1"/>
                          </a:solidFill>
                        </a:rPr>
                        <a:t>6</a:t>
                      </a:r>
                      <a:endParaRPr lang="en-GB" sz="2000" dirty="0">
                        <a:solidFill>
                          <a:schemeClr val="tx1"/>
                        </a:solidFill>
                      </a:endParaRPr>
                    </a:p>
                  </a:txBody>
                  <a:tcPr/>
                </a:tc>
                <a:tc>
                  <a:txBody>
                    <a:bodyPr/>
                    <a:lstStyle/>
                    <a:p>
                      <a:pPr algn="ctr"/>
                      <a:r>
                        <a:rPr lang="en-GB" sz="2000" dirty="0" smtClean="0">
                          <a:solidFill>
                            <a:schemeClr val="tx1"/>
                          </a:solidFill>
                        </a:rPr>
                        <a:t>12</a:t>
                      </a:r>
                      <a:endParaRPr lang="en-GB" sz="2000" dirty="0">
                        <a:solidFill>
                          <a:schemeClr val="tx1"/>
                        </a:solidFill>
                      </a:endParaRPr>
                    </a:p>
                  </a:txBody>
                  <a:tcPr/>
                </a:tc>
                <a:tc>
                  <a:txBody>
                    <a:bodyPr/>
                    <a:lstStyle/>
                    <a:p>
                      <a:pPr algn="ctr"/>
                      <a:r>
                        <a:rPr lang="en-GB" sz="2000" dirty="0" smtClean="0">
                          <a:solidFill>
                            <a:schemeClr val="tx1"/>
                          </a:solidFill>
                        </a:rPr>
                        <a:t>1</a:t>
                      </a:r>
                      <a:endParaRPr lang="en-GB" sz="2000" dirty="0">
                        <a:solidFill>
                          <a:schemeClr val="tx1"/>
                        </a:solidFill>
                      </a:endParaRPr>
                    </a:p>
                  </a:txBody>
                  <a:tcPr/>
                </a:tc>
                <a:tc>
                  <a:txBody>
                    <a:bodyPr/>
                    <a:lstStyle/>
                    <a:p>
                      <a:pPr algn="ctr"/>
                      <a:r>
                        <a:rPr lang="en-GB" sz="2000" dirty="0" smtClean="0">
                          <a:solidFill>
                            <a:schemeClr val="tx1"/>
                          </a:solidFill>
                        </a:rPr>
                        <a:t>3</a:t>
                      </a:r>
                      <a:endParaRPr lang="en-GB" sz="2000" dirty="0">
                        <a:solidFill>
                          <a:schemeClr val="tx1"/>
                        </a:solidFill>
                      </a:endParaRPr>
                    </a:p>
                  </a:txBody>
                  <a:tcPr/>
                </a:tc>
                <a:extLst>
                  <a:ext uri="{0D108BD9-81ED-4DB2-BD59-A6C34878D82A}">
                    <a16:rowId xmlns="" xmlns:a16="http://schemas.microsoft.com/office/drawing/2014/main" val="3518623753"/>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67085457"/>
              </p:ext>
            </p:extLst>
          </p:nvPr>
        </p:nvGraphicFramePr>
        <p:xfrm>
          <a:off x="8250250" y="4984914"/>
          <a:ext cx="3005583" cy="760820"/>
        </p:xfrm>
        <a:graphic>
          <a:graphicData uri="http://schemas.openxmlformats.org/drawingml/2006/table">
            <a:tbl>
              <a:tblPr firstRow="1" bandRow="1">
                <a:tableStyleId>{5C22544A-7EE6-4342-B048-85BDC9FD1C3A}</a:tableStyleId>
              </a:tblPr>
              <a:tblGrid>
                <a:gridCol w="429369">
                  <a:extLst>
                    <a:ext uri="{9D8B030D-6E8A-4147-A177-3AD203B41FA5}">
                      <a16:colId xmlns="" xmlns:a16="http://schemas.microsoft.com/office/drawing/2014/main" val="231459029"/>
                    </a:ext>
                  </a:extLst>
                </a:gridCol>
                <a:gridCol w="429369">
                  <a:extLst>
                    <a:ext uri="{9D8B030D-6E8A-4147-A177-3AD203B41FA5}">
                      <a16:colId xmlns="" xmlns:a16="http://schemas.microsoft.com/office/drawing/2014/main" val="1825377178"/>
                    </a:ext>
                  </a:extLst>
                </a:gridCol>
                <a:gridCol w="429369">
                  <a:extLst>
                    <a:ext uri="{9D8B030D-6E8A-4147-A177-3AD203B41FA5}">
                      <a16:colId xmlns="" xmlns:a16="http://schemas.microsoft.com/office/drawing/2014/main" val="1823603072"/>
                    </a:ext>
                  </a:extLst>
                </a:gridCol>
                <a:gridCol w="429369">
                  <a:extLst>
                    <a:ext uri="{9D8B030D-6E8A-4147-A177-3AD203B41FA5}">
                      <a16:colId xmlns="" xmlns:a16="http://schemas.microsoft.com/office/drawing/2014/main" val="3335343517"/>
                    </a:ext>
                  </a:extLst>
                </a:gridCol>
                <a:gridCol w="429369">
                  <a:extLst>
                    <a:ext uri="{9D8B030D-6E8A-4147-A177-3AD203B41FA5}">
                      <a16:colId xmlns="" xmlns:a16="http://schemas.microsoft.com/office/drawing/2014/main" val="656193704"/>
                    </a:ext>
                  </a:extLst>
                </a:gridCol>
                <a:gridCol w="429369">
                  <a:extLst>
                    <a:ext uri="{9D8B030D-6E8A-4147-A177-3AD203B41FA5}">
                      <a16:colId xmlns="" xmlns:a16="http://schemas.microsoft.com/office/drawing/2014/main" val="2981953462"/>
                    </a:ext>
                  </a:extLst>
                </a:gridCol>
                <a:gridCol w="429369">
                  <a:extLst>
                    <a:ext uri="{9D8B030D-6E8A-4147-A177-3AD203B41FA5}">
                      <a16:colId xmlns="" xmlns:a16="http://schemas.microsoft.com/office/drawing/2014/main" val="1742299078"/>
                    </a:ext>
                  </a:extLst>
                </a:gridCol>
              </a:tblGrid>
              <a:tr h="760820">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extLst>
                  <a:ext uri="{0D108BD9-81ED-4DB2-BD59-A6C34878D82A}">
                    <a16:rowId xmlns="" xmlns:a16="http://schemas.microsoft.com/office/drawing/2014/main" val="413153298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3033464472"/>
              </p:ext>
            </p:extLst>
          </p:nvPr>
        </p:nvGraphicFramePr>
        <p:xfrm>
          <a:off x="8250249" y="5993511"/>
          <a:ext cx="3005583" cy="760820"/>
        </p:xfrm>
        <a:graphic>
          <a:graphicData uri="http://schemas.openxmlformats.org/drawingml/2006/table">
            <a:tbl>
              <a:tblPr firstRow="1" bandRow="1">
                <a:tableStyleId>{5C22544A-7EE6-4342-B048-85BDC9FD1C3A}</a:tableStyleId>
              </a:tblPr>
              <a:tblGrid>
                <a:gridCol w="429369">
                  <a:extLst>
                    <a:ext uri="{9D8B030D-6E8A-4147-A177-3AD203B41FA5}">
                      <a16:colId xmlns="" xmlns:a16="http://schemas.microsoft.com/office/drawing/2014/main" val="231459029"/>
                    </a:ext>
                  </a:extLst>
                </a:gridCol>
                <a:gridCol w="429369">
                  <a:extLst>
                    <a:ext uri="{9D8B030D-6E8A-4147-A177-3AD203B41FA5}">
                      <a16:colId xmlns="" xmlns:a16="http://schemas.microsoft.com/office/drawing/2014/main" val="1825377178"/>
                    </a:ext>
                  </a:extLst>
                </a:gridCol>
                <a:gridCol w="429369">
                  <a:extLst>
                    <a:ext uri="{9D8B030D-6E8A-4147-A177-3AD203B41FA5}">
                      <a16:colId xmlns="" xmlns:a16="http://schemas.microsoft.com/office/drawing/2014/main" val="1823603072"/>
                    </a:ext>
                  </a:extLst>
                </a:gridCol>
                <a:gridCol w="429369">
                  <a:extLst>
                    <a:ext uri="{9D8B030D-6E8A-4147-A177-3AD203B41FA5}">
                      <a16:colId xmlns="" xmlns:a16="http://schemas.microsoft.com/office/drawing/2014/main" val="3335343517"/>
                    </a:ext>
                  </a:extLst>
                </a:gridCol>
                <a:gridCol w="429369">
                  <a:extLst>
                    <a:ext uri="{9D8B030D-6E8A-4147-A177-3AD203B41FA5}">
                      <a16:colId xmlns="" xmlns:a16="http://schemas.microsoft.com/office/drawing/2014/main" val="656193704"/>
                    </a:ext>
                  </a:extLst>
                </a:gridCol>
                <a:gridCol w="429369">
                  <a:extLst>
                    <a:ext uri="{9D8B030D-6E8A-4147-A177-3AD203B41FA5}">
                      <a16:colId xmlns="" xmlns:a16="http://schemas.microsoft.com/office/drawing/2014/main" val="2981953462"/>
                    </a:ext>
                  </a:extLst>
                </a:gridCol>
                <a:gridCol w="429369">
                  <a:extLst>
                    <a:ext uri="{9D8B030D-6E8A-4147-A177-3AD203B41FA5}">
                      <a16:colId xmlns="" xmlns:a16="http://schemas.microsoft.com/office/drawing/2014/main" val="1742299078"/>
                    </a:ext>
                  </a:extLst>
                </a:gridCol>
              </a:tblGrid>
              <a:tr h="760820">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extLst>
                  <a:ext uri="{0D108BD9-81ED-4DB2-BD59-A6C34878D82A}">
                    <a16:rowId xmlns="" xmlns:a16="http://schemas.microsoft.com/office/drawing/2014/main" val="4131532982"/>
                  </a:ext>
                </a:extLst>
              </a:tr>
            </a:tbl>
          </a:graphicData>
        </a:graphic>
      </p:graphicFrame>
    </p:spTree>
    <p:extLst>
      <p:ext uri="{BB962C8B-B14F-4D97-AF65-F5344CB8AC3E}">
        <p14:creationId xmlns:p14="http://schemas.microsoft.com/office/powerpoint/2010/main" val="1124980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ipe(dow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dow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picture containing orange&#10;&#10;Description automatically generated">
            <a:extLst>
              <a:ext uri="{FF2B5EF4-FFF2-40B4-BE49-F238E27FC236}">
                <a16:creationId xmlns="" xmlns:a16="http://schemas.microsoft.com/office/drawing/2014/main" id="{33115525-FD64-44EC-A7F1-62CA62FE5059}"/>
              </a:ext>
            </a:extLst>
          </p:cNvPr>
          <p:cNvPicPr>
            <a:picLocks noChangeAspect="1"/>
          </p:cNvPicPr>
          <p:nvPr/>
        </p:nvPicPr>
        <p:blipFill>
          <a:blip r:embed="rId2"/>
          <a:stretch>
            <a:fillRect/>
          </a:stretch>
        </p:blipFill>
        <p:spPr>
          <a:xfrm>
            <a:off x="1547004" y="322799"/>
            <a:ext cx="7947804" cy="950291"/>
          </a:xfrm>
          <a:prstGeom prst="rect">
            <a:avLst/>
          </a:prstGeom>
        </p:spPr>
      </p:pic>
      <p:pic>
        <p:nvPicPr>
          <p:cNvPr id="3" name="Picture 3" descr="A screenshot of a cell phone&#10;&#10;Description automatically generated">
            <a:extLst>
              <a:ext uri="{FF2B5EF4-FFF2-40B4-BE49-F238E27FC236}">
                <a16:creationId xmlns="" xmlns:a16="http://schemas.microsoft.com/office/drawing/2014/main" id="{C470FAA4-2DAC-454B-9882-7269243873AC}"/>
              </a:ext>
            </a:extLst>
          </p:cNvPr>
          <p:cNvPicPr>
            <a:picLocks noChangeAspect="1"/>
          </p:cNvPicPr>
          <p:nvPr/>
        </p:nvPicPr>
        <p:blipFill>
          <a:blip r:embed="rId3"/>
          <a:stretch>
            <a:fillRect/>
          </a:stretch>
        </p:blipFill>
        <p:spPr>
          <a:xfrm>
            <a:off x="1547004" y="1493299"/>
            <a:ext cx="8134709" cy="4777177"/>
          </a:xfrm>
          <a:prstGeom prst="rect">
            <a:avLst/>
          </a:prstGeom>
        </p:spPr>
      </p:pic>
    </p:spTree>
    <p:extLst>
      <p:ext uri="{BB962C8B-B14F-4D97-AF65-F5344CB8AC3E}">
        <p14:creationId xmlns:p14="http://schemas.microsoft.com/office/powerpoint/2010/main" val="422050794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social media post&#10;&#10;Description automatically generated">
            <a:extLst>
              <a:ext uri="{FF2B5EF4-FFF2-40B4-BE49-F238E27FC236}">
                <a16:creationId xmlns="" xmlns:a16="http://schemas.microsoft.com/office/drawing/2014/main" id="{BDFF83B8-5928-47DA-826C-D0672CB0914F}"/>
              </a:ext>
            </a:extLst>
          </p:cNvPr>
          <p:cNvPicPr>
            <a:picLocks noChangeAspect="1"/>
          </p:cNvPicPr>
          <p:nvPr/>
        </p:nvPicPr>
        <p:blipFill>
          <a:blip r:embed="rId2"/>
          <a:stretch>
            <a:fillRect/>
          </a:stretch>
        </p:blipFill>
        <p:spPr>
          <a:xfrm>
            <a:off x="1273834" y="386746"/>
            <a:ext cx="9083615" cy="5595678"/>
          </a:xfrm>
          <a:prstGeom prst="rect">
            <a:avLst/>
          </a:prstGeom>
        </p:spPr>
      </p:pic>
      <p:sp>
        <p:nvSpPr>
          <p:cNvPr id="3" name="TextBox 2">
            <a:extLst>
              <a:ext uri="{FF2B5EF4-FFF2-40B4-BE49-F238E27FC236}">
                <a16:creationId xmlns="" xmlns:a16="http://schemas.microsoft.com/office/drawing/2014/main" id="{730EED25-A785-4082-A49B-93E2370F5B05}"/>
              </a:ext>
            </a:extLst>
          </p:cNvPr>
          <p:cNvSpPr txBox="1"/>
          <p:nvPr/>
        </p:nvSpPr>
        <p:spPr>
          <a:xfrm>
            <a:off x="1403230" y="6234023"/>
            <a:ext cx="855165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3"/>
              </a:rPr>
              <a:t>https://shodhganga.inflibnet.ac.in/bitstream/10603/11070/6/06_chapter2.pdf</a:t>
            </a:r>
            <a:endParaRPr lang="en-US"/>
          </a:p>
        </p:txBody>
      </p:sp>
    </p:spTree>
    <p:extLst>
      <p:ext uri="{BB962C8B-B14F-4D97-AF65-F5344CB8AC3E}">
        <p14:creationId xmlns:p14="http://schemas.microsoft.com/office/powerpoint/2010/main" val="69548278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2">
            <a:extLst>
              <a:ext uri="{FF2B5EF4-FFF2-40B4-BE49-F238E27FC236}">
                <a16:creationId xmlns="" xmlns:a16="http://schemas.microsoft.com/office/drawing/2014/main" id="{C435925F-D234-428B-88F6-72EB08E637B4}"/>
              </a:ext>
            </a:extLst>
          </p:cNvPr>
          <p:cNvGraphicFramePr>
            <a:graphicFrameLocks noGrp="1"/>
          </p:cNvGraphicFramePr>
          <p:nvPr>
            <p:extLst>
              <p:ext uri="{D42A27DB-BD31-4B8C-83A1-F6EECF244321}">
                <p14:modId xmlns:p14="http://schemas.microsoft.com/office/powerpoint/2010/main" val="4167571452"/>
              </p:ext>
            </p:extLst>
          </p:nvPr>
        </p:nvGraphicFramePr>
        <p:xfrm>
          <a:off x="1108363" y="1660482"/>
          <a:ext cx="9667690" cy="1371600"/>
        </p:xfrm>
        <a:graphic>
          <a:graphicData uri="http://schemas.openxmlformats.org/drawingml/2006/table">
            <a:tbl>
              <a:tblPr firstRow="1" bandRow="1">
                <a:tableStyleId>{5C22544A-7EE6-4342-B048-85BDC9FD1C3A}</a:tableStyleId>
              </a:tblPr>
              <a:tblGrid>
                <a:gridCol w="1939636">
                  <a:extLst>
                    <a:ext uri="{9D8B030D-6E8A-4147-A177-3AD203B41FA5}">
                      <a16:colId xmlns="" xmlns:a16="http://schemas.microsoft.com/office/drawing/2014/main" val="1719567077"/>
                    </a:ext>
                  </a:extLst>
                </a:gridCol>
                <a:gridCol w="1288009">
                  <a:extLst>
                    <a:ext uri="{9D8B030D-6E8A-4147-A177-3AD203B41FA5}">
                      <a16:colId xmlns="" xmlns:a16="http://schemas.microsoft.com/office/drawing/2014/main" val="2251345556"/>
                    </a:ext>
                  </a:extLst>
                </a:gridCol>
                <a:gridCol w="1288009">
                  <a:extLst>
                    <a:ext uri="{9D8B030D-6E8A-4147-A177-3AD203B41FA5}">
                      <a16:colId xmlns="" xmlns:a16="http://schemas.microsoft.com/office/drawing/2014/main" val="2523352482"/>
                    </a:ext>
                  </a:extLst>
                </a:gridCol>
                <a:gridCol w="1288009">
                  <a:extLst>
                    <a:ext uri="{9D8B030D-6E8A-4147-A177-3AD203B41FA5}">
                      <a16:colId xmlns="" xmlns:a16="http://schemas.microsoft.com/office/drawing/2014/main" val="4016442640"/>
                    </a:ext>
                  </a:extLst>
                </a:gridCol>
                <a:gridCol w="1288009">
                  <a:extLst>
                    <a:ext uri="{9D8B030D-6E8A-4147-A177-3AD203B41FA5}">
                      <a16:colId xmlns="" xmlns:a16="http://schemas.microsoft.com/office/drawing/2014/main" val="1514746039"/>
                    </a:ext>
                  </a:extLst>
                </a:gridCol>
                <a:gridCol w="1288009">
                  <a:extLst>
                    <a:ext uri="{9D8B030D-6E8A-4147-A177-3AD203B41FA5}">
                      <a16:colId xmlns="" xmlns:a16="http://schemas.microsoft.com/office/drawing/2014/main" val="1629338155"/>
                    </a:ext>
                  </a:extLst>
                </a:gridCol>
                <a:gridCol w="1288009">
                  <a:extLst>
                    <a:ext uri="{9D8B030D-6E8A-4147-A177-3AD203B41FA5}">
                      <a16:colId xmlns="" xmlns:a16="http://schemas.microsoft.com/office/drawing/2014/main" val="1514270705"/>
                    </a:ext>
                  </a:extLst>
                </a:gridCol>
              </a:tblGrid>
              <a:tr h="370840">
                <a:tc>
                  <a:txBody>
                    <a:bodyPr/>
                    <a:lstStyle/>
                    <a:p>
                      <a:r>
                        <a:rPr lang="en-GB" sz="2400" dirty="0">
                          <a:solidFill>
                            <a:schemeClr val="tx1"/>
                          </a:solidFill>
                        </a:rPr>
                        <a:t>No. of jobs</a:t>
                      </a:r>
                    </a:p>
                  </a:txBody>
                  <a:tcPr/>
                </a:tc>
                <a:tc>
                  <a:txBody>
                    <a:bodyPr/>
                    <a:lstStyle/>
                    <a:p>
                      <a:pPr algn="ctr"/>
                      <a:r>
                        <a:rPr lang="en-GB" sz="2400" dirty="0">
                          <a:solidFill>
                            <a:schemeClr val="tx1"/>
                          </a:solidFill>
                        </a:rPr>
                        <a:t>1</a:t>
                      </a:r>
                    </a:p>
                  </a:txBody>
                  <a:tcPr/>
                </a:tc>
                <a:tc>
                  <a:txBody>
                    <a:bodyPr/>
                    <a:lstStyle/>
                    <a:p>
                      <a:pPr algn="ctr"/>
                      <a:r>
                        <a:rPr lang="en-GB" sz="2400" dirty="0">
                          <a:solidFill>
                            <a:schemeClr val="tx1"/>
                          </a:solidFill>
                        </a:rPr>
                        <a:t>2</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4</a:t>
                      </a:r>
                    </a:p>
                  </a:txBody>
                  <a:tcPr/>
                </a:tc>
                <a:tc>
                  <a:txBody>
                    <a:bodyPr/>
                    <a:lstStyle/>
                    <a:p>
                      <a:pPr algn="ctr"/>
                      <a:r>
                        <a:rPr lang="en-GB" sz="2400" dirty="0">
                          <a:solidFill>
                            <a:schemeClr val="tx1"/>
                          </a:solidFill>
                        </a:rPr>
                        <a:t>5</a:t>
                      </a:r>
                    </a:p>
                  </a:txBody>
                  <a:tcPr/>
                </a:tc>
                <a:tc>
                  <a:txBody>
                    <a:bodyPr/>
                    <a:lstStyle/>
                    <a:p>
                      <a:pPr algn="ctr"/>
                      <a:r>
                        <a:rPr lang="en-GB" sz="2400" dirty="0">
                          <a:solidFill>
                            <a:schemeClr val="tx1"/>
                          </a:solidFill>
                        </a:rPr>
                        <a:t>6</a:t>
                      </a:r>
                    </a:p>
                  </a:txBody>
                  <a:tcPr/>
                </a:tc>
                <a:extLst>
                  <a:ext uri="{0D108BD9-81ED-4DB2-BD59-A6C34878D82A}">
                    <a16:rowId xmlns="" xmlns:a16="http://schemas.microsoft.com/office/drawing/2014/main" val="3413330748"/>
                  </a:ext>
                </a:extLst>
              </a:tr>
              <a:tr h="370840">
                <a:tc>
                  <a:txBody>
                    <a:bodyPr/>
                    <a:lstStyle/>
                    <a:p>
                      <a:r>
                        <a:rPr lang="en-GB" sz="2400" dirty="0">
                          <a:solidFill>
                            <a:schemeClr val="tx1"/>
                          </a:solidFill>
                        </a:rPr>
                        <a:t>Machine A</a:t>
                      </a:r>
                    </a:p>
                  </a:txBody>
                  <a:tcPr/>
                </a:tc>
                <a:tc>
                  <a:txBody>
                    <a:bodyPr/>
                    <a:lstStyle/>
                    <a:p>
                      <a:pPr algn="ctr"/>
                      <a:r>
                        <a:rPr lang="en-GB" sz="2400" dirty="0">
                          <a:solidFill>
                            <a:schemeClr val="tx1"/>
                          </a:solidFill>
                        </a:rPr>
                        <a:t>4</a:t>
                      </a:r>
                    </a:p>
                  </a:txBody>
                  <a:tcPr/>
                </a:tc>
                <a:tc>
                  <a:txBody>
                    <a:bodyPr/>
                    <a:lstStyle/>
                    <a:p>
                      <a:pPr algn="ctr"/>
                      <a:r>
                        <a:rPr lang="en-GB" sz="2400" dirty="0">
                          <a:solidFill>
                            <a:schemeClr val="tx1"/>
                          </a:solidFill>
                        </a:rPr>
                        <a:t>8</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6</a:t>
                      </a:r>
                    </a:p>
                  </a:txBody>
                  <a:tcPr/>
                </a:tc>
                <a:tc>
                  <a:txBody>
                    <a:bodyPr/>
                    <a:lstStyle/>
                    <a:p>
                      <a:pPr algn="ctr"/>
                      <a:r>
                        <a:rPr lang="en-GB" sz="2400" dirty="0">
                          <a:solidFill>
                            <a:schemeClr val="tx1"/>
                          </a:solidFill>
                        </a:rPr>
                        <a:t>7</a:t>
                      </a:r>
                    </a:p>
                  </a:txBody>
                  <a:tcPr/>
                </a:tc>
                <a:tc>
                  <a:txBody>
                    <a:bodyPr/>
                    <a:lstStyle/>
                    <a:p>
                      <a:pPr algn="ctr"/>
                      <a:r>
                        <a:rPr lang="en-GB" sz="2400" dirty="0">
                          <a:solidFill>
                            <a:schemeClr val="tx1"/>
                          </a:solidFill>
                        </a:rPr>
                        <a:t>5</a:t>
                      </a:r>
                    </a:p>
                  </a:txBody>
                  <a:tcPr/>
                </a:tc>
                <a:extLst>
                  <a:ext uri="{0D108BD9-81ED-4DB2-BD59-A6C34878D82A}">
                    <a16:rowId xmlns="" xmlns:a16="http://schemas.microsoft.com/office/drawing/2014/main" val="3915113633"/>
                  </a:ext>
                </a:extLst>
              </a:tr>
              <a:tr h="370840">
                <a:tc>
                  <a:txBody>
                    <a:bodyPr/>
                    <a:lstStyle/>
                    <a:p>
                      <a:r>
                        <a:rPr lang="en-GB" sz="2400" dirty="0">
                          <a:solidFill>
                            <a:schemeClr val="tx1"/>
                          </a:solidFill>
                        </a:rPr>
                        <a:t>Machine B</a:t>
                      </a:r>
                    </a:p>
                  </a:txBody>
                  <a:tcPr/>
                </a:tc>
                <a:tc>
                  <a:txBody>
                    <a:bodyPr/>
                    <a:lstStyle/>
                    <a:p>
                      <a:pPr algn="ctr"/>
                      <a:r>
                        <a:rPr lang="en-GB" sz="2400" dirty="0">
                          <a:solidFill>
                            <a:schemeClr val="tx1"/>
                          </a:solidFill>
                        </a:rPr>
                        <a:t>6</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7</a:t>
                      </a:r>
                    </a:p>
                  </a:txBody>
                  <a:tcPr/>
                </a:tc>
                <a:tc>
                  <a:txBody>
                    <a:bodyPr/>
                    <a:lstStyle/>
                    <a:p>
                      <a:pPr algn="ctr"/>
                      <a:r>
                        <a:rPr lang="en-GB" sz="2400" dirty="0">
                          <a:solidFill>
                            <a:schemeClr val="tx1"/>
                          </a:solidFill>
                        </a:rPr>
                        <a:t>2</a:t>
                      </a:r>
                    </a:p>
                  </a:txBody>
                  <a:tcPr/>
                </a:tc>
                <a:tc>
                  <a:txBody>
                    <a:bodyPr/>
                    <a:lstStyle/>
                    <a:p>
                      <a:pPr algn="ctr"/>
                      <a:r>
                        <a:rPr lang="en-GB" sz="2400" dirty="0">
                          <a:solidFill>
                            <a:schemeClr val="tx1"/>
                          </a:solidFill>
                        </a:rPr>
                        <a:t>8</a:t>
                      </a:r>
                    </a:p>
                  </a:txBody>
                  <a:tcPr/>
                </a:tc>
                <a:tc>
                  <a:txBody>
                    <a:bodyPr/>
                    <a:lstStyle/>
                    <a:p>
                      <a:pPr algn="ctr"/>
                      <a:r>
                        <a:rPr lang="en-GB" sz="2400" dirty="0">
                          <a:solidFill>
                            <a:schemeClr val="tx1"/>
                          </a:solidFill>
                        </a:rPr>
                        <a:t>4</a:t>
                      </a:r>
                    </a:p>
                  </a:txBody>
                  <a:tcPr/>
                </a:tc>
                <a:extLst>
                  <a:ext uri="{0D108BD9-81ED-4DB2-BD59-A6C34878D82A}">
                    <a16:rowId xmlns="" xmlns:a16="http://schemas.microsoft.com/office/drawing/2014/main" val="2990279712"/>
                  </a:ext>
                </a:extLst>
              </a:tr>
            </a:tbl>
          </a:graphicData>
        </a:graphic>
      </p:graphicFrame>
      <p:sp>
        <p:nvSpPr>
          <p:cNvPr id="3" name="TextBox 2">
            <a:extLst>
              <a:ext uri="{FF2B5EF4-FFF2-40B4-BE49-F238E27FC236}">
                <a16:creationId xmlns="" xmlns:a16="http://schemas.microsoft.com/office/drawing/2014/main" id="{75A08E78-1F11-419D-BF4C-5C08ED5E0C19}"/>
              </a:ext>
            </a:extLst>
          </p:cNvPr>
          <p:cNvSpPr txBox="1"/>
          <p:nvPr/>
        </p:nvSpPr>
        <p:spPr>
          <a:xfrm>
            <a:off x="197101" y="756584"/>
            <a:ext cx="11956471"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latin typeface="Times New Roman"/>
              </a:rPr>
              <a:t>Find the sequence that minimizes the total elapsed time required to complete the following jobs.</a:t>
            </a:r>
            <a:endParaRPr lang="en-US" sz="2400" dirty="0">
              <a:latin typeface="Times New Roman"/>
              <a:cs typeface="Times New Roman"/>
            </a:endParaRPr>
          </a:p>
          <a:p>
            <a:r>
              <a:rPr lang="en-US" sz="2400" dirty="0">
                <a:latin typeface="Times New Roman"/>
                <a:cs typeface="Times New Roman"/>
              </a:rPr>
              <a:t>Calculate idle time for machines.</a:t>
            </a:r>
          </a:p>
        </p:txBody>
      </p:sp>
      <p:sp>
        <p:nvSpPr>
          <p:cNvPr id="5" name="TextBox 4">
            <a:extLst>
              <a:ext uri="{FF2B5EF4-FFF2-40B4-BE49-F238E27FC236}">
                <a16:creationId xmlns="" xmlns:a16="http://schemas.microsoft.com/office/drawing/2014/main" id="{EB026BB5-8C13-4D86-B53F-A46A3687F61E}"/>
              </a:ext>
            </a:extLst>
          </p:cNvPr>
          <p:cNvSpPr txBox="1"/>
          <p:nvPr/>
        </p:nvSpPr>
        <p:spPr>
          <a:xfrm>
            <a:off x="569344" y="224287"/>
            <a:ext cx="8077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dirty="0"/>
              <a:t>Processing of n Jobs Through Two Machines</a:t>
            </a:r>
            <a:r>
              <a:rPr lang="en-GB" sz="2800" b="1" dirty="0">
                <a:cs typeface="Calibri"/>
              </a:rPr>
              <a:t>​</a:t>
            </a:r>
            <a:endParaRPr lang="en-GB" sz="2800" b="1" dirty="0"/>
          </a:p>
        </p:txBody>
      </p:sp>
      <p:graphicFrame>
        <p:nvGraphicFramePr>
          <p:cNvPr id="4" name="Table 3"/>
          <p:cNvGraphicFramePr>
            <a:graphicFrameLocks noGrp="1"/>
          </p:cNvGraphicFramePr>
          <p:nvPr>
            <p:extLst>
              <p:ext uri="{D42A27DB-BD31-4B8C-83A1-F6EECF244321}">
                <p14:modId xmlns:p14="http://schemas.microsoft.com/office/powerpoint/2010/main" val="2330858021"/>
              </p:ext>
            </p:extLst>
          </p:nvPr>
        </p:nvGraphicFramePr>
        <p:xfrm>
          <a:off x="1108363" y="3104983"/>
          <a:ext cx="8135986" cy="3657600"/>
        </p:xfrm>
        <a:graphic>
          <a:graphicData uri="http://schemas.openxmlformats.org/drawingml/2006/table">
            <a:tbl>
              <a:tblPr firstRow="1" bandRow="1">
                <a:tableStyleId>{5C22544A-7EE6-4342-B048-85BDC9FD1C3A}</a:tableStyleId>
              </a:tblPr>
              <a:tblGrid>
                <a:gridCol w="1343298">
                  <a:extLst>
                    <a:ext uri="{9D8B030D-6E8A-4147-A177-3AD203B41FA5}">
                      <a16:colId xmlns="" xmlns:a16="http://schemas.microsoft.com/office/drawing/2014/main" val="2867361991"/>
                    </a:ext>
                  </a:extLst>
                </a:gridCol>
                <a:gridCol w="1606732">
                  <a:extLst>
                    <a:ext uri="{9D8B030D-6E8A-4147-A177-3AD203B41FA5}">
                      <a16:colId xmlns="" xmlns:a16="http://schemas.microsoft.com/office/drawing/2014/main" val="2092744975"/>
                    </a:ext>
                  </a:extLst>
                </a:gridCol>
                <a:gridCol w="1606732">
                  <a:extLst>
                    <a:ext uri="{9D8B030D-6E8A-4147-A177-3AD203B41FA5}">
                      <a16:colId xmlns="" xmlns:a16="http://schemas.microsoft.com/office/drawing/2014/main" val="3956713115"/>
                    </a:ext>
                  </a:extLst>
                </a:gridCol>
                <a:gridCol w="1789612">
                  <a:extLst>
                    <a:ext uri="{9D8B030D-6E8A-4147-A177-3AD203B41FA5}">
                      <a16:colId xmlns="" xmlns:a16="http://schemas.microsoft.com/office/drawing/2014/main" val="2586161219"/>
                    </a:ext>
                  </a:extLst>
                </a:gridCol>
                <a:gridCol w="1789612">
                  <a:extLst>
                    <a:ext uri="{9D8B030D-6E8A-4147-A177-3AD203B41FA5}">
                      <a16:colId xmlns="" xmlns:a16="http://schemas.microsoft.com/office/drawing/2014/main" val="261588583"/>
                    </a:ext>
                  </a:extLst>
                </a:gridCol>
              </a:tblGrid>
              <a:tr h="411480">
                <a:tc rowSpan="2">
                  <a:txBody>
                    <a:bodyPr/>
                    <a:lstStyle/>
                    <a:p>
                      <a:pPr algn="ctr"/>
                      <a:r>
                        <a:rPr lang="en-GB" sz="2400" dirty="0" smtClean="0">
                          <a:solidFill>
                            <a:schemeClr val="tx1"/>
                          </a:solidFill>
                        </a:rPr>
                        <a:t>jobs</a:t>
                      </a: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smtClean="0">
                          <a:solidFill>
                            <a:schemeClr val="tx1"/>
                          </a:solidFill>
                        </a:rPr>
                        <a:t>Machine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smtClean="0">
                          <a:solidFill>
                            <a:schemeClr val="tx1"/>
                          </a:solidFill>
                        </a:rPr>
                        <a:t>Machine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120882439"/>
                  </a:ext>
                </a:extLst>
              </a:tr>
              <a:tr h="411480">
                <a:tc vMerge="1">
                  <a:txBody>
                    <a:bodyPr/>
                    <a:lstStyle/>
                    <a:p>
                      <a:endParaRPr lang="en-US"/>
                    </a:p>
                  </a:txBody>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21154443"/>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58249857"/>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92265150"/>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49582958"/>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83812183"/>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23982100"/>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65567804"/>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98348652"/>
              </p:ext>
            </p:extLst>
          </p:nvPr>
        </p:nvGraphicFramePr>
        <p:xfrm>
          <a:off x="7291252" y="236254"/>
          <a:ext cx="4713516" cy="457200"/>
        </p:xfrm>
        <a:graphic>
          <a:graphicData uri="http://schemas.openxmlformats.org/drawingml/2006/table">
            <a:tbl>
              <a:tblPr firstRow="1" bandRow="1">
                <a:tableStyleId>{5C22544A-7EE6-4342-B048-85BDC9FD1C3A}</a:tableStyleId>
              </a:tblPr>
              <a:tblGrid>
                <a:gridCol w="785586">
                  <a:extLst>
                    <a:ext uri="{9D8B030D-6E8A-4147-A177-3AD203B41FA5}">
                      <a16:colId xmlns="" xmlns:a16="http://schemas.microsoft.com/office/drawing/2014/main" val="3244995987"/>
                    </a:ext>
                  </a:extLst>
                </a:gridCol>
                <a:gridCol w="785586">
                  <a:extLst>
                    <a:ext uri="{9D8B030D-6E8A-4147-A177-3AD203B41FA5}">
                      <a16:colId xmlns="" xmlns:a16="http://schemas.microsoft.com/office/drawing/2014/main" val="1858980240"/>
                    </a:ext>
                  </a:extLst>
                </a:gridCol>
                <a:gridCol w="785586">
                  <a:extLst>
                    <a:ext uri="{9D8B030D-6E8A-4147-A177-3AD203B41FA5}">
                      <a16:colId xmlns="" xmlns:a16="http://schemas.microsoft.com/office/drawing/2014/main" val="1192304628"/>
                    </a:ext>
                  </a:extLst>
                </a:gridCol>
                <a:gridCol w="785586">
                  <a:extLst>
                    <a:ext uri="{9D8B030D-6E8A-4147-A177-3AD203B41FA5}">
                      <a16:colId xmlns="" xmlns:a16="http://schemas.microsoft.com/office/drawing/2014/main" val="3947109240"/>
                    </a:ext>
                  </a:extLst>
                </a:gridCol>
                <a:gridCol w="785586">
                  <a:extLst>
                    <a:ext uri="{9D8B030D-6E8A-4147-A177-3AD203B41FA5}">
                      <a16:colId xmlns="" xmlns:a16="http://schemas.microsoft.com/office/drawing/2014/main" val="2965281950"/>
                    </a:ext>
                  </a:extLst>
                </a:gridCol>
                <a:gridCol w="785586">
                  <a:extLst>
                    <a:ext uri="{9D8B030D-6E8A-4147-A177-3AD203B41FA5}">
                      <a16:colId xmlns="" xmlns:a16="http://schemas.microsoft.com/office/drawing/2014/main" val="1980858653"/>
                    </a:ext>
                  </a:extLst>
                </a:gridCol>
              </a:tblGrid>
              <a:tr h="447430">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tc>
                  <a:txBody>
                    <a:bodyPr/>
                    <a:lstStyle/>
                    <a:p>
                      <a:pPr algn="ctr"/>
                      <a:endParaRPr lang="en-GB" sz="2400" dirty="0">
                        <a:solidFill>
                          <a:schemeClr val="tx1"/>
                        </a:solidFill>
                      </a:endParaRPr>
                    </a:p>
                  </a:txBody>
                  <a:tcPr/>
                </a:tc>
                <a:extLst>
                  <a:ext uri="{0D108BD9-81ED-4DB2-BD59-A6C34878D82A}">
                    <a16:rowId xmlns="" xmlns:a16="http://schemas.microsoft.com/office/drawing/2014/main" val="383900985"/>
                  </a:ext>
                </a:extLst>
              </a:tr>
            </a:tbl>
          </a:graphicData>
        </a:graphic>
      </p:graphicFrame>
    </p:spTree>
    <p:extLst>
      <p:ext uri="{BB962C8B-B14F-4D97-AF65-F5344CB8AC3E}">
        <p14:creationId xmlns:p14="http://schemas.microsoft.com/office/powerpoint/2010/main" val="1456990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6" presetClass="entr" presetSubtype="16"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ircle(in)">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cell phone&#10;&#10;Description automatically generated">
            <a:extLst>
              <a:ext uri="{FF2B5EF4-FFF2-40B4-BE49-F238E27FC236}">
                <a16:creationId xmlns="" xmlns:a16="http://schemas.microsoft.com/office/drawing/2014/main" id="{2B940430-A5FD-4C96-9855-FB8247FABABB}"/>
              </a:ext>
            </a:extLst>
          </p:cNvPr>
          <p:cNvPicPr>
            <a:picLocks noChangeAspect="1"/>
          </p:cNvPicPr>
          <p:nvPr/>
        </p:nvPicPr>
        <p:blipFill>
          <a:blip r:embed="rId2"/>
          <a:stretch>
            <a:fillRect/>
          </a:stretch>
        </p:blipFill>
        <p:spPr>
          <a:xfrm>
            <a:off x="310551" y="423869"/>
            <a:ext cx="11513388" cy="1984601"/>
          </a:xfrm>
          <a:prstGeom prst="rect">
            <a:avLst/>
          </a:prstGeom>
        </p:spPr>
      </p:pic>
      <p:sp>
        <p:nvSpPr>
          <p:cNvPr id="3" name="TextBox 2">
            <a:extLst>
              <a:ext uri="{FF2B5EF4-FFF2-40B4-BE49-F238E27FC236}">
                <a16:creationId xmlns="" xmlns:a16="http://schemas.microsoft.com/office/drawing/2014/main" id="{3993DEF9-327C-4F0E-AA91-1DF3DEB368D9}"/>
              </a:ext>
            </a:extLst>
          </p:cNvPr>
          <p:cNvSpPr txBox="1"/>
          <p:nvPr/>
        </p:nvSpPr>
        <p:spPr>
          <a:xfrm>
            <a:off x="2978727" y="6109855"/>
            <a:ext cx="735676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hlinkClick r:id="rId3"/>
              </a:rPr>
              <a:t>http://ecoursesonline.iasri.res.in/mod/resource/view.php?id=90031</a:t>
            </a:r>
            <a:endParaRPr lang="en-US"/>
          </a:p>
        </p:txBody>
      </p:sp>
    </p:spTree>
    <p:extLst>
      <p:ext uri="{BB962C8B-B14F-4D97-AF65-F5344CB8AC3E}">
        <p14:creationId xmlns:p14="http://schemas.microsoft.com/office/powerpoint/2010/main" val="367176265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 xmlns:a16="http://schemas.microsoft.com/office/drawing/2014/main" id="{0B28DAC8-57B8-48B7-A1CF-EB0DBDD5F4F0}"/>
              </a:ext>
            </a:extLst>
          </p:cNvPr>
          <p:cNvGraphicFramePr>
            <a:graphicFrameLocks noGrp="1"/>
          </p:cNvGraphicFramePr>
          <p:nvPr>
            <p:extLst>
              <p:ext uri="{D42A27DB-BD31-4B8C-83A1-F6EECF244321}">
                <p14:modId xmlns:p14="http://schemas.microsoft.com/office/powerpoint/2010/main" val="3068842311"/>
              </p:ext>
            </p:extLst>
          </p:nvPr>
        </p:nvGraphicFramePr>
        <p:xfrm>
          <a:off x="567445" y="631338"/>
          <a:ext cx="8379681" cy="1828800"/>
        </p:xfrm>
        <a:graphic>
          <a:graphicData uri="http://schemas.openxmlformats.org/drawingml/2006/table">
            <a:tbl>
              <a:tblPr firstRow="1" bandRow="1">
                <a:tableStyleId>{5C22544A-7EE6-4342-B048-85BDC9FD1C3A}</a:tableStyleId>
              </a:tblPr>
              <a:tblGrid>
                <a:gridCol w="1939636">
                  <a:extLst>
                    <a:ext uri="{9D8B030D-6E8A-4147-A177-3AD203B41FA5}">
                      <a16:colId xmlns="" xmlns:a16="http://schemas.microsoft.com/office/drawing/2014/main" val="1719567077"/>
                    </a:ext>
                  </a:extLst>
                </a:gridCol>
                <a:gridCol w="1288009">
                  <a:extLst>
                    <a:ext uri="{9D8B030D-6E8A-4147-A177-3AD203B41FA5}">
                      <a16:colId xmlns="" xmlns:a16="http://schemas.microsoft.com/office/drawing/2014/main" val="2251345556"/>
                    </a:ext>
                  </a:extLst>
                </a:gridCol>
                <a:gridCol w="1288009">
                  <a:extLst>
                    <a:ext uri="{9D8B030D-6E8A-4147-A177-3AD203B41FA5}">
                      <a16:colId xmlns="" xmlns:a16="http://schemas.microsoft.com/office/drawing/2014/main" val="2523352482"/>
                    </a:ext>
                  </a:extLst>
                </a:gridCol>
                <a:gridCol w="1288009">
                  <a:extLst>
                    <a:ext uri="{9D8B030D-6E8A-4147-A177-3AD203B41FA5}">
                      <a16:colId xmlns="" xmlns:a16="http://schemas.microsoft.com/office/drawing/2014/main" val="4016442640"/>
                    </a:ext>
                  </a:extLst>
                </a:gridCol>
                <a:gridCol w="1288009">
                  <a:extLst>
                    <a:ext uri="{9D8B030D-6E8A-4147-A177-3AD203B41FA5}">
                      <a16:colId xmlns="" xmlns:a16="http://schemas.microsoft.com/office/drawing/2014/main" val="1514746039"/>
                    </a:ext>
                  </a:extLst>
                </a:gridCol>
                <a:gridCol w="1288009">
                  <a:extLst>
                    <a:ext uri="{9D8B030D-6E8A-4147-A177-3AD203B41FA5}">
                      <a16:colId xmlns="" xmlns:a16="http://schemas.microsoft.com/office/drawing/2014/main" val="1629338155"/>
                    </a:ext>
                  </a:extLst>
                </a:gridCol>
              </a:tblGrid>
              <a:tr h="370840">
                <a:tc>
                  <a:txBody>
                    <a:bodyPr/>
                    <a:lstStyle/>
                    <a:p>
                      <a:r>
                        <a:rPr lang="en-GB" sz="2400" dirty="0">
                          <a:solidFill>
                            <a:schemeClr val="tx1"/>
                          </a:solidFill>
                        </a:rPr>
                        <a:t>No. of jobs</a:t>
                      </a:r>
                    </a:p>
                  </a:txBody>
                  <a:tcPr/>
                </a:tc>
                <a:tc>
                  <a:txBody>
                    <a:bodyPr/>
                    <a:lstStyle/>
                    <a:p>
                      <a:pPr algn="ctr"/>
                      <a:r>
                        <a:rPr lang="en-GB" sz="2400" dirty="0">
                          <a:solidFill>
                            <a:schemeClr val="tx1"/>
                          </a:solidFill>
                        </a:rPr>
                        <a:t>1</a:t>
                      </a:r>
                    </a:p>
                  </a:txBody>
                  <a:tcPr/>
                </a:tc>
                <a:tc>
                  <a:txBody>
                    <a:bodyPr/>
                    <a:lstStyle/>
                    <a:p>
                      <a:pPr algn="ctr"/>
                      <a:r>
                        <a:rPr lang="en-GB" sz="2400" dirty="0">
                          <a:solidFill>
                            <a:schemeClr val="tx1"/>
                          </a:solidFill>
                        </a:rPr>
                        <a:t>2</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4</a:t>
                      </a:r>
                    </a:p>
                  </a:txBody>
                  <a:tcPr/>
                </a:tc>
                <a:tc>
                  <a:txBody>
                    <a:bodyPr/>
                    <a:lstStyle/>
                    <a:p>
                      <a:pPr algn="ctr"/>
                      <a:r>
                        <a:rPr lang="en-GB" sz="2400" dirty="0">
                          <a:solidFill>
                            <a:schemeClr val="tx1"/>
                          </a:solidFill>
                        </a:rPr>
                        <a:t>5</a:t>
                      </a:r>
                    </a:p>
                  </a:txBody>
                  <a:tcPr/>
                </a:tc>
                <a:extLst>
                  <a:ext uri="{0D108BD9-81ED-4DB2-BD59-A6C34878D82A}">
                    <a16:rowId xmlns="" xmlns:a16="http://schemas.microsoft.com/office/drawing/2014/main" val="3413330748"/>
                  </a:ext>
                </a:extLst>
              </a:tr>
              <a:tr h="370840">
                <a:tc>
                  <a:txBody>
                    <a:bodyPr/>
                    <a:lstStyle/>
                    <a:p>
                      <a:r>
                        <a:rPr lang="en-GB" sz="2400" dirty="0">
                          <a:solidFill>
                            <a:schemeClr val="tx1"/>
                          </a:solidFill>
                        </a:rPr>
                        <a:t>Machine A</a:t>
                      </a:r>
                    </a:p>
                  </a:txBody>
                  <a:tcPr/>
                </a:tc>
                <a:tc>
                  <a:txBody>
                    <a:bodyPr/>
                    <a:lstStyle/>
                    <a:p>
                      <a:pPr algn="ctr"/>
                      <a:r>
                        <a:rPr lang="en-GB" sz="2400" dirty="0">
                          <a:solidFill>
                            <a:schemeClr val="tx1"/>
                          </a:solidFill>
                        </a:rPr>
                        <a:t>8</a:t>
                      </a:r>
                    </a:p>
                  </a:txBody>
                  <a:tcPr/>
                </a:tc>
                <a:tc>
                  <a:txBody>
                    <a:bodyPr/>
                    <a:lstStyle/>
                    <a:p>
                      <a:pPr algn="ctr"/>
                      <a:r>
                        <a:rPr lang="en-GB" sz="2400" dirty="0">
                          <a:solidFill>
                            <a:schemeClr val="tx1"/>
                          </a:solidFill>
                        </a:rPr>
                        <a:t>10</a:t>
                      </a:r>
                    </a:p>
                  </a:txBody>
                  <a:tcPr/>
                </a:tc>
                <a:tc>
                  <a:txBody>
                    <a:bodyPr/>
                    <a:lstStyle/>
                    <a:p>
                      <a:pPr algn="ctr"/>
                      <a:r>
                        <a:rPr lang="en-GB" sz="2400" dirty="0">
                          <a:solidFill>
                            <a:schemeClr val="tx1"/>
                          </a:solidFill>
                        </a:rPr>
                        <a:t>6</a:t>
                      </a:r>
                    </a:p>
                  </a:txBody>
                  <a:tcPr/>
                </a:tc>
                <a:tc>
                  <a:txBody>
                    <a:bodyPr/>
                    <a:lstStyle/>
                    <a:p>
                      <a:pPr algn="ctr"/>
                      <a:r>
                        <a:rPr lang="en-GB" sz="2400" dirty="0">
                          <a:solidFill>
                            <a:schemeClr val="tx1"/>
                          </a:solidFill>
                        </a:rPr>
                        <a:t>7</a:t>
                      </a:r>
                    </a:p>
                  </a:txBody>
                  <a:tcPr/>
                </a:tc>
                <a:tc>
                  <a:txBody>
                    <a:bodyPr/>
                    <a:lstStyle/>
                    <a:p>
                      <a:pPr algn="ctr"/>
                      <a:r>
                        <a:rPr lang="en-GB" sz="2400" dirty="0">
                          <a:solidFill>
                            <a:schemeClr val="tx1"/>
                          </a:solidFill>
                        </a:rPr>
                        <a:t>11</a:t>
                      </a:r>
                    </a:p>
                  </a:txBody>
                  <a:tcPr/>
                </a:tc>
                <a:extLst>
                  <a:ext uri="{0D108BD9-81ED-4DB2-BD59-A6C34878D82A}">
                    <a16:rowId xmlns="" xmlns:a16="http://schemas.microsoft.com/office/drawing/2014/main" val="3915113633"/>
                  </a:ext>
                </a:extLst>
              </a:tr>
              <a:tr h="370840">
                <a:tc>
                  <a:txBody>
                    <a:bodyPr/>
                    <a:lstStyle/>
                    <a:p>
                      <a:r>
                        <a:rPr lang="en-GB" sz="2400" dirty="0">
                          <a:solidFill>
                            <a:schemeClr val="tx1"/>
                          </a:solidFill>
                        </a:rPr>
                        <a:t>Machine B</a:t>
                      </a:r>
                    </a:p>
                  </a:txBody>
                  <a:tcPr/>
                </a:tc>
                <a:tc>
                  <a:txBody>
                    <a:bodyPr/>
                    <a:lstStyle/>
                    <a:p>
                      <a:pPr algn="ctr"/>
                      <a:r>
                        <a:rPr lang="en-GB" sz="2400" dirty="0">
                          <a:solidFill>
                            <a:schemeClr val="tx1"/>
                          </a:solidFill>
                        </a:rPr>
                        <a:t>5</a:t>
                      </a:r>
                    </a:p>
                  </a:txBody>
                  <a:tcPr/>
                </a:tc>
                <a:tc>
                  <a:txBody>
                    <a:bodyPr/>
                    <a:lstStyle/>
                    <a:p>
                      <a:pPr algn="ctr"/>
                      <a:r>
                        <a:rPr lang="en-GB" sz="2400" dirty="0">
                          <a:solidFill>
                            <a:schemeClr val="tx1"/>
                          </a:solidFill>
                        </a:rPr>
                        <a:t>6</a:t>
                      </a:r>
                    </a:p>
                  </a:txBody>
                  <a:tcPr/>
                </a:tc>
                <a:tc>
                  <a:txBody>
                    <a:bodyPr/>
                    <a:lstStyle/>
                    <a:p>
                      <a:pPr algn="ctr"/>
                      <a:r>
                        <a:rPr lang="en-GB" sz="2400" dirty="0">
                          <a:solidFill>
                            <a:schemeClr val="tx1"/>
                          </a:solidFill>
                        </a:rPr>
                        <a:t>2</a:t>
                      </a:r>
                    </a:p>
                  </a:txBody>
                  <a:tcPr/>
                </a:tc>
                <a:tc>
                  <a:txBody>
                    <a:bodyPr/>
                    <a:lstStyle/>
                    <a:p>
                      <a:pPr algn="ctr"/>
                      <a:r>
                        <a:rPr lang="en-GB" sz="2400" dirty="0">
                          <a:solidFill>
                            <a:schemeClr val="tx1"/>
                          </a:solidFill>
                        </a:rPr>
                        <a:t>3</a:t>
                      </a:r>
                    </a:p>
                  </a:txBody>
                  <a:tcPr/>
                </a:tc>
                <a:tc>
                  <a:txBody>
                    <a:bodyPr/>
                    <a:lstStyle/>
                    <a:p>
                      <a:pPr algn="ctr"/>
                      <a:r>
                        <a:rPr lang="en-GB" sz="2400" dirty="0">
                          <a:solidFill>
                            <a:schemeClr val="tx1"/>
                          </a:solidFill>
                        </a:rPr>
                        <a:t>4</a:t>
                      </a:r>
                    </a:p>
                  </a:txBody>
                  <a:tcPr/>
                </a:tc>
                <a:extLst>
                  <a:ext uri="{0D108BD9-81ED-4DB2-BD59-A6C34878D82A}">
                    <a16:rowId xmlns="" xmlns:a16="http://schemas.microsoft.com/office/drawing/2014/main" val="2990279712"/>
                  </a:ext>
                </a:extLst>
              </a:tr>
              <a:tr h="370839">
                <a:tc>
                  <a:txBody>
                    <a:bodyPr/>
                    <a:lstStyle/>
                    <a:p>
                      <a:pPr lvl="0">
                        <a:buNone/>
                      </a:pPr>
                      <a:r>
                        <a:rPr lang="en-GB" sz="2400" dirty="0">
                          <a:solidFill>
                            <a:schemeClr val="tx1"/>
                          </a:solidFill>
                        </a:rPr>
                        <a:t>Machine C</a:t>
                      </a:r>
                    </a:p>
                  </a:txBody>
                  <a:tcPr/>
                </a:tc>
                <a:tc>
                  <a:txBody>
                    <a:bodyPr/>
                    <a:lstStyle/>
                    <a:p>
                      <a:pPr lvl="0" algn="ctr">
                        <a:buNone/>
                      </a:pPr>
                      <a:r>
                        <a:rPr lang="en-GB" sz="2400" dirty="0">
                          <a:solidFill>
                            <a:schemeClr val="tx1"/>
                          </a:solidFill>
                        </a:rPr>
                        <a:t>4</a:t>
                      </a:r>
                    </a:p>
                  </a:txBody>
                  <a:tcPr/>
                </a:tc>
                <a:tc>
                  <a:txBody>
                    <a:bodyPr/>
                    <a:lstStyle/>
                    <a:p>
                      <a:pPr lvl="0" algn="ctr">
                        <a:buNone/>
                      </a:pPr>
                      <a:r>
                        <a:rPr lang="en-GB" sz="2400" dirty="0">
                          <a:solidFill>
                            <a:schemeClr val="tx1"/>
                          </a:solidFill>
                        </a:rPr>
                        <a:t>9</a:t>
                      </a:r>
                    </a:p>
                  </a:txBody>
                  <a:tcPr/>
                </a:tc>
                <a:tc>
                  <a:txBody>
                    <a:bodyPr/>
                    <a:lstStyle/>
                    <a:p>
                      <a:pPr lvl="0" algn="ctr">
                        <a:buNone/>
                      </a:pPr>
                      <a:r>
                        <a:rPr lang="en-GB" sz="2400" dirty="0">
                          <a:solidFill>
                            <a:schemeClr val="tx1"/>
                          </a:solidFill>
                        </a:rPr>
                        <a:t>8</a:t>
                      </a:r>
                    </a:p>
                  </a:txBody>
                  <a:tcPr/>
                </a:tc>
                <a:tc>
                  <a:txBody>
                    <a:bodyPr/>
                    <a:lstStyle/>
                    <a:p>
                      <a:pPr lvl="0" algn="ctr">
                        <a:buNone/>
                      </a:pPr>
                      <a:r>
                        <a:rPr lang="en-GB" sz="2400" dirty="0">
                          <a:solidFill>
                            <a:schemeClr val="tx1"/>
                          </a:solidFill>
                        </a:rPr>
                        <a:t>6</a:t>
                      </a:r>
                    </a:p>
                  </a:txBody>
                  <a:tcPr/>
                </a:tc>
                <a:tc>
                  <a:txBody>
                    <a:bodyPr/>
                    <a:lstStyle/>
                    <a:p>
                      <a:pPr lvl="0" algn="ctr">
                        <a:buNone/>
                      </a:pPr>
                      <a:r>
                        <a:rPr lang="en-GB" sz="2400" dirty="0">
                          <a:solidFill>
                            <a:schemeClr val="tx1"/>
                          </a:solidFill>
                        </a:rPr>
                        <a:t>5</a:t>
                      </a:r>
                    </a:p>
                  </a:txBody>
                  <a:tcPr/>
                </a:tc>
                <a:extLst>
                  <a:ext uri="{0D108BD9-81ED-4DB2-BD59-A6C34878D82A}">
                    <a16:rowId xmlns="" xmlns:a16="http://schemas.microsoft.com/office/drawing/2014/main" val="4104340913"/>
                  </a:ext>
                </a:extLst>
              </a:tr>
            </a:tbl>
          </a:graphicData>
        </a:graphic>
      </p:graphicFrame>
      <p:sp>
        <p:nvSpPr>
          <p:cNvPr id="5" name="TextBox 4">
            <a:extLst>
              <a:ext uri="{FF2B5EF4-FFF2-40B4-BE49-F238E27FC236}">
                <a16:creationId xmlns="" xmlns:a16="http://schemas.microsoft.com/office/drawing/2014/main" id="{6EDE6EEC-3BEE-4DE6-BF92-B84FC3EF5BB4}"/>
              </a:ext>
            </a:extLst>
          </p:cNvPr>
          <p:cNvSpPr txBox="1"/>
          <p:nvPr/>
        </p:nvSpPr>
        <p:spPr>
          <a:xfrm>
            <a:off x="468948" y="108118"/>
            <a:ext cx="8077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dirty="0"/>
              <a:t>Processing of n Jobs Through </a:t>
            </a:r>
            <a:r>
              <a:rPr lang="en-GB" sz="2800" b="1" dirty="0">
                <a:solidFill>
                  <a:srgbClr val="FF0000"/>
                </a:solidFill>
              </a:rPr>
              <a:t>Three</a:t>
            </a:r>
            <a:r>
              <a:rPr lang="en-GB" sz="2800" b="1" dirty="0"/>
              <a:t> Machines</a:t>
            </a:r>
            <a:r>
              <a:rPr lang="en-GB" sz="2800" b="1" dirty="0">
                <a:cs typeface="Calibri"/>
              </a:rPr>
              <a:t>​</a:t>
            </a:r>
            <a:endParaRPr lang="en-GB" sz="2800" b="1" dirty="0"/>
          </a:p>
        </p:txBody>
      </p:sp>
      <p:sp>
        <p:nvSpPr>
          <p:cNvPr id="4" name="TextBox 3">
            <a:extLst>
              <a:ext uri="{FF2B5EF4-FFF2-40B4-BE49-F238E27FC236}">
                <a16:creationId xmlns="" xmlns:a16="http://schemas.microsoft.com/office/drawing/2014/main" id="{923AEF9A-1748-40A6-8A5D-4FFD1C2F9B8B}"/>
              </a:ext>
            </a:extLst>
          </p:cNvPr>
          <p:cNvSpPr txBox="1"/>
          <p:nvPr/>
        </p:nvSpPr>
        <p:spPr>
          <a:xfrm>
            <a:off x="567445" y="2983358"/>
            <a:ext cx="10640290" cy="2205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latin typeface="Times New Roman"/>
                <a:cs typeface="Times New Roman"/>
              </a:rPr>
              <a:t>a)</a:t>
            </a:r>
            <a:r>
              <a:rPr lang="en-US" sz="1050" dirty="0">
                <a:latin typeface="Times New Roman"/>
                <a:cs typeface="Times New Roman"/>
              </a:rPr>
              <a:t>      </a:t>
            </a:r>
            <a:r>
              <a:rPr lang="en-US" sz="2000" dirty="0">
                <a:latin typeface="Times New Roman"/>
                <a:cs typeface="Times New Roman"/>
              </a:rPr>
              <a:t>The minimum processing time on machine A ≥ the maximum processing time on machine B.</a:t>
            </a:r>
          </a:p>
          <a:p>
            <a:pPr algn="just"/>
            <a:r>
              <a:rPr lang="en-US" sz="2000" dirty="0">
                <a:latin typeface="Times New Roman"/>
                <a:cs typeface="Times New Roman"/>
              </a:rPr>
              <a:t>b)</a:t>
            </a:r>
            <a:r>
              <a:rPr lang="en-US" sz="1050" dirty="0">
                <a:latin typeface="Times New Roman"/>
                <a:cs typeface="Times New Roman"/>
              </a:rPr>
              <a:t>      </a:t>
            </a:r>
            <a:r>
              <a:rPr lang="en-US" sz="2000" dirty="0">
                <a:latin typeface="Times New Roman"/>
                <a:cs typeface="Times New Roman"/>
              </a:rPr>
              <a:t>The minimum processing time on machine C ≥ the maximum processing time on machine B.</a:t>
            </a:r>
          </a:p>
          <a:p>
            <a:pPr algn="just"/>
            <a:r>
              <a:rPr lang="en-US" sz="2000" dirty="0">
                <a:latin typeface="Times New Roman"/>
                <a:cs typeface="Times New Roman"/>
              </a:rPr>
              <a:t>The method is to replace the problem by an equivalent problem involving n jobs and two machines. These two fictitious machines are denoted by G and H and the corresponding time G</a:t>
            </a:r>
            <a:r>
              <a:rPr lang="en-US" sz="2000" baseline="-25000" dirty="0">
                <a:latin typeface="Times New Roman"/>
                <a:cs typeface="Times New Roman"/>
              </a:rPr>
              <a:t>i</a:t>
            </a:r>
            <a:r>
              <a:rPr lang="en-US" sz="2000" dirty="0">
                <a:latin typeface="Times New Roman"/>
                <a:cs typeface="Times New Roman"/>
              </a:rPr>
              <a:t> and H</a:t>
            </a:r>
            <a:r>
              <a:rPr lang="en-US" sz="2000" baseline="-25000" dirty="0">
                <a:latin typeface="Times New Roman"/>
                <a:cs typeface="Times New Roman"/>
              </a:rPr>
              <a:t>i </a:t>
            </a:r>
            <a:r>
              <a:rPr lang="en-US" sz="2000" dirty="0">
                <a:latin typeface="Times New Roman"/>
                <a:cs typeface="Times New Roman"/>
              </a:rPr>
              <a:t>are defined by</a:t>
            </a:r>
          </a:p>
          <a:p>
            <a:pPr algn="ctr"/>
            <a:r>
              <a:rPr lang="en-US" sz="3600" baseline="-25000" dirty="0">
                <a:ea typeface="+mn-lt"/>
                <a:cs typeface="+mn-lt"/>
              </a:rPr>
              <a:t>G</a:t>
            </a:r>
            <a:r>
              <a:rPr lang="en-US" sz="3600" baseline="-25000" dirty="0">
                <a:latin typeface="Calibri"/>
                <a:cs typeface="Calibri"/>
              </a:rPr>
              <a:t>i </a:t>
            </a:r>
            <a:r>
              <a:rPr lang="en-US" sz="3600" baseline="-25000" dirty="0">
                <a:ea typeface="+mn-lt"/>
                <a:cs typeface="+mn-lt"/>
              </a:rPr>
              <a:t>= Ai + Bi and Hi = Bi + Ci       </a:t>
            </a:r>
            <a:r>
              <a:rPr lang="en-US" sz="2000" baseline="-25000" dirty="0">
                <a:ea typeface="+mn-lt"/>
                <a:cs typeface="+mn-lt"/>
              </a:rPr>
              <a:t> </a:t>
            </a:r>
            <a:endParaRPr lang="en-US" dirty="0"/>
          </a:p>
          <a:p>
            <a:pPr algn="ctr"/>
            <a:endParaRPr lang="en-US" sz="2000" baseline="-25000" dirty="0">
              <a:ea typeface="+mn-lt"/>
              <a:cs typeface="+mn-lt"/>
            </a:endParaRPr>
          </a:p>
        </p:txBody>
      </p:sp>
    </p:spTree>
    <p:extLst>
      <p:ext uri="{BB962C8B-B14F-4D97-AF65-F5344CB8AC3E}">
        <p14:creationId xmlns:p14="http://schemas.microsoft.com/office/powerpoint/2010/main" val="10357043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1586761488"/>
              </p:ext>
            </p:extLst>
          </p:nvPr>
        </p:nvGraphicFramePr>
        <p:xfrm>
          <a:off x="992453" y="580723"/>
          <a:ext cx="8135986" cy="3657600"/>
        </p:xfrm>
        <a:graphic>
          <a:graphicData uri="http://schemas.openxmlformats.org/drawingml/2006/table">
            <a:tbl>
              <a:tblPr firstRow="1" bandRow="1">
                <a:tableStyleId>{5C22544A-7EE6-4342-B048-85BDC9FD1C3A}</a:tableStyleId>
              </a:tblPr>
              <a:tblGrid>
                <a:gridCol w="1343298">
                  <a:extLst>
                    <a:ext uri="{9D8B030D-6E8A-4147-A177-3AD203B41FA5}">
                      <a16:colId xmlns="" xmlns:a16="http://schemas.microsoft.com/office/drawing/2014/main" val="2867361991"/>
                    </a:ext>
                  </a:extLst>
                </a:gridCol>
                <a:gridCol w="1606732">
                  <a:extLst>
                    <a:ext uri="{9D8B030D-6E8A-4147-A177-3AD203B41FA5}">
                      <a16:colId xmlns="" xmlns:a16="http://schemas.microsoft.com/office/drawing/2014/main" val="2092744975"/>
                    </a:ext>
                  </a:extLst>
                </a:gridCol>
                <a:gridCol w="1606732">
                  <a:extLst>
                    <a:ext uri="{9D8B030D-6E8A-4147-A177-3AD203B41FA5}">
                      <a16:colId xmlns="" xmlns:a16="http://schemas.microsoft.com/office/drawing/2014/main" val="3956713115"/>
                    </a:ext>
                  </a:extLst>
                </a:gridCol>
                <a:gridCol w="1789612">
                  <a:extLst>
                    <a:ext uri="{9D8B030D-6E8A-4147-A177-3AD203B41FA5}">
                      <a16:colId xmlns="" xmlns:a16="http://schemas.microsoft.com/office/drawing/2014/main" val="2586161219"/>
                    </a:ext>
                  </a:extLst>
                </a:gridCol>
                <a:gridCol w="1789612">
                  <a:extLst>
                    <a:ext uri="{9D8B030D-6E8A-4147-A177-3AD203B41FA5}">
                      <a16:colId xmlns="" xmlns:a16="http://schemas.microsoft.com/office/drawing/2014/main" val="261588583"/>
                    </a:ext>
                  </a:extLst>
                </a:gridCol>
              </a:tblGrid>
              <a:tr h="411480">
                <a:tc rowSpan="2">
                  <a:txBody>
                    <a:bodyPr/>
                    <a:lstStyle/>
                    <a:p>
                      <a:pPr algn="ctr"/>
                      <a:r>
                        <a:rPr lang="en-GB" sz="2400" dirty="0" smtClean="0">
                          <a:solidFill>
                            <a:schemeClr val="tx1"/>
                          </a:solidFill>
                        </a:rPr>
                        <a:t>jobs</a:t>
                      </a: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smtClean="0">
                          <a:solidFill>
                            <a:schemeClr val="tx1"/>
                          </a:solidFill>
                        </a:rPr>
                        <a:t>Machine 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tc gridSpan="2">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GB" sz="2400" dirty="0" smtClean="0">
                          <a:solidFill>
                            <a:schemeClr val="tx1"/>
                          </a:solidFill>
                        </a:rPr>
                        <a:t>Machine B</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hMerge="1">
                  <a:txBody>
                    <a:bodyPr/>
                    <a:lstStyle/>
                    <a:p>
                      <a:endParaRPr lang="en-US"/>
                    </a:p>
                  </a:txBody>
                  <a:tcPr/>
                </a:tc>
                <a:extLst>
                  <a:ext uri="{0D108BD9-81ED-4DB2-BD59-A6C34878D82A}">
                    <a16:rowId xmlns="" xmlns:a16="http://schemas.microsoft.com/office/drawing/2014/main" val="120882439"/>
                  </a:ext>
                </a:extLst>
              </a:tr>
              <a:tr h="411480">
                <a:tc vMerge="1">
                  <a:txBody>
                    <a:bodyPr/>
                    <a:lstStyle/>
                    <a:p>
                      <a:endParaRPr lang="en-US"/>
                    </a:p>
                  </a:txBody>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721154443"/>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958249857"/>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592265150"/>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349582958"/>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483812183"/>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423982100"/>
                  </a:ext>
                </a:extLst>
              </a:tr>
              <a:tr h="370840">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GB" sz="24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065567804"/>
                  </a:ext>
                </a:extLst>
              </a:tr>
            </a:tbl>
          </a:graphicData>
        </a:graphic>
      </p:graphicFrame>
    </p:spTree>
    <p:extLst>
      <p:ext uri="{BB962C8B-B14F-4D97-AF65-F5344CB8AC3E}">
        <p14:creationId xmlns:p14="http://schemas.microsoft.com/office/powerpoint/2010/main" val="14042964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close up of text on a white background&#10;&#10;Description automatically generated">
            <a:extLst>
              <a:ext uri="{FF2B5EF4-FFF2-40B4-BE49-F238E27FC236}">
                <a16:creationId xmlns="" xmlns:a16="http://schemas.microsoft.com/office/drawing/2014/main" id="{96CD5C72-5C2F-4512-8AF3-B8539AA8F094}"/>
              </a:ext>
            </a:extLst>
          </p:cNvPr>
          <p:cNvPicPr>
            <a:picLocks noChangeAspect="1"/>
          </p:cNvPicPr>
          <p:nvPr/>
        </p:nvPicPr>
        <p:blipFill>
          <a:blip r:embed="rId2"/>
          <a:stretch>
            <a:fillRect/>
          </a:stretch>
        </p:blipFill>
        <p:spPr>
          <a:xfrm>
            <a:off x="498764" y="320605"/>
            <a:ext cx="11083635" cy="2739298"/>
          </a:xfrm>
          <a:prstGeom prst="rect">
            <a:avLst/>
          </a:prstGeom>
        </p:spPr>
      </p:pic>
      <p:sp>
        <p:nvSpPr>
          <p:cNvPr id="2" name="TextBox 1">
            <a:extLst>
              <a:ext uri="{FF2B5EF4-FFF2-40B4-BE49-F238E27FC236}">
                <a16:creationId xmlns="" xmlns:a16="http://schemas.microsoft.com/office/drawing/2014/main" id="{923AEF9A-1748-40A6-8A5D-4FFD1C2F9B8B}"/>
              </a:ext>
            </a:extLst>
          </p:cNvPr>
          <p:cNvSpPr txBox="1"/>
          <p:nvPr/>
        </p:nvSpPr>
        <p:spPr>
          <a:xfrm>
            <a:off x="637309" y="3311237"/>
            <a:ext cx="10640290" cy="22057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000" dirty="0">
                <a:latin typeface="Times New Roman"/>
                <a:cs typeface="Times New Roman"/>
              </a:rPr>
              <a:t>a)</a:t>
            </a:r>
            <a:r>
              <a:rPr lang="en-US" sz="1050" dirty="0">
                <a:latin typeface="Times New Roman"/>
                <a:cs typeface="Times New Roman"/>
              </a:rPr>
              <a:t>      </a:t>
            </a:r>
            <a:r>
              <a:rPr lang="en-US" sz="2000" dirty="0">
                <a:latin typeface="Times New Roman"/>
                <a:cs typeface="Times New Roman"/>
              </a:rPr>
              <a:t>The minimum processing time on machine A ≥ the maximum processing time on machine B.</a:t>
            </a:r>
          </a:p>
          <a:p>
            <a:pPr algn="just"/>
            <a:r>
              <a:rPr lang="en-US" sz="2000" dirty="0">
                <a:latin typeface="Times New Roman"/>
                <a:cs typeface="Times New Roman"/>
              </a:rPr>
              <a:t>b)</a:t>
            </a:r>
            <a:r>
              <a:rPr lang="en-US" sz="1050" dirty="0">
                <a:latin typeface="Times New Roman"/>
                <a:cs typeface="Times New Roman"/>
              </a:rPr>
              <a:t>      </a:t>
            </a:r>
            <a:r>
              <a:rPr lang="en-US" sz="2000" dirty="0">
                <a:latin typeface="Times New Roman"/>
                <a:cs typeface="Times New Roman"/>
              </a:rPr>
              <a:t>The minimum processing time on machine C ≥ the maximum processing time on machine B.</a:t>
            </a:r>
          </a:p>
          <a:p>
            <a:pPr algn="just"/>
            <a:r>
              <a:rPr lang="en-US" sz="2000" dirty="0">
                <a:latin typeface="Times New Roman"/>
                <a:cs typeface="Times New Roman"/>
              </a:rPr>
              <a:t>The method is to replace the problem by an equivalent problem involving n jobs and two machines. These two fictitious machines are denoted by G and H and the corresponding time G</a:t>
            </a:r>
            <a:r>
              <a:rPr lang="en-US" sz="2000" baseline="-25000" dirty="0">
                <a:latin typeface="Times New Roman"/>
                <a:cs typeface="Times New Roman"/>
              </a:rPr>
              <a:t>i</a:t>
            </a:r>
            <a:r>
              <a:rPr lang="en-US" sz="2000" dirty="0">
                <a:latin typeface="Times New Roman"/>
                <a:cs typeface="Times New Roman"/>
              </a:rPr>
              <a:t> and H</a:t>
            </a:r>
            <a:r>
              <a:rPr lang="en-US" sz="2000" baseline="-25000" dirty="0">
                <a:latin typeface="Times New Roman"/>
                <a:cs typeface="Times New Roman"/>
              </a:rPr>
              <a:t>i </a:t>
            </a:r>
            <a:r>
              <a:rPr lang="en-US" sz="2000" dirty="0">
                <a:latin typeface="Times New Roman"/>
                <a:cs typeface="Times New Roman"/>
              </a:rPr>
              <a:t>are defined by</a:t>
            </a:r>
          </a:p>
          <a:p>
            <a:pPr algn="ctr"/>
            <a:r>
              <a:rPr lang="en-US" sz="3600" baseline="-25000" dirty="0">
                <a:ea typeface="+mn-lt"/>
                <a:cs typeface="+mn-lt"/>
              </a:rPr>
              <a:t>G</a:t>
            </a:r>
            <a:r>
              <a:rPr lang="en-US" sz="3600" baseline="-25000" dirty="0">
                <a:latin typeface="Calibri"/>
                <a:cs typeface="Calibri"/>
              </a:rPr>
              <a:t>i </a:t>
            </a:r>
            <a:r>
              <a:rPr lang="en-US" sz="3600" baseline="-25000" dirty="0">
                <a:ea typeface="+mn-lt"/>
                <a:cs typeface="+mn-lt"/>
              </a:rPr>
              <a:t>= Ai + Bi and Hi = Bi + Ci       </a:t>
            </a:r>
            <a:r>
              <a:rPr lang="en-US" sz="2000" baseline="-25000" dirty="0">
                <a:ea typeface="+mn-lt"/>
                <a:cs typeface="+mn-lt"/>
              </a:rPr>
              <a:t> </a:t>
            </a:r>
            <a:endParaRPr lang="en-US" dirty="0"/>
          </a:p>
          <a:p>
            <a:pPr algn="ctr"/>
            <a:endParaRPr lang="en-US" sz="2000" baseline="-25000" dirty="0">
              <a:ea typeface="+mn-lt"/>
              <a:cs typeface="+mn-lt"/>
            </a:endParaRPr>
          </a:p>
        </p:txBody>
      </p:sp>
    </p:spTree>
    <p:extLst>
      <p:ext uri="{BB962C8B-B14F-4D97-AF65-F5344CB8AC3E}">
        <p14:creationId xmlns:p14="http://schemas.microsoft.com/office/powerpoint/2010/main" val="3136893601"/>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A screenshot of a cell phone screen with text&#10;&#10;Description automatically generated">
            <a:extLst>
              <a:ext uri="{FF2B5EF4-FFF2-40B4-BE49-F238E27FC236}">
                <a16:creationId xmlns="" xmlns:a16="http://schemas.microsoft.com/office/drawing/2014/main" id="{522A5120-DD23-4A1D-9DEE-07B03F87195C}"/>
              </a:ext>
            </a:extLst>
          </p:cNvPr>
          <p:cNvPicPr>
            <a:picLocks noChangeAspect="1"/>
          </p:cNvPicPr>
          <p:nvPr/>
        </p:nvPicPr>
        <p:blipFill>
          <a:blip r:embed="rId2"/>
          <a:stretch>
            <a:fillRect/>
          </a:stretch>
        </p:blipFill>
        <p:spPr>
          <a:xfrm>
            <a:off x="799381" y="380633"/>
            <a:ext cx="9989388" cy="5809187"/>
          </a:xfrm>
          <a:prstGeom prst="rect">
            <a:avLst/>
          </a:prstGeom>
        </p:spPr>
      </p:pic>
    </p:spTree>
    <p:extLst>
      <p:ext uri="{BB962C8B-B14F-4D97-AF65-F5344CB8AC3E}">
        <p14:creationId xmlns:p14="http://schemas.microsoft.com/office/powerpoint/2010/main" val="261620161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A screenshot of a cell phone&#10;&#10;Description automatically generated">
            <a:extLst>
              <a:ext uri="{FF2B5EF4-FFF2-40B4-BE49-F238E27FC236}">
                <a16:creationId xmlns="" xmlns:a16="http://schemas.microsoft.com/office/drawing/2014/main" id="{1C2710E7-41AA-452F-B980-1501CE285FC8}"/>
              </a:ext>
            </a:extLst>
          </p:cNvPr>
          <p:cNvPicPr>
            <a:picLocks noChangeAspect="1"/>
          </p:cNvPicPr>
          <p:nvPr/>
        </p:nvPicPr>
        <p:blipFill>
          <a:blip r:embed="rId2"/>
          <a:stretch>
            <a:fillRect/>
          </a:stretch>
        </p:blipFill>
        <p:spPr>
          <a:xfrm>
            <a:off x="471055" y="425438"/>
            <a:ext cx="10667999" cy="4053632"/>
          </a:xfrm>
          <a:prstGeom prst="rect">
            <a:avLst/>
          </a:prstGeom>
        </p:spPr>
      </p:pic>
    </p:spTree>
    <p:extLst>
      <p:ext uri="{BB962C8B-B14F-4D97-AF65-F5344CB8AC3E}">
        <p14:creationId xmlns:p14="http://schemas.microsoft.com/office/powerpoint/2010/main" val="141552687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36885" y="379394"/>
            <a:ext cx="11389895" cy="3010874"/>
          </a:xfrm>
          <a:prstGeom prst="rect">
            <a:avLst/>
          </a:prstGeom>
        </p:spPr>
      </p:pic>
      <p:sp>
        <p:nvSpPr>
          <p:cNvPr id="3" name="Rectangle 2"/>
          <p:cNvSpPr/>
          <p:nvPr/>
        </p:nvSpPr>
        <p:spPr>
          <a:xfrm>
            <a:off x="3358191" y="6035660"/>
            <a:ext cx="4855368" cy="646331"/>
          </a:xfrm>
          <a:prstGeom prst="rect">
            <a:avLst/>
          </a:prstGeom>
        </p:spPr>
        <p:txBody>
          <a:bodyPr wrap="none">
            <a:spAutoFit/>
          </a:bodyPr>
          <a:lstStyle/>
          <a:p>
            <a:r>
              <a:rPr lang="en-US" dirty="0">
                <a:hlinkClick r:id="rId3"/>
              </a:rPr>
              <a:t>http://</a:t>
            </a:r>
            <a:r>
              <a:rPr lang="en-US" dirty="0" smtClean="0">
                <a:hlinkClick r:id="rId3"/>
              </a:rPr>
              <a:t>print-graph-paper.com/virtual-graph-paper</a:t>
            </a:r>
            <a:endParaRPr lang="en-US" dirty="0" smtClean="0"/>
          </a:p>
          <a:p>
            <a:endParaRPr lang="en-US" dirty="0"/>
          </a:p>
        </p:txBody>
      </p:sp>
      <p:pic>
        <p:nvPicPr>
          <p:cNvPr id="4" name="Picture 3"/>
          <p:cNvPicPr>
            <a:picLocks noChangeAspect="1"/>
          </p:cNvPicPr>
          <p:nvPr/>
        </p:nvPicPr>
        <p:blipFill>
          <a:blip r:embed="rId4"/>
          <a:stretch>
            <a:fillRect/>
          </a:stretch>
        </p:blipFill>
        <p:spPr>
          <a:xfrm>
            <a:off x="1654346" y="3390268"/>
            <a:ext cx="8263058" cy="2138363"/>
          </a:xfrm>
          <a:prstGeom prst="rect">
            <a:avLst/>
          </a:prstGeom>
        </p:spPr>
      </p:pic>
    </p:spTree>
    <p:extLst>
      <p:ext uri="{BB962C8B-B14F-4D97-AF65-F5344CB8AC3E}">
        <p14:creationId xmlns:p14="http://schemas.microsoft.com/office/powerpoint/2010/main" val="1311567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 xmlns:a16="http://schemas.microsoft.com/office/drawing/2014/main" id="{0B83DDB1-E7B1-42C4-9238-514B6E3B08EE}"/>
              </a:ext>
            </a:extLst>
          </p:cNvPr>
          <p:cNvSpPr txBox="1"/>
          <p:nvPr/>
        </p:nvSpPr>
        <p:spPr>
          <a:xfrm>
            <a:off x="900023" y="382438"/>
            <a:ext cx="8077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2800" b="1" dirty="0"/>
              <a:t>Processing of n Jobs Through m Machines</a:t>
            </a:r>
            <a:r>
              <a:rPr lang="en-GB" sz="2800" b="1" dirty="0">
                <a:cs typeface="Calibri"/>
              </a:rPr>
              <a:t>​</a:t>
            </a:r>
            <a:endParaRPr lang="en-GB" sz="2800" b="1" dirty="0"/>
          </a:p>
        </p:txBody>
      </p:sp>
      <p:graphicFrame>
        <p:nvGraphicFramePr>
          <p:cNvPr id="4" name="Table 4">
            <a:extLst>
              <a:ext uri="{FF2B5EF4-FFF2-40B4-BE49-F238E27FC236}">
                <a16:creationId xmlns="" xmlns:a16="http://schemas.microsoft.com/office/drawing/2014/main" id="{C73C3A77-ABF6-4B21-9C23-4C19C4EA7439}"/>
              </a:ext>
            </a:extLst>
          </p:cNvPr>
          <p:cNvGraphicFramePr>
            <a:graphicFrameLocks noGrp="1"/>
          </p:cNvGraphicFramePr>
          <p:nvPr>
            <p:extLst>
              <p:ext uri="{D42A27DB-BD31-4B8C-83A1-F6EECF244321}">
                <p14:modId xmlns:p14="http://schemas.microsoft.com/office/powerpoint/2010/main" val="2398091771"/>
              </p:ext>
            </p:extLst>
          </p:nvPr>
        </p:nvGraphicFramePr>
        <p:xfrm>
          <a:off x="990888" y="1153696"/>
          <a:ext cx="8168640" cy="3474720"/>
        </p:xfrm>
        <a:graphic>
          <a:graphicData uri="http://schemas.openxmlformats.org/drawingml/2006/table">
            <a:tbl>
              <a:tblPr firstRow="1" bandRow="1">
                <a:tableStyleId>{5C22544A-7EE6-4342-B048-85BDC9FD1C3A}</a:tableStyleId>
              </a:tblPr>
              <a:tblGrid>
                <a:gridCol w="1633728">
                  <a:extLst>
                    <a:ext uri="{9D8B030D-6E8A-4147-A177-3AD203B41FA5}">
                      <a16:colId xmlns="" xmlns:a16="http://schemas.microsoft.com/office/drawing/2014/main" val="838078640"/>
                    </a:ext>
                  </a:extLst>
                </a:gridCol>
                <a:gridCol w="1633728">
                  <a:extLst>
                    <a:ext uri="{9D8B030D-6E8A-4147-A177-3AD203B41FA5}">
                      <a16:colId xmlns="" xmlns:a16="http://schemas.microsoft.com/office/drawing/2014/main" val="2037394589"/>
                    </a:ext>
                  </a:extLst>
                </a:gridCol>
                <a:gridCol w="1633728">
                  <a:extLst>
                    <a:ext uri="{9D8B030D-6E8A-4147-A177-3AD203B41FA5}">
                      <a16:colId xmlns="" xmlns:a16="http://schemas.microsoft.com/office/drawing/2014/main" val="4026388638"/>
                    </a:ext>
                  </a:extLst>
                </a:gridCol>
                <a:gridCol w="1633728">
                  <a:extLst>
                    <a:ext uri="{9D8B030D-6E8A-4147-A177-3AD203B41FA5}">
                      <a16:colId xmlns="" xmlns:a16="http://schemas.microsoft.com/office/drawing/2014/main" val="775543445"/>
                    </a:ext>
                  </a:extLst>
                </a:gridCol>
                <a:gridCol w="1633728">
                  <a:extLst>
                    <a:ext uri="{9D8B030D-6E8A-4147-A177-3AD203B41FA5}">
                      <a16:colId xmlns="" xmlns:a16="http://schemas.microsoft.com/office/drawing/2014/main" val="1436217048"/>
                    </a:ext>
                  </a:extLst>
                </a:gridCol>
              </a:tblGrid>
              <a:tr h="370840">
                <a:tc>
                  <a:txBody>
                    <a:bodyPr/>
                    <a:lstStyle/>
                    <a:p>
                      <a:pPr algn="ctr"/>
                      <a:r>
                        <a:rPr lang="en-GB" sz="3200" dirty="0"/>
                        <a:t>Jobs </a:t>
                      </a:r>
                    </a:p>
                  </a:txBody>
                  <a:tcPr/>
                </a:tc>
                <a:tc>
                  <a:txBody>
                    <a:bodyPr/>
                    <a:lstStyle/>
                    <a:p>
                      <a:pPr algn="ctr"/>
                      <a:r>
                        <a:rPr lang="en-GB" sz="3200" dirty="0"/>
                        <a:t>1</a:t>
                      </a:r>
                    </a:p>
                  </a:txBody>
                  <a:tcPr/>
                </a:tc>
                <a:tc>
                  <a:txBody>
                    <a:bodyPr/>
                    <a:lstStyle/>
                    <a:p>
                      <a:pPr algn="ctr"/>
                      <a:r>
                        <a:rPr lang="en-GB" sz="3200" dirty="0"/>
                        <a:t>2</a:t>
                      </a:r>
                    </a:p>
                  </a:txBody>
                  <a:tcPr/>
                </a:tc>
                <a:tc>
                  <a:txBody>
                    <a:bodyPr/>
                    <a:lstStyle/>
                    <a:p>
                      <a:pPr algn="ctr"/>
                      <a:r>
                        <a:rPr lang="en-GB" sz="3200" dirty="0"/>
                        <a:t>3</a:t>
                      </a:r>
                    </a:p>
                  </a:txBody>
                  <a:tcPr/>
                </a:tc>
                <a:tc>
                  <a:txBody>
                    <a:bodyPr/>
                    <a:lstStyle/>
                    <a:p>
                      <a:pPr algn="ctr"/>
                      <a:r>
                        <a:rPr lang="en-GB" sz="3200" dirty="0"/>
                        <a:t>4</a:t>
                      </a:r>
                    </a:p>
                  </a:txBody>
                  <a:tcPr/>
                </a:tc>
                <a:extLst>
                  <a:ext uri="{0D108BD9-81ED-4DB2-BD59-A6C34878D82A}">
                    <a16:rowId xmlns="" xmlns:a16="http://schemas.microsoft.com/office/drawing/2014/main" val="1818228287"/>
                  </a:ext>
                </a:extLst>
              </a:tr>
              <a:tr h="370840">
                <a:tc>
                  <a:txBody>
                    <a:bodyPr/>
                    <a:lstStyle/>
                    <a:p>
                      <a:pPr algn="ctr"/>
                      <a:r>
                        <a:rPr lang="en-GB" sz="3200" dirty="0"/>
                        <a:t>m/c A</a:t>
                      </a:r>
                    </a:p>
                  </a:txBody>
                  <a:tcPr/>
                </a:tc>
                <a:tc>
                  <a:txBody>
                    <a:bodyPr/>
                    <a:lstStyle/>
                    <a:p>
                      <a:pPr algn="ctr"/>
                      <a:r>
                        <a:rPr lang="en-GB" sz="3200" dirty="0"/>
                        <a:t>7</a:t>
                      </a:r>
                    </a:p>
                  </a:txBody>
                  <a:tcPr/>
                </a:tc>
                <a:tc>
                  <a:txBody>
                    <a:bodyPr/>
                    <a:lstStyle/>
                    <a:p>
                      <a:pPr algn="ctr"/>
                      <a:r>
                        <a:rPr lang="en-GB" sz="3200" dirty="0"/>
                        <a:t>6</a:t>
                      </a:r>
                    </a:p>
                  </a:txBody>
                  <a:tcPr/>
                </a:tc>
                <a:tc>
                  <a:txBody>
                    <a:bodyPr/>
                    <a:lstStyle/>
                    <a:p>
                      <a:pPr algn="ctr"/>
                      <a:r>
                        <a:rPr lang="en-GB" sz="3200" dirty="0"/>
                        <a:t>5</a:t>
                      </a:r>
                    </a:p>
                  </a:txBody>
                  <a:tcPr/>
                </a:tc>
                <a:tc>
                  <a:txBody>
                    <a:bodyPr/>
                    <a:lstStyle/>
                    <a:p>
                      <a:pPr algn="ctr"/>
                      <a:r>
                        <a:rPr lang="en-GB" sz="3200" dirty="0"/>
                        <a:t>8</a:t>
                      </a:r>
                    </a:p>
                  </a:txBody>
                  <a:tcPr/>
                </a:tc>
                <a:extLst>
                  <a:ext uri="{0D108BD9-81ED-4DB2-BD59-A6C34878D82A}">
                    <a16:rowId xmlns="" xmlns:a16="http://schemas.microsoft.com/office/drawing/2014/main" val="3769286827"/>
                  </a:ext>
                </a:extLst>
              </a:tr>
              <a:tr h="370840">
                <a:tc>
                  <a:txBody>
                    <a:bodyPr/>
                    <a:lstStyle/>
                    <a:p>
                      <a:pPr lvl="0" algn="ctr">
                        <a:buNone/>
                      </a:pPr>
                      <a:r>
                        <a:rPr lang="en-GB" sz="3200" b="0" i="0" u="none" strike="noStrike" noProof="0" dirty="0">
                          <a:latin typeface="Calibri"/>
                        </a:rPr>
                        <a:t>m/c B</a:t>
                      </a:r>
                      <a:endParaRPr lang="en-US" sz="3200"/>
                    </a:p>
                  </a:txBody>
                  <a:tcPr/>
                </a:tc>
                <a:tc>
                  <a:txBody>
                    <a:bodyPr/>
                    <a:lstStyle/>
                    <a:p>
                      <a:pPr algn="ctr"/>
                      <a:r>
                        <a:rPr lang="en-GB" sz="3200" dirty="0"/>
                        <a:t>5</a:t>
                      </a:r>
                    </a:p>
                  </a:txBody>
                  <a:tcPr/>
                </a:tc>
                <a:tc>
                  <a:txBody>
                    <a:bodyPr/>
                    <a:lstStyle/>
                    <a:p>
                      <a:pPr algn="ctr"/>
                      <a:r>
                        <a:rPr lang="en-GB" sz="3200" dirty="0"/>
                        <a:t>6</a:t>
                      </a:r>
                    </a:p>
                  </a:txBody>
                  <a:tcPr/>
                </a:tc>
                <a:tc>
                  <a:txBody>
                    <a:bodyPr/>
                    <a:lstStyle/>
                    <a:p>
                      <a:pPr algn="ctr"/>
                      <a:r>
                        <a:rPr lang="en-GB" sz="3200" dirty="0"/>
                        <a:t>4</a:t>
                      </a:r>
                    </a:p>
                  </a:txBody>
                  <a:tcPr/>
                </a:tc>
                <a:tc>
                  <a:txBody>
                    <a:bodyPr/>
                    <a:lstStyle/>
                    <a:p>
                      <a:pPr algn="ctr"/>
                      <a:r>
                        <a:rPr lang="en-GB" sz="3200" dirty="0"/>
                        <a:t>3</a:t>
                      </a:r>
                    </a:p>
                  </a:txBody>
                  <a:tcPr/>
                </a:tc>
                <a:extLst>
                  <a:ext uri="{0D108BD9-81ED-4DB2-BD59-A6C34878D82A}">
                    <a16:rowId xmlns="" xmlns:a16="http://schemas.microsoft.com/office/drawing/2014/main" val="894443555"/>
                  </a:ext>
                </a:extLst>
              </a:tr>
              <a:tr h="370840">
                <a:tc>
                  <a:txBody>
                    <a:bodyPr/>
                    <a:lstStyle/>
                    <a:p>
                      <a:pPr lvl="0" algn="ctr">
                        <a:buNone/>
                      </a:pPr>
                      <a:r>
                        <a:rPr lang="en-GB" sz="3200" b="0" i="0" u="none" strike="noStrike" noProof="0" dirty="0">
                          <a:latin typeface="Calibri"/>
                        </a:rPr>
                        <a:t>m/c </a:t>
                      </a:r>
                      <a:r>
                        <a:rPr lang="en-GB" sz="3200" b="0" i="0" u="none" strike="noStrike" noProof="0" err="1">
                          <a:latin typeface="Calibri"/>
                        </a:rPr>
                        <a:t>C</a:t>
                      </a:r>
                      <a:endParaRPr lang="en-US" sz="3200"/>
                    </a:p>
                  </a:txBody>
                  <a:tcPr/>
                </a:tc>
                <a:tc>
                  <a:txBody>
                    <a:bodyPr/>
                    <a:lstStyle/>
                    <a:p>
                      <a:pPr algn="ctr"/>
                      <a:r>
                        <a:rPr lang="en-GB" sz="3200" dirty="0"/>
                        <a:t>2</a:t>
                      </a:r>
                    </a:p>
                  </a:txBody>
                  <a:tcPr/>
                </a:tc>
                <a:tc>
                  <a:txBody>
                    <a:bodyPr/>
                    <a:lstStyle/>
                    <a:p>
                      <a:pPr algn="ctr"/>
                      <a:r>
                        <a:rPr lang="en-GB" sz="3200" dirty="0"/>
                        <a:t>4</a:t>
                      </a:r>
                    </a:p>
                  </a:txBody>
                  <a:tcPr/>
                </a:tc>
                <a:tc>
                  <a:txBody>
                    <a:bodyPr/>
                    <a:lstStyle/>
                    <a:p>
                      <a:pPr algn="ctr"/>
                      <a:r>
                        <a:rPr lang="en-GB" sz="3200" dirty="0"/>
                        <a:t>5</a:t>
                      </a:r>
                    </a:p>
                  </a:txBody>
                  <a:tcPr/>
                </a:tc>
                <a:tc>
                  <a:txBody>
                    <a:bodyPr/>
                    <a:lstStyle/>
                    <a:p>
                      <a:pPr algn="ctr"/>
                      <a:r>
                        <a:rPr lang="en-GB" sz="3200" dirty="0"/>
                        <a:t>3</a:t>
                      </a:r>
                    </a:p>
                  </a:txBody>
                  <a:tcPr/>
                </a:tc>
                <a:extLst>
                  <a:ext uri="{0D108BD9-81ED-4DB2-BD59-A6C34878D82A}">
                    <a16:rowId xmlns="" xmlns:a16="http://schemas.microsoft.com/office/drawing/2014/main" val="3284005526"/>
                  </a:ext>
                </a:extLst>
              </a:tr>
              <a:tr h="370840">
                <a:tc>
                  <a:txBody>
                    <a:bodyPr/>
                    <a:lstStyle/>
                    <a:p>
                      <a:pPr lvl="0" algn="ctr">
                        <a:buNone/>
                      </a:pPr>
                      <a:r>
                        <a:rPr lang="en-GB" sz="3200" b="0" i="0" u="none" strike="noStrike" noProof="0" dirty="0">
                          <a:latin typeface="Calibri"/>
                        </a:rPr>
                        <a:t>m/c D</a:t>
                      </a:r>
                      <a:endParaRPr lang="en-US" sz="3200" dirty="0"/>
                    </a:p>
                  </a:txBody>
                  <a:tcPr/>
                </a:tc>
                <a:tc>
                  <a:txBody>
                    <a:bodyPr/>
                    <a:lstStyle/>
                    <a:p>
                      <a:pPr marL="0" algn="ctr" defTabSz="914400" rtl="0" eaLnBrk="1" latinLnBrk="0" hangingPunct="1"/>
                      <a:r>
                        <a:rPr lang="en-GB" sz="3200" kern="1200" dirty="0">
                          <a:solidFill>
                            <a:schemeClr val="dk1"/>
                          </a:solidFill>
                          <a:latin typeface="+mn-lt"/>
                          <a:ea typeface="+mn-ea"/>
                          <a:cs typeface="+mn-cs"/>
                        </a:rPr>
                        <a:t>3</a:t>
                      </a:r>
                    </a:p>
                  </a:txBody>
                  <a:tcPr/>
                </a:tc>
                <a:tc>
                  <a:txBody>
                    <a:bodyPr/>
                    <a:lstStyle/>
                    <a:p>
                      <a:pPr marL="0" algn="ctr" defTabSz="914400" rtl="0" eaLnBrk="1" latinLnBrk="0" hangingPunct="1"/>
                      <a:r>
                        <a:rPr lang="en-GB" sz="3200" kern="1200" dirty="0">
                          <a:solidFill>
                            <a:schemeClr val="dk1"/>
                          </a:solidFill>
                          <a:latin typeface="+mn-lt"/>
                          <a:ea typeface="+mn-ea"/>
                          <a:cs typeface="+mn-cs"/>
                        </a:rPr>
                        <a:t>5</a:t>
                      </a:r>
                    </a:p>
                  </a:txBody>
                  <a:tcPr/>
                </a:tc>
                <a:tc>
                  <a:txBody>
                    <a:bodyPr/>
                    <a:lstStyle/>
                    <a:p>
                      <a:pPr marL="0" algn="ctr" defTabSz="914400" rtl="0" eaLnBrk="1" latinLnBrk="0" hangingPunct="1"/>
                      <a:r>
                        <a:rPr lang="en-GB" sz="3200" kern="1200" dirty="0">
                          <a:solidFill>
                            <a:schemeClr val="dk1"/>
                          </a:solidFill>
                          <a:latin typeface="+mn-lt"/>
                          <a:ea typeface="+mn-ea"/>
                          <a:cs typeface="+mn-cs"/>
                        </a:rPr>
                        <a:t>6</a:t>
                      </a:r>
                    </a:p>
                  </a:txBody>
                  <a:tcPr/>
                </a:tc>
                <a:tc>
                  <a:txBody>
                    <a:bodyPr/>
                    <a:lstStyle/>
                    <a:p>
                      <a:pPr marL="0" algn="ctr" defTabSz="914400" rtl="0" eaLnBrk="1" latinLnBrk="0" hangingPunct="1"/>
                      <a:r>
                        <a:rPr lang="en-GB" sz="3200" kern="1200" dirty="0">
                          <a:solidFill>
                            <a:schemeClr val="dk1"/>
                          </a:solidFill>
                          <a:latin typeface="+mn-lt"/>
                          <a:ea typeface="+mn-ea"/>
                          <a:cs typeface="+mn-cs"/>
                        </a:rPr>
                        <a:t>2</a:t>
                      </a:r>
                    </a:p>
                  </a:txBody>
                  <a:tcPr/>
                </a:tc>
                <a:extLst>
                  <a:ext uri="{0D108BD9-81ED-4DB2-BD59-A6C34878D82A}">
                    <a16:rowId xmlns="" xmlns:a16="http://schemas.microsoft.com/office/drawing/2014/main" val="2257901163"/>
                  </a:ext>
                </a:extLst>
              </a:tr>
              <a:tr h="370840">
                <a:tc>
                  <a:txBody>
                    <a:bodyPr/>
                    <a:lstStyle/>
                    <a:p>
                      <a:pPr lvl="0" algn="ctr">
                        <a:buNone/>
                      </a:pPr>
                      <a:r>
                        <a:rPr lang="en-GB" sz="3200" b="0" i="0" u="none" strike="noStrike" noProof="0" dirty="0">
                          <a:latin typeface="Calibri"/>
                        </a:rPr>
                        <a:t>m/c E</a:t>
                      </a:r>
                      <a:endParaRPr lang="en-US" sz="3200" dirty="0"/>
                    </a:p>
                  </a:txBody>
                  <a:tcPr/>
                </a:tc>
                <a:tc>
                  <a:txBody>
                    <a:bodyPr/>
                    <a:lstStyle/>
                    <a:p>
                      <a:pPr marL="0" algn="ctr" defTabSz="914400" rtl="0" eaLnBrk="1" latinLnBrk="0" hangingPunct="1"/>
                      <a:r>
                        <a:rPr lang="en-GB" sz="3200" kern="1200" dirty="0">
                          <a:solidFill>
                            <a:schemeClr val="dk1"/>
                          </a:solidFill>
                          <a:latin typeface="+mn-lt"/>
                          <a:ea typeface="+mn-ea"/>
                          <a:cs typeface="+mn-cs"/>
                        </a:rPr>
                        <a:t>9</a:t>
                      </a:r>
                    </a:p>
                  </a:txBody>
                  <a:tcPr/>
                </a:tc>
                <a:tc>
                  <a:txBody>
                    <a:bodyPr/>
                    <a:lstStyle/>
                    <a:p>
                      <a:pPr marL="0" algn="ctr" defTabSz="914400" rtl="0" eaLnBrk="1" latinLnBrk="0" hangingPunct="1"/>
                      <a:r>
                        <a:rPr lang="en-GB" sz="3200" kern="1200" dirty="0">
                          <a:solidFill>
                            <a:schemeClr val="dk1"/>
                          </a:solidFill>
                          <a:latin typeface="+mn-lt"/>
                          <a:ea typeface="+mn-ea"/>
                          <a:cs typeface="+mn-cs"/>
                        </a:rPr>
                        <a:t>10</a:t>
                      </a:r>
                    </a:p>
                  </a:txBody>
                  <a:tcPr/>
                </a:tc>
                <a:tc>
                  <a:txBody>
                    <a:bodyPr/>
                    <a:lstStyle/>
                    <a:p>
                      <a:pPr marL="0" algn="ctr" defTabSz="914400" rtl="0" eaLnBrk="1" latinLnBrk="0" hangingPunct="1"/>
                      <a:r>
                        <a:rPr lang="en-GB" sz="3200" kern="1200" dirty="0">
                          <a:solidFill>
                            <a:schemeClr val="dk1"/>
                          </a:solidFill>
                          <a:latin typeface="+mn-lt"/>
                          <a:ea typeface="+mn-ea"/>
                          <a:cs typeface="+mn-cs"/>
                        </a:rPr>
                        <a:t>8</a:t>
                      </a:r>
                    </a:p>
                  </a:txBody>
                  <a:tcPr/>
                </a:tc>
                <a:tc>
                  <a:txBody>
                    <a:bodyPr/>
                    <a:lstStyle/>
                    <a:p>
                      <a:pPr marL="0" algn="ctr" defTabSz="914400" rtl="0" eaLnBrk="1" latinLnBrk="0" hangingPunct="1"/>
                      <a:r>
                        <a:rPr lang="en-GB" sz="3200" kern="1200" dirty="0">
                          <a:solidFill>
                            <a:schemeClr val="dk1"/>
                          </a:solidFill>
                          <a:latin typeface="+mn-lt"/>
                          <a:ea typeface="+mn-ea"/>
                          <a:cs typeface="+mn-cs"/>
                        </a:rPr>
                        <a:t>6</a:t>
                      </a:r>
                    </a:p>
                  </a:txBody>
                  <a:tcPr/>
                </a:tc>
                <a:extLst>
                  <a:ext uri="{0D108BD9-81ED-4DB2-BD59-A6C34878D82A}">
                    <a16:rowId xmlns="" xmlns:a16="http://schemas.microsoft.com/office/drawing/2014/main" val="83219738"/>
                  </a:ext>
                </a:extLst>
              </a:tr>
            </a:tbl>
          </a:graphicData>
        </a:graphic>
      </p:graphicFrame>
    </p:spTree>
    <p:extLst>
      <p:ext uri="{BB962C8B-B14F-4D97-AF65-F5344CB8AC3E}">
        <p14:creationId xmlns:p14="http://schemas.microsoft.com/office/powerpoint/2010/main" val="42261580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23980935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968CAD-0C7E-4963-9FF4-EEFB53DAD078}">
  <ds:schemaRefs>
    <ds:schemaRef ds:uri="http://schemas.microsoft.com/sharepoint/v3/contenttype/forms"/>
  </ds:schemaRefs>
</ds:datastoreItem>
</file>

<file path=customXml/itemProps2.xml><?xml version="1.0" encoding="utf-8"?>
<ds:datastoreItem xmlns:ds="http://schemas.openxmlformats.org/officeDocument/2006/customXml" ds:itemID="{CED82D21-32EC-4562-B2DF-C295815D09B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A61EB64-2165-400E-A592-7E8A7C9B45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f63d6c3-3097-4dac-9e01-3e35a00a78b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office theme</Template>
  <TotalTime>522</TotalTime>
  <Words>503</Words>
  <Application>Microsoft Office PowerPoint</Application>
  <PresentationFormat>Custom</PresentationFormat>
  <Paragraphs>217</Paragraphs>
  <Slides>25</Slides>
  <Notes>0</Notes>
  <HiddenSlides>1</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office theme</vt:lpstr>
      <vt:lpstr>SEQUENCING PROBLEMS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Lenovo</cp:lastModifiedBy>
  <cp:revision>429</cp:revision>
  <dcterms:created xsi:type="dcterms:W3CDTF">2020-08-19T13:09:27Z</dcterms:created>
  <dcterms:modified xsi:type="dcterms:W3CDTF">2024-08-23T07:22:22Z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ies>
</file>