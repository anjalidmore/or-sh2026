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diagrams/data1.xml" ContentType="application/vnd.openxmlformats-officedocument.drawingml.diagramData+xml"/>
  <Override PartName="/ppt/presentation.xml" ContentType="application/vnd.openxmlformats-officedocument.presentationml.presentation.main+xml"/>
  <Override PartName="/ppt/slides/slide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theme/theme1.xml" ContentType="application/vnd.openxmlformats-officedocument.theme+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revisionInfo.xml" ContentType="application/vnd.ms-powerpoint.revisioninfo+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72" r:id="rId11"/>
    <p:sldId id="266" r:id="rId12"/>
    <p:sldId id="267" r:id="rId13"/>
    <p:sldId id="268" r:id="rId14"/>
    <p:sldId id="269" r:id="rId15"/>
    <p:sldId id="270" r:id="rId16"/>
    <p:sldId id="271" r:id="rId17"/>
    <p:sldId id="273" r:id="rId18"/>
    <p:sldId id="276" r:id="rId19"/>
    <p:sldId id="277" r:id="rId20"/>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6564C8-3DF1-D11C-970E-8830FA5551E2}" v="10" dt="2020-06-02T16:17:37.655"/>
    <p1510:client id="{1E1EE544-C3AA-A9AB-7906-F53AC373F7E2}" v="22" dt="2020-06-03T10:53:50.524"/>
    <p1510:client id="{2B3E9EA6-542B-3659-F180-8125FC05A940}" v="175" dt="2020-06-03T11:27:46.669"/>
    <p1510:client id="{4769A8F6-4069-449E-885E-41AFDC73330E}" v="381" dt="2020-06-02T16:55:06.031"/>
    <p1510:client id="{5009731B-7238-F794-47AF-51336B75C2EA}" v="147" dt="2020-06-03T14:30:08.734"/>
    <p1510:client id="{654E4A8C-2600-3CB7-0ED9-B7E75048C921}" v="131" dt="2020-06-03T12:00:53.052"/>
    <p1510:client id="{963A09C3-AE84-AE46-E18B-618CF1E5EB92}" v="30" dt="2020-06-10T14:09:43.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2"/>
          <a:sy n="1" d="2"/>
        </p:scale>
        <p:origin x="-1476" y="-480"/>
      </p:cViewPr>
      <p:guideLst>
        <p:guide orient="horz" pos="2160"/>
        <p:guide pos="384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d pardeshi" userId="S::anand.pardeshi@fcrit.ac.in::4de9f4fb-1776-4d2c-ac4d-7159c8faa6e6" providerId="AD" clId="Web-{963A09C3-AE84-AE46-E18B-618CF1E5EB92}"/>
    <pc:docChg chg="addSld modSld">
      <pc:chgData name="anand pardeshi" userId="S::anand.pardeshi@fcrit.ac.in::4de9f4fb-1776-4d2c-ac4d-7159c8faa6e6" providerId="AD" clId="Web-{963A09C3-AE84-AE46-E18B-618CF1E5EB92}" dt="2020-06-10T14:09:43.700" v="28" actId="20577"/>
      <pc:docMkLst>
        <pc:docMk/>
      </pc:docMkLst>
      <pc:sldChg chg="modSp new">
        <pc:chgData name="anand pardeshi" userId="S::anand.pardeshi@fcrit.ac.in::4de9f4fb-1776-4d2c-ac4d-7159c8faa6e6" providerId="AD" clId="Web-{963A09C3-AE84-AE46-E18B-618CF1E5EB92}" dt="2020-06-10T14:09:43.044" v="26" actId="20577"/>
        <pc:sldMkLst>
          <pc:docMk/>
          <pc:sldMk cId="2244067457" sldId="277"/>
        </pc:sldMkLst>
        <pc:spChg chg="mod">
          <ac:chgData name="anand pardeshi" userId="S::anand.pardeshi@fcrit.ac.in::4de9f4fb-1776-4d2c-ac4d-7159c8faa6e6" providerId="AD" clId="Web-{963A09C3-AE84-AE46-E18B-618CF1E5EB92}" dt="2020-06-10T14:09:43.044" v="26" actId="20577"/>
          <ac:spMkLst>
            <pc:docMk/>
            <pc:sldMk cId="2244067457" sldId="277"/>
            <ac:spMk id="2" creationId="{9F721B01-C44A-444D-9B37-8338214DFA03}"/>
          </ac:spMkLst>
        </pc:spChg>
        <pc:spChg chg="mod">
          <ac:chgData name="anand pardeshi" userId="S::anand.pardeshi@fcrit.ac.in::4de9f4fb-1776-4d2c-ac4d-7159c8faa6e6" providerId="AD" clId="Web-{963A09C3-AE84-AE46-E18B-618CF1E5EB92}" dt="2020-06-10T14:09:32.137" v="23" actId="20577"/>
          <ac:spMkLst>
            <pc:docMk/>
            <pc:sldMk cId="2244067457" sldId="277"/>
            <ac:spMk id="3" creationId="{5F2F75CD-E95F-421C-815C-33D85B74110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C32D39-F4BA-484F-9EC5-526D49BD1219}"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A6663B76-50FA-4820-A41E-5E8AA61821B3}">
      <dgm:prSet/>
      <dgm:spPr/>
      <dgm:t>
        <a:bodyPr/>
        <a:lstStyle/>
        <a:p>
          <a:pPr rtl="0"/>
          <a:r>
            <a:rPr lang="en-US"/>
            <a:t>Transportation Problem: Formulation, solution,</a:t>
          </a:r>
          <a:r>
            <a:rPr lang="en-US">
              <a:latin typeface="Calibri Light" panose="020F0302020204030204"/>
            </a:rPr>
            <a:t> </a:t>
          </a:r>
          <a:endParaRPr lang="en-US"/>
        </a:p>
      </dgm:t>
    </dgm:pt>
    <dgm:pt modelId="{40BD0063-1866-40C4-AB41-0C2E6C42261C}" type="parTrans" cxnId="{FA00B605-5057-49A6-AF15-39788270B07E}">
      <dgm:prSet/>
      <dgm:spPr/>
      <dgm:t>
        <a:bodyPr/>
        <a:lstStyle/>
        <a:p>
          <a:endParaRPr lang="en-US"/>
        </a:p>
      </dgm:t>
    </dgm:pt>
    <dgm:pt modelId="{521D4E31-3864-4517-9DBD-B4FDC4B918D1}" type="sibTrans" cxnId="{FA00B605-5057-49A6-AF15-39788270B07E}">
      <dgm:prSet/>
      <dgm:spPr/>
      <dgm:t>
        <a:bodyPr/>
        <a:lstStyle/>
        <a:p>
          <a:pPr>
            <a:lnSpc>
              <a:spcPct val="100000"/>
            </a:lnSpc>
          </a:pPr>
          <a:endParaRPr lang="en-US"/>
        </a:p>
      </dgm:t>
    </dgm:pt>
    <dgm:pt modelId="{80D34834-2C78-424B-B19F-7EBFFE891693}">
      <dgm:prSet/>
      <dgm:spPr/>
      <dgm:t>
        <a:bodyPr/>
        <a:lstStyle/>
        <a:p>
          <a:pPr rtl="0"/>
          <a:r>
            <a:rPr lang="en-US"/>
            <a:t>unbalanced</a:t>
          </a:r>
          <a:r>
            <a:rPr lang="en-US">
              <a:latin typeface="Calibri Light" panose="020F0302020204030204"/>
            </a:rPr>
            <a:t> </a:t>
          </a:r>
          <a:r>
            <a:rPr lang="en-US"/>
            <a:t>Transportation problem. </a:t>
          </a:r>
        </a:p>
      </dgm:t>
    </dgm:pt>
    <dgm:pt modelId="{8AE71FBE-C8F5-4636-8812-2815262293DC}" type="parTrans" cxnId="{51C431C1-FBEB-42FA-AA76-CB6C7EF1C93E}">
      <dgm:prSet/>
      <dgm:spPr/>
      <dgm:t>
        <a:bodyPr/>
        <a:lstStyle/>
        <a:p>
          <a:endParaRPr lang="en-US"/>
        </a:p>
      </dgm:t>
    </dgm:pt>
    <dgm:pt modelId="{F843D82B-905C-468D-B1C7-29D5B2569647}" type="sibTrans" cxnId="{51C431C1-FBEB-42FA-AA76-CB6C7EF1C93E}">
      <dgm:prSet/>
      <dgm:spPr/>
      <dgm:t>
        <a:bodyPr/>
        <a:lstStyle/>
        <a:p>
          <a:pPr>
            <a:lnSpc>
              <a:spcPct val="100000"/>
            </a:lnSpc>
          </a:pPr>
          <a:endParaRPr lang="en-US"/>
        </a:p>
      </dgm:t>
    </dgm:pt>
    <dgm:pt modelId="{ECDFB6D9-601A-4FE3-BC14-8439DC687993}">
      <dgm:prSet/>
      <dgm:spPr/>
      <dgm:t>
        <a:bodyPr/>
        <a:lstStyle/>
        <a:p>
          <a:pPr>
            <a:lnSpc>
              <a:spcPct val="100000"/>
            </a:lnSpc>
          </a:pPr>
          <a:r>
            <a:rPr lang="en-US"/>
            <a:t>Optimality test: the stepping stone method and MODI method.</a:t>
          </a:r>
        </a:p>
      </dgm:t>
    </dgm:pt>
    <dgm:pt modelId="{C000D09A-8048-4C7B-BC56-12C7FE7546A4}" type="parTrans" cxnId="{BD5E2F08-7BCB-454B-91C7-E1B90FB41F55}">
      <dgm:prSet/>
      <dgm:spPr/>
      <dgm:t>
        <a:bodyPr/>
        <a:lstStyle/>
        <a:p>
          <a:endParaRPr lang="en-US"/>
        </a:p>
      </dgm:t>
    </dgm:pt>
    <dgm:pt modelId="{985BAA09-B7D4-47E5-A15F-634B99A78178}" type="sibTrans" cxnId="{BD5E2F08-7BCB-454B-91C7-E1B90FB41F55}">
      <dgm:prSet/>
      <dgm:spPr/>
      <dgm:t>
        <a:bodyPr/>
        <a:lstStyle/>
        <a:p>
          <a:endParaRPr lang="en-US"/>
        </a:p>
      </dgm:t>
    </dgm:pt>
    <dgm:pt modelId="{B1F0064A-6703-4459-B1C6-27982EF8249C}">
      <dgm:prSet phldr="0"/>
      <dgm:spPr/>
      <dgm:t>
        <a:bodyPr/>
        <a:lstStyle/>
        <a:p>
          <a:pPr rtl="0"/>
          <a:r>
            <a:rPr lang="en-US"/>
            <a:t>Finding basic feasible solutions – Northwest </a:t>
          </a:r>
          <a:r>
            <a:rPr lang="en-US">
              <a:latin typeface="Calibri Light" panose="020F0302020204030204"/>
            </a:rPr>
            <a:t> </a:t>
          </a:r>
          <a:r>
            <a:rPr lang="en-US"/>
            <a:t>corner rule, least cost method and Vogel’s approximation method.</a:t>
          </a:r>
          <a:r>
            <a:rPr lang="en-US">
              <a:latin typeface="Calibri Light" panose="020F0302020204030204"/>
            </a:rPr>
            <a:t> </a:t>
          </a:r>
          <a:endParaRPr lang="en-US"/>
        </a:p>
      </dgm:t>
    </dgm:pt>
    <dgm:pt modelId="{72E3F73D-625E-499D-9DAA-D1E513CE04F5}" type="parTrans" cxnId="{F9307607-6136-4846-9BE1-7016A3262653}">
      <dgm:prSet/>
      <dgm:spPr/>
    </dgm:pt>
    <dgm:pt modelId="{9CBA4F64-5D35-46F4-BD23-D531A36A3075}" type="sibTrans" cxnId="{F9307607-6136-4846-9BE1-7016A3262653}">
      <dgm:prSet/>
      <dgm:spPr/>
    </dgm:pt>
    <dgm:pt modelId="{4346CD4B-4328-4217-B923-7525F3461788}" type="pres">
      <dgm:prSet presAssocID="{44C32D39-F4BA-484F-9EC5-526D49BD1219}" presName="vert0" presStyleCnt="0">
        <dgm:presLayoutVars>
          <dgm:dir/>
          <dgm:animOne val="branch"/>
          <dgm:animLvl val="lvl"/>
        </dgm:presLayoutVars>
      </dgm:prSet>
      <dgm:spPr/>
      <dgm:t>
        <a:bodyPr/>
        <a:lstStyle/>
        <a:p>
          <a:endParaRPr lang="en-US"/>
        </a:p>
      </dgm:t>
    </dgm:pt>
    <dgm:pt modelId="{2110FED2-B1AD-4E95-A9D9-5DA61B42C501}" type="pres">
      <dgm:prSet presAssocID="{A6663B76-50FA-4820-A41E-5E8AA61821B3}" presName="thickLine" presStyleLbl="alignNode1" presStyleIdx="0" presStyleCnt="4"/>
      <dgm:spPr/>
    </dgm:pt>
    <dgm:pt modelId="{89478FEA-3DA7-4310-AF18-8A3B3A1C4960}" type="pres">
      <dgm:prSet presAssocID="{A6663B76-50FA-4820-A41E-5E8AA61821B3}" presName="horz1" presStyleCnt="0"/>
      <dgm:spPr/>
    </dgm:pt>
    <dgm:pt modelId="{919EE03A-A6CF-4FEB-A13D-643F91B363AB}" type="pres">
      <dgm:prSet presAssocID="{A6663B76-50FA-4820-A41E-5E8AA61821B3}" presName="tx1" presStyleLbl="revTx" presStyleIdx="0" presStyleCnt="4"/>
      <dgm:spPr/>
      <dgm:t>
        <a:bodyPr/>
        <a:lstStyle/>
        <a:p>
          <a:endParaRPr lang="en-US"/>
        </a:p>
      </dgm:t>
    </dgm:pt>
    <dgm:pt modelId="{835A937E-F1E1-48DD-9FD0-010CC8AE846D}" type="pres">
      <dgm:prSet presAssocID="{A6663B76-50FA-4820-A41E-5E8AA61821B3}" presName="vert1" presStyleCnt="0"/>
      <dgm:spPr/>
    </dgm:pt>
    <dgm:pt modelId="{065C5C68-031D-4BF6-AEC9-776615F90112}" type="pres">
      <dgm:prSet presAssocID="{80D34834-2C78-424B-B19F-7EBFFE891693}" presName="thickLine" presStyleLbl="alignNode1" presStyleIdx="1" presStyleCnt="4"/>
      <dgm:spPr/>
    </dgm:pt>
    <dgm:pt modelId="{138D4F30-559A-45E6-8C62-431DADFCC889}" type="pres">
      <dgm:prSet presAssocID="{80D34834-2C78-424B-B19F-7EBFFE891693}" presName="horz1" presStyleCnt="0"/>
      <dgm:spPr/>
    </dgm:pt>
    <dgm:pt modelId="{9C078DD4-D45D-402E-8999-3365DB82FAD0}" type="pres">
      <dgm:prSet presAssocID="{80D34834-2C78-424B-B19F-7EBFFE891693}" presName="tx1" presStyleLbl="revTx" presStyleIdx="1" presStyleCnt="4"/>
      <dgm:spPr/>
      <dgm:t>
        <a:bodyPr/>
        <a:lstStyle/>
        <a:p>
          <a:endParaRPr lang="en-US"/>
        </a:p>
      </dgm:t>
    </dgm:pt>
    <dgm:pt modelId="{58A94B81-D07D-4FFE-8098-1F8D911CDF7C}" type="pres">
      <dgm:prSet presAssocID="{80D34834-2C78-424B-B19F-7EBFFE891693}" presName="vert1" presStyleCnt="0"/>
      <dgm:spPr/>
    </dgm:pt>
    <dgm:pt modelId="{BDD3B882-8DA9-4E5B-98AB-28F66B55F5D6}" type="pres">
      <dgm:prSet presAssocID="{B1F0064A-6703-4459-B1C6-27982EF8249C}" presName="thickLine" presStyleLbl="alignNode1" presStyleIdx="2" presStyleCnt="4"/>
      <dgm:spPr/>
    </dgm:pt>
    <dgm:pt modelId="{6D043092-54D5-4D46-8506-D19F4BB6D5ED}" type="pres">
      <dgm:prSet presAssocID="{B1F0064A-6703-4459-B1C6-27982EF8249C}" presName="horz1" presStyleCnt="0"/>
      <dgm:spPr/>
    </dgm:pt>
    <dgm:pt modelId="{337A6AA1-09A8-45EE-9CB2-4CF2AD285914}" type="pres">
      <dgm:prSet presAssocID="{B1F0064A-6703-4459-B1C6-27982EF8249C}" presName="tx1" presStyleLbl="revTx" presStyleIdx="2" presStyleCnt="4"/>
      <dgm:spPr/>
      <dgm:t>
        <a:bodyPr/>
        <a:lstStyle/>
        <a:p>
          <a:endParaRPr lang="en-US"/>
        </a:p>
      </dgm:t>
    </dgm:pt>
    <dgm:pt modelId="{EE5164BA-75C9-498A-8204-B868174152A0}" type="pres">
      <dgm:prSet presAssocID="{B1F0064A-6703-4459-B1C6-27982EF8249C}" presName="vert1" presStyleCnt="0"/>
      <dgm:spPr/>
    </dgm:pt>
    <dgm:pt modelId="{CA1D5FCF-ED94-424F-96B9-52BDC2664EFA}" type="pres">
      <dgm:prSet presAssocID="{ECDFB6D9-601A-4FE3-BC14-8439DC687993}" presName="thickLine" presStyleLbl="alignNode1" presStyleIdx="3" presStyleCnt="4"/>
      <dgm:spPr/>
    </dgm:pt>
    <dgm:pt modelId="{E848058A-4FDA-4642-9DE5-534E141853C1}" type="pres">
      <dgm:prSet presAssocID="{ECDFB6D9-601A-4FE3-BC14-8439DC687993}" presName="horz1" presStyleCnt="0"/>
      <dgm:spPr/>
    </dgm:pt>
    <dgm:pt modelId="{1438DFC0-B4F4-4EBA-8162-DDF110B62EF9}" type="pres">
      <dgm:prSet presAssocID="{ECDFB6D9-601A-4FE3-BC14-8439DC687993}" presName="tx1" presStyleLbl="revTx" presStyleIdx="3" presStyleCnt="4"/>
      <dgm:spPr/>
      <dgm:t>
        <a:bodyPr/>
        <a:lstStyle/>
        <a:p>
          <a:endParaRPr lang="en-US"/>
        </a:p>
      </dgm:t>
    </dgm:pt>
    <dgm:pt modelId="{9824B654-3801-44EB-B4CB-FE22699B81B2}" type="pres">
      <dgm:prSet presAssocID="{ECDFB6D9-601A-4FE3-BC14-8439DC687993}" presName="vert1" presStyleCnt="0"/>
      <dgm:spPr/>
    </dgm:pt>
  </dgm:ptLst>
  <dgm:cxnLst>
    <dgm:cxn modelId="{745B8964-519B-4D2C-BFA4-7C1799AA4B1F}" type="presOf" srcId="{44C32D39-F4BA-484F-9EC5-526D49BD1219}" destId="{4346CD4B-4328-4217-B923-7525F3461788}" srcOrd="0" destOrd="0" presId="urn:microsoft.com/office/officeart/2008/layout/LinedList"/>
    <dgm:cxn modelId="{BD5E2F08-7BCB-454B-91C7-E1B90FB41F55}" srcId="{44C32D39-F4BA-484F-9EC5-526D49BD1219}" destId="{ECDFB6D9-601A-4FE3-BC14-8439DC687993}" srcOrd="3" destOrd="0" parTransId="{C000D09A-8048-4C7B-BC56-12C7FE7546A4}" sibTransId="{985BAA09-B7D4-47E5-A15F-634B99A78178}"/>
    <dgm:cxn modelId="{BE4F1C54-3ADB-4E60-B861-E9127656A3B0}" type="presOf" srcId="{B1F0064A-6703-4459-B1C6-27982EF8249C}" destId="{337A6AA1-09A8-45EE-9CB2-4CF2AD285914}" srcOrd="0" destOrd="0" presId="urn:microsoft.com/office/officeart/2008/layout/LinedList"/>
    <dgm:cxn modelId="{FA00B605-5057-49A6-AF15-39788270B07E}" srcId="{44C32D39-F4BA-484F-9EC5-526D49BD1219}" destId="{A6663B76-50FA-4820-A41E-5E8AA61821B3}" srcOrd="0" destOrd="0" parTransId="{40BD0063-1866-40C4-AB41-0C2E6C42261C}" sibTransId="{521D4E31-3864-4517-9DBD-B4FDC4B918D1}"/>
    <dgm:cxn modelId="{CCA45F7E-6F30-40DF-B95D-A2CAE7BDB27B}" type="presOf" srcId="{A6663B76-50FA-4820-A41E-5E8AA61821B3}" destId="{919EE03A-A6CF-4FEB-A13D-643F91B363AB}" srcOrd="0" destOrd="0" presId="urn:microsoft.com/office/officeart/2008/layout/LinedList"/>
    <dgm:cxn modelId="{51C431C1-FBEB-42FA-AA76-CB6C7EF1C93E}" srcId="{44C32D39-F4BA-484F-9EC5-526D49BD1219}" destId="{80D34834-2C78-424B-B19F-7EBFFE891693}" srcOrd="1" destOrd="0" parTransId="{8AE71FBE-C8F5-4636-8812-2815262293DC}" sibTransId="{F843D82B-905C-468D-B1C7-29D5B2569647}"/>
    <dgm:cxn modelId="{4BCE2883-1C73-4C5D-B9F4-638EAAD8E9BB}" type="presOf" srcId="{80D34834-2C78-424B-B19F-7EBFFE891693}" destId="{9C078DD4-D45D-402E-8999-3365DB82FAD0}" srcOrd="0" destOrd="0" presId="urn:microsoft.com/office/officeart/2008/layout/LinedList"/>
    <dgm:cxn modelId="{08136AFD-2759-450E-85C0-E515E9D9CBE5}" type="presOf" srcId="{ECDFB6D9-601A-4FE3-BC14-8439DC687993}" destId="{1438DFC0-B4F4-4EBA-8162-DDF110B62EF9}" srcOrd="0" destOrd="0" presId="urn:microsoft.com/office/officeart/2008/layout/LinedList"/>
    <dgm:cxn modelId="{F9307607-6136-4846-9BE1-7016A3262653}" srcId="{44C32D39-F4BA-484F-9EC5-526D49BD1219}" destId="{B1F0064A-6703-4459-B1C6-27982EF8249C}" srcOrd="2" destOrd="0" parTransId="{72E3F73D-625E-499D-9DAA-D1E513CE04F5}" sibTransId="{9CBA4F64-5D35-46F4-BD23-D531A36A3075}"/>
    <dgm:cxn modelId="{0BB9F201-2AD1-494C-AB68-9053FB2B7F3E}" type="presParOf" srcId="{4346CD4B-4328-4217-B923-7525F3461788}" destId="{2110FED2-B1AD-4E95-A9D9-5DA61B42C501}" srcOrd="0" destOrd="0" presId="urn:microsoft.com/office/officeart/2008/layout/LinedList"/>
    <dgm:cxn modelId="{3FDC3DA8-C084-4B19-B82F-F96DD8740F72}" type="presParOf" srcId="{4346CD4B-4328-4217-B923-7525F3461788}" destId="{89478FEA-3DA7-4310-AF18-8A3B3A1C4960}" srcOrd="1" destOrd="0" presId="urn:microsoft.com/office/officeart/2008/layout/LinedList"/>
    <dgm:cxn modelId="{42C7AA49-ACCA-4E41-B34F-45A67513EB7E}" type="presParOf" srcId="{89478FEA-3DA7-4310-AF18-8A3B3A1C4960}" destId="{919EE03A-A6CF-4FEB-A13D-643F91B363AB}" srcOrd="0" destOrd="0" presId="urn:microsoft.com/office/officeart/2008/layout/LinedList"/>
    <dgm:cxn modelId="{DAA91768-F86F-400B-B471-C77912A88124}" type="presParOf" srcId="{89478FEA-3DA7-4310-AF18-8A3B3A1C4960}" destId="{835A937E-F1E1-48DD-9FD0-010CC8AE846D}" srcOrd="1" destOrd="0" presId="urn:microsoft.com/office/officeart/2008/layout/LinedList"/>
    <dgm:cxn modelId="{EEFC1000-7A7C-4ED4-A7AB-74E3ADA68DDE}" type="presParOf" srcId="{4346CD4B-4328-4217-B923-7525F3461788}" destId="{065C5C68-031D-4BF6-AEC9-776615F90112}" srcOrd="2" destOrd="0" presId="urn:microsoft.com/office/officeart/2008/layout/LinedList"/>
    <dgm:cxn modelId="{8D45021B-1545-48C9-BEA0-B39655F8FCEF}" type="presParOf" srcId="{4346CD4B-4328-4217-B923-7525F3461788}" destId="{138D4F30-559A-45E6-8C62-431DADFCC889}" srcOrd="3" destOrd="0" presId="urn:microsoft.com/office/officeart/2008/layout/LinedList"/>
    <dgm:cxn modelId="{1DAA2564-BC77-43C1-83AE-9F2B7A704C4E}" type="presParOf" srcId="{138D4F30-559A-45E6-8C62-431DADFCC889}" destId="{9C078DD4-D45D-402E-8999-3365DB82FAD0}" srcOrd="0" destOrd="0" presId="urn:microsoft.com/office/officeart/2008/layout/LinedList"/>
    <dgm:cxn modelId="{DE085253-ACCD-4F69-81A5-6D095654E739}" type="presParOf" srcId="{138D4F30-559A-45E6-8C62-431DADFCC889}" destId="{58A94B81-D07D-4FFE-8098-1F8D911CDF7C}" srcOrd="1" destOrd="0" presId="urn:microsoft.com/office/officeart/2008/layout/LinedList"/>
    <dgm:cxn modelId="{2BC9390B-C440-4869-8620-5D9F9B631DC8}" type="presParOf" srcId="{4346CD4B-4328-4217-B923-7525F3461788}" destId="{BDD3B882-8DA9-4E5B-98AB-28F66B55F5D6}" srcOrd="4" destOrd="0" presId="urn:microsoft.com/office/officeart/2008/layout/LinedList"/>
    <dgm:cxn modelId="{C6142C6E-C93B-4586-977D-AD674ACE8714}" type="presParOf" srcId="{4346CD4B-4328-4217-B923-7525F3461788}" destId="{6D043092-54D5-4D46-8506-D19F4BB6D5ED}" srcOrd="5" destOrd="0" presId="urn:microsoft.com/office/officeart/2008/layout/LinedList"/>
    <dgm:cxn modelId="{86AECFB7-ADE8-442B-BD5D-DFF15B23C422}" type="presParOf" srcId="{6D043092-54D5-4D46-8506-D19F4BB6D5ED}" destId="{337A6AA1-09A8-45EE-9CB2-4CF2AD285914}" srcOrd="0" destOrd="0" presId="urn:microsoft.com/office/officeart/2008/layout/LinedList"/>
    <dgm:cxn modelId="{2AA25292-D59E-4281-AFFA-177084988EA7}" type="presParOf" srcId="{6D043092-54D5-4D46-8506-D19F4BB6D5ED}" destId="{EE5164BA-75C9-498A-8204-B868174152A0}" srcOrd="1" destOrd="0" presId="urn:microsoft.com/office/officeart/2008/layout/LinedList"/>
    <dgm:cxn modelId="{E09A6FEB-CA62-4721-84EA-932608C074EB}" type="presParOf" srcId="{4346CD4B-4328-4217-B923-7525F3461788}" destId="{CA1D5FCF-ED94-424F-96B9-52BDC2664EFA}" srcOrd="6" destOrd="0" presId="urn:microsoft.com/office/officeart/2008/layout/LinedList"/>
    <dgm:cxn modelId="{C6D05A20-AFDF-487C-8829-7FA00611E3DF}" type="presParOf" srcId="{4346CD4B-4328-4217-B923-7525F3461788}" destId="{E848058A-4FDA-4642-9DE5-534E141853C1}" srcOrd="7" destOrd="0" presId="urn:microsoft.com/office/officeart/2008/layout/LinedList"/>
    <dgm:cxn modelId="{55B1388A-6E40-48E5-AE62-1D1593433E37}" type="presParOf" srcId="{E848058A-4FDA-4642-9DE5-534E141853C1}" destId="{1438DFC0-B4F4-4EBA-8162-DDF110B62EF9}" srcOrd="0" destOrd="0" presId="urn:microsoft.com/office/officeart/2008/layout/LinedList"/>
    <dgm:cxn modelId="{1DCB056F-2887-46C7-AAF4-442EAA6C0EC2}" type="presParOf" srcId="{E848058A-4FDA-4642-9DE5-534E141853C1}" destId="{9824B654-3801-44EB-B4CB-FE22699B81B2}" srcOrd="1" destOrd="0" presId="urn:microsoft.com/office/officeart/2008/layout/LinedList"/>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110FED2-B1AD-4E95-A9D9-5DA61B42C501}">
      <dsp:nvSpPr>
        <dsp:cNvPr id="0" name=""/>
        <dsp:cNvSpPr/>
      </dsp:nvSpPr>
      <dsp:spPr>
        <a:xfrm>
          <a:off x="0" y="0"/>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9EE03A-A6CF-4FEB-A13D-643F91B363AB}">
      <dsp:nvSpPr>
        <dsp:cNvPr id="0" name=""/>
        <dsp:cNvSpPr/>
      </dsp:nvSpPr>
      <dsp:spPr>
        <a:xfrm>
          <a:off x="0" y="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rtl="0">
            <a:lnSpc>
              <a:spcPct val="90000"/>
            </a:lnSpc>
            <a:spcBef>
              <a:spcPct val="0"/>
            </a:spcBef>
            <a:spcAft>
              <a:spcPct val="35000"/>
            </a:spcAft>
          </a:pPr>
          <a:r>
            <a:rPr lang="en-US" sz="2500" kern="1200"/>
            <a:t>Transportation Problem: Formulation, solution,</a:t>
          </a:r>
          <a:r>
            <a:rPr lang="en-US" sz="2500" kern="1200">
              <a:latin typeface="Calibri Light" panose="020F0302020204030204"/>
            </a:rPr>
            <a:t> </a:t>
          </a:r>
          <a:endParaRPr lang="en-US" sz="2500" kern="1200"/>
        </a:p>
      </dsp:txBody>
      <dsp:txXfrm>
        <a:off x="0" y="0"/>
        <a:ext cx="6492875" cy="1276350"/>
      </dsp:txXfrm>
    </dsp:sp>
    <dsp:sp modelId="{065C5C68-031D-4BF6-AEC9-776615F90112}">
      <dsp:nvSpPr>
        <dsp:cNvPr id="0" name=""/>
        <dsp:cNvSpPr/>
      </dsp:nvSpPr>
      <dsp:spPr>
        <a:xfrm>
          <a:off x="0" y="1276350"/>
          <a:ext cx="6492875" cy="0"/>
        </a:xfrm>
        <a:prstGeom prst="lin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078DD4-D45D-402E-8999-3365DB82FAD0}">
      <dsp:nvSpPr>
        <dsp:cNvPr id="0" name=""/>
        <dsp:cNvSpPr/>
      </dsp:nvSpPr>
      <dsp:spPr>
        <a:xfrm>
          <a:off x="0" y="127635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rtl="0">
            <a:lnSpc>
              <a:spcPct val="90000"/>
            </a:lnSpc>
            <a:spcBef>
              <a:spcPct val="0"/>
            </a:spcBef>
            <a:spcAft>
              <a:spcPct val="35000"/>
            </a:spcAft>
          </a:pPr>
          <a:r>
            <a:rPr lang="en-US" sz="2500" kern="1200"/>
            <a:t>unbalanced</a:t>
          </a:r>
          <a:r>
            <a:rPr lang="en-US" sz="2500" kern="1200">
              <a:latin typeface="Calibri Light" panose="020F0302020204030204"/>
            </a:rPr>
            <a:t> </a:t>
          </a:r>
          <a:r>
            <a:rPr lang="en-US" sz="2500" kern="1200"/>
            <a:t>Transportation problem. </a:t>
          </a:r>
        </a:p>
      </dsp:txBody>
      <dsp:txXfrm>
        <a:off x="0" y="1276350"/>
        <a:ext cx="6492875" cy="1276350"/>
      </dsp:txXfrm>
    </dsp:sp>
    <dsp:sp modelId="{BDD3B882-8DA9-4E5B-98AB-28F66B55F5D6}">
      <dsp:nvSpPr>
        <dsp:cNvPr id="0" name=""/>
        <dsp:cNvSpPr/>
      </dsp:nvSpPr>
      <dsp:spPr>
        <a:xfrm>
          <a:off x="0" y="2552700"/>
          <a:ext cx="6492875" cy="0"/>
        </a:xfrm>
        <a:prstGeom prst="lin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7A6AA1-09A8-45EE-9CB2-4CF2AD285914}">
      <dsp:nvSpPr>
        <dsp:cNvPr id="0" name=""/>
        <dsp:cNvSpPr/>
      </dsp:nvSpPr>
      <dsp:spPr>
        <a:xfrm>
          <a:off x="0" y="255270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rtl="0">
            <a:lnSpc>
              <a:spcPct val="90000"/>
            </a:lnSpc>
            <a:spcBef>
              <a:spcPct val="0"/>
            </a:spcBef>
            <a:spcAft>
              <a:spcPct val="35000"/>
            </a:spcAft>
          </a:pPr>
          <a:r>
            <a:rPr lang="en-US" sz="2500" kern="1200"/>
            <a:t>Finding basic feasible solutions – Northwest </a:t>
          </a:r>
          <a:r>
            <a:rPr lang="en-US" sz="2500" kern="1200">
              <a:latin typeface="Calibri Light" panose="020F0302020204030204"/>
            </a:rPr>
            <a:t> </a:t>
          </a:r>
          <a:r>
            <a:rPr lang="en-US" sz="2500" kern="1200"/>
            <a:t>corner rule, least cost method and Vogel’s approximation method.</a:t>
          </a:r>
          <a:r>
            <a:rPr lang="en-US" sz="2500" kern="1200">
              <a:latin typeface="Calibri Light" panose="020F0302020204030204"/>
            </a:rPr>
            <a:t> </a:t>
          </a:r>
          <a:endParaRPr lang="en-US" sz="2500" kern="1200"/>
        </a:p>
      </dsp:txBody>
      <dsp:txXfrm>
        <a:off x="0" y="2552700"/>
        <a:ext cx="6492875" cy="1276350"/>
      </dsp:txXfrm>
    </dsp:sp>
    <dsp:sp modelId="{CA1D5FCF-ED94-424F-96B9-52BDC2664EFA}">
      <dsp:nvSpPr>
        <dsp:cNvPr id="0" name=""/>
        <dsp:cNvSpPr/>
      </dsp:nvSpPr>
      <dsp:spPr>
        <a:xfrm>
          <a:off x="0" y="3829050"/>
          <a:ext cx="6492875"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38DFC0-B4F4-4EBA-8162-DDF110B62EF9}">
      <dsp:nvSpPr>
        <dsp:cNvPr id="0" name=""/>
        <dsp:cNvSpPr/>
      </dsp:nvSpPr>
      <dsp:spPr>
        <a:xfrm>
          <a:off x="0" y="3829050"/>
          <a:ext cx="6492875"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lvl="0" algn="l" defTabSz="1111250">
            <a:lnSpc>
              <a:spcPct val="100000"/>
            </a:lnSpc>
            <a:spcBef>
              <a:spcPct val="0"/>
            </a:spcBef>
            <a:spcAft>
              <a:spcPct val="35000"/>
            </a:spcAft>
          </a:pPr>
          <a:r>
            <a:rPr lang="en-US" sz="2500" kern="1200"/>
            <a:t>Optimality test: the stepping stone method and MODI method.</a:t>
          </a:r>
        </a:p>
      </dsp:txBody>
      <dsp:txXfrm>
        <a:off x="0" y="3829050"/>
        <a:ext cx="6492875" cy="127635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pPr/>
              <a:t>24/07/2020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pPr/>
              <a:t>24/07/2020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pPr/>
              <a:t>24/07/2020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pPr/>
              <a:t>24/07/2020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pPr/>
              <a:t>24/07/2020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pPr/>
              <a:t>24/07/2020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pPr/>
              <a:t>24/07/2020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pPr/>
              <a:t>24/07/2020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pPr/>
              <a:t>24/07/2020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pPr/>
              <a:t>24/07/2020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pPr/>
              <a:t>24/07/2020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pPr/>
              <a:t>24/07/2020</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pPr/>
              <a:t>‹#›</a:t>
            </a:fld>
            <a:endParaRPr lang="en-GB"/>
          </a:p>
        </p:txBody>
      </p:sp>
    </p:spTree>
    <p:extLst>
      <p:ext uri="{BB962C8B-B14F-4D97-AF65-F5344CB8AC3E}">
        <p14:creationId xmlns:p14="http://schemas.microsoft.com/office/powerpoint/2010/main" xmlns=""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ItOuvM2KmD4" TargetMode="External"/><Relationship Id="rId2" Type="http://schemas.openxmlformats.org/officeDocument/2006/relationships/hyperlink" Target="http://www.pondiuni.edu.in/storage/dde/downloads/mbaii_qt.pdf"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tinyurl.com/transprob2" TargetMode="External"/><Relationship Id="rId2" Type="http://schemas.openxmlformats.org/officeDocument/2006/relationships/hyperlink" Target="https://tinyurl.com/transprob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6" name="Freeform: Shape 8">
            <a:extLst>
              <a:ext uri="{FF2B5EF4-FFF2-40B4-BE49-F238E27FC236}">
                <a16:creationId xmlns:a16="http://schemas.microsoft.com/office/drawing/2014/main" xmlns="" id="{42285737-90EE-47DC-AC80-8AE156B1196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7" name="Group 10">
            <a:extLst>
              <a:ext uri="{FF2B5EF4-FFF2-40B4-BE49-F238E27FC236}">
                <a16:creationId xmlns:a16="http://schemas.microsoft.com/office/drawing/2014/main" xmlns="" id="{B57BDC17-F1B3-455F-BBF1-680AA1F25C06}"/>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3315292" y="0"/>
            <a:ext cx="2436813" cy="6858001"/>
            <a:chOff x="1320800" y="0"/>
            <a:chExt cx="2436813" cy="6858001"/>
          </a:xfrm>
        </p:grpSpPr>
        <p:sp>
          <p:nvSpPr>
            <p:cNvPr id="18" name="Freeform 6">
              <a:extLst>
                <a:ext uri="{FF2B5EF4-FFF2-40B4-BE49-F238E27FC236}">
                  <a16:creationId xmlns:a16="http://schemas.microsoft.com/office/drawing/2014/main" xmlns="" id="{64E2FA9A-FEF7-4501-B0EB-5E45EDD2177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3" name="Freeform 7">
              <a:extLst>
                <a:ext uri="{FF2B5EF4-FFF2-40B4-BE49-F238E27FC236}">
                  <a16:creationId xmlns:a16="http://schemas.microsoft.com/office/drawing/2014/main" xmlns="" id="{BC38192B-B4CB-47D4-A3B1-10010247F15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4" name="Freeform 8">
              <a:extLst>
                <a:ext uri="{FF2B5EF4-FFF2-40B4-BE49-F238E27FC236}">
                  <a16:creationId xmlns:a16="http://schemas.microsoft.com/office/drawing/2014/main" xmlns="" id="{96330E33-E171-4B0F-82B5-AF7230399B5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5" name="Freeform 9">
              <a:extLst>
                <a:ext uri="{FF2B5EF4-FFF2-40B4-BE49-F238E27FC236}">
                  <a16:creationId xmlns:a16="http://schemas.microsoft.com/office/drawing/2014/main" xmlns="" id="{332B1723-69BF-42D7-B757-0FA059E1525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6" name="Freeform 10">
              <a:extLst>
                <a:ext uri="{FF2B5EF4-FFF2-40B4-BE49-F238E27FC236}">
                  <a16:creationId xmlns:a16="http://schemas.microsoft.com/office/drawing/2014/main" xmlns="" id="{F115D62D-1E96-48D1-A78D-D370A0BFB9B5}"/>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7" name="Freeform 11">
              <a:extLst>
                <a:ext uri="{FF2B5EF4-FFF2-40B4-BE49-F238E27FC236}">
                  <a16:creationId xmlns:a16="http://schemas.microsoft.com/office/drawing/2014/main" xmlns="" id="{91C2876A-169D-4822-A766-C00578C88B4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xmlns="" id="{B4ED837D-81EC-478F-BC06-2573391CBC32}"/>
              </a:ext>
            </a:extLst>
          </p:cNvPr>
          <p:cNvSpPr>
            <a:spLocks noGrp="1"/>
          </p:cNvSpPr>
          <p:nvPr>
            <p:ph type="title"/>
          </p:nvPr>
        </p:nvSpPr>
        <p:spPr>
          <a:xfrm>
            <a:off x="219069" y="648629"/>
            <a:ext cx="3282075" cy="5105400"/>
          </a:xfrm>
        </p:spPr>
        <p:txBody>
          <a:bodyPr>
            <a:normAutofit/>
          </a:bodyPr>
          <a:lstStyle/>
          <a:p>
            <a:r>
              <a:rPr lang="en-GB" sz="4000" b="1">
                <a:solidFill>
                  <a:schemeClr val="bg1"/>
                </a:solidFill>
                <a:cs typeface="Calibri Light"/>
              </a:rPr>
              <a:t/>
            </a:r>
            <a:br>
              <a:rPr lang="en-GB" sz="4000" b="1">
                <a:solidFill>
                  <a:schemeClr val="bg1"/>
                </a:solidFill>
                <a:cs typeface="Calibri Light"/>
              </a:rPr>
            </a:br>
            <a:r>
              <a:rPr lang="en-GB" sz="4000" b="1">
                <a:solidFill>
                  <a:schemeClr val="bg1"/>
                </a:solidFill>
                <a:cs typeface="Calibri Light"/>
              </a:rPr>
              <a:t>Transportation Problem</a:t>
            </a:r>
            <a:endParaRPr lang="en-US" sz="4000">
              <a:solidFill>
                <a:schemeClr val="bg1"/>
              </a:solidFill>
              <a:ea typeface="+mj-lt"/>
              <a:cs typeface="+mj-lt"/>
            </a:endParaRPr>
          </a:p>
          <a:p>
            <a:endParaRPr lang="en-US" sz="4000">
              <a:solidFill>
                <a:srgbClr val="FFFFFF"/>
              </a:solidFill>
              <a:cs typeface="Calibri Light"/>
            </a:endParaRPr>
          </a:p>
        </p:txBody>
      </p:sp>
      <p:graphicFrame>
        <p:nvGraphicFramePr>
          <p:cNvPr id="19" name="Content Placeholder 2">
            <a:extLst>
              <a:ext uri="{FF2B5EF4-FFF2-40B4-BE49-F238E27FC236}">
                <a16:creationId xmlns:a16="http://schemas.microsoft.com/office/drawing/2014/main" xmlns="" id="{A7DAE241-798F-4009-8B00-DEA1C847C7CE}"/>
              </a:ext>
            </a:extLst>
          </p:cNvPr>
          <p:cNvGraphicFramePr>
            <a:graphicFrameLocks noGrp="1"/>
          </p:cNvGraphicFramePr>
          <p:nvPr>
            <p:ph idx="1"/>
            <p:extLst>
              <p:ext uri="{D42A27DB-BD31-4B8C-83A1-F6EECF244321}">
                <p14:modId xmlns:p14="http://schemas.microsoft.com/office/powerpoint/2010/main" xmlns="" val="2329189556"/>
              </p:ext>
            </p:extLst>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18216711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389575E1-3389-451A-A5F7-27854C25C5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A53CCC5C-D88E-40FB-B30B-23DCDBD01D3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9F97EB56-2870-42E1-A639-CB06EEA9448E}"/>
              </a:ext>
            </a:extLst>
          </p:cNvPr>
          <p:cNvSpPr>
            <a:spLocks noGrp="1"/>
          </p:cNvSpPr>
          <p:nvPr>
            <p:ph type="title"/>
          </p:nvPr>
        </p:nvSpPr>
        <p:spPr>
          <a:xfrm>
            <a:off x="686834" y="591344"/>
            <a:ext cx="3200400" cy="5585619"/>
          </a:xfrm>
        </p:spPr>
        <p:txBody>
          <a:bodyPr>
            <a:normAutofit/>
          </a:bodyPr>
          <a:lstStyle/>
          <a:p>
            <a:r>
              <a:rPr lang="en-US">
                <a:solidFill>
                  <a:srgbClr val="FFFFFF"/>
                </a:solidFill>
                <a:ea typeface="+mj-lt"/>
                <a:cs typeface="+mj-lt"/>
              </a:rPr>
              <a:t>Objectives</a:t>
            </a:r>
            <a:endParaRPr lang="en-US">
              <a:solidFill>
                <a:srgbClr val="FFFFFF"/>
              </a:solidFill>
            </a:endParaRPr>
          </a:p>
        </p:txBody>
      </p:sp>
      <p:sp>
        <p:nvSpPr>
          <p:cNvPr id="12" name="Arc 11">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4B625663-79E7-4CD6-ACF6-6AD0F5CB25D0}"/>
              </a:ext>
            </a:extLst>
          </p:cNvPr>
          <p:cNvSpPr>
            <a:spLocks noGrp="1"/>
          </p:cNvSpPr>
          <p:nvPr>
            <p:ph idx="1"/>
          </p:nvPr>
        </p:nvSpPr>
        <p:spPr>
          <a:xfrm>
            <a:off x="4447308" y="591344"/>
            <a:ext cx="7417588" cy="5585619"/>
          </a:xfrm>
        </p:spPr>
        <p:txBody>
          <a:bodyPr vert="horz" lIns="91440" tIns="45720" rIns="91440" bIns="45720" rtlCol="0" anchor="ctr">
            <a:normAutofit/>
          </a:bodyPr>
          <a:lstStyle/>
          <a:p>
            <a:pPr algn="just">
              <a:buNone/>
            </a:pPr>
            <a:r>
              <a:rPr lang="en-US" sz="2600">
                <a:ea typeface="+mn-lt"/>
                <a:cs typeface="+mn-lt"/>
              </a:rPr>
              <a:t>After Studying this lesson, you should be able to:</a:t>
            </a:r>
            <a:endParaRPr lang="en-US" sz="2600">
              <a:cs typeface="Calibri" panose="020F0502020204030204"/>
            </a:endParaRPr>
          </a:p>
          <a:p>
            <a:pPr algn="just">
              <a:buNone/>
            </a:pPr>
            <a:endParaRPr lang="en-US" sz="2600">
              <a:ea typeface="+mn-lt"/>
              <a:cs typeface="+mn-lt"/>
            </a:endParaRPr>
          </a:p>
          <a:p>
            <a:pPr algn="just"/>
            <a:r>
              <a:rPr lang="en-US" sz="2600">
                <a:ea typeface="+mn-lt"/>
                <a:cs typeface="+mn-lt"/>
              </a:rPr>
              <a:t>Formulation of a Transportation Problem</a:t>
            </a:r>
            <a:endParaRPr lang="en-US" sz="2600">
              <a:cs typeface="Calibri" panose="020F0502020204030204"/>
            </a:endParaRPr>
          </a:p>
          <a:p>
            <a:pPr algn="just"/>
            <a:r>
              <a:rPr lang="en-US" sz="2600">
                <a:ea typeface="+mn-lt"/>
                <a:cs typeface="+mn-lt"/>
              </a:rPr>
              <a:t>Determine basic feasible solution using various methods</a:t>
            </a:r>
            <a:endParaRPr lang="en-US" sz="2600">
              <a:cs typeface="Calibri" panose="020F0502020204030204"/>
            </a:endParaRPr>
          </a:p>
          <a:p>
            <a:pPr algn="just"/>
            <a:r>
              <a:rPr lang="en-US" sz="2600">
                <a:ea typeface="+mn-lt"/>
                <a:cs typeface="+mn-lt"/>
              </a:rPr>
              <a:t>Understand the MODI, Stepping Stone Methods for cost minimization</a:t>
            </a:r>
          </a:p>
          <a:p>
            <a:pPr algn="just"/>
            <a:r>
              <a:rPr lang="en-US" sz="2600">
                <a:ea typeface="+mn-lt"/>
                <a:cs typeface="+mn-lt"/>
              </a:rPr>
              <a:t> Make unbalanced Transportation Problem into </a:t>
            </a:r>
            <a:endParaRPr lang="en-US"/>
          </a:p>
          <a:p>
            <a:pPr marL="0" indent="0" algn="just">
              <a:buNone/>
            </a:pPr>
            <a:r>
              <a:rPr lang="en-US" sz="2600">
                <a:ea typeface="+mn-lt"/>
                <a:cs typeface="+mn-lt"/>
              </a:rPr>
              <a:t>    balanced one using appropriate method</a:t>
            </a:r>
            <a:endParaRPr lang="en-US" sz="2600">
              <a:cs typeface="Calibri" panose="020F0502020204030204"/>
            </a:endParaRPr>
          </a:p>
          <a:p>
            <a:pPr algn="just"/>
            <a:r>
              <a:rPr lang="en-US" sz="2600">
                <a:ea typeface="+mn-lt"/>
                <a:cs typeface="+mn-lt"/>
              </a:rPr>
              <a:t> Solve Degenerate Problem</a:t>
            </a:r>
            <a:endParaRPr lang="en-US" sz="2600">
              <a:cs typeface="Calibri" panose="020F0502020204030204"/>
            </a:endParaRPr>
          </a:p>
        </p:txBody>
      </p:sp>
    </p:spTree>
    <p:extLst>
      <p:ext uri="{BB962C8B-B14F-4D97-AF65-F5344CB8AC3E}">
        <p14:creationId xmlns:p14="http://schemas.microsoft.com/office/powerpoint/2010/main" xmlns="" val="320565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xmlns="" id="{389575E1-3389-451A-A5F7-27854C25C5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xmlns="" id="{A53CCC5C-D88E-40FB-B30B-23DCDBD01D3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0B89545-4DEB-4C40-81D2-0028696E8DFF}"/>
              </a:ext>
            </a:extLst>
          </p:cNvPr>
          <p:cNvSpPr>
            <a:spLocks noGrp="1"/>
          </p:cNvSpPr>
          <p:nvPr>
            <p:ph type="title"/>
          </p:nvPr>
        </p:nvSpPr>
        <p:spPr>
          <a:xfrm>
            <a:off x="686834" y="591344"/>
            <a:ext cx="3200400" cy="5585619"/>
          </a:xfrm>
        </p:spPr>
        <p:txBody>
          <a:bodyPr>
            <a:normAutofit/>
          </a:bodyPr>
          <a:lstStyle/>
          <a:p>
            <a:r>
              <a:rPr lang="en-US" b="1" dirty="0">
                <a:solidFill>
                  <a:srgbClr val="FFFFFF"/>
                </a:solidFill>
                <a:ea typeface="+mj-lt"/>
                <a:cs typeface="+mj-lt"/>
              </a:rPr>
              <a:t>Introduction</a:t>
            </a:r>
            <a:endParaRPr lang="en-US" b="1" dirty="0">
              <a:solidFill>
                <a:srgbClr val="FFFFFF"/>
              </a:solidFill>
            </a:endParaRPr>
          </a:p>
        </p:txBody>
      </p:sp>
      <p:sp>
        <p:nvSpPr>
          <p:cNvPr id="24" name="Arc 23">
            <a:extLst>
              <a:ext uri="{FF2B5EF4-FFF2-40B4-BE49-F238E27FC236}">
                <a16:creationId xmlns:a16="http://schemas.microsoft.com/office/drawing/2014/main" xmlns="" id="{081E4A58-353D-44AE-B2FC-2A74E2E400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C1E9553F-2AD7-486F-A4A0-2F86A1DF7571}"/>
              </a:ext>
            </a:extLst>
          </p:cNvPr>
          <p:cNvSpPr>
            <a:spLocks noGrp="1"/>
          </p:cNvSpPr>
          <p:nvPr>
            <p:ph idx="1"/>
          </p:nvPr>
        </p:nvSpPr>
        <p:spPr>
          <a:xfrm>
            <a:off x="4447308" y="591344"/>
            <a:ext cx="6906491" cy="5585619"/>
          </a:xfrm>
        </p:spPr>
        <p:txBody>
          <a:bodyPr vert="horz" lIns="91440" tIns="45720" rIns="91440" bIns="45720" rtlCol="0" anchor="ctr">
            <a:normAutofit/>
          </a:bodyPr>
          <a:lstStyle/>
          <a:p>
            <a:pPr algn="just">
              <a:buNone/>
            </a:pPr>
            <a:r>
              <a:rPr lang="en-US" sz="2200" dirty="0">
                <a:ea typeface="+mn-lt"/>
                <a:cs typeface="+mn-lt"/>
              </a:rPr>
              <a:t>    A special class of linear programming problem is Transportation Problem, where the </a:t>
            </a:r>
            <a:r>
              <a:rPr lang="en-US" sz="2200" b="1" dirty="0">
                <a:solidFill>
                  <a:srgbClr val="FF0000"/>
                </a:solidFill>
                <a:ea typeface="+mn-lt"/>
                <a:cs typeface="+mn-lt"/>
              </a:rPr>
              <a:t>objective is to minimize the cost</a:t>
            </a:r>
            <a:r>
              <a:rPr lang="en-US" sz="2200" dirty="0">
                <a:ea typeface="+mn-lt"/>
                <a:cs typeface="+mn-lt"/>
              </a:rPr>
              <a:t> of distributing a product from a number of sources (e.g. factories) to a number of destinations (e.g. warehouses) while satisfying both the supply limits and the demand requirement. Because of the special structure of the Transportation Problem the Simplex Method of solving is unsuitable for the Transportation Problem. The model assumes that the distributing cost on a given route is directly proportional to the number of units distributed on that route. Generally, the transportation model can be extended to areas other than the direct transportation of a commodity, including among others, inventory control, employment scheduling, and personnel assignment.</a:t>
            </a:r>
            <a:endParaRPr lang="en-US" sz="2200" dirty="0">
              <a:cs typeface="Calibri"/>
            </a:endParaRPr>
          </a:p>
        </p:txBody>
      </p:sp>
    </p:spTree>
    <p:extLst>
      <p:ext uri="{BB962C8B-B14F-4D97-AF65-F5344CB8AC3E}">
        <p14:creationId xmlns:p14="http://schemas.microsoft.com/office/powerpoint/2010/main" xmlns="" val="30689586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880560-2EC0-41F1-B591-9E2F7239C584}"/>
              </a:ext>
            </a:extLst>
          </p:cNvPr>
          <p:cNvSpPr>
            <a:spLocks noGrp="1"/>
          </p:cNvSpPr>
          <p:nvPr>
            <p:ph type="title"/>
          </p:nvPr>
        </p:nvSpPr>
        <p:spPr>
          <a:xfrm>
            <a:off x="838200" y="365125"/>
            <a:ext cx="10515600" cy="340539"/>
          </a:xfrm>
        </p:spPr>
        <p:txBody>
          <a:bodyPr>
            <a:normAutofit fontScale="90000"/>
          </a:bodyPr>
          <a:lstStyle/>
          <a:p>
            <a:r>
              <a:rPr lang="en-US">
                <a:ea typeface="+mj-lt"/>
                <a:cs typeface="+mj-lt"/>
              </a:rPr>
              <a:t>  Example</a:t>
            </a:r>
            <a:endParaRPr lang="en-US"/>
          </a:p>
        </p:txBody>
      </p:sp>
      <p:sp>
        <p:nvSpPr>
          <p:cNvPr id="3" name="Content Placeholder 2">
            <a:extLst>
              <a:ext uri="{FF2B5EF4-FFF2-40B4-BE49-F238E27FC236}">
                <a16:creationId xmlns:a16="http://schemas.microsoft.com/office/drawing/2014/main" xmlns="" id="{0B803DF4-35A6-4DDA-BAF3-FD8186F7904A}"/>
              </a:ext>
            </a:extLst>
          </p:cNvPr>
          <p:cNvSpPr>
            <a:spLocks noGrp="1"/>
          </p:cNvSpPr>
          <p:nvPr>
            <p:ph idx="1"/>
          </p:nvPr>
        </p:nvSpPr>
        <p:spPr>
          <a:xfrm>
            <a:off x="810322" y="896357"/>
            <a:ext cx="10515600" cy="4351338"/>
          </a:xfrm>
        </p:spPr>
        <p:txBody>
          <a:bodyPr vert="horz" lIns="91440" tIns="45720" rIns="91440" bIns="45720" rtlCol="0" anchor="t">
            <a:normAutofit/>
          </a:bodyPr>
          <a:lstStyle/>
          <a:p>
            <a:pPr algn="just">
              <a:buNone/>
            </a:pPr>
            <a:r>
              <a:rPr lang="en-US">
                <a:ea typeface="+mn-lt"/>
                <a:cs typeface="+mn-lt"/>
              </a:rPr>
              <a:t>  </a:t>
            </a:r>
            <a:r>
              <a:rPr lang="en-US" sz="2400">
                <a:ea typeface="+mn-lt"/>
                <a:cs typeface="+mn-lt"/>
              </a:rPr>
              <a:t>Suppose a manufacturing company owns three factories (sources)and distribute his products to five different retail agencies (destinations). The following table shows the capacities of the three factories, the quantity of products required by the various retail agencies and the cost of shipping one unit of the product from each of the three factories to each of the five retail agencies.</a:t>
            </a:r>
            <a:endParaRPr lang="en-US" sz="2400">
              <a:cs typeface="Calibri" panose="020F0502020204030204"/>
            </a:endParaRPr>
          </a:p>
        </p:txBody>
      </p:sp>
      <p:pic>
        <p:nvPicPr>
          <p:cNvPr id="4" name="Picture 4" descr="A picture containing clock&#10;&#10;Description generated with very high confidence">
            <a:extLst>
              <a:ext uri="{FF2B5EF4-FFF2-40B4-BE49-F238E27FC236}">
                <a16:creationId xmlns:a16="http://schemas.microsoft.com/office/drawing/2014/main" xmlns="" id="{B6B7ACA0-D29D-400D-B66F-2ECB9C28756D}"/>
              </a:ext>
            </a:extLst>
          </p:cNvPr>
          <p:cNvPicPr>
            <a:picLocks noChangeAspect="1"/>
          </p:cNvPicPr>
          <p:nvPr/>
        </p:nvPicPr>
        <p:blipFill>
          <a:blip r:embed="rId2" cstate="print"/>
          <a:stretch>
            <a:fillRect/>
          </a:stretch>
        </p:blipFill>
        <p:spPr>
          <a:xfrm>
            <a:off x="856890" y="2588021"/>
            <a:ext cx="11067690" cy="2386449"/>
          </a:xfrm>
          <a:prstGeom prst="rect">
            <a:avLst/>
          </a:prstGeom>
        </p:spPr>
      </p:pic>
      <p:sp>
        <p:nvSpPr>
          <p:cNvPr id="5" name="TextBox 4">
            <a:extLst>
              <a:ext uri="{FF2B5EF4-FFF2-40B4-BE49-F238E27FC236}">
                <a16:creationId xmlns:a16="http://schemas.microsoft.com/office/drawing/2014/main" xmlns="" id="{E8AB3A47-9CC1-43A8-8074-ADB49FDEBF1F}"/>
              </a:ext>
            </a:extLst>
          </p:cNvPr>
          <p:cNvSpPr txBox="1"/>
          <p:nvPr/>
        </p:nvSpPr>
        <p:spPr>
          <a:xfrm>
            <a:off x="856890" y="5083834"/>
            <a:ext cx="1083765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a:t>Usually the above table is referred as Transportation Table, which provides the basic information regarding the transportation problem. The quantities inside the table are known as transportation cost per unit of product. The capacity of the factories 1, 2, 3 is 50, 100 and 150 respectively. The requirement of the retail agency 1, 2, 3, 4, 5 is 100,60,50,50, and 40 respectively.</a:t>
            </a:r>
          </a:p>
        </p:txBody>
      </p:sp>
    </p:spTree>
    <p:extLst>
      <p:ext uri="{BB962C8B-B14F-4D97-AF65-F5344CB8AC3E}">
        <p14:creationId xmlns:p14="http://schemas.microsoft.com/office/powerpoint/2010/main" xmlns="" val="5059915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8E940EE-43DD-416A-AFB9-4777412DB860}"/>
              </a:ext>
            </a:extLst>
          </p:cNvPr>
          <p:cNvSpPr txBox="1"/>
          <p:nvPr/>
        </p:nvSpPr>
        <p:spPr>
          <a:xfrm>
            <a:off x="511834" y="195532"/>
            <a:ext cx="11499010" cy="63094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latin typeface="Times New Roman"/>
                <a:cs typeface="Times New Roman"/>
              </a:rPr>
              <a:t>Transportation Algorithm</a:t>
            </a:r>
          </a:p>
          <a:p>
            <a:endParaRPr lang="en-US" sz="2800" b="1" dirty="0">
              <a:latin typeface="Times New Roman"/>
              <a:ea typeface="+mn-lt"/>
              <a:cs typeface="Times New Roman"/>
            </a:endParaRPr>
          </a:p>
          <a:p>
            <a:r>
              <a:rPr lang="en-US" sz="2800" dirty="0">
                <a:latin typeface="Times New Roman"/>
                <a:ea typeface="+mn-lt"/>
                <a:cs typeface="+mn-lt"/>
              </a:rPr>
              <a:t>The steps of the transportation algorithm are exact parallels of the simplex algorithm, they are:</a:t>
            </a:r>
            <a:endParaRPr lang="en-US" sz="2800" dirty="0">
              <a:latin typeface="Times New Roman"/>
              <a:cs typeface="Times New Roman"/>
            </a:endParaRPr>
          </a:p>
          <a:p>
            <a:r>
              <a:rPr lang="en-US" sz="2800" b="1" dirty="0">
                <a:latin typeface="Times New Roman"/>
                <a:ea typeface="+mn-lt"/>
                <a:cs typeface="+mn-lt"/>
              </a:rPr>
              <a:t>Step 1:</a:t>
            </a:r>
            <a:r>
              <a:rPr lang="en-US" sz="2800" dirty="0">
                <a:latin typeface="Times New Roman"/>
                <a:ea typeface="+mn-lt"/>
                <a:cs typeface="+mn-lt"/>
              </a:rPr>
              <a:t> Determine a starting basic feasible solution, using any one of the following three methods</a:t>
            </a:r>
            <a:endParaRPr lang="en-US" sz="2800" dirty="0">
              <a:latin typeface="Times New Roman"/>
              <a:cs typeface="Times New Roman"/>
            </a:endParaRPr>
          </a:p>
          <a:p>
            <a:r>
              <a:rPr lang="en-US" sz="2800" dirty="0">
                <a:latin typeface="Times New Roman"/>
                <a:ea typeface="+mn-lt"/>
                <a:cs typeface="+mn-lt"/>
              </a:rPr>
              <a:t>1. North West Corner Method</a:t>
            </a:r>
            <a:endParaRPr lang="en-US" sz="2800" dirty="0">
              <a:latin typeface="Times New Roman"/>
              <a:cs typeface="Times New Roman"/>
            </a:endParaRPr>
          </a:p>
          <a:p>
            <a:r>
              <a:rPr lang="en-US" sz="2800" dirty="0">
                <a:latin typeface="Times New Roman"/>
                <a:ea typeface="+mn-lt"/>
                <a:cs typeface="+mn-lt"/>
              </a:rPr>
              <a:t>2. Least Cost Method</a:t>
            </a:r>
            <a:endParaRPr lang="en-US" sz="2800" dirty="0">
              <a:latin typeface="Times New Roman"/>
              <a:cs typeface="Times New Roman"/>
            </a:endParaRPr>
          </a:p>
          <a:p>
            <a:r>
              <a:rPr lang="en-US" sz="2800" dirty="0">
                <a:latin typeface="Times New Roman"/>
                <a:ea typeface="+mn-lt"/>
                <a:cs typeface="+mn-lt"/>
              </a:rPr>
              <a:t>3. Vogel Approximation Method</a:t>
            </a:r>
            <a:endParaRPr lang="en-US" sz="2800" dirty="0">
              <a:latin typeface="Times New Roman"/>
              <a:cs typeface="Times New Roman"/>
            </a:endParaRPr>
          </a:p>
          <a:p>
            <a:endParaRPr lang="en-US" sz="2800" dirty="0">
              <a:latin typeface="Times New Roman"/>
              <a:ea typeface="+mn-lt"/>
              <a:cs typeface="+mn-lt"/>
            </a:endParaRPr>
          </a:p>
          <a:p>
            <a:endParaRPr lang="en-US" sz="2800" dirty="0">
              <a:latin typeface="Times New Roman"/>
              <a:ea typeface="+mn-lt"/>
              <a:cs typeface="+mn-lt"/>
            </a:endParaRPr>
          </a:p>
          <a:p>
            <a:r>
              <a:rPr lang="en-US" sz="2800" b="1" dirty="0">
                <a:latin typeface="Times New Roman"/>
                <a:ea typeface="+mn-lt"/>
                <a:cs typeface="+mn-lt"/>
              </a:rPr>
              <a:t>Step 2:</a:t>
            </a:r>
            <a:r>
              <a:rPr lang="en-US" sz="2800" dirty="0">
                <a:latin typeface="Times New Roman"/>
                <a:ea typeface="+mn-lt"/>
                <a:cs typeface="+mn-lt"/>
              </a:rPr>
              <a:t> Determine the optimal solution using the following method</a:t>
            </a:r>
            <a:endParaRPr lang="en-US" sz="2800" dirty="0">
              <a:latin typeface="Times New Roman"/>
              <a:cs typeface="Times New Roman"/>
            </a:endParaRPr>
          </a:p>
          <a:p>
            <a:r>
              <a:rPr lang="en-US" sz="2800" dirty="0">
                <a:latin typeface="Times New Roman"/>
                <a:ea typeface="+mn-lt"/>
                <a:cs typeface="+mn-lt"/>
              </a:rPr>
              <a:t>1. MODI (</a:t>
            </a:r>
            <a:r>
              <a:rPr lang="en-US" sz="2800" b="1" dirty="0">
                <a:solidFill>
                  <a:srgbClr val="FF0000"/>
                </a:solidFill>
                <a:latin typeface="Times New Roman"/>
                <a:ea typeface="+mn-lt"/>
                <a:cs typeface="+mn-lt"/>
              </a:rPr>
              <a:t>Mo</a:t>
            </a:r>
            <a:r>
              <a:rPr lang="en-US" sz="2800" dirty="0">
                <a:latin typeface="Times New Roman"/>
                <a:ea typeface="+mn-lt"/>
                <a:cs typeface="+mn-lt"/>
              </a:rPr>
              <a:t>dified </a:t>
            </a:r>
            <a:r>
              <a:rPr lang="en-US" sz="2800" b="1" dirty="0">
                <a:solidFill>
                  <a:srgbClr val="FF0000"/>
                </a:solidFill>
                <a:latin typeface="Times New Roman"/>
                <a:ea typeface="+mn-lt"/>
                <a:cs typeface="+mn-lt"/>
              </a:rPr>
              <a:t>Di</a:t>
            </a:r>
            <a:r>
              <a:rPr lang="en-US" sz="2800" dirty="0">
                <a:latin typeface="Times New Roman"/>
                <a:ea typeface="+mn-lt"/>
                <a:cs typeface="+mn-lt"/>
              </a:rPr>
              <a:t>stribution Method) or UV Method.</a:t>
            </a:r>
            <a:endParaRPr lang="en-US" sz="2800" dirty="0">
              <a:latin typeface="Times New Roman"/>
              <a:cs typeface="Times New Roman"/>
            </a:endParaRPr>
          </a:p>
          <a:p>
            <a:r>
              <a:rPr lang="en-US" sz="1200" dirty="0"/>
              <a:t/>
            </a:r>
            <a:br>
              <a:rPr lang="en-US" sz="1200" dirty="0"/>
            </a:br>
            <a:endParaRPr lang="en-US" sz="2800" dirty="0">
              <a:latin typeface="Times New Roman"/>
              <a:cs typeface="Calibri"/>
            </a:endParaRPr>
          </a:p>
        </p:txBody>
      </p:sp>
      <p:sp>
        <p:nvSpPr>
          <p:cNvPr id="3" name="TextBox 2">
            <a:extLst>
              <a:ext uri="{FF2B5EF4-FFF2-40B4-BE49-F238E27FC236}">
                <a16:creationId xmlns:a16="http://schemas.microsoft.com/office/drawing/2014/main" xmlns="" id="{50B492D7-B2C5-4C63-A9BA-B06B8FA99E12}"/>
              </a:ext>
            </a:extLst>
          </p:cNvPr>
          <p:cNvSpPr txBox="1"/>
          <p:nvPr/>
        </p:nvSpPr>
        <p:spPr>
          <a:xfrm>
            <a:off x="5357003" y="2625305"/>
            <a:ext cx="6466935"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t>The difference among these three methods is the quality of the initial basic feasible solution they produce, in the sense </a:t>
            </a:r>
            <a:r>
              <a:rPr lang="en-US" b="1" dirty="0" smtClean="0"/>
              <a:t>that </a:t>
            </a:r>
            <a:r>
              <a:rPr lang="en-US" b="1" dirty="0"/>
              <a:t>a better initial solution yields a smaller objective value. Generally the Vogel Approximation Method produces the best initial basic feasible solution, and the North West Corner Method produces the worst, but the North West Corner Method involves least computations.</a:t>
            </a:r>
          </a:p>
        </p:txBody>
      </p:sp>
    </p:spTree>
    <p:extLst>
      <p:ext uri="{BB962C8B-B14F-4D97-AF65-F5344CB8AC3E}">
        <p14:creationId xmlns:p14="http://schemas.microsoft.com/office/powerpoint/2010/main" xmlns="" val="160114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65AD76AD-E528-40E7-8E5C-49E7EFD49441}"/>
              </a:ext>
            </a:extLst>
          </p:cNvPr>
          <p:cNvSpPr txBox="1"/>
          <p:nvPr/>
        </p:nvSpPr>
        <p:spPr>
          <a:xfrm>
            <a:off x="684362" y="109268"/>
            <a:ext cx="11139577" cy="61247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3200" b="1" i="1">
                <a:latin typeface="Times New Roman"/>
                <a:cs typeface="Times New Roman"/>
              </a:rPr>
              <a:t>North West Corner Method:</a:t>
            </a:r>
          </a:p>
          <a:p>
            <a:pPr algn="just"/>
            <a:endParaRPr lang="en-US" sz="2400">
              <a:latin typeface="Times New Roman"/>
              <a:cs typeface="Times New Roman"/>
            </a:endParaRPr>
          </a:p>
          <a:p>
            <a:pPr algn="just"/>
            <a:r>
              <a:rPr lang="en-US" sz="2400">
                <a:latin typeface="Times New Roman"/>
                <a:cs typeface="Times New Roman"/>
              </a:rPr>
              <a:t>The method starts at the North West (upper left) corner cell of the tableau (variable x11).</a:t>
            </a:r>
          </a:p>
          <a:p>
            <a:pPr algn="just"/>
            <a:endParaRPr lang="en-US" sz="2400">
              <a:latin typeface="Times New Roman"/>
              <a:cs typeface="Times New Roman"/>
            </a:endParaRPr>
          </a:p>
          <a:p>
            <a:pPr algn="just"/>
            <a:r>
              <a:rPr lang="en-US" sz="2400">
                <a:latin typeface="Times New Roman"/>
                <a:cs typeface="Times New Roman"/>
              </a:rPr>
              <a:t>Step -1: Allocate as much as possible to the selected cell, and adjust the associated amounts of capacity (supply) and requirement (demand) by subtracting the allocated amount.</a:t>
            </a:r>
          </a:p>
          <a:p>
            <a:pPr algn="just"/>
            <a:endParaRPr lang="en-US" sz="2400">
              <a:latin typeface="Times New Roman"/>
              <a:cs typeface="Times New Roman"/>
            </a:endParaRPr>
          </a:p>
          <a:p>
            <a:pPr algn="just"/>
            <a:r>
              <a:rPr lang="en-US" sz="2400">
                <a:latin typeface="Times New Roman"/>
                <a:cs typeface="Times New Roman"/>
              </a:rPr>
              <a:t>Step -2: Cross out the row (column) with zero supply or demand to indicate that no further assignments can be made in that row (column). If both the row and column becomes zero simultaneously, cross out one of them only, and leave a zero supply or demand in the uncrossed out row (column).</a:t>
            </a:r>
          </a:p>
          <a:p>
            <a:pPr algn="just"/>
            <a:endParaRPr lang="en-US" sz="2400">
              <a:latin typeface="Times New Roman"/>
              <a:cs typeface="Times New Roman"/>
            </a:endParaRPr>
          </a:p>
          <a:p>
            <a:pPr algn="just"/>
            <a:r>
              <a:rPr lang="en-US" sz="2400">
                <a:latin typeface="Times New Roman"/>
                <a:cs typeface="Times New Roman"/>
              </a:rPr>
              <a:t>Step -3: If exactly one row (column) is left uncrossed out, then stop. Otherwise, move to the cell to the right if a column has just been crossed or the one below if a row has been crossed out. Go to step -1.</a:t>
            </a:r>
          </a:p>
        </p:txBody>
      </p:sp>
    </p:spTree>
    <p:extLst>
      <p:ext uri="{BB962C8B-B14F-4D97-AF65-F5344CB8AC3E}">
        <p14:creationId xmlns:p14="http://schemas.microsoft.com/office/powerpoint/2010/main" xmlns="" val="36204360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B679756-D054-461A-B35E-89D6C6BC80EA}"/>
              </a:ext>
            </a:extLst>
          </p:cNvPr>
          <p:cNvSpPr txBox="1"/>
          <p:nvPr/>
        </p:nvSpPr>
        <p:spPr>
          <a:xfrm>
            <a:off x="641230" y="310551"/>
            <a:ext cx="1073701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t>Example </a:t>
            </a:r>
            <a:r>
              <a:rPr lang="en-US" sz="3200"/>
              <a:t/>
            </a:r>
            <a:br>
              <a:rPr lang="en-US" sz="3200"/>
            </a:br>
            <a:endParaRPr lang="en-US" sz="3200">
              <a:cs typeface="Calibri"/>
            </a:endParaRPr>
          </a:p>
        </p:txBody>
      </p:sp>
      <p:pic>
        <p:nvPicPr>
          <p:cNvPr id="3" name="Picture 3" descr="A picture containing clock&#10;&#10;Description generated with very high confidence">
            <a:extLst>
              <a:ext uri="{FF2B5EF4-FFF2-40B4-BE49-F238E27FC236}">
                <a16:creationId xmlns:a16="http://schemas.microsoft.com/office/drawing/2014/main" xmlns="" id="{E66D93E1-DBC4-45E2-B8F0-DD81ACFF276B}"/>
              </a:ext>
            </a:extLst>
          </p:cNvPr>
          <p:cNvPicPr>
            <a:picLocks noChangeAspect="1"/>
          </p:cNvPicPr>
          <p:nvPr/>
        </p:nvPicPr>
        <p:blipFill>
          <a:blip r:embed="rId2" cstate="print"/>
          <a:stretch>
            <a:fillRect/>
          </a:stretch>
        </p:blipFill>
        <p:spPr>
          <a:xfrm>
            <a:off x="641230" y="1110220"/>
            <a:ext cx="10737011" cy="2193407"/>
          </a:xfrm>
          <a:prstGeom prst="rect">
            <a:avLst/>
          </a:prstGeom>
        </p:spPr>
      </p:pic>
    </p:spTree>
    <p:extLst>
      <p:ext uri="{BB962C8B-B14F-4D97-AF65-F5344CB8AC3E}">
        <p14:creationId xmlns:p14="http://schemas.microsoft.com/office/powerpoint/2010/main" xmlns="" val="21932721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32BC26D8-82FB-445E-AA49-62A77D7C1EE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xmlns="" id="{CB44330D-EA18-4254-AA95-EB49948539B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A screenshot of a cell phone&#10;&#10;Description generated with very high confidence">
            <a:extLst>
              <a:ext uri="{FF2B5EF4-FFF2-40B4-BE49-F238E27FC236}">
                <a16:creationId xmlns:a16="http://schemas.microsoft.com/office/drawing/2014/main" xmlns="" id="{93FC15A8-C78A-45B7-AADA-F395847D518E}"/>
              </a:ext>
            </a:extLst>
          </p:cNvPr>
          <p:cNvPicPr>
            <a:picLocks noChangeAspect="1"/>
          </p:cNvPicPr>
          <p:nvPr/>
        </p:nvPicPr>
        <p:blipFill>
          <a:blip r:embed="rId2" cstate="print"/>
          <a:stretch>
            <a:fillRect/>
          </a:stretch>
        </p:blipFill>
        <p:spPr>
          <a:xfrm>
            <a:off x="1334405" y="643467"/>
            <a:ext cx="9523190" cy="5571066"/>
          </a:xfrm>
          <a:prstGeom prst="rect">
            <a:avLst/>
          </a:prstGeom>
        </p:spPr>
      </p:pic>
      <p:pic>
        <p:nvPicPr>
          <p:cNvPr id="3" name="Picture 3" descr="A picture containing indoor, table&#10;&#10;Description generated with very high confidence">
            <a:extLst>
              <a:ext uri="{FF2B5EF4-FFF2-40B4-BE49-F238E27FC236}">
                <a16:creationId xmlns:a16="http://schemas.microsoft.com/office/drawing/2014/main" xmlns="" id="{4B650CE5-A943-42A4-861A-0DE13599A5EE}"/>
              </a:ext>
            </a:extLst>
          </p:cNvPr>
          <p:cNvPicPr>
            <a:picLocks noChangeAspect="1"/>
          </p:cNvPicPr>
          <p:nvPr/>
        </p:nvPicPr>
        <p:blipFill>
          <a:blip r:embed="rId3" cstate="print"/>
          <a:stretch>
            <a:fillRect/>
          </a:stretch>
        </p:blipFill>
        <p:spPr>
          <a:xfrm>
            <a:off x="554967" y="3424543"/>
            <a:ext cx="10995802" cy="1662309"/>
          </a:xfrm>
          <a:prstGeom prst="rect">
            <a:avLst/>
          </a:prstGeom>
        </p:spPr>
      </p:pic>
    </p:spTree>
    <p:extLst>
      <p:ext uri="{BB962C8B-B14F-4D97-AF65-F5344CB8AC3E}">
        <p14:creationId xmlns:p14="http://schemas.microsoft.com/office/powerpoint/2010/main" xmlns="" val="2649184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A8D53518-14E0-4B04-BF26-8454191A680B}"/>
              </a:ext>
            </a:extLst>
          </p:cNvPr>
          <p:cNvSpPr txBox="1"/>
          <p:nvPr/>
        </p:nvSpPr>
        <p:spPr>
          <a:xfrm>
            <a:off x="626853" y="195532"/>
            <a:ext cx="10967048" cy="61555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b="1" i="1">
                <a:latin typeface="Times New Roman"/>
                <a:cs typeface="Times New Roman"/>
              </a:rPr>
              <a:t>Least Cost Method</a:t>
            </a:r>
          </a:p>
          <a:p>
            <a:pPr algn="just"/>
            <a:endParaRPr lang="en-US" sz="2800">
              <a:latin typeface="Times New Roman"/>
              <a:cs typeface="Calibri" panose="020F0502020204030204"/>
            </a:endParaRPr>
          </a:p>
          <a:p>
            <a:pPr algn="just"/>
            <a:r>
              <a:rPr lang="en-US" sz="2600">
                <a:latin typeface="Times New Roman"/>
                <a:cs typeface="Times New Roman"/>
              </a:rPr>
              <a:t>The least cost method is also known as matrix minimum method in the sense we look for the row and the column corresponding to which </a:t>
            </a:r>
            <a:r>
              <a:rPr lang="en-US" sz="2600" err="1">
                <a:latin typeface="Times New Roman"/>
                <a:cs typeface="Times New Roman"/>
              </a:rPr>
              <a:t>Cij</a:t>
            </a:r>
            <a:r>
              <a:rPr lang="en-US" sz="2600">
                <a:latin typeface="Times New Roman"/>
                <a:cs typeface="Times New Roman"/>
              </a:rPr>
              <a:t> is minimum. This method finds a better initial basic feasible solution by concentrating on the cheapest routes. Instead of starting the allocation with the northwest cell as in the North West Corner Method, we start by allocating as much as possible to the cell with the smallest unit cost. If there are two or more minimum costs then we should select the row and the column corresponding to the lower numbered row. If they appear in the same row we should select the lower numbered column. We then cross out the satisfied row or column, and adjust the amounts of capacity and requirement accordingly. If both a row and a column is satisfied simultaneously, only one is crossed out. Next, we look for the uncrossed-out cell with the smallest unit cost and repeat the process until we are left at the end with exactly one uncrossed-out row or column.</a:t>
            </a:r>
          </a:p>
        </p:txBody>
      </p:sp>
    </p:spTree>
    <p:extLst>
      <p:ext uri="{BB962C8B-B14F-4D97-AF65-F5344CB8AC3E}">
        <p14:creationId xmlns:p14="http://schemas.microsoft.com/office/powerpoint/2010/main" xmlns="" val="34782190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B679756-D054-461A-B35E-89D6C6BC80EA}"/>
              </a:ext>
            </a:extLst>
          </p:cNvPr>
          <p:cNvSpPr txBox="1"/>
          <p:nvPr/>
        </p:nvSpPr>
        <p:spPr>
          <a:xfrm>
            <a:off x="641230" y="310551"/>
            <a:ext cx="1073701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t>Example </a:t>
            </a:r>
            <a:r>
              <a:rPr lang="en-US" sz="3200"/>
              <a:t/>
            </a:r>
            <a:br>
              <a:rPr lang="en-US" sz="3200"/>
            </a:br>
            <a:endParaRPr lang="en-US" sz="3200">
              <a:cs typeface="Calibri"/>
            </a:endParaRPr>
          </a:p>
        </p:txBody>
      </p:sp>
      <p:pic>
        <p:nvPicPr>
          <p:cNvPr id="3" name="Picture 3" descr="A picture containing clock&#10;&#10;Description generated with very high confidence">
            <a:extLst>
              <a:ext uri="{FF2B5EF4-FFF2-40B4-BE49-F238E27FC236}">
                <a16:creationId xmlns:a16="http://schemas.microsoft.com/office/drawing/2014/main" xmlns="" id="{E66D93E1-DBC4-45E2-B8F0-DD81ACFF276B}"/>
              </a:ext>
            </a:extLst>
          </p:cNvPr>
          <p:cNvPicPr>
            <a:picLocks noChangeAspect="1"/>
          </p:cNvPicPr>
          <p:nvPr/>
        </p:nvPicPr>
        <p:blipFill>
          <a:blip r:embed="rId2" cstate="print"/>
          <a:stretch>
            <a:fillRect/>
          </a:stretch>
        </p:blipFill>
        <p:spPr>
          <a:xfrm>
            <a:off x="641230" y="1110220"/>
            <a:ext cx="10737011" cy="2193407"/>
          </a:xfrm>
          <a:prstGeom prst="rect">
            <a:avLst/>
          </a:prstGeom>
        </p:spPr>
      </p:pic>
    </p:spTree>
    <p:extLst>
      <p:ext uri="{BB962C8B-B14F-4D97-AF65-F5344CB8AC3E}">
        <p14:creationId xmlns:p14="http://schemas.microsoft.com/office/powerpoint/2010/main" xmlns="" val="34747097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2" name="Picture 2" descr="A picture containing clock&#10;&#10;Description generated with very high confidence">
            <a:extLst>
              <a:ext uri="{FF2B5EF4-FFF2-40B4-BE49-F238E27FC236}">
                <a16:creationId xmlns:a16="http://schemas.microsoft.com/office/drawing/2014/main" xmlns="" id="{981602BF-C6B3-4E73-BEBC-51D93295980D}"/>
              </a:ext>
            </a:extLst>
          </p:cNvPr>
          <p:cNvPicPr>
            <a:picLocks noChangeAspect="1"/>
          </p:cNvPicPr>
          <p:nvPr/>
        </p:nvPicPr>
        <p:blipFill>
          <a:blip r:embed="rId2" cstate="print"/>
          <a:stretch>
            <a:fillRect/>
          </a:stretch>
        </p:blipFill>
        <p:spPr>
          <a:xfrm>
            <a:off x="598098" y="622352"/>
            <a:ext cx="10823275" cy="3686727"/>
          </a:xfrm>
          <a:prstGeom prst="rect">
            <a:avLst/>
          </a:prstGeom>
        </p:spPr>
      </p:pic>
      <p:pic>
        <p:nvPicPr>
          <p:cNvPr id="3" name="Picture 3" descr="A picture containing bird&#10;&#10;Description generated with very high confidence">
            <a:extLst>
              <a:ext uri="{FF2B5EF4-FFF2-40B4-BE49-F238E27FC236}">
                <a16:creationId xmlns:a16="http://schemas.microsoft.com/office/drawing/2014/main" xmlns="" id="{217B7602-E327-4B79-95BD-AAB164C59852}"/>
              </a:ext>
            </a:extLst>
          </p:cNvPr>
          <p:cNvPicPr>
            <a:picLocks noChangeAspect="1"/>
          </p:cNvPicPr>
          <p:nvPr/>
        </p:nvPicPr>
        <p:blipFill>
          <a:blip r:embed="rId3" cstate="print"/>
          <a:stretch>
            <a:fillRect/>
          </a:stretch>
        </p:blipFill>
        <p:spPr>
          <a:xfrm>
            <a:off x="598098" y="4315105"/>
            <a:ext cx="10823275" cy="2095300"/>
          </a:xfrm>
          <a:prstGeom prst="rect">
            <a:avLst/>
          </a:prstGeom>
        </p:spPr>
      </p:pic>
    </p:spTree>
    <p:extLst>
      <p:ext uri="{BB962C8B-B14F-4D97-AF65-F5344CB8AC3E}">
        <p14:creationId xmlns:p14="http://schemas.microsoft.com/office/powerpoint/2010/main" xmlns="" val="412234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8BBA99A4-E819-432D-8441-591427931DB4}"/>
              </a:ext>
            </a:extLst>
          </p:cNvPr>
          <p:cNvSpPr txBox="1"/>
          <p:nvPr/>
        </p:nvSpPr>
        <p:spPr>
          <a:xfrm>
            <a:off x="770626" y="209909"/>
            <a:ext cx="10679501" cy="62786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1" dirty="0"/>
              <a:t>Vogel Approximation Method (VAM):</a:t>
            </a:r>
          </a:p>
          <a:p>
            <a:endParaRPr lang="en-US"/>
          </a:p>
          <a:p>
            <a:pPr algn="just"/>
            <a:r>
              <a:rPr lang="en-US" sz="2000" dirty="0"/>
              <a:t>VAM is an improved version of the least cost method that generally produces better solutions. The steps involved in this method are:</a:t>
            </a:r>
            <a:endParaRPr lang="en-US" sz="2000">
              <a:cs typeface="Calibri"/>
            </a:endParaRPr>
          </a:p>
          <a:p>
            <a:pPr algn="just"/>
            <a:endParaRPr lang="en-US" sz="2000" dirty="0">
              <a:cs typeface="Calibri" panose="020F0502020204030204"/>
            </a:endParaRPr>
          </a:p>
          <a:p>
            <a:pPr algn="just"/>
            <a:r>
              <a:rPr lang="en-US" sz="2000" dirty="0"/>
              <a:t>Step 1: For each row (column) with strictly positive capacity (requirement), </a:t>
            </a:r>
            <a:r>
              <a:rPr lang="en-US" sz="2000" dirty="0">
                <a:solidFill>
                  <a:srgbClr val="000000"/>
                </a:solidFill>
              </a:rPr>
              <a:t>determine a </a:t>
            </a:r>
            <a:r>
              <a:rPr lang="en-US" sz="2000" b="1" dirty="0">
                <a:solidFill>
                  <a:srgbClr val="FF0000"/>
                </a:solidFill>
              </a:rPr>
              <a:t>penalty</a:t>
            </a:r>
            <a:r>
              <a:rPr lang="en-US" sz="2000" dirty="0"/>
              <a:t> by subtracting the smallest unit cost element in the row (column) from the next smallest unit cost element in the same row (column).</a:t>
            </a:r>
            <a:endParaRPr lang="en-US" sz="2000">
              <a:cs typeface="Calibri"/>
            </a:endParaRPr>
          </a:p>
          <a:p>
            <a:pPr algn="just"/>
            <a:endParaRPr lang="en-US" sz="2000" dirty="0">
              <a:cs typeface="Calibri" panose="020F0502020204030204"/>
            </a:endParaRPr>
          </a:p>
          <a:p>
            <a:pPr algn="just"/>
            <a:r>
              <a:rPr lang="en-US" sz="2000" dirty="0"/>
              <a:t>Step 2: Identify the row or column with the </a:t>
            </a:r>
            <a:r>
              <a:rPr lang="en-US" sz="2000" b="1" dirty="0">
                <a:solidFill>
                  <a:srgbClr val="FF0000"/>
                </a:solidFill>
              </a:rPr>
              <a:t>largest penalty</a:t>
            </a:r>
            <a:r>
              <a:rPr lang="en-US" sz="2000" dirty="0"/>
              <a:t> among all the rows and columns. If the penalties corresponding to two or more rows or columns are equal we select the topmost row and the extreme left column.</a:t>
            </a:r>
            <a:endParaRPr lang="en-US" sz="2000">
              <a:cs typeface="Calibri"/>
            </a:endParaRPr>
          </a:p>
          <a:p>
            <a:pPr algn="just"/>
            <a:endParaRPr lang="en-US" sz="2000" dirty="0">
              <a:cs typeface="Calibri" panose="020F0502020204030204"/>
            </a:endParaRPr>
          </a:p>
          <a:p>
            <a:pPr algn="just"/>
            <a:r>
              <a:rPr lang="en-US" sz="2000" dirty="0"/>
              <a:t>Step 3: We select </a:t>
            </a:r>
            <a:r>
              <a:rPr lang="en-US" sz="2000" err="1"/>
              <a:t>Xij</a:t>
            </a:r>
            <a:r>
              <a:rPr lang="en-US" sz="2000" dirty="0"/>
              <a:t> as a basic variable if </a:t>
            </a:r>
            <a:r>
              <a:rPr lang="en-US" sz="2000" err="1"/>
              <a:t>Cij</a:t>
            </a:r>
            <a:r>
              <a:rPr lang="en-US" sz="2000" dirty="0"/>
              <a:t> is the </a:t>
            </a:r>
            <a:r>
              <a:rPr lang="en-US" sz="2000" b="1" dirty="0">
                <a:solidFill>
                  <a:srgbClr val="FF0000"/>
                </a:solidFill>
              </a:rPr>
              <a:t>minimum cost</a:t>
            </a:r>
            <a:r>
              <a:rPr lang="en-US" sz="2000" dirty="0"/>
              <a:t> in the row or column with l</a:t>
            </a:r>
            <a:r>
              <a:rPr lang="en-US" sz="2000" b="1" dirty="0">
                <a:solidFill>
                  <a:srgbClr val="FF0000"/>
                </a:solidFill>
              </a:rPr>
              <a:t>argest penalty</a:t>
            </a:r>
            <a:r>
              <a:rPr lang="en-US" sz="2000" dirty="0"/>
              <a:t>. We choose the numerical value of </a:t>
            </a:r>
            <a:r>
              <a:rPr lang="en-US" sz="2000" err="1"/>
              <a:t>Xij</a:t>
            </a:r>
            <a:r>
              <a:rPr lang="en-US" sz="2000" dirty="0"/>
              <a:t> as high as possible subject to the row and the column constraints. Depending upon whether ai or </a:t>
            </a:r>
            <a:r>
              <a:rPr lang="en-US" sz="2000" err="1"/>
              <a:t>bj</a:t>
            </a:r>
            <a:r>
              <a:rPr lang="en-US" sz="2000" dirty="0"/>
              <a:t> is the smaller of the two </a:t>
            </a:r>
            <a:r>
              <a:rPr lang="en-US" sz="2000" dirty="0" err="1"/>
              <a:t>ith</a:t>
            </a:r>
            <a:r>
              <a:rPr lang="en-US" sz="2000" dirty="0"/>
              <a:t> row or </a:t>
            </a:r>
            <a:r>
              <a:rPr lang="en-US" sz="2000" dirty="0" err="1"/>
              <a:t>jth</a:t>
            </a:r>
            <a:r>
              <a:rPr lang="en-US" sz="2000" dirty="0"/>
              <a:t> column is crossed out.</a:t>
            </a:r>
            <a:endParaRPr lang="en-US" sz="2000">
              <a:cs typeface="Calibri"/>
            </a:endParaRPr>
          </a:p>
          <a:p>
            <a:pPr algn="just"/>
            <a:endParaRPr lang="en-US" sz="2000" dirty="0">
              <a:cs typeface="Calibri" panose="020F0502020204030204"/>
            </a:endParaRPr>
          </a:p>
          <a:p>
            <a:pPr algn="just"/>
            <a:r>
              <a:rPr lang="en-US" sz="2000" dirty="0"/>
              <a:t>Step 4: The Step 2 is now performed on the uncrossed-out rows and columns until all the basic variables have been satisfied.</a:t>
            </a:r>
            <a:endParaRPr lang="en-US" sz="2000">
              <a:cs typeface="Calibri"/>
            </a:endParaRPr>
          </a:p>
        </p:txBody>
      </p:sp>
    </p:spTree>
    <p:extLst>
      <p:ext uri="{BB962C8B-B14F-4D97-AF65-F5344CB8AC3E}">
        <p14:creationId xmlns:p14="http://schemas.microsoft.com/office/powerpoint/2010/main" xmlns="" val="41901707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DEF54ECA-AB27-467E-94F1-0EB092884788}"/>
              </a:ext>
            </a:extLst>
          </p:cNvPr>
          <p:cNvSpPr txBox="1"/>
          <p:nvPr/>
        </p:nvSpPr>
        <p:spPr>
          <a:xfrm>
            <a:off x="626853" y="238664"/>
            <a:ext cx="975935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Example </a:t>
            </a:r>
            <a:r>
              <a:rPr lang="en-US" sz="2800" dirty="0"/>
              <a:t/>
            </a:r>
            <a:br>
              <a:rPr lang="en-US" sz="2800" dirty="0"/>
            </a:br>
            <a:endParaRPr lang="en-US" sz="2800">
              <a:cs typeface="Calibri"/>
            </a:endParaRPr>
          </a:p>
        </p:txBody>
      </p:sp>
      <p:pic>
        <p:nvPicPr>
          <p:cNvPr id="3" name="Picture 3" descr="A screenshot of a cell phone&#10;&#10;Description generated with very high confidence">
            <a:extLst>
              <a:ext uri="{FF2B5EF4-FFF2-40B4-BE49-F238E27FC236}">
                <a16:creationId xmlns:a16="http://schemas.microsoft.com/office/drawing/2014/main" xmlns="" id="{BB6529FF-C00A-4DCE-A0F5-706C90C57B2E}"/>
              </a:ext>
            </a:extLst>
          </p:cNvPr>
          <p:cNvPicPr>
            <a:picLocks noChangeAspect="1"/>
          </p:cNvPicPr>
          <p:nvPr/>
        </p:nvPicPr>
        <p:blipFill>
          <a:blip r:embed="rId2" cstate="print"/>
          <a:stretch>
            <a:fillRect/>
          </a:stretch>
        </p:blipFill>
        <p:spPr>
          <a:xfrm>
            <a:off x="425570" y="1033426"/>
            <a:ext cx="10952671" cy="3396544"/>
          </a:xfrm>
          <a:prstGeom prst="rect">
            <a:avLst/>
          </a:prstGeom>
        </p:spPr>
      </p:pic>
      <p:sp>
        <p:nvSpPr>
          <p:cNvPr id="4" name="TextBox 3">
            <a:extLst>
              <a:ext uri="{FF2B5EF4-FFF2-40B4-BE49-F238E27FC236}">
                <a16:creationId xmlns:a16="http://schemas.microsoft.com/office/drawing/2014/main" xmlns="" id="{3065C4B4-88C9-4383-BA0C-6BF0F1631BF0}"/>
              </a:ext>
            </a:extLst>
          </p:cNvPr>
          <p:cNvSpPr txBox="1"/>
          <p:nvPr/>
        </p:nvSpPr>
        <p:spPr>
          <a:xfrm>
            <a:off x="626853" y="4983193"/>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2800" b="1" i="1" dirty="0"/>
              <a:t>Solution:</a:t>
            </a:r>
            <a:endParaRPr lang="en-US" sz="2800" b="1" i="1">
              <a:cs typeface="Calibri"/>
            </a:endParaRPr>
          </a:p>
        </p:txBody>
      </p:sp>
    </p:spTree>
    <p:extLst>
      <p:ext uri="{BB962C8B-B14F-4D97-AF65-F5344CB8AC3E}">
        <p14:creationId xmlns:p14="http://schemas.microsoft.com/office/powerpoint/2010/main" xmlns="" val="26066403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xmlns="" id="{179BBCE4-38DF-4D95-87FF-F0688CF3CEB3}"/>
              </a:ext>
            </a:extLst>
          </p:cNvPr>
          <p:cNvPicPr>
            <a:picLocks noChangeAspect="1"/>
          </p:cNvPicPr>
          <p:nvPr/>
        </p:nvPicPr>
        <p:blipFill>
          <a:blip r:embed="rId2" cstate="print"/>
          <a:stretch>
            <a:fillRect/>
          </a:stretch>
        </p:blipFill>
        <p:spPr>
          <a:xfrm>
            <a:off x="382438" y="119435"/>
            <a:ext cx="11326483" cy="767546"/>
          </a:xfrm>
          <a:prstGeom prst="rect">
            <a:avLst/>
          </a:prstGeom>
        </p:spPr>
      </p:pic>
      <p:pic>
        <p:nvPicPr>
          <p:cNvPr id="3" name="Picture 3" descr="A screenshot of a cell phone&#10;&#10;Description generated with very high confidence">
            <a:extLst>
              <a:ext uri="{FF2B5EF4-FFF2-40B4-BE49-F238E27FC236}">
                <a16:creationId xmlns:a16="http://schemas.microsoft.com/office/drawing/2014/main" xmlns="" id="{848616B1-5771-4DCC-A4AE-93E0D6936E40}"/>
              </a:ext>
            </a:extLst>
          </p:cNvPr>
          <p:cNvPicPr>
            <a:picLocks noChangeAspect="1"/>
          </p:cNvPicPr>
          <p:nvPr/>
        </p:nvPicPr>
        <p:blipFill>
          <a:blip r:embed="rId3" cstate="print"/>
          <a:stretch>
            <a:fillRect/>
          </a:stretch>
        </p:blipFill>
        <p:spPr>
          <a:xfrm>
            <a:off x="641230" y="780767"/>
            <a:ext cx="11024558" cy="2952955"/>
          </a:xfrm>
          <a:prstGeom prst="rect">
            <a:avLst/>
          </a:prstGeom>
        </p:spPr>
      </p:pic>
      <p:pic>
        <p:nvPicPr>
          <p:cNvPr id="4" name="Picture 4" descr="A picture containing knife, bird&#10;&#10;Description generated with very high confidence">
            <a:extLst>
              <a:ext uri="{FF2B5EF4-FFF2-40B4-BE49-F238E27FC236}">
                <a16:creationId xmlns:a16="http://schemas.microsoft.com/office/drawing/2014/main" xmlns="" id="{3530540F-F0F2-43AF-AA56-FED93B99ADB4}"/>
              </a:ext>
            </a:extLst>
          </p:cNvPr>
          <p:cNvPicPr>
            <a:picLocks noChangeAspect="1"/>
          </p:cNvPicPr>
          <p:nvPr/>
        </p:nvPicPr>
        <p:blipFill>
          <a:blip r:embed="rId4" cstate="print"/>
          <a:stretch>
            <a:fillRect/>
          </a:stretch>
        </p:blipFill>
        <p:spPr>
          <a:xfrm>
            <a:off x="612475" y="4290654"/>
            <a:ext cx="11067690" cy="1439710"/>
          </a:xfrm>
          <a:prstGeom prst="rect">
            <a:avLst/>
          </a:prstGeom>
        </p:spPr>
      </p:pic>
      <p:grpSp>
        <p:nvGrpSpPr>
          <p:cNvPr id="8" name="Group 7">
            <a:extLst>
              <a:ext uri="{FF2B5EF4-FFF2-40B4-BE49-F238E27FC236}">
                <a16:creationId xmlns:a16="http://schemas.microsoft.com/office/drawing/2014/main" xmlns="" id="{2E2E46F8-BC1C-4653-AA4D-A5690560BA3A}"/>
              </a:ext>
            </a:extLst>
          </p:cNvPr>
          <p:cNvGrpSpPr/>
          <p:nvPr/>
        </p:nvGrpSpPr>
        <p:grpSpPr>
          <a:xfrm>
            <a:off x="612475" y="3741277"/>
            <a:ext cx="10967049" cy="2760468"/>
            <a:chOff x="770626" y="3971315"/>
            <a:chExt cx="10708257" cy="2702959"/>
          </a:xfrm>
        </p:grpSpPr>
        <p:pic>
          <p:nvPicPr>
            <p:cNvPr id="5" name="Picture 5" descr="A screen shot of a social media post&#10;&#10;Description generated with very high confidence">
              <a:extLst>
                <a:ext uri="{FF2B5EF4-FFF2-40B4-BE49-F238E27FC236}">
                  <a16:creationId xmlns:a16="http://schemas.microsoft.com/office/drawing/2014/main" xmlns="" id="{673402B1-C443-4AF7-8E03-B37EAA237930}"/>
                </a:ext>
              </a:extLst>
            </p:cNvPr>
            <p:cNvPicPr>
              <a:picLocks noChangeAspect="1"/>
            </p:cNvPicPr>
            <p:nvPr/>
          </p:nvPicPr>
          <p:blipFill>
            <a:blip r:embed="rId5" cstate="print"/>
            <a:stretch>
              <a:fillRect/>
            </a:stretch>
          </p:blipFill>
          <p:spPr>
            <a:xfrm>
              <a:off x="770626" y="3971315"/>
              <a:ext cx="10708256" cy="2193407"/>
            </a:xfrm>
            <a:prstGeom prst="rect">
              <a:avLst/>
            </a:prstGeom>
          </p:spPr>
        </p:pic>
        <p:pic>
          <p:nvPicPr>
            <p:cNvPr id="6" name="Picture 6">
              <a:extLst>
                <a:ext uri="{FF2B5EF4-FFF2-40B4-BE49-F238E27FC236}">
                  <a16:creationId xmlns:a16="http://schemas.microsoft.com/office/drawing/2014/main" xmlns="" id="{951B3B88-5546-4118-A6F4-A40AA6DFF279}"/>
                </a:ext>
              </a:extLst>
            </p:cNvPr>
            <p:cNvPicPr>
              <a:picLocks noChangeAspect="1"/>
            </p:cNvPicPr>
            <p:nvPr/>
          </p:nvPicPr>
          <p:blipFill>
            <a:blip r:embed="rId6" cstate="print"/>
            <a:stretch>
              <a:fillRect/>
            </a:stretch>
          </p:blipFill>
          <p:spPr>
            <a:xfrm>
              <a:off x="828136" y="6064066"/>
              <a:ext cx="10650747" cy="610208"/>
            </a:xfrm>
            <a:prstGeom prst="rect">
              <a:avLst/>
            </a:prstGeom>
          </p:spPr>
        </p:pic>
      </p:grpSp>
    </p:spTree>
    <p:extLst>
      <p:ext uri="{BB962C8B-B14F-4D97-AF65-F5344CB8AC3E}">
        <p14:creationId xmlns:p14="http://schemas.microsoft.com/office/powerpoint/2010/main" xmlns="" val="4164480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2" name="Picture 2" descr="A picture containing knife&#10;&#10;Description generated with very high confidence">
            <a:extLst>
              <a:ext uri="{FF2B5EF4-FFF2-40B4-BE49-F238E27FC236}">
                <a16:creationId xmlns:a16="http://schemas.microsoft.com/office/drawing/2014/main" xmlns="" id="{9C092439-2DB0-42C3-A267-C142170F6C9A}"/>
              </a:ext>
            </a:extLst>
          </p:cNvPr>
          <p:cNvPicPr>
            <a:picLocks noChangeAspect="1"/>
          </p:cNvPicPr>
          <p:nvPr/>
        </p:nvPicPr>
        <p:blipFill>
          <a:blip r:embed="rId2" cstate="print"/>
          <a:stretch>
            <a:fillRect/>
          </a:stretch>
        </p:blipFill>
        <p:spPr>
          <a:xfrm>
            <a:off x="396815" y="291530"/>
            <a:ext cx="11225841" cy="1113468"/>
          </a:xfrm>
          <a:prstGeom prst="rect">
            <a:avLst/>
          </a:prstGeom>
        </p:spPr>
      </p:pic>
      <p:pic>
        <p:nvPicPr>
          <p:cNvPr id="3" name="Picture 3" descr="A screenshot of a cell phone&#10;&#10;Description generated with very high confidence">
            <a:extLst>
              <a:ext uri="{FF2B5EF4-FFF2-40B4-BE49-F238E27FC236}">
                <a16:creationId xmlns:a16="http://schemas.microsoft.com/office/drawing/2014/main" xmlns="" id="{54C6E9BB-76E4-4754-812E-88BCE8AD9384}"/>
              </a:ext>
            </a:extLst>
          </p:cNvPr>
          <p:cNvPicPr>
            <a:picLocks noChangeAspect="1"/>
          </p:cNvPicPr>
          <p:nvPr/>
        </p:nvPicPr>
        <p:blipFill>
          <a:blip r:embed="rId3" cstate="print"/>
          <a:stretch>
            <a:fillRect/>
          </a:stretch>
        </p:blipFill>
        <p:spPr>
          <a:xfrm>
            <a:off x="497457" y="1529252"/>
            <a:ext cx="10967049" cy="3166892"/>
          </a:xfrm>
          <a:prstGeom prst="rect">
            <a:avLst/>
          </a:prstGeom>
        </p:spPr>
      </p:pic>
      <p:pic>
        <p:nvPicPr>
          <p:cNvPr id="4" name="Picture 4" descr="A picture containing knife&#10;&#10;Description generated with very high confidence">
            <a:extLst>
              <a:ext uri="{FF2B5EF4-FFF2-40B4-BE49-F238E27FC236}">
                <a16:creationId xmlns:a16="http://schemas.microsoft.com/office/drawing/2014/main" xmlns="" id="{5965BC70-6FCA-48AE-BE24-67E7B1F54909}"/>
              </a:ext>
            </a:extLst>
          </p:cNvPr>
          <p:cNvPicPr>
            <a:picLocks noChangeAspect="1"/>
          </p:cNvPicPr>
          <p:nvPr/>
        </p:nvPicPr>
        <p:blipFill>
          <a:blip r:embed="rId4" cstate="print"/>
          <a:stretch>
            <a:fillRect/>
          </a:stretch>
        </p:blipFill>
        <p:spPr>
          <a:xfrm>
            <a:off x="497457" y="5023556"/>
            <a:ext cx="10967049" cy="1080964"/>
          </a:xfrm>
          <a:prstGeom prst="rect">
            <a:avLst/>
          </a:prstGeom>
        </p:spPr>
      </p:pic>
      <p:pic>
        <p:nvPicPr>
          <p:cNvPr id="5" name="Picture 5" descr="A screenshot of a cell phone&#10;&#10;Description generated with very high confidence">
            <a:extLst>
              <a:ext uri="{FF2B5EF4-FFF2-40B4-BE49-F238E27FC236}">
                <a16:creationId xmlns:a16="http://schemas.microsoft.com/office/drawing/2014/main" xmlns="" id="{5CB3038C-5B8F-4368-AC85-864A3436130B}"/>
              </a:ext>
            </a:extLst>
          </p:cNvPr>
          <p:cNvPicPr>
            <a:picLocks noChangeAspect="1"/>
          </p:cNvPicPr>
          <p:nvPr/>
        </p:nvPicPr>
        <p:blipFill>
          <a:blip r:embed="rId5" cstate="print"/>
          <a:stretch>
            <a:fillRect/>
          </a:stretch>
        </p:blipFill>
        <p:spPr>
          <a:xfrm>
            <a:off x="497457" y="1610336"/>
            <a:ext cx="11024558" cy="3407289"/>
          </a:xfrm>
          <a:prstGeom prst="rect">
            <a:avLst/>
          </a:prstGeom>
        </p:spPr>
      </p:pic>
    </p:spTree>
    <p:extLst>
      <p:ext uri="{BB962C8B-B14F-4D97-AF65-F5344CB8AC3E}">
        <p14:creationId xmlns:p14="http://schemas.microsoft.com/office/powerpoint/2010/main" xmlns="" val="2342189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2" name="Picture 2" descr="A picture containing knife&#10;&#10;Description generated with very high confidence">
            <a:extLst>
              <a:ext uri="{FF2B5EF4-FFF2-40B4-BE49-F238E27FC236}">
                <a16:creationId xmlns:a16="http://schemas.microsoft.com/office/drawing/2014/main" xmlns="" id="{3DC0EF4B-9241-4A10-9E85-5FB3891A7A5F}"/>
              </a:ext>
            </a:extLst>
          </p:cNvPr>
          <p:cNvPicPr>
            <a:picLocks noChangeAspect="1"/>
          </p:cNvPicPr>
          <p:nvPr/>
        </p:nvPicPr>
        <p:blipFill>
          <a:blip r:embed="rId2" cstate="print"/>
          <a:stretch>
            <a:fillRect/>
          </a:stretch>
        </p:blipFill>
        <p:spPr>
          <a:xfrm>
            <a:off x="382438" y="360372"/>
            <a:ext cx="11427124" cy="1018916"/>
          </a:xfrm>
          <a:prstGeom prst="rect">
            <a:avLst/>
          </a:prstGeom>
        </p:spPr>
      </p:pic>
      <p:grpSp>
        <p:nvGrpSpPr>
          <p:cNvPr id="5" name="Group 4">
            <a:extLst>
              <a:ext uri="{FF2B5EF4-FFF2-40B4-BE49-F238E27FC236}">
                <a16:creationId xmlns:a16="http://schemas.microsoft.com/office/drawing/2014/main" xmlns="" id="{857D41A4-1F1F-4C90-B249-FC81D4B92DF9}"/>
              </a:ext>
            </a:extLst>
          </p:cNvPr>
          <p:cNvGrpSpPr/>
          <p:nvPr/>
        </p:nvGrpSpPr>
        <p:grpSpPr>
          <a:xfrm>
            <a:off x="281797" y="1660186"/>
            <a:ext cx="11628407" cy="3679048"/>
            <a:chOff x="281797" y="1660186"/>
            <a:chExt cx="11628407" cy="3679048"/>
          </a:xfrm>
        </p:grpSpPr>
        <p:pic>
          <p:nvPicPr>
            <p:cNvPr id="3" name="Picture 3" descr="A screenshot of a cell phone&#10;&#10;Description generated with very high confidence">
              <a:extLst>
                <a:ext uri="{FF2B5EF4-FFF2-40B4-BE49-F238E27FC236}">
                  <a16:creationId xmlns:a16="http://schemas.microsoft.com/office/drawing/2014/main" xmlns="" id="{C95B5A7A-B3BA-4D36-8933-58548523F012}"/>
                </a:ext>
              </a:extLst>
            </p:cNvPr>
            <p:cNvPicPr>
              <a:picLocks noChangeAspect="1"/>
            </p:cNvPicPr>
            <p:nvPr/>
          </p:nvPicPr>
          <p:blipFill>
            <a:blip r:embed="rId3" cstate="print"/>
            <a:stretch>
              <a:fillRect/>
            </a:stretch>
          </p:blipFill>
          <p:spPr>
            <a:xfrm>
              <a:off x="296174" y="1660186"/>
              <a:ext cx="11614030" cy="2976910"/>
            </a:xfrm>
            <a:prstGeom prst="rect">
              <a:avLst/>
            </a:prstGeom>
          </p:spPr>
        </p:pic>
        <p:pic>
          <p:nvPicPr>
            <p:cNvPr id="4" name="Picture 4">
              <a:extLst>
                <a:ext uri="{FF2B5EF4-FFF2-40B4-BE49-F238E27FC236}">
                  <a16:creationId xmlns:a16="http://schemas.microsoft.com/office/drawing/2014/main" xmlns="" id="{DFF8A25D-059A-49D1-916A-0C0C86CD32BE}"/>
                </a:ext>
              </a:extLst>
            </p:cNvPr>
            <p:cNvPicPr>
              <a:picLocks noChangeAspect="1"/>
            </p:cNvPicPr>
            <p:nvPr/>
          </p:nvPicPr>
          <p:blipFill>
            <a:blip r:embed="rId4" cstate="print"/>
            <a:stretch>
              <a:fillRect/>
            </a:stretch>
          </p:blipFill>
          <p:spPr>
            <a:xfrm>
              <a:off x="281797" y="4653028"/>
              <a:ext cx="11614029" cy="686206"/>
            </a:xfrm>
            <a:prstGeom prst="rect">
              <a:avLst/>
            </a:prstGeom>
          </p:spPr>
        </p:pic>
      </p:grpSp>
      <p:pic>
        <p:nvPicPr>
          <p:cNvPr id="6" name="Picture 6" descr="A picture containing knife&#10;&#10;Description generated with very high confidence">
            <a:extLst>
              <a:ext uri="{FF2B5EF4-FFF2-40B4-BE49-F238E27FC236}">
                <a16:creationId xmlns:a16="http://schemas.microsoft.com/office/drawing/2014/main" xmlns="" id="{02B248CA-172A-41A1-A9C6-AF1C42699149}"/>
              </a:ext>
            </a:extLst>
          </p:cNvPr>
          <p:cNvPicPr>
            <a:picLocks noChangeAspect="1"/>
          </p:cNvPicPr>
          <p:nvPr/>
        </p:nvPicPr>
        <p:blipFill>
          <a:blip r:embed="rId5" cstate="print"/>
          <a:stretch>
            <a:fillRect/>
          </a:stretch>
        </p:blipFill>
        <p:spPr>
          <a:xfrm>
            <a:off x="382438" y="5485005"/>
            <a:ext cx="11225841" cy="1135725"/>
          </a:xfrm>
          <a:prstGeom prst="rect">
            <a:avLst/>
          </a:prstGeom>
        </p:spPr>
      </p:pic>
      <p:pic>
        <p:nvPicPr>
          <p:cNvPr id="7" name="Picture 7" descr="A screenshot of a cell phone&#10;&#10;Description generated with very high confidence">
            <a:extLst>
              <a:ext uri="{FF2B5EF4-FFF2-40B4-BE49-F238E27FC236}">
                <a16:creationId xmlns:a16="http://schemas.microsoft.com/office/drawing/2014/main" xmlns="" id="{6571E18B-7409-4903-A8B2-013A22FBE0D3}"/>
              </a:ext>
            </a:extLst>
          </p:cNvPr>
          <p:cNvPicPr>
            <a:picLocks noChangeAspect="1"/>
          </p:cNvPicPr>
          <p:nvPr/>
        </p:nvPicPr>
        <p:blipFill>
          <a:blip r:embed="rId6" cstate="print"/>
          <a:stretch>
            <a:fillRect/>
          </a:stretch>
        </p:blipFill>
        <p:spPr>
          <a:xfrm>
            <a:off x="281796" y="1542480"/>
            <a:ext cx="11772180" cy="3787417"/>
          </a:xfrm>
          <a:prstGeom prst="rect">
            <a:avLst/>
          </a:prstGeom>
        </p:spPr>
      </p:pic>
    </p:spTree>
    <p:extLst>
      <p:ext uri="{BB962C8B-B14F-4D97-AF65-F5344CB8AC3E}">
        <p14:creationId xmlns:p14="http://schemas.microsoft.com/office/powerpoint/2010/main" xmlns="" val="43319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2" name="Picture 2" descr="A picture containing knife&#10;&#10;Description generated with very high confidence">
            <a:extLst>
              <a:ext uri="{FF2B5EF4-FFF2-40B4-BE49-F238E27FC236}">
                <a16:creationId xmlns:a16="http://schemas.microsoft.com/office/drawing/2014/main" xmlns="" id="{72435CCA-7FAD-4332-A41A-EC263FC30A66}"/>
              </a:ext>
            </a:extLst>
          </p:cNvPr>
          <p:cNvPicPr>
            <a:picLocks noChangeAspect="1"/>
          </p:cNvPicPr>
          <p:nvPr/>
        </p:nvPicPr>
        <p:blipFill>
          <a:blip r:embed="rId2" cstate="print"/>
          <a:stretch>
            <a:fillRect/>
          </a:stretch>
        </p:blipFill>
        <p:spPr>
          <a:xfrm>
            <a:off x="382438" y="295868"/>
            <a:ext cx="11585275" cy="1047283"/>
          </a:xfrm>
          <a:prstGeom prst="rect">
            <a:avLst/>
          </a:prstGeom>
        </p:spPr>
      </p:pic>
      <p:pic>
        <p:nvPicPr>
          <p:cNvPr id="3" name="Picture 3" descr="A screenshot of a cell phone&#10;&#10;Description generated with very high confidence">
            <a:extLst>
              <a:ext uri="{FF2B5EF4-FFF2-40B4-BE49-F238E27FC236}">
                <a16:creationId xmlns:a16="http://schemas.microsoft.com/office/drawing/2014/main" xmlns="" id="{766DE6A8-D038-45FE-9F68-31F88430EE30}"/>
              </a:ext>
            </a:extLst>
          </p:cNvPr>
          <p:cNvPicPr>
            <a:picLocks noChangeAspect="1"/>
          </p:cNvPicPr>
          <p:nvPr/>
        </p:nvPicPr>
        <p:blipFill>
          <a:blip r:embed="rId3" cstate="print"/>
          <a:stretch>
            <a:fillRect/>
          </a:stretch>
        </p:blipFill>
        <p:spPr>
          <a:xfrm>
            <a:off x="382438" y="1509526"/>
            <a:ext cx="11225841" cy="3838946"/>
          </a:xfrm>
          <a:prstGeom prst="rect">
            <a:avLst/>
          </a:prstGeom>
        </p:spPr>
      </p:pic>
      <p:pic>
        <p:nvPicPr>
          <p:cNvPr id="4" name="Picture 4" descr="A picture containing table&#10;&#10;Description generated with very high confidence">
            <a:extLst>
              <a:ext uri="{FF2B5EF4-FFF2-40B4-BE49-F238E27FC236}">
                <a16:creationId xmlns:a16="http://schemas.microsoft.com/office/drawing/2014/main" xmlns="" id="{481140A9-58FE-437E-8A27-EEB567D54C72}"/>
              </a:ext>
            </a:extLst>
          </p:cNvPr>
          <p:cNvPicPr>
            <a:picLocks noChangeAspect="1"/>
          </p:cNvPicPr>
          <p:nvPr/>
        </p:nvPicPr>
        <p:blipFill>
          <a:blip r:embed="rId4" cstate="print"/>
          <a:stretch>
            <a:fillRect/>
          </a:stretch>
        </p:blipFill>
        <p:spPr>
          <a:xfrm>
            <a:off x="468702" y="5346732"/>
            <a:ext cx="9054860" cy="1383518"/>
          </a:xfrm>
          <a:prstGeom prst="rect">
            <a:avLst/>
          </a:prstGeom>
        </p:spPr>
      </p:pic>
    </p:spTree>
    <p:extLst>
      <p:ext uri="{BB962C8B-B14F-4D97-AF65-F5344CB8AC3E}">
        <p14:creationId xmlns:p14="http://schemas.microsoft.com/office/powerpoint/2010/main" xmlns="" val="278893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Google Shape;201;p31">
            <a:extLst>
              <a:ext uri="{FF2B5EF4-FFF2-40B4-BE49-F238E27FC236}">
                <a16:creationId xmlns:a16="http://schemas.microsoft.com/office/drawing/2014/main" xmlns="" id="{B8534DCF-F856-479E-A0C6-77F5B99E51FC}"/>
              </a:ext>
            </a:extLst>
          </p:cNvPr>
          <p:cNvSpPr txBox="1"/>
          <p:nvPr/>
        </p:nvSpPr>
        <p:spPr>
          <a:xfrm>
            <a:off x="1047144" y="1178624"/>
            <a:ext cx="9332354" cy="43857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500">
                <a:latin typeface="Roboto"/>
                <a:ea typeface="Roboto"/>
                <a:cs typeface="Roboto"/>
                <a:sym typeface="Roboto"/>
              </a:rPr>
              <a:t>Reference:</a:t>
            </a:r>
            <a:endParaRPr sz="700"/>
          </a:p>
          <a:p>
            <a:pPr marL="0" lvl="0" indent="0" algn="l">
              <a:spcBef>
                <a:spcPts val="0"/>
              </a:spcBef>
              <a:spcAft>
                <a:spcPts val="0"/>
              </a:spcAft>
              <a:buNone/>
            </a:pPr>
            <a:endParaRPr lang="en" sz="2500" dirty="0">
              <a:latin typeface="Roboto"/>
            </a:endParaRPr>
          </a:p>
          <a:p>
            <a:r>
              <a:rPr lang="en-US" sz="2500" dirty="0">
                <a:latin typeface="Calibri"/>
                <a:cs typeface="Calibri"/>
                <a:hlinkClick r:id="rId2"/>
              </a:rPr>
              <a:t>http://www.pondiuni.edu.in/storage/dde/downloads/mbaii_qt.pdf</a:t>
            </a:r>
            <a:endParaRPr lang="en"/>
          </a:p>
          <a:p>
            <a:endParaRPr lang="en-US" sz="2500" dirty="0">
              <a:solidFill>
                <a:schemeClr val="dk1"/>
              </a:solidFill>
              <a:latin typeface="Calibri"/>
              <a:cs typeface="Calibri"/>
            </a:endParaRPr>
          </a:p>
          <a:p>
            <a:r>
              <a:rPr lang="en-US" sz="2400"/>
              <a:t>Transportation problem||vogel's approximation[VAM]|Northwest corner||Least cost||</a:t>
            </a:r>
          </a:p>
          <a:p>
            <a:pPr marL="0" lvl="0" indent="0" algn="l">
              <a:spcBef>
                <a:spcPts val="0"/>
              </a:spcBef>
              <a:spcAft>
                <a:spcPts val="0"/>
              </a:spcAft>
              <a:buNone/>
            </a:pPr>
            <a:endParaRPr lang="en-US" sz="2400" dirty="0"/>
          </a:p>
          <a:p>
            <a:r>
              <a:rPr lang="en-US" sz="2400" dirty="0">
                <a:hlinkClick r:id="rId3"/>
              </a:rPr>
              <a:t>https://www.youtube.com/watch?v=ItOuvM2KmD4</a:t>
            </a:r>
            <a:endParaRPr lang="en-US"/>
          </a:p>
          <a:p>
            <a:endParaRPr lang="en-US" sz="2400" dirty="0"/>
          </a:p>
          <a:p>
            <a:endParaRPr lang="en"/>
          </a:p>
          <a:p>
            <a:pPr>
              <a:lnSpc>
                <a:spcPct val="115000"/>
              </a:lnSpc>
            </a:pPr>
            <a:endParaRPr lang="en-GB" sz="1100">
              <a:solidFill>
                <a:srgbClr val="0563C1"/>
              </a:solidFill>
            </a:endParaRPr>
          </a:p>
          <a:p>
            <a:endParaRPr lang="en-GB"/>
          </a:p>
        </p:txBody>
      </p:sp>
    </p:spTree>
    <p:extLst>
      <p:ext uri="{BB962C8B-B14F-4D97-AF65-F5344CB8AC3E}">
        <p14:creationId xmlns:p14="http://schemas.microsoft.com/office/powerpoint/2010/main" xmlns="" val="35360944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721B01-C44A-444D-9B37-8338214DFA03}"/>
              </a:ext>
            </a:extLst>
          </p:cNvPr>
          <p:cNvSpPr>
            <a:spLocks noGrp="1"/>
          </p:cNvSpPr>
          <p:nvPr>
            <p:ph type="title"/>
          </p:nvPr>
        </p:nvSpPr>
        <p:spPr/>
        <p:txBody>
          <a:bodyPr/>
          <a:lstStyle/>
          <a:p>
            <a:pPr algn="ctr"/>
            <a:r>
              <a:rPr lang="en-GB" dirty="0">
                <a:cs typeface="Calibri Light"/>
              </a:rPr>
              <a:t>Quiz</a:t>
            </a:r>
          </a:p>
        </p:txBody>
      </p:sp>
      <p:sp>
        <p:nvSpPr>
          <p:cNvPr id="3" name="Content Placeholder 2">
            <a:extLst>
              <a:ext uri="{FF2B5EF4-FFF2-40B4-BE49-F238E27FC236}">
                <a16:creationId xmlns:a16="http://schemas.microsoft.com/office/drawing/2014/main" xmlns="" id="{5F2F75CD-E95F-421C-815C-33D85B741104}"/>
              </a:ext>
            </a:extLst>
          </p:cNvPr>
          <p:cNvSpPr>
            <a:spLocks noGrp="1"/>
          </p:cNvSpPr>
          <p:nvPr>
            <p:ph idx="1"/>
          </p:nvPr>
        </p:nvSpPr>
        <p:spPr/>
        <p:txBody>
          <a:bodyPr vert="horz" lIns="91440" tIns="45720" rIns="91440" bIns="45720" rtlCol="0" anchor="t">
            <a:normAutofit/>
          </a:bodyPr>
          <a:lstStyle/>
          <a:p>
            <a:pPr marL="0" indent="0">
              <a:buNone/>
            </a:pPr>
            <a:r>
              <a:rPr lang="en-GB" dirty="0">
                <a:ea typeface="+mn-lt"/>
                <a:cs typeface="+mn-lt"/>
                <a:hlinkClick r:id="rId2"/>
              </a:rPr>
              <a:t>https://tinyurl.com/transprob1</a:t>
            </a:r>
            <a:endParaRPr lang="en-US" dirty="0">
              <a:ea typeface="+mn-lt"/>
              <a:cs typeface="+mn-lt"/>
            </a:endParaRPr>
          </a:p>
          <a:p>
            <a:pPr marL="0" indent="0">
              <a:buNone/>
            </a:pPr>
            <a:endParaRPr lang="en-GB" dirty="0">
              <a:cs typeface="Calibri"/>
            </a:endParaRPr>
          </a:p>
          <a:p>
            <a:pPr marL="0" indent="0">
              <a:buNone/>
            </a:pPr>
            <a:r>
              <a:rPr lang="en-GB" dirty="0">
                <a:ea typeface="+mn-lt"/>
                <a:cs typeface="+mn-lt"/>
                <a:hlinkClick r:id="rId3"/>
              </a:rPr>
              <a:t>https://tinyurl.com/transprob2</a:t>
            </a:r>
          </a:p>
          <a:p>
            <a:pPr marL="0" indent="0">
              <a:buNone/>
            </a:pPr>
            <a:endParaRPr lang="en-GB" dirty="0">
              <a:cs typeface="Calibri"/>
            </a:endParaRPr>
          </a:p>
        </p:txBody>
      </p:sp>
    </p:spTree>
    <p:extLst>
      <p:ext uri="{BB962C8B-B14F-4D97-AF65-F5344CB8AC3E}">
        <p14:creationId xmlns:p14="http://schemas.microsoft.com/office/powerpoint/2010/main" xmlns="" val="224406745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E71CFA69A98247845C383A00253C40" ma:contentTypeVersion="2" ma:contentTypeDescription="Create a new document." ma:contentTypeScope="" ma:versionID="f72964e7bbe5712c818c7fedd9512191">
  <xsd:schema xmlns:xsd="http://www.w3.org/2001/XMLSchema" xmlns:xs="http://www.w3.org/2001/XMLSchema" xmlns:p="http://schemas.microsoft.com/office/2006/metadata/properties" xmlns:ns2="df63d6c3-3097-4dac-9e01-3e35a00a78b2" targetNamespace="http://schemas.microsoft.com/office/2006/metadata/properties" ma:root="true" ma:fieldsID="ddd1b32bd9dd0fd619750b9a6d7097df" ns2:_="">
    <xsd:import namespace="df63d6c3-3097-4dac-9e01-3e35a00a78b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63d6c3-3097-4dac-9e01-3e35a00a78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4C5BD02-C328-4B7A-9A1B-D1B2A76A7DE8}"/>
</file>

<file path=customXml/itemProps2.xml><?xml version="1.0" encoding="utf-8"?>
<ds:datastoreItem xmlns:ds="http://schemas.openxmlformats.org/officeDocument/2006/customXml" ds:itemID="{B0796A73-DE2A-484A-A34E-8D6F1E76A6C6}"/>
</file>

<file path=customXml/itemProps3.xml><?xml version="1.0" encoding="utf-8"?>
<ds:datastoreItem xmlns:ds="http://schemas.openxmlformats.org/officeDocument/2006/customXml" ds:itemID="{82261847-F4A4-4AB3-8419-989C30D2ABC9}"/>
</file>

<file path=docProps/app.xml><?xml version="1.0" encoding="utf-8"?>
<Properties xmlns="http://schemas.openxmlformats.org/officeDocument/2006/extended-properties" xmlns:vt="http://schemas.openxmlformats.org/officeDocument/2006/docPropsVTypes">
  <Template>office theme</Template>
  <TotalTime>317</TotalTime>
  <Words>854</Words>
  <Application>Microsoft Office PowerPoint</Application>
  <PresentationFormat>Custom</PresentationFormat>
  <Paragraphs>72</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 Transportation Problem </vt:lpstr>
      <vt:lpstr>Objectives</vt:lpstr>
      <vt:lpstr>Introduction</vt:lpstr>
      <vt:lpstr>  Example</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Quiz</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happy</cp:lastModifiedBy>
  <cp:revision>227</cp:revision>
  <dcterms:created xsi:type="dcterms:W3CDTF">2020-06-02T16:16:50Z</dcterms:created>
  <dcterms:modified xsi:type="dcterms:W3CDTF">2020-07-24T11:26:58Z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0x0101008BE71CFA69A98247845C383A00253C40</vt:lpwstr>
  </property>
</Properties>
</file>