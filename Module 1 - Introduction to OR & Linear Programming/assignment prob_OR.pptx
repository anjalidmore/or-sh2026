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86" r:id="rId3"/>
    <p:sldId id="259" r:id="rId4"/>
    <p:sldId id="257" r:id="rId5"/>
    <p:sldId id="258" r:id="rId6"/>
    <p:sldId id="260" r:id="rId7"/>
    <p:sldId id="261" r:id="rId8"/>
    <p:sldId id="263" r:id="rId9"/>
    <p:sldId id="264" r:id="rId10"/>
    <p:sldId id="265" r:id="rId11"/>
    <p:sldId id="266" r:id="rId12"/>
    <p:sldId id="267" r:id="rId13"/>
    <p:sldId id="270" r:id="rId14"/>
    <p:sldId id="271" r:id="rId15"/>
    <p:sldId id="272" r:id="rId16"/>
    <p:sldId id="273" r:id="rId17"/>
    <p:sldId id="274" r:id="rId18"/>
    <p:sldId id="275" r:id="rId19"/>
    <p:sldId id="276" r:id="rId20"/>
    <p:sldId id="277" r:id="rId21"/>
    <p:sldId id="284" r:id="rId22"/>
    <p:sldId id="279" r:id="rId23"/>
    <p:sldId id="280" r:id="rId2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E289DA0-6D70-F5E2-89F2-BE7B773438E7}" v="17" dt="2020-08-20T15:10:55.435"/>
    <p1510:client id="{BC8A14A1-F2CD-B604-F0A9-BF79F9091709}" v="1" dt="2021-09-24T12:46:29.918"/>
    <p1510:client id="{CA3C33CF-811C-EFEB-0710-6DCCC544FDB6}" v="67" dt="2020-06-10T14:34:44.40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88" autoAdjust="0"/>
    <p:restoredTop sz="94607" autoAdjust="0"/>
  </p:normalViewPr>
  <p:slideViewPr>
    <p:cSldViewPr>
      <p:cViewPr varScale="1">
        <p:scale>
          <a:sx n="69" d="100"/>
          <a:sy n="69" d="100"/>
        </p:scale>
        <p:origin x="1416" y="7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ustomXml" Target="../customXml/item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and pardeshi" userId="S::anand.pardeshi@fcrit.ac.in::4de9f4fb-1776-4d2c-ac4d-7159c8faa6e6" providerId="AD" clId="Web-{7E289DA0-6D70-F5E2-89F2-BE7B773438E7}"/>
    <pc:docChg chg="modSld">
      <pc:chgData name="anand pardeshi" userId="S::anand.pardeshi@fcrit.ac.in::4de9f4fb-1776-4d2c-ac4d-7159c8faa6e6" providerId="AD" clId="Web-{7E289DA0-6D70-F5E2-89F2-BE7B773438E7}" dt="2020-08-20T15:10:55.435" v="16" actId="14100"/>
      <pc:docMkLst>
        <pc:docMk/>
      </pc:docMkLst>
      <pc:sldChg chg="modSp">
        <pc:chgData name="anand pardeshi" userId="S::anand.pardeshi@fcrit.ac.in::4de9f4fb-1776-4d2c-ac4d-7159c8faa6e6" providerId="AD" clId="Web-{7E289DA0-6D70-F5E2-89F2-BE7B773438E7}" dt="2020-08-20T15:10:55.435" v="16" actId="14100"/>
        <pc:sldMkLst>
          <pc:docMk/>
          <pc:sldMk cId="0" sldId="279"/>
        </pc:sldMkLst>
        <pc:spChg chg="mod">
          <ac:chgData name="anand pardeshi" userId="S::anand.pardeshi@fcrit.ac.in::4de9f4fb-1776-4d2c-ac4d-7159c8faa6e6" providerId="AD" clId="Web-{7E289DA0-6D70-F5E2-89F2-BE7B773438E7}" dt="2020-08-20T15:10:26.762" v="10" actId="20577"/>
          <ac:spMkLst>
            <pc:docMk/>
            <pc:sldMk cId="0" sldId="279"/>
            <ac:spMk id="2" creationId="{00000000-0000-0000-0000-000000000000}"/>
          </ac:spMkLst>
        </pc:spChg>
        <pc:spChg chg="mod">
          <ac:chgData name="anand pardeshi" userId="S::anand.pardeshi@fcrit.ac.in::4de9f4fb-1776-4d2c-ac4d-7159c8faa6e6" providerId="AD" clId="Web-{7E289DA0-6D70-F5E2-89F2-BE7B773438E7}" dt="2020-08-20T15:10:45.247" v="12" actId="1076"/>
          <ac:spMkLst>
            <pc:docMk/>
            <pc:sldMk cId="0" sldId="279"/>
            <ac:spMk id="3" creationId="{00000000-0000-0000-0000-000000000000}"/>
          </ac:spMkLst>
        </pc:spChg>
        <pc:picChg chg="mod">
          <ac:chgData name="anand pardeshi" userId="S::anand.pardeshi@fcrit.ac.in::4de9f4fb-1776-4d2c-ac4d-7159c8faa6e6" providerId="AD" clId="Web-{7E289DA0-6D70-F5E2-89F2-BE7B773438E7}" dt="2020-08-20T15:10:50.200" v="14" actId="14100"/>
          <ac:picMkLst>
            <pc:docMk/>
            <pc:sldMk cId="0" sldId="279"/>
            <ac:picMk id="7177" creationId="{00000000-0000-0000-0000-000000000000}"/>
          </ac:picMkLst>
        </pc:picChg>
        <pc:picChg chg="mod">
          <ac:chgData name="anand pardeshi" userId="S::anand.pardeshi@fcrit.ac.in::4de9f4fb-1776-4d2c-ac4d-7159c8faa6e6" providerId="AD" clId="Web-{7E289DA0-6D70-F5E2-89F2-BE7B773438E7}" dt="2020-08-20T15:10:55.435" v="16" actId="14100"/>
          <ac:picMkLst>
            <pc:docMk/>
            <pc:sldMk cId="0" sldId="279"/>
            <ac:picMk id="7178" creationId="{00000000-0000-0000-0000-000000000000}"/>
          </ac:picMkLst>
        </pc:picChg>
      </pc:sldChg>
    </pc:docChg>
  </pc:docChgLst>
  <pc:docChgLst>
    <pc:chgData name="anand pardeshi" userId="S::anand.pardeshi@fcrit.ac.in::4de9f4fb-1776-4d2c-ac4d-7159c8faa6e6" providerId="AD" clId="Web-{BC8A14A1-F2CD-B604-F0A9-BF79F9091709}"/>
    <pc:docChg chg="delSld">
      <pc:chgData name="anand pardeshi" userId="S::anand.pardeshi@fcrit.ac.in::4de9f4fb-1776-4d2c-ac4d-7159c8faa6e6" providerId="AD" clId="Web-{BC8A14A1-F2CD-B604-F0A9-BF79F9091709}" dt="2021-09-24T12:46:29.918" v="0"/>
      <pc:docMkLst>
        <pc:docMk/>
      </pc:docMkLst>
      <pc:sldChg chg="del">
        <pc:chgData name="anand pardeshi" userId="S::anand.pardeshi@fcrit.ac.in::4de9f4fb-1776-4d2c-ac4d-7159c8faa6e6" providerId="AD" clId="Web-{BC8A14A1-F2CD-B604-F0A9-BF79F9091709}" dt="2021-09-24T12:46:29.918" v="0"/>
        <pc:sldMkLst>
          <pc:docMk/>
          <pc:sldMk cId="0" sldId="285"/>
        </pc:sldMkLst>
      </pc:sldChg>
    </pc:docChg>
  </pc:docChgLst>
  <pc:docChgLst>
    <pc:chgData name="anand pardeshi" userId="S::anand.pardeshi@fcrit.ac.in::4de9f4fb-1776-4d2c-ac4d-7159c8faa6e6" providerId="AD" clId="Web-{CA3C33CF-811C-EFEB-0710-6DCCC544FDB6}"/>
    <pc:docChg chg="addSld modSld">
      <pc:chgData name="anand pardeshi" userId="S::anand.pardeshi@fcrit.ac.in::4de9f4fb-1776-4d2c-ac4d-7159c8faa6e6" providerId="AD" clId="Web-{CA3C33CF-811C-EFEB-0710-6DCCC544FDB6}" dt="2020-06-10T14:34:44.049" v="63" actId="1076"/>
      <pc:docMkLst>
        <pc:docMk/>
      </pc:docMkLst>
      <pc:sldChg chg="addSp modSp mod setBg">
        <pc:chgData name="anand pardeshi" userId="S::anand.pardeshi@fcrit.ac.in::4de9f4fb-1776-4d2c-ac4d-7159c8faa6e6" providerId="AD" clId="Web-{CA3C33CF-811C-EFEB-0710-6DCCC544FDB6}" dt="2020-06-10T14:15:35.840" v="4" actId="20577"/>
        <pc:sldMkLst>
          <pc:docMk/>
          <pc:sldMk cId="0" sldId="256"/>
        </pc:sldMkLst>
        <pc:spChg chg="mod">
          <ac:chgData name="anand pardeshi" userId="S::anand.pardeshi@fcrit.ac.in::4de9f4fb-1776-4d2c-ac4d-7159c8faa6e6" providerId="AD" clId="Web-{CA3C33CF-811C-EFEB-0710-6DCCC544FDB6}" dt="2020-06-10T14:15:35.840" v="4" actId="20577"/>
          <ac:spMkLst>
            <pc:docMk/>
            <pc:sldMk cId="0" sldId="256"/>
            <ac:spMk id="2" creationId="{00000000-0000-0000-0000-000000000000}"/>
          </ac:spMkLst>
        </pc:spChg>
        <pc:spChg chg="mod">
          <ac:chgData name="anand pardeshi" userId="S::anand.pardeshi@fcrit.ac.in::4de9f4fb-1776-4d2c-ac4d-7159c8faa6e6" providerId="AD" clId="Web-{CA3C33CF-811C-EFEB-0710-6DCCC544FDB6}" dt="2020-06-10T14:15:25.996" v="0"/>
          <ac:spMkLst>
            <pc:docMk/>
            <pc:sldMk cId="0" sldId="256"/>
            <ac:spMk id="4" creationId="{00000000-0000-0000-0000-000000000000}"/>
          </ac:spMkLst>
        </pc:spChg>
        <pc:spChg chg="add">
          <ac:chgData name="anand pardeshi" userId="S::anand.pardeshi@fcrit.ac.in::4de9f4fb-1776-4d2c-ac4d-7159c8faa6e6" providerId="AD" clId="Web-{CA3C33CF-811C-EFEB-0710-6DCCC544FDB6}" dt="2020-06-10T14:15:25.996" v="0"/>
          <ac:spMkLst>
            <pc:docMk/>
            <pc:sldMk cId="0" sldId="256"/>
            <ac:spMk id="71" creationId="{1707FC24-6981-43D9-B525-C7832BA22463}"/>
          </ac:spMkLst>
        </pc:spChg>
        <pc:picChg chg="mod">
          <ac:chgData name="anand pardeshi" userId="S::anand.pardeshi@fcrit.ac.in::4de9f4fb-1776-4d2c-ac4d-7159c8faa6e6" providerId="AD" clId="Web-{CA3C33CF-811C-EFEB-0710-6DCCC544FDB6}" dt="2020-06-10T14:15:25.996" v="0"/>
          <ac:picMkLst>
            <pc:docMk/>
            <pc:sldMk cId="0" sldId="256"/>
            <ac:picMk id="12290" creationId="{00000000-0000-0000-0000-000000000000}"/>
          </ac:picMkLst>
        </pc:picChg>
      </pc:sldChg>
      <pc:sldChg chg="addSp modSp">
        <pc:chgData name="anand pardeshi" userId="S::anand.pardeshi@fcrit.ac.in::4de9f4fb-1776-4d2c-ac4d-7159c8faa6e6" providerId="AD" clId="Web-{CA3C33CF-811C-EFEB-0710-6DCCC544FDB6}" dt="2020-06-10T14:30:11.024" v="43" actId="1076"/>
        <pc:sldMkLst>
          <pc:docMk/>
          <pc:sldMk cId="0" sldId="280"/>
        </pc:sldMkLst>
        <pc:spChg chg="mod">
          <ac:chgData name="anand pardeshi" userId="S::anand.pardeshi@fcrit.ac.in::4de9f4fb-1776-4d2c-ac4d-7159c8faa6e6" providerId="AD" clId="Web-{CA3C33CF-811C-EFEB-0710-6DCCC544FDB6}" dt="2020-06-10T14:30:11.024" v="43" actId="1076"/>
          <ac:spMkLst>
            <pc:docMk/>
            <pc:sldMk cId="0" sldId="280"/>
            <ac:spMk id="3" creationId="{00000000-0000-0000-0000-000000000000}"/>
          </ac:spMkLst>
        </pc:spChg>
        <pc:spChg chg="add mod">
          <ac:chgData name="anand pardeshi" userId="S::anand.pardeshi@fcrit.ac.in::4de9f4fb-1776-4d2c-ac4d-7159c8faa6e6" providerId="AD" clId="Web-{CA3C33CF-811C-EFEB-0710-6DCCC544FDB6}" dt="2020-06-10T14:30:04.165" v="41" actId="20577"/>
          <ac:spMkLst>
            <pc:docMk/>
            <pc:sldMk cId="0" sldId="280"/>
            <ac:spMk id="4" creationId="{7D1F7C8B-F868-40C9-82D3-863926D2ACB8}"/>
          </ac:spMkLst>
        </pc:spChg>
      </pc:sldChg>
      <pc:sldChg chg="delSp modSp new">
        <pc:chgData name="anand pardeshi" userId="S::anand.pardeshi@fcrit.ac.in::4de9f4fb-1776-4d2c-ac4d-7159c8faa6e6" providerId="AD" clId="Web-{CA3C33CF-811C-EFEB-0710-6DCCC544FDB6}" dt="2020-06-10T14:34:44.049" v="63" actId="1076"/>
        <pc:sldMkLst>
          <pc:docMk/>
          <pc:sldMk cId="3068671973" sldId="286"/>
        </pc:sldMkLst>
        <pc:spChg chg="del">
          <ac:chgData name="anand pardeshi" userId="S::anand.pardeshi@fcrit.ac.in::4de9f4fb-1776-4d2c-ac4d-7159c8faa6e6" providerId="AD" clId="Web-{CA3C33CF-811C-EFEB-0710-6DCCC544FDB6}" dt="2020-06-10T14:33:58.516" v="57"/>
          <ac:spMkLst>
            <pc:docMk/>
            <pc:sldMk cId="3068671973" sldId="286"/>
            <ac:spMk id="2" creationId="{8D28AC83-A916-4D79-ACC5-3FE617DC4F02}"/>
          </ac:spMkLst>
        </pc:spChg>
        <pc:spChg chg="mod">
          <ac:chgData name="anand pardeshi" userId="S::anand.pardeshi@fcrit.ac.in::4de9f4fb-1776-4d2c-ac4d-7159c8faa6e6" providerId="AD" clId="Web-{CA3C33CF-811C-EFEB-0710-6DCCC544FDB6}" dt="2020-06-10T14:34:44.049" v="63" actId="1076"/>
          <ac:spMkLst>
            <pc:docMk/>
            <pc:sldMk cId="3068671973" sldId="286"/>
            <ac:spMk id="3" creationId="{04C54D74-1D28-4183-BF02-9ACF7D78097E}"/>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C874D37-EF32-462D-8648-10AD0D0836D6}" type="datetimeFigureOut">
              <a:rPr lang="en-US" smtClean="0"/>
              <a:pPr/>
              <a:t>9/24/2021</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B41CD9A-916A-4BA8-B876-07360C096B11}"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9B41CD9A-916A-4BA8-B876-07360C096B11}" type="slidenum">
              <a:rPr lang="en-US" smtClean="0"/>
              <a:pPr/>
              <a:t>1</a:t>
            </a:fld>
            <a:endParaRPr lang="en-US"/>
          </a:p>
        </p:txBody>
      </p:sp>
    </p:spTree>
    <p:extLst>
      <p:ext uri="{BB962C8B-B14F-4D97-AF65-F5344CB8AC3E}">
        <p14:creationId xmlns:p14="http://schemas.microsoft.com/office/powerpoint/2010/main" val="344002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AF515D3-225E-4ED5-8233-B869E3507D00}" type="datetime1">
              <a:rPr lang="en-US" smtClean="0"/>
              <a:pPr/>
              <a:t>9/24/2021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C2A38D-ED02-420A-BF8A-05E20D604ACC}" type="slidenum">
              <a:rPr lang="en-US" smtClean="0"/>
              <a:pPr/>
              <a:t>‹#›</a:t>
            </a:fld>
            <a:endParaRPr lang="en-US"/>
          </a:p>
        </p:txBody>
      </p:sp>
    </p:spTree>
  </p:cSld>
  <p:clrMapOvr>
    <a:masterClrMapping/>
  </p:clrMapOvr>
  <p:transition advClick="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42FAA54-3294-49CC-B618-9D5BC93CADC1}" type="datetime1">
              <a:rPr lang="en-US" smtClean="0"/>
              <a:pPr/>
              <a:t>9/24/2021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C2A38D-ED02-420A-BF8A-05E20D604ACC}" type="slidenum">
              <a:rPr lang="en-US" smtClean="0"/>
              <a:pPr/>
              <a:t>‹#›</a:t>
            </a:fld>
            <a:endParaRPr lang="en-US"/>
          </a:p>
        </p:txBody>
      </p:sp>
    </p:spTree>
  </p:cSld>
  <p:clrMapOvr>
    <a:masterClrMapping/>
  </p:clrMapOvr>
  <p:transition advClick="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F390C2C-1D91-4DE7-96D5-B35617780A56}" type="datetime1">
              <a:rPr lang="en-US" smtClean="0"/>
              <a:pPr/>
              <a:t>9/24/2021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C2A38D-ED02-420A-BF8A-05E20D604ACC}" type="slidenum">
              <a:rPr lang="en-US" smtClean="0"/>
              <a:pPr/>
              <a:t>‹#›</a:t>
            </a:fld>
            <a:endParaRPr lang="en-US"/>
          </a:p>
        </p:txBody>
      </p:sp>
    </p:spTree>
  </p:cSld>
  <p:clrMapOvr>
    <a:masterClrMapping/>
  </p:clrMapOvr>
  <p:transition advClick="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3360443-6A86-4513-8EB7-C8A4C69265BD}" type="datetime1">
              <a:rPr lang="en-US" smtClean="0"/>
              <a:pPr/>
              <a:t>9/24/2021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C2A38D-ED02-420A-BF8A-05E20D604ACC}" type="slidenum">
              <a:rPr lang="en-US" smtClean="0"/>
              <a:pPr/>
              <a:t>‹#›</a:t>
            </a:fld>
            <a:endParaRPr lang="en-US"/>
          </a:p>
        </p:txBody>
      </p:sp>
    </p:spTree>
  </p:cSld>
  <p:clrMapOvr>
    <a:masterClrMapping/>
  </p:clrMapOvr>
  <p:transition advClick="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E61201F-8F62-42CF-820A-32DA0C926B16}" type="datetime1">
              <a:rPr lang="en-US" smtClean="0"/>
              <a:pPr/>
              <a:t>9/24/2021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5C2A38D-ED02-420A-BF8A-05E20D604ACC}" type="slidenum">
              <a:rPr lang="en-US" smtClean="0"/>
              <a:pPr/>
              <a:t>‹#›</a:t>
            </a:fld>
            <a:endParaRPr lang="en-US"/>
          </a:p>
        </p:txBody>
      </p:sp>
    </p:spTree>
  </p:cSld>
  <p:clrMapOvr>
    <a:masterClrMapping/>
  </p:clrMapOvr>
  <p:transition advClick="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34E92FA-081A-42D3-ACE0-64D49A3679F2}" type="datetime1">
              <a:rPr lang="en-US" smtClean="0"/>
              <a:pPr/>
              <a:t>9/24/2021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5C2A38D-ED02-420A-BF8A-05E20D604ACC}" type="slidenum">
              <a:rPr lang="en-US" smtClean="0"/>
              <a:pPr/>
              <a:t>‹#›</a:t>
            </a:fld>
            <a:endParaRPr lang="en-US"/>
          </a:p>
        </p:txBody>
      </p:sp>
    </p:spTree>
  </p:cSld>
  <p:clrMapOvr>
    <a:masterClrMapping/>
  </p:clrMapOvr>
  <p:transition advClick="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5BA5793-C8BC-4EE0-8CF5-4E2A1CDDFAA7}" type="datetime1">
              <a:rPr lang="en-US" smtClean="0"/>
              <a:pPr/>
              <a:t>9/24/2021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5C2A38D-ED02-420A-BF8A-05E20D604ACC}" type="slidenum">
              <a:rPr lang="en-US" smtClean="0"/>
              <a:pPr/>
              <a:t>‹#›</a:t>
            </a:fld>
            <a:endParaRPr lang="en-US"/>
          </a:p>
        </p:txBody>
      </p:sp>
    </p:spTree>
  </p:cSld>
  <p:clrMapOvr>
    <a:masterClrMapping/>
  </p:clrMapOvr>
  <p:transition advClick="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4985DBE0-683E-4102-9D40-969191D1D780}" type="datetime1">
              <a:rPr lang="en-US" smtClean="0"/>
              <a:pPr/>
              <a:t>9/24/2021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C2A38D-ED02-420A-BF8A-05E20D604ACC}" type="slidenum">
              <a:rPr lang="en-US" smtClean="0"/>
              <a:pPr/>
              <a:t>‹#›</a:t>
            </a:fld>
            <a:endParaRPr lang="en-US"/>
          </a:p>
        </p:txBody>
      </p:sp>
    </p:spTree>
  </p:cSld>
  <p:clrMapOvr>
    <a:masterClrMapping/>
  </p:clrMapOvr>
  <p:transition advClick="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667E65A-2C4A-49F1-8F8C-16ED1620A61C}" type="datetime1">
              <a:rPr lang="en-US" smtClean="0"/>
              <a:pPr/>
              <a:t>9/24/2021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5C2A38D-ED02-420A-BF8A-05E20D604ACC}" type="slidenum">
              <a:rPr lang="en-US" smtClean="0"/>
              <a:pPr/>
              <a:t>‹#›</a:t>
            </a:fld>
            <a:endParaRPr lang="en-US"/>
          </a:p>
        </p:txBody>
      </p:sp>
    </p:spTree>
  </p:cSld>
  <p:clrMapOvr>
    <a:masterClrMapping/>
  </p:clrMapOvr>
  <p:transition advClick="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83DD3B9-BBEF-4196-8F82-6A9B9E90B052}" type="datetime1">
              <a:rPr lang="en-US" smtClean="0"/>
              <a:pPr/>
              <a:t>9/24/2021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C2A38D-ED02-420A-BF8A-05E20D604ACC}" type="slidenum">
              <a:rPr lang="en-US" smtClean="0"/>
              <a:pPr/>
              <a:t>‹#›</a:t>
            </a:fld>
            <a:endParaRPr lang="en-US"/>
          </a:p>
        </p:txBody>
      </p:sp>
    </p:spTree>
  </p:cSld>
  <p:clrMapOvr>
    <a:masterClrMapping/>
  </p:clrMapOvr>
  <p:transition advClick="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6816D59-B059-4856-B220-6E2CB0988170}" type="datetime1">
              <a:rPr lang="en-US" smtClean="0"/>
              <a:pPr/>
              <a:t>9/24/2021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5C2A38D-ED02-420A-BF8A-05E20D604ACC}" type="slidenum">
              <a:rPr lang="en-US" smtClean="0"/>
              <a:pPr/>
              <a:t>‹#›</a:t>
            </a:fld>
            <a:endParaRPr lang="en-US"/>
          </a:p>
        </p:txBody>
      </p:sp>
    </p:spTree>
  </p:cSld>
  <p:clrMapOvr>
    <a:masterClrMapping/>
  </p:clrMapOvr>
  <p:transition advClick="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5BC884A-E93F-4191-93FF-4D6B7F1F2F22}" type="datetime1">
              <a:rPr lang="en-US" smtClean="0"/>
              <a:pPr/>
              <a:t>9/24/2021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5C2A38D-ED02-420A-BF8A-05E20D604ACC}"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advClick="0"/>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google.com/search?rlz=1C1OKWM_enIN964IN964&amp;sxsrf=AOaemvLsF6_gs6GIv8NweSx6Mr-uUJk6GQ:1630040863731&amp;q=k%C3%A1roly+tak%C3%A1cs+born&amp;stick=H4sIAAAAAAAAAOPgE-LUz9U3MK8qTsrQEstOttIvSM0vyEkFUkXF-XlWSflFeYtYRbIPLyzKz6lUKEkEspKLFUDCANyjhYE8AAAA&amp;sa=X&amp;sqi=2&amp;ved=2ahUKEwidkZu1t9DyAhW3r5UCHejyDRkQ6BMoADApegQIPhAC" TargetMode="External"/><Relationship Id="rId2" Type="http://schemas.openxmlformats.org/officeDocument/2006/relationships/image" Target="../media/image2.jpeg"/><Relationship Id="rId1" Type="http://schemas.openxmlformats.org/officeDocument/2006/relationships/slideLayout" Target="../slideLayouts/slideLayout2.xml"/><Relationship Id="rId6" Type="http://schemas.openxmlformats.org/officeDocument/2006/relationships/hyperlink" Target="https://www.google.com/search?rlz=1C1OKWM_enIN964IN964&amp;sxsrf=AOaemvLsF6_gs6GIv8NweSx6Mr-uUJk6GQ:1630040863731&amp;q=Budapest&amp;stick=H4sIAAAAAAAAAOPgE-LUz9U3MK8qTspQ4gAxLU3L47Xks5Ot9AtS8wtyUvVTUpNTE4tTU-ILUouK8_OsUjJTUxaxcjiVpiQWpBaX7GBlBACmJadORgAAAA&amp;sa=X&amp;sqi=2&amp;ved=2ahUKEwidkZu1t9DyAhW3r5UCHejyDRkQmxMoATAqegQIOhAD" TargetMode="External"/><Relationship Id="rId5" Type="http://schemas.openxmlformats.org/officeDocument/2006/relationships/hyperlink" Target="https://www.google.com/search?rlz=1C1OKWM_enIN964IN964&amp;sxsrf=AOaemvLsF6_gs6GIv8NweSx6Mr-uUJk6GQ:1630040863731&amp;q=k%C3%A1roly+tak%C3%A1cs+died&amp;stick=H4sIAAAAAAAAAOPgE-LUz9U3MK8qTsrQks9OttIvSM0vyEnVT0lNTk0sTk2JL0gtKs7Ps0rJTE1ZxCqSfXhhUX5OpUJJIpCVXKwAEgYAUJEUZ0UAAAA&amp;sa=X&amp;sqi=2&amp;ved=2ahUKEwidkZu1t9DyAhW3r5UCHejyDRkQ6BMoADAqegQIOhAC" TargetMode="External"/><Relationship Id="rId4" Type="http://schemas.openxmlformats.org/officeDocument/2006/relationships/hyperlink" Target="https://www.google.com/search?rlz=1C1OKWM_enIN964IN964&amp;sxsrf=AOaemvLsF6_gs6GIv8NweSx6Mr-uUJk6GQ:1630040863731&amp;q=Budapest&amp;stick=H4sIAAAAAAAAAOPgE-LUz9U3MK8qTspQ4gAxLU3L47XEspOt9AtS8wtyUoFUUXF-nlVSflHeIlYOp9KUxILU4pIdrIwAPFZqaj0AAAA&amp;sa=X&amp;sqi=2&amp;ved=2ahUKEwidkZu1t9DyAhW3r5UCHejyDRkQmxMoATApegQIPhAD"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hyperlink" Target="https://www.wisdomjobs.com/e-university/quantitative-techniques-for-management-tutorial-297/maximization-problem-9902.html" TargetMode="Externa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hyperlink" Target="http://www.hungarianalgorithm.com/examplehungarianalgorithm.php" TargetMode="External"/><Relationship Id="rId7" Type="http://schemas.openxmlformats.org/officeDocument/2006/relationships/image" Target="../media/image16.png"/><Relationship Id="rId2" Type="http://schemas.openxmlformats.org/officeDocument/2006/relationships/hyperlink" Target="https://towardsdatascience.com/operations-research-in-r-assignment-problem-4a1f92a09ab" TargetMode="Externa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hyperlink" Target="https://www.youtube.com/watch?v=a2QgdDk4Xjw&amp;list=PLjc8ejfjpgTf0LaDEHgLB3gCHZYcNtsoX" TargetMode="External"/><Relationship Id="rId4" Type="http://schemas.openxmlformats.org/officeDocument/2006/relationships/hyperlink" Target="https://www.hindawi.com/journals/aor/2018/8958393/" TargetMode="External"/></Relationships>
</file>

<file path=ppt/slides/_rels/slide23.xml.rels><?xml version="1.0" encoding="UTF-8" standalone="yes"?>
<Relationships xmlns="http://schemas.openxmlformats.org/package/2006/relationships"><Relationship Id="rId3" Type="http://schemas.openxmlformats.org/officeDocument/2006/relationships/hyperlink" Target="https://tinyurl.com/AssignProb1" TargetMode="External"/><Relationship Id="rId2" Type="http://schemas.openxmlformats.org/officeDocument/2006/relationships/hyperlink" Target="https://tinyurl.com/quizonAssignmentProblem"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1" name="Rectangle 70">
            <a:extLst>
              <a:ext uri="{FF2B5EF4-FFF2-40B4-BE49-F238E27FC236}">
                <a16:creationId xmlns:a16="http://schemas.microsoft.com/office/drawing/2014/main" id="{1707FC24-6981-43D9-B525-C7832BA2246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252663" y="311449"/>
            <a:ext cx="3249230" cy="6179552"/>
          </a:xfrm>
          <a:prstGeom prst="rect">
            <a:avLst/>
          </a:prstGeom>
          <a:solidFill>
            <a:srgbClr val="404040"/>
          </a:solidFill>
          <a:ln w="127000" cap="sq" cmpd="thinThick">
            <a:solidFill>
              <a:srgbClr val="40404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557212" y="742951"/>
            <a:ext cx="2607469" cy="4962524"/>
          </a:xfrm>
        </p:spPr>
        <p:txBody>
          <a:bodyPr vert="horz" lIns="91440" tIns="45720" rIns="91440" bIns="45720" rtlCol="0" anchor="ctr">
            <a:normAutofit fontScale="90000"/>
          </a:bodyPr>
          <a:lstStyle/>
          <a:p>
            <a:pPr>
              <a:lnSpc>
                <a:spcPct val="90000"/>
              </a:lnSpc>
            </a:pPr>
            <a:br>
              <a:rPr lang="en-US" sz="3300" kern="1200" dirty="0"/>
            </a:br>
            <a:br>
              <a:rPr lang="en-US" sz="3300" kern="1200" dirty="0"/>
            </a:br>
            <a:br>
              <a:rPr lang="en-US" sz="3300" kern="1200" dirty="0"/>
            </a:br>
            <a:r>
              <a:rPr lang="en-US" sz="3300" kern="1200" dirty="0">
                <a:solidFill>
                  <a:srgbClr val="FFFFFF"/>
                </a:solidFill>
                <a:latin typeface="+mj-lt"/>
                <a:ea typeface="+mj-ea"/>
                <a:cs typeface="+mj-cs"/>
              </a:rPr>
              <a:t> Operations Research</a:t>
            </a:r>
            <a:br>
              <a:rPr lang="en-US" sz="3300" kern="1200" dirty="0">
                <a:solidFill>
                  <a:srgbClr val="FFFFFF"/>
                </a:solidFill>
                <a:latin typeface="+mj-lt"/>
                <a:cs typeface="Calibri"/>
              </a:rPr>
            </a:br>
            <a:br>
              <a:rPr lang="en-US" sz="3300" dirty="0">
                <a:cs typeface="Calibri"/>
              </a:rPr>
            </a:br>
            <a:br>
              <a:rPr lang="en-US" sz="3300" dirty="0"/>
            </a:br>
            <a:r>
              <a:rPr lang="en-US" sz="3300" kern="1200" dirty="0">
                <a:solidFill>
                  <a:srgbClr val="FFFFFF"/>
                </a:solidFill>
                <a:latin typeface="+mj-lt"/>
                <a:ea typeface="+mj-ea"/>
                <a:cs typeface="+mj-cs"/>
              </a:rPr>
              <a:t>ASSIGNMENT PROBLEMS</a:t>
            </a:r>
            <a:br>
              <a:rPr lang="en-US" sz="3300" kern="1200" dirty="0"/>
            </a:br>
            <a:br>
              <a:rPr lang="en-US" sz="3300" kern="1200" dirty="0"/>
            </a:br>
            <a:endParaRPr lang="en-US" sz="3300" kern="1200">
              <a:solidFill>
                <a:srgbClr val="FFFFFF"/>
              </a:solidFill>
              <a:latin typeface="+mj-lt"/>
              <a:ea typeface="+mj-ea"/>
              <a:cs typeface="+mj-cs"/>
            </a:endParaRPr>
          </a:p>
        </p:txBody>
      </p:sp>
      <p:pic>
        <p:nvPicPr>
          <p:cNvPr id="12290" name="Picture 2" descr="Assignment Problem"/>
          <p:cNvPicPr>
            <a:picLocks noChangeAspect="1" noChangeArrowheads="1"/>
          </p:cNvPicPr>
          <p:nvPr/>
        </p:nvPicPr>
        <p:blipFill>
          <a:blip r:embed="rId3" cstate="print"/>
          <a:stretch>
            <a:fillRect/>
          </a:stretch>
        </p:blipFill>
        <p:spPr bwMode="auto">
          <a:xfrm>
            <a:off x="3865366" y="1378528"/>
            <a:ext cx="4915159" cy="4108886"/>
          </a:xfrm>
          <a:prstGeom prst="rect">
            <a:avLst/>
          </a:prstGeom>
          <a:noFill/>
        </p:spPr>
      </p:pic>
      <p:sp>
        <p:nvSpPr>
          <p:cNvPr id="4" name="Slide Number Placeholder 3"/>
          <p:cNvSpPr>
            <a:spLocks noGrp="1"/>
          </p:cNvSpPr>
          <p:nvPr>
            <p:ph type="sldNum" sz="quarter" idx="12"/>
          </p:nvPr>
        </p:nvSpPr>
        <p:spPr>
          <a:xfrm>
            <a:off x="8194737" y="6423025"/>
            <a:ext cx="578644" cy="365125"/>
          </a:xfrm>
        </p:spPr>
        <p:txBody>
          <a:bodyPr vert="horz" lIns="91440" tIns="45720" rIns="91440" bIns="45720" rtlCol="0" anchor="ctr">
            <a:normAutofit/>
          </a:bodyPr>
          <a:lstStyle/>
          <a:p>
            <a:pPr>
              <a:spcAft>
                <a:spcPts val="600"/>
              </a:spcAft>
            </a:pPr>
            <a:fld id="{55C2A38D-ED02-420A-BF8A-05E20D604ACC}" type="slidenum">
              <a:rPr lang="en-US" smtClean="0"/>
              <a:pPr>
                <a:spcAft>
                  <a:spcPts val="600"/>
                </a:spcAft>
              </a:pPr>
              <a:t>1</a:t>
            </a:fld>
            <a:endParaRPr lang="en-US"/>
          </a:p>
        </p:txBody>
      </p:sp>
    </p:spTree>
  </p:cSld>
  <p:clrMapOvr>
    <a:masterClrMapping/>
  </p:clrMapOvr>
  <p:transition advClick="0"/>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C54D74-1D28-4183-BF02-9ACF7D78097E}"/>
              </a:ext>
            </a:extLst>
          </p:cNvPr>
          <p:cNvSpPr>
            <a:spLocks noGrp="1"/>
          </p:cNvSpPr>
          <p:nvPr>
            <p:ph idx="1"/>
          </p:nvPr>
        </p:nvSpPr>
        <p:spPr>
          <a:xfrm>
            <a:off x="386206" y="648883"/>
            <a:ext cx="8229600" cy="4525963"/>
          </a:xfrm>
        </p:spPr>
        <p:txBody>
          <a:bodyPr vert="horz" lIns="91440" tIns="45720" rIns="91440" bIns="45720" rtlCol="0" anchor="t">
            <a:normAutofit/>
          </a:bodyPr>
          <a:lstStyle/>
          <a:p>
            <a:pPr marL="0" indent="0" algn="just">
              <a:buNone/>
            </a:pPr>
            <a:r>
              <a:rPr lang="en-GB" dirty="0">
                <a:ea typeface="+mn-lt"/>
                <a:cs typeface="+mn-lt"/>
              </a:rPr>
              <a:t>Assignment Problem: </a:t>
            </a:r>
            <a:endParaRPr lang="en-US" dirty="0">
              <a:ea typeface="+mn-lt"/>
              <a:cs typeface="+mn-lt"/>
            </a:endParaRPr>
          </a:p>
          <a:p>
            <a:pPr marL="0" indent="0" algn="just">
              <a:buNone/>
            </a:pPr>
            <a:endParaRPr lang="en-GB" dirty="0">
              <a:ea typeface="+mn-lt"/>
              <a:cs typeface="+mn-lt"/>
            </a:endParaRPr>
          </a:p>
          <a:p>
            <a:pPr marL="0" indent="0" algn="just">
              <a:buNone/>
            </a:pPr>
            <a:r>
              <a:rPr lang="en-GB" dirty="0">
                <a:ea typeface="+mn-lt"/>
                <a:cs typeface="+mn-lt"/>
              </a:rPr>
              <a:t>Introduction, Mathematical Formulation of the Problem, Hungarian Method Algorithm, Processing of n Jobs Through Two Machines and m Machines, Graphical Method of Two Jobs m Machines Problem Routing Problem, Travelling Salesman Problem </a:t>
            </a:r>
            <a:endParaRPr lang="en-US">
              <a:cs typeface="Calibri"/>
            </a:endParaRPr>
          </a:p>
        </p:txBody>
      </p:sp>
      <p:sp>
        <p:nvSpPr>
          <p:cNvPr id="4" name="Slide Number Placeholder 3">
            <a:extLst>
              <a:ext uri="{FF2B5EF4-FFF2-40B4-BE49-F238E27FC236}">
                <a16:creationId xmlns:a16="http://schemas.microsoft.com/office/drawing/2014/main" id="{CBF24021-EE92-4351-94CC-2960E786C4A3}"/>
              </a:ext>
            </a:extLst>
          </p:cNvPr>
          <p:cNvSpPr>
            <a:spLocks noGrp="1"/>
          </p:cNvSpPr>
          <p:nvPr>
            <p:ph type="sldNum" sz="quarter" idx="12"/>
          </p:nvPr>
        </p:nvSpPr>
        <p:spPr/>
        <p:txBody>
          <a:bodyPr/>
          <a:lstStyle/>
          <a:p>
            <a:fld id="{55C2A38D-ED02-420A-BF8A-05E20D604ACC}" type="slidenum">
              <a:rPr lang="en-US" smtClean="0"/>
              <a:pPr/>
              <a:t>2</a:t>
            </a:fld>
            <a:endParaRPr lang="en-US"/>
          </a:p>
        </p:txBody>
      </p:sp>
    </p:spTree>
    <p:extLst>
      <p:ext uri="{BB962C8B-B14F-4D97-AF65-F5344CB8AC3E}">
        <p14:creationId xmlns:p14="http://schemas.microsoft.com/office/powerpoint/2010/main" val="3068671973"/>
      </p:ext>
    </p:extLst>
  </p:cSld>
  <p:clrMapOvr>
    <a:masterClrMapping/>
  </p:clrMapOvr>
  <p:transition advClick="0"/>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188640"/>
            <a:ext cx="8229600" cy="6336704"/>
          </a:xfrm>
        </p:spPr>
        <p:txBody>
          <a:bodyPr>
            <a:normAutofit/>
          </a:bodyPr>
          <a:lstStyle/>
          <a:p>
            <a:pPr algn="just"/>
            <a:r>
              <a:rPr lang="en-US" sz="2800" dirty="0"/>
              <a:t>Assume for example that we have four jobs that need to be executed by four workers. </a:t>
            </a:r>
            <a:r>
              <a:rPr lang="en-US" sz="2800" dirty="0">
                <a:solidFill>
                  <a:srgbClr val="FF0000"/>
                </a:solidFill>
              </a:rPr>
              <a:t>Because each worker has different skills, the time required to perform a job depends on the worker who is assigned to it</a:t>
            </a:r>
            <a:r>
              <a:rPr lang="en-US" sz="2800" dirty="0"/>
              <a:t>.</a:t>
            </a:r>
          </a:p>
          <a:p>
            <a:pPr algn="just"/>
            <a:r>
              <a:rPr lang="en-US" sz="2800" dirty="0"/>
              <a:t>The matrix below shows the time required (in minutes) for each combination of a worker and a job. The jobs are denoted by J1, J2, J3, and J4, the workers by W1, W2, W3, and W4.</a:t>
            </a:r>
          </a:p>
          <a:p>
            <a:pPr algn="just">
              <a:buNone/>
            </a:pPr>
            <a:endParaRPr lang="en-US" sz="2800" dirty="0"/>
          </a:p>
          <a:p>
            <a:pPr algn="just">
              <a:buNone/>
            </a:pPr>
            <a:endParaRPr lang="en-US" sz="2800" dirty="0"/>
          </a:p>
        </p:txBody>
      </p:sp>
      <p:graphicFrame>
        <p:nvGraphicFramePr>
          <p:cNvPr id="4" name="Table 3"/>
          <p:cNvGraphicFramePr>
            <a:graphicFrameLocks noGrp="1"/>
          </p:cNvGraphicFramePr>
          <p:nvPr/>
        </p:nvGraphicFramePr>
        <p:xfrm>
          <a:off x="899592" y="4581128"/>
          <a:ext cx="4104455" cy="1828800"/>
        </p:xfrm>
        <a:graphic>
          <a:graphicData uri="http://schemas.openxmlformats.org/drawingml/2006/table">
            <a:tbl>
              <a:tblPr firstRow="1" bandRow="1">
                <a:tableStyleId>{5C22544A-7EE6-4342-B048-85BDC9FD1C3A}</a:tableStyleId>
              </a:tblPr>
              <a:tblGrid>
                <a:gridCol w="820891">
                  <a:extLst>
                    <a:ext uri="{9D8B030D-6E8A-4147-A177-3AD203B41FA5}">
                      <a16:colId xmlns:a16="http://schemas.microsoft.com/office/drawing/2014/main" val="20000"/>
                    </a:ext>
                  </a:extLst>
                </a:gridCol>
                <a:gridCol w="820891">
                  <a:extLst>
                    <a:ext uri="{9D8B030D-6E8A-4147-A177-3AD203B41FA5}">
                      <a16:colId xmlns:a16="http://schemas.microsoft.com/office/drawing/2014/main" val="20001"/>
                    </a:ext>
                  </a:extLst>
                </a:gridCol>
                <a:gridCol w="820891">
                  <a:extLst>
                    <a:ext uri="{9D8B030D-6E8A-4147-A177-3AD203B41FA5}">
                      <a16:colId xmlns:a16="http://schemas.microsoft.com/office/drawing/2014/main" val="20002"/>
                    </a:ext>
                  </a:extLst>
                </a:gridCol>
                <a:gridCol w="820891">
                  <a:extLst>
                    <a:ext uri="{9D8B030D-6E8A-4147-A177-3AD203B41FA5}">
                      <a16:colId xmlns:a16="http://schemas.microsoft.com/office/drawing/2014/main" val="20003"/>
                    </a:ext>
                  </a:extLst>
                </a:gridCol>
                <a:gridCol w="820891">
                  <a:extLst>
                    <a:ext uri="{9D8B030D-6E8A-4147-A177-3AD203B41FA5}">
                      <a16:colId xmlns:a16="http://schemas.microsoft.com/office/drawing/2014/main" val="20004"/>
                    </a:ext>
                  </a:extLst>
                </a:gridCol>
              </a:tblGrid>
              <a:tr h="276031">
                <a:tc>
                  <a:txBody>
                    <a:bodyPr/>
                    <a:lstStyle/>
                    <a:p>
                      <a:pPr algn="ctr"/>
                      <a:endParaRPr lang="en-US" dirty="0">
                        <a:solidFill>
                          <a:schemeClr val="bg1">
                            <a:lumMod val="95000"/>
                          </a:schemeClr>
                        </a:solidFill>
                      </a:endParaRPr>
                    </a:p>
                  </a:txBody>
                  <a:tcPr>
                    <a:solidFill>
                      <a:schemeClr val="tx2">
                        <a:lumMod val="75000"/>
                      </a:schemeClr>
                    </a:solidFill>
                  </a:tcPr>
                </a:tc>
                <a:tc>
                  <a:txBody>
                    <a:bodyPr/>
                    <a:lstStyle/>
                    <a:p>
                      <a:pPr algn="ctr"/>
                      <a:r>
                        <a:rPr lang="en-US" dirty="0">
                          <a:solidFill>
                            <a:schemeClr val="bg1">
                              <a:lumMod val="95000"/>
                            </a:schemeClr>
                          </a:solidFill>
                        </a:rPr>
                        <a:t>J1</a:t>
                      </a:r>
                    </a:p>
                  </a:txBody>
                  <a:tcPr>
                    <a:solidFill>
                      <a:schemeClr val="tx2">
                        <a:lumMod val="75000"/>
                      </a:schemeClr>
                    </a:solidFill>
                  </a:tcPr>
                </a:tc>
                <a:tc>
                  <a:txBody>
                    <a:bodyPr/>
                    <a:lstStyle/>
                    <a:p>
                      <a:pPr algn="ctr"/>
                      <a:r>
                        <a:rPr lang="en-US" dirty="0">
                          <a:solidFill>
                            <a:schemeClr val="bg1">
                              <a:lumMod val="95000"/>
                            </a:schemeClr>
                          </a:solidFill>
                        </a:rPr>
                        <a:t>J2</a:t>
                      </a:r>
                    </a:p>
                  </a:txBody>
                  <a:tcPr>
                    <a:solidFill>
                      <a:schemeClr val="tx2">
                        <a:lumMod val="75000"/>
                      </a:schemeClr>
                    </a:solidFill>
                  </a:tcPr>
                </a:tc>
                <a:tc>
                  <a:txBody>
                    <a:bodyPr/>
                    <a:lstStyle/>
                    <a:p>
                      <a:pPr algn="ctr"/>
                      <a:r>
                        <a:rPr lang="en-US" dirty="0">
                          <a:solidFill>
                            <a:schemeClr val="bg1">
                              <a:lumMod val="95000"/>
                            </a:schemeClr>
                          </a:solidFill>
                        </a:rPr>
                        <a:t>J3</a:t>
                      </a:r>
                    </a:p>
                  </a:txBody>
                  <a:tcPr>
                    <a:solidFill>
                      <a:schemeClr val="tx2">
                        <a:lumMod val="75000"/>
                      </a:schemeClr>
                    </a:solidFill>
                  </a:tcPr>
                </a:tc>
                <a:tc>
                  <a:txBody>
                    <a:bodyPr/>
                    <a:lstStyle/>
                    <a:p>
                      <a:pPr algn="ctr"/>
                      <a:r>
                        <a:rPr lang="en-US" dirty="0">
                          <a:solidFill>
                            <a:schemeClr val="bg1">
                              <a:lumMod val="95000"/>
                            </a:schemeClr>
                          </a:solidFill>
                        </a:rPr>
                        <a:t>J4</a:t>
                      </a:r>
                    </a:p>
                  </a:txBody>
                  <a:tcPr>
                    <a:solidFill>
                      <a:schemeClr val="tx2">
                        <a:lumMod val="75000"/>
                      </a:schemeClr>
                    </a:solidFill>
                  </a:tcPr>
                </a:tc>
                <a:extLst>
                  <a:ext uri="{0D108BD9-81ED-4DB2-BD59-A6C34878D82A}">
                    <a16:rowId xmlns:a16="http://schemas.microsoft.com/office/drawing/2014/main" val="10000"/>
                  </a:ext>
                </a:extLst>
              </a:tr>
              <a:tr h="276031">
                <a:tc>
                  <a:txBody>
                    <a:bodyPr/>
                    <a:lstStyle/>
                    <a:p>
                      <a:pPr algn="ctr"/>
                      <a:r>
                        <a:rPr lang="en-US" dirty="0">
                          <a:solidFill>
                            <a:schemeClr val="bg1">
                              <a:lumMod val="95000"/>
                            </a:schemeClr>
                          </a:solidFill>
                        </a:rPr>
                        <a:t>W1</a:t>
                      </a:r>
                    </a:p>
                  </a:txBody>
                  <a:tcPr>
                    <a:solidFill>
                      <a:schemeClr val="tx2">
                        <a:lumMod val="75000"/>
                      </a:schemeClr>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82</a:t>
                      </a:r>
                    </a:p>
                  </a:txBody>
                  <a:tcPr>
                    <a:solidFill>
                      <a:schemeClr val="tx2">
                        <a:lumMod val="75000"/>
                      </a:schemeClr>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83</a:t>
                      </a:r>
                    </a:p>
                  </a:txBody>
                  <a:tcPr>
                    <a:solidFill>
                      <a:schemeClr val="tx2">
                        <a:lumMod val="75000"/>
                      </a:schemeClr>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69</a:t>
                      </a:r>
                    </a:p>
                  </a:txBody>
                  <a:tcPr>
                    <a:solidFill>
                      <a:schemeClr val="tx2">
                        <a:lumMod val="75000"/>
                      </a:schemeClr>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92</a:t>
                      </a:r>
                    </a:p>
                  </a:txBody>
                  <a:tcPr>
                    <a:solidFill>
                      <a:schemeClr val="tx2">
                        <a:lumMod val="75000"/>
                      </a:schemeClr>
                    </a:solidFill>
                  </a:tcPr>
                </a:tc>
                <a:extLst>
                  <a:ext uri="{0D108BD9-81ED-4DB2-BD59-A6C34878D82A}">
                    <a16:rowId xmlns:a16="http://schemas.microsoft.com/office/drawing/2014/main" val="10001"/>
                  </a:ext>
                </a:extLst>
              </a:tr>
              <a:tr h="276031">
                <a:tc>
                  <a:txBody>
                    <a:bodyPr/>
                    <a:lstStyle/>
                    <a:p>
                      <a:pPr algn="ctr"/>
                      <a:r>
                        <a:rPr lang="en-US" dirty="0">
                          <a:solidFill>
                            <a:schemeClr val="bg1">
                              <a:lumMod val="95000"/>
                            </a:schemeClr>
                          </a:solidFill>
                        </a:rPr>
                        <a:t>W2</a:t>
                      </a:r>
                    </a:p>
                  </a:txBody>
                  <a:tcPr>
                    <a:solidFill>
                      <a:schemeClr val="tx2">
                        <a:lumMod val="75000"/>
                      </a:schemeClr>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77</a:t>
                      </a:r>
                    </a:p>
                  </a:txBody>
                  <a:tcPr>
                    <a:solidFill>
                      <a:schemeClr val="tx2">
                        <a:lumMod val="75000"/>
                      </a:schemeClr>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37</a:t>
                      </a:r>
                    </a:p>
                  </a:txBody>
                  <a:tcPr>
                    <a:solidFill>
                      <a:schemeClr val="tx2">
                        <a:lumMod val="75000"/>
                      </a:schemeClr>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49</a:t>
                      </a:r>
                    </a:p>
                  </a:txBody>
                  <a:tcPr>
                    <a:solidFill>
                      <a:schemeClr val="tx2">
                        <a:lumMod val="75000"/>
                      </a:schemeClr>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92</a:t>
                      </a:r>
                    </a:p>
                  </a:txBody>
                  <a:tcPr>
                    <a:solidFill>
                      <a:schemeClr val="tx2">
                        <a:lumMod val="75000"/>
                      </a:schemeClr>
                    </a:solidFill>
                  </a:tcPr>
                </a:tc>
                <a:extLst>
                  <a:ext uri="{0D108BD9-81ED-4DB2-BD59-A6C34878D82A}">
                    <a16:rowId xmlns:a16="http://schemas.microsoft.com/office/drawing/2014/main" val="10002"/>
                  </a:ext>
                </a:extLst>
              </a:tr>
              <a:tr h="276031">
                <a:tc>
                  <a:txBody>
                    <a:bodyPr/>
                    <a:lstStyle/>
                    <a:p>
                      <a:pPr algn="ctr"/>
                      <a:r>
                        <a:rPr lang="en-US" dirty="0">
                          <a:solidFill>
                            <a:schemeClr val="bg1">
                              <a:lumMod val="95000"/>
                            </a:schemeClr>
                          </a:solidFill>
                        </a:rPr>
                        <a:t>W3</a:t>
                      </a:r>
                    </a:p>
                  </a:txBody>
                  <a:tcPr>
                    <a:solidFill>
                      <a:schemeClr val="tx2">
                        <a:lumMod val="75000"/>
                      </a:schemeClr>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11</a:t>
                      </a:r>
                    </a:p>
                  </a:txBody>
                  <a:tcPr>
                    <a:solidFill>
                      <a:schemeClr val="tx2">
                        <a:lumMod val="75000"/>
                      </a:schemeClr>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69</a:t>
                      </a:r>
                    </a:p>
                  </a:txBody>
                  <a:tcPr>
                    <a:solidFill>
                      <a:schemeClr val="tx2">
                        <a:lumMod val="75000"/>
                      </a:schemeClr>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5</a:t>
                      </a:r>
                    </a:p>
                  </a:txBody>
                  <a:tcPr>
                    <a:solidFill>
                      <a:schemeClr val="tx2">
                        <a:lumMod val="75000"/>
                      </a:schemeClr>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86</a:t>
                      </a:r>
                    </a:p>
                  </a:txBody>
                  <a:tcPr>
                    <a:solidFill>
                      <a:schemeClr val="tx2">
                        <a:lumMod val="75000"/>
                      </a:schemeClr>
                    </a:solidFill>
                  </a:tcPr>
                </a:tc>
                <a:extLst>
                  <a:ext uri="{0D108BD9-81ED-4DB2-BD59-A6C34878D82A}">
                    <a16:rowId xmlns:a16="http://schemas.microsoft.com/office/drawing/2014/main" val="10003"/>
                  </a:ext>
                </a:extLst>
              </a:tr>
              <a:tr h="276031">
                <a:tc>
                  <a:txBody>
                    <a:bodyPr/>
                    <a:lstStyle/>
                    <a:p>
                      <a:pPr algn="ctr"/>
                      <a:r>
                        <a:rPr lang="en-US" dirty="0">
                          <a:solidFill>
                            <a:schemeClr val="bg1">
                              <a:lumMod val="95000"/>
                            </a:schemeClr>
                          </a:solidFill>
                        </a:rPr>
                        <a:t>W4</a:t>
                      </a:r>
                    </a:p>
                  </a:txBody>
                  <a:tcPr>
                    <a:solidFill>
                      <a:schemeClr val="tx2">
                        <a:lumMod val="75000"/>
                      </a:schemeClr>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8</a:t>
                      </a:r>
                    </a:p>
                  </a:txBody>
                  <a:tcPr>
                    <a:solidFill>
                      <a:schemeClr val="tx2">
                        <a:lumMod val="75000"/>
                      </a:schemeClr>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9</a:t>
                      </a:r>
                    </a:p>
                  </a:txBody>
                  <a:tcPr>
                    <a:solidFill>
                      <a:schemeClr val="tx2">
                        <a:lumMod val="75000"/>
                      </a:schemeClr>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98</a:t>
                      </a:r>
                    </a:p>
                  </a:txBody>
                  <a:tcPr>
                    <a:solidFill>
                      <a:schemeClr val="tx2">
                        <a:lumMod val="75000"/>
                      </a:schemeClr>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23</a:t>
                      </a:r>
                    </a:p>
                  </a:txBody>
                  <a:tcPr>
                    <a:solidFill>
                      <a:schemeClr val="tx2">
                        <a:lumMod val="75000"/>
                      </a:schemeClr>
                    </a:solidFill>
                  </a:tcPr>
                </a:tc>
                <a:extLst>
                  <a:ext uri="{0D108BD9-81ED-4DB2-BD59-A6C34878D82A}">
                    <a16:rowId xmlns:a16="http://schemas.microsoft.com/office/drawing/2014/main" val="10004"/>
                  </a:ext>
                </a:extLst>
              </a:tr>
            </a:tbl>
          </a:graphicData>
        </a:graphic>
      </p:graphicFrame>
      <p:sp>
        <p:nvSpPr>
          <p:cNvPr id="5" name="Rectangle 4"/>
          <p:cNvSpPr/>
          <p:nvPr/>
        </p:nvSpPr>
        <p:spPr>
          <a:xfrm>
            <a:off x="5580112" y="4653136"/>
            <a:ext cx="3168352" cy="1815882"/>
          </a:xfrm>
          <a:prstGeom prst="rect">
            <a:avLst/>
          </a:prstGeom>
        </p:spPr>
        <p:txBody>
          <a:bodyPr wrap="square">
            <a:spAutoFit/>
          </a:bodyPr>
          <a:lstStyle/>
          <a:p>
            <a:pPr algn="just"/>
            <a:r>
              <a:rPr lang="en-US" sz="2000" dirty="0"/>
              <a:t>Each </a:t>
            </a:r>
            <a:r>
              <a:rPr lang="en-US" sz="2000" dirty="0">
                <a:solidFill>
                  <a:srgbClr val="FF0000"/>
                </a:solidFill>
              </a:rPr>
              <a:t>worker should perform exactly one job</a:t>
            </a:r>
            <a:r>
              <a:rPr lang="en-US" sz="2000" dirty="0"/>
              <a:t> and the </a:t>
            </a:r>
            <a:r>
              <a:rPr lang="en-US" sz="2000" b="1" i="1" dirty="0"/>
              <a:t>objective</a:t>
            </a:r>
            <a:r>
              <a:rPr lang="en-US" sz="2000" dirty="0"/>
              <a:t> is to </a:t>
            </a:r>
            <a:r>
              <a:rPr lang="en-US" sz="2400" b="1" i="1" dirty="0">
                <a:solidFill>
                  <a:srgbClr val="FF0000"/>
                </a:solidFill>
              </a:rPr>
              <a:t>minimize the total time required to perform all jobs</a:t>
            </a:r>
            <a:r>
              <a:rPr lang="en-US" sz="2000" dirty="0"/>
              <a:t>.</a:t>
            </a:r>
          </a:p>
        </p:txBody>
      </p:sp>
      <p:sp>
        <p:nvSpPr>
          <p:cNvPr id="6" name="Slide Number Placeholder 5"/>
          <p:cNvSpPr>
            <a:spLocks noGrp="1"/>
          </p:cNvSpPr>
          <p:nvPr>
            <p:ph type="sldNum" sz="quarter" idx="12"/>
          </p:nvPr>
        </p:nvSpPr>
        <p:spPr/>
        <p:txBody>
          <a:bodyPr/>
          <a:lstStyle/>
          <a:p>
            <a:fld id="{55C2A38D-ED02-420A-BF8A-05E20D604ACC}" type="slidenum">
              <a:rPr lang="en-US" smtClean="0"/>
              <a:pPr/>
              <a:t>3</a:t>
            </a:fld>
            <a:endParaRPr lang="en-US"/>
          </a:p>
        </p:txBody>
      </p:sp>
    </p:spTree>
  </p:cSld>
  <p:clrMapOvr>
    <a:masterClrMapping/>
  </p:clrMapOvr>
  <p:transition advClick="0"/>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404664"/>
            <a:ext cx="8229600" cy="1143000"/>
          </a:xfrm>
        </p:spPr>
        <p:txBody>
          <a:bodyPr>
            <a:normAutofit fontScale="90000"/>
          </a:bodyPr>
          <a:lstStyle/>
          <a:p>
            <a:pPr algn="l"/>
            <a:br>
              <a:rPr lang="en-US" sz="4000" i="1" dirty="0"/>
            </a:br>
            <a:r>
              <a:rPr lang="en-US" sz="4000" i="1" dirty="0"/>
              <a:t>What is...</a:t>
            </a:r>
            <a:br>
              <a:rPr lang="en-US" sz="4000" dirty="0"/>
            </a:br>
            <a:r>
              <a:rPr lang="en-US" sz="4000" b="1" dirty="0"/>
              <a:t>The assignment problem</a:t>
            </a:r>
            <a:br>
              <a:rPr lang="en-US" b="1" dirty="0"/>
            </a:br>
            <a:endParaRPr lang="en-US" dirty="0"/>
          </a:p>
        </p:txBody>
      </p:sp>
      <p:sp>
        <p:nvSpPr>
          <p:cNvPr id="3" name="Content Placeholder 2"/>
          <p:cNvSpPr>
            <a:spLocks noGrp="1"/>
          </p:cNvSpPr>
          <p:nvPr>
            <p:ph idx="1"/>
          </p:nvPr>
        </p:nvSpPr>
        <p:spPr/>
        <p:txBody>
          <a:bodyPr>
            <a:normAutofit fontScale="92500" lnSpcReduction="20000"/>
          </a:bodyPr>
          <a:lstStyle/>
          <a:p>
            <a:pPr algn="just">
              <a:buNone/>
            </a:pPr>
            <a:r>
              <a:rPr lang="en-US" dirty="0"/>
              <a:t>	</a:t>
            </a:r>
          </a:p>
          <a:p>
            <a:pPr algn="just">
              <a:buNone/>
            </a:pPr>
            <a:r>
              <a:rPr lang="en-US" dirty="0"/>
              <a:t>	The assignment problem deals with assigning machines to tasks, workers to jobs, soccer players to positions, and so on. </a:t>
            </a:r>
            <a:r>
              <a:rPr lang="en-US" b="1" i="1" dirty="0">
                <a:solidFill>
                  <a:srgbClr val="FF0000"/>
                </a:solidFill>
              </a:rPr>
              <a:t>The goal is to determine the optimum assignment</a:t>
            </a:r>
            <a:r>
              <a:rPr lang="en-US" dirty="0"/>
              <a:t> that, for example, </a:t>
            </a:r>
            <a:r>
              <a:rPr lang="en-US" b="1" i="1" dirty="0">
                <a:solidFill>
                  <a:srgbClr val="FF0000"/>
                </a:solidFill>
              </a:rPr>
              <a:t>minimizes the total cost</a:t>
            </a:r>
            <a:r>
              <a:rPr lang="en-US" dirty="0"/>
              <a:t> or </a:t>
            </a:r>
            <a:r>
              <a:rPr lang="en-US" b="1" i="1" dirty="0">
                <a:solidFill>
                  <a:srgbClr val="FF0000"/>
                </a:solidFill>
              </a:rPr>
              <a:t>maximizes the team effectiveness</a:t>
            </a:r>
            <a:r>
              <a:rPr lang="en-US" dirty="0"/>
              <a:t>.</a:t>
            </a:r>
          </a:p>
          <a:p>
            <a:pPr algn="just">
              <a:buNone/>
            </a:pPr>
            <a:endParaRPr lang="en-US" dirty="0"/>
          </a:p>
          <a:p>
            <a:pPr algn="just">
              <a:buNone/>
            </a:pPr>
            <a:r>
              <a:rPr lang="en-US" dirty="0"/>
              <a:t>	In this session we will see such problems.</a:t>
            </a:r>
            <a:br>
              <a:rPr lang="en-US" dirty="0"/>
            </a:br>
            <a:br>
              <a:rPr lang="en-US" dirty="0"/>
            </a:br>
            <a:endParaRPr lang="en-US" dirty="0"/>
          </a:p>
        </p:txBody>
      </p:sp>
      <p:sp>
        <p:nvSpPr>
          <p:cNvPr id="4" name="Slide Number Placeholder 3"/>
          <p:cNvSpPr>
            <a:spLocks noGrp="1"/>
          </p:cNvSpPr>
          <p:nvPr>
            <p:ph type="sldNum" sz="quarter" idx="12"/>
          </p:nvPr>
        </p:nvSpPr>
        <p:spPr/>
        <p:txBody>
          <a:bodyPr/>
          <a:lstStyle/>
          <a:p>
            <a:fld id="{55C2A38D-ED02-420A-BF8A-05E20D604ACC}" type="slidenum">
              <a:rPr lang="en-US" smtClean="0"/>
              <a:pPr/>
              <a:t>4</a:t>
            </a:fld>
            <a:endParaRPr lang="en-US"/>
          </a:p>
        </p:txBody>
      </p:sp>
    </p:spTree>
  </p:cSld>
  <p:clrMapOvr>
    <a:masterClrMapping/>
  </p:clrMapOvr>
  <p:transition advClick="0"/>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3568" y="260648"/>
            <a:ext cx="8229600" cy="720080"/>
          </a:xfrm>
        </p:spPr>
        <p:txBody>
          <a:bodyPr>
            <a:normAutofit fontScale="90000"/>
          </a:bodyPr>
          <a:lstStyle/>
          <a:p>
            <a:pPr algn="l"/>
            <a:br>
              <a:rPr lang="en-US" dirty="0"/>
            </a:br>
            <a:r>
              <a:rPr lang="en-US" dirty="0"/>
              <a:t>OBJECTIVES</a:t>
            </a:r>
            <a:br>
              <a:rPr lang="en-US" dirty="0"/>
            </a:br>
            <a:endParaRPr lang="en-US" dirty="0"/>
          </a:p>
        </p:txBody>
      </p:sp>
      <p:sp>
        <p:nvSpPr>
          <p:cNvPr id="3" name="Content Placeholder 2"/>
          <p:cNvSpPr>
            <a:spLocks noGrp="1"/>
          </p:cNvSpPr>
          <p:nvPr>
            <p:ph idx="1"/>
          </p:nvPr>
        </p:nvSpPr>
        <p:spPr>
          <a:xfrm>
            <a:off x="467544" y="1052736"/>
            <a:ext cx="8229600" cy="4525963"/>
          </a:xfrm>
        </p:spPr>
        <p:txBody>
          <a:bodyPr>
            <a:normAutofit fontScale="40000" lnSpcReduction="20000"/>
          </a:bodyPr>
          <a:lstStyle/>
          <a:p>
            <a:pPr>
              <a:buNone/>
            </a:pPr>
            <a:r>
              <a:rPr lang="en-US" dirty="0"/>
              <a:t>	</a:t>
            </a:r>
            <a:r>
              <a:rPr lang="en-US" sz="5100" dirty="0"/>
              <a:t>After completion of this session you will be able to:</a:t>
            </a:r>
          </a:p>
          <a:p>
            <a:pPr>
              <a:buNone/>
            </a:pPr>
            <a:endParaRPr lang="en-US" dirty="0"/>
          </a:p>
          <a:p>
            <a:pPr algn="just">
              <a:lnSpc>
                <a:spcPct val="120000"/>
              </a:lnSpc>
            </a:pPr>
            <a:r>
              <a:rPr lang="en-US" sz="5100" dirty="0"/>
              <a:t>formulate the assignment problem</a:t>
            </a:r>
          </a:p>
          <a:p>
            <a:pPr algn="just">
              <a:lnSpc>
                <a:spcPct val="120000"/>
              </a:lnSpc>
            </a:pPr>
            <a:r>
              <a:rPr lang="en-US" sz="5100" dirty="0"/>
              <a:t>know Hungarian method to find proper assignment</a:t>
            </a:r>
          </a:p>
          <a:p>
            <a:pPr algn="just">
              <a:lnSpc>
                <a:spcPct val="120000"/>
              </a:lnSpc>
            </a:pPr>
            <a:r>
              <a:rPr lang="en-US" sz="5100" dirty="0">
                <a:solidFill>
                  <a:srgbClr val="FF0000"/>
                </a:solidFill>
              </a:rPr>
              <a:t>employ Hungarian method to find proper assignment</a:t>
            </a:r>
          </a:p>
          <a:p>
            <a:pPr algn="just">
              <a:lnSpc>
                <a:spcPct val="120000"/>
              </a:lnSpc>
            </a:pPr>
            <a:r>
              <a:rPr lang="en-US" sz="5100" dirty="0"/>
              <a:t>obtain the solutions for special cases of assignment problems, i.e., maximization problem, unbalanced assignment problem, alternative optimal solutions and restriction on assignments</a:t>
            </a:r>
          </a:p>
          <a:p>
            <a:pPr algn="just">
              <a:lnSpc>
                <a:spcPct val="120000"/>
              </a:lnSpc>
              <a:buNone/>
            </a:pPr>
            <a:br>
              <a:rPr lang="en-US" sz="5100" dirty="0"/>
            </a:br>
            <a:br>
              <a:rPr lang="en-US" sz="5100" dirty="0"/>
            </a:br>
            <a:endParaRPr lang="en-US" sz="5100" dirty="0"/>
          </a:p>
          <a:p>
            <a:pPr algn="just">
              <a:buNone/>
            </a:pPr>
            <a:br>
              <a:rPr lang="en-US" dirty="0"/>
            </a:br>
            <a:endParaRPr lang="en-US" dirty="0"/>
          </a:p>
          <a:p>
            <a:pPr algn="just">
              <a:buNone/>
            </a:pPr>
            <a:br>
              <a:rPr lang="en-US" dirty="0"/>
            </a:br>
            <a:endParaRPr lang="en-US" dirty="0"/>
          </a:p>
        </p:txBody>
      </p:sp>
      <p:sp>
        <p:nvSpPr>
          <p:cNvPr id="4" name="Rectangle 3"/>
          <p:cNvSpPr/>
          <p:nvPr/>
        </p:nvSpPr>
        <p:spPr>
          <a:xfrm>
            <a:off x="539552" y="4221088"/>
            <a:ext cx="8136904" cy="2246769"/>
          </a:xfrm>
          <a:prstGeom prst="rect">
            <a:avLst/>
          </a:prstGeom>
        </p:spPr>
        <p:txBody>
          <a:bodyPr wrap="square">
            <a:spAutoFit/>
          </a:bodyPr>
          <a:lstStyle/>
          <a:p>
            <a:pPr algn="just"/>
            <a:r>
              <a:rPr lang="en-US" sz="2800" i="1" dirty="0"/>
              <a:t>It was developed and published in 1955 by Harold</a:t>
            </a:r>
            <a:br>
              <a:rPr lang="en-US" sz="2800" i="1" dirty="0"/>
            </a:br>
            <a:r>
              <a:rPr lang="en-US" sz="2800" i="1" dirty="0"/>
              <a:t>Kuhn, who gave the name "Hungarian method"</a:t>
            </a:r>
            <a:br>
              <a:rPr lang="en-US" sz="2800" i="1" dirty="0"/>
            </a:br>
            <a:r>
              <a:rPr lang="en-US" sz="2800" i="1" dirty="0"/>
              <a:t>because the algorithm was largely based on the earlier works of two Hungarian mathematicians: </a:t>
            </a:r>
            <a:r>
              <a:rPr lang="en-US" sz="2800" i="1" dirty="0" err="1"/>
              <a:t>Denes</a:t>
            </a:r>
            <a:r>
              <a:rPr lang="en-US" sz="2800" i="1" dirty="0"/>
              <a:t> </a:t>
            </a:r>
            <a:r>
              <a:rPr lang="en-US" sz="2800" i="1" dirty="0" err="1"/>
              <a:t>Konig</a:t>
            </a:r>
            <a:r>
              <a:rPr lang="en-US" sz="2800" i="1" dirty="0"/>
              <a:t> and </a:t>
            </a:r>
            <a:r>
              <a:rPr lang="en-US" sz="2800" i="1" dirty="0" err="1"/>
              <a:t>Jeno</a:t>
            </a:r>
            <a:r>
              <a:rPr lang="en-US" sz="2800" i="1" dirty="0"/>
              <a:t> </a:t>
            </a:r>
            <a:r>
              <a:rPr lang="en-US" sz="2800" i="1" dirty="0" err="1"/>
              <a:t>Egervary</a:t>
            </a:r>
            <a:r>
              <a:rPr lang="en-US" sz="2800" i="1" dirty="0"/>
              <a:t>.</a:t>
            </a:r>
          </a:p>
        </p:txBody>
      </p:sp>
      <p:sp>
        <p:nvSpPr>
          <p:cNvPr id="5" name="Slide Number Placeholder 4"/>
          <p:cNvSpPr>
            <a:spLocks noGrp="1"/>
          </p:cNvSpPr>
          <p:nvPr>
            <p:ph type="sldNum" sz="quarter" idx="12"/>
          </p:nvPr>
        </p:nvSpPr>
        <p:spPr/>
        <p:txBody>
          <a:bodyPr/>
          <a:lstStyle/>
          <a:p>
            <a:fld id="{55C2A38D-ED02-420A-BF8A-05E20D604ACC}" type="slidenum">
              <a:rPr lang="en-US" smtClean="0"/>
              <a:pPr/>
              <a:t>5</a:t>
            </a:fld>
            <a:endParaRPr lang="en-US"/>
          </a:p>
        </p:txBody>
      </p:sp>
      <p:pic>
        <p:nvPicPr>
          <p:cNvPr id="1026" name="Picture 2" descr="Best inspirational story: Károly Takác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8545" y="287799"/>
            <a:ext cx="8367911" cy="6275936"/>
          </a:xfrm>
          <a:prstGeom prst="rect">
            <a:avLst/>
          </a:prstGeom>
          <a:noFill/>
          <a:extLst>
            <a:ext uri="{909E8E84-426E-40DD-AFC4-6F175D3DCCD1}">
              <a14:hiddenFill xmlns:a14="http://schemas.microsoft.com/office/drawing/2010/main">
                <a:solidFill>
                  <a:srgbClr val="FFFFFF"/>
                </a:solidFill>
              </a14:hiddenFill>
            </a:ext>
          </a:extLst>
        </p:spPr>
      </p:pic>
      <p:sp>
        <p:nvSpPr>
          <p:cNvPr id="6" name="Rectangle 5"/>
          <p:cNvSpPr/>
          <p:nvPr/>
        </p:nvSpPr>
        <p:spPr>
          <a:xfrm>
            <a:off x="308544" y="356136"/>
            <a:ext cx="8388599" cy="646331"/>
          </a:xfrm>
          <a:prstGeom prst="rect">
            <a:avLst/>
          </a:prstGeom>
        </p:spPr>
        <p:txBody>
          <a:bodyPr wrap="square">
            <a:spAutoFit/>
          </a:bodyPr>
          <a:lstStyle/>
          <a:p>
            <a:pPr algn="just"/>
            <a:r>
              <a:rPr lang="en-US" dirty="0" err="1">
                <a:solidFill>
                  <a:srgbClr val="FF0000"/>
                </a:solidFill>
              </a:rPr>
              <a:t>Károly</a:t>
            </a:r>
            <a:r>
              <a:rPr lang="en-US" dirty="0">
                <a:solidFill>
                  <a:srgbClr val="FF0000"/>
                </a:solidFill>
              </a:rPr>
              <a:t> </a:t>
            </a:r>
            <a:r>
              <a:rPr lang="en-US" dirty="0" err="1">
                <a:solidFill>
                  <a:srgbClr val="FF0000"/>
                </a:solidFill>
              </a:rPr>
              <a:t>Takács</a:t>
            </a:r>
            <a:r>
              <a:rPr lang="en-US" dirty="0">
                <a:solidFill>
                  <a:srgbClr val="FF0000"/>
                </a:solidFill>
              </a:rPr>
              <a:t> was the first shooter to win two Olympic gold medals in the 25 </a:t>
            </a:r>
            <a:r>
              <a:rPr lang="en-US" dirty="0" err="1">
                <a:solidFill>
                  <a:srgbClr val="FF0000"/>
                </a:solidFill>
              </a:rPr>
              <a:t>metre</a:t>
            </a:r>
            <a:r>
              <a:rPr lang="en-US" dirty="0">
                <a:solidFill>
                  <a:srgbClr val="FF0000"/>
                </a:solidFill>
              </a:rPr>
              <a:t> rapid fire pistol event, both with his left hand after his right hand was seriously injured.</a:t>
            </a:r>
          </a:p>
        </p:txBody>
      </p:sp>
      <p:sp>
        <p:nvSpPr>
          <p:cNvPr id="7" name="Rectangle 6"/>
          <p:cNvSpPr/>
          <p:nvPr/>
        </p:nvSpPr>
        <p:spPr>
          <a:xfrm>
            <a:off x="3157260" y="5813634"/>
            <a:ext cx="5159155" cy="646331"/>
          </a:xfrm>
          <a:prstGeom prst="rect">
            <a:avLst/>
          </a:prstGeom>
        </p:spPr>
        <p:txBody>
          <a:bodyPr wrap="square">
            <a:spAutoFit/>
          </a:bodyPr>
          <a:lstStyle/>
          <a:p>
            <a:r>
              <a:rPr lang="en-IN" b="1" dirty="0">
                <a:solidFill>
                  <a:schemeClr val="accent6">
                    <a:lumMod val="75000"/>
                  </a:schemeClr>
                </a:solidFill>
                <a:latin typeface="arial" panose="020B0604020202020204" pitchFamily="34" charset="0"/>
                <a:hlinkClick r:id="rId3"/>
              </a:rPr>
              <a:t>Born</a:t>
            </a:r>
            <a:r>
              <a:rPr lang="en-IN" b="1" dirty="0">
                <a:solidFill>
                  <a:schemeClr val="accent6">
                    <a:lumMod val="75000"/>
                  </a:schemeClr>
                </a:solidFill>
                <a:latin typeface="arial" panose="020B0604020202020204" pitchFamily="34" charset="0"/>
              </a:rPr>
              <a:t>: 21 January 1910, </a:t>
            </a:r>
            <a:r>
              <a:rPr lang="en-IN" b="1" dirty="0">
                <a:solidFill>
                  <a:schemeClr val="accent6">
                    <a:lumMod val="75000"/>
                  </a:schemeClr>
                </a:solidFill>
                <a:latin typeface="arial" panose="020B0604020202020204" pitchFamily="34" charset="0"/>
                <a:hlinkClick r:id="rId4"/>
              </a:rPr>
              <a:t>Budapest, Hungary</a:t>
            </a:r>
            <a:endParaRPr lang="en-IN" b="1" dirty="0">
              <a:solidFill>
                <a:schemeClr val="accent6">
                  <a:lumMod val="75000"/>
                </a:schemeClr>
              </a:solidFill>
              <a:latin typeface="arial" panose="020B0604020202020204" pitchFamily="34" charset="0"/>
            </a:endParaRPr>
          </a:p>
          <a:p>
            <a:r>
              <a:rPr lang="en-IN" b="1" dirty="0">
                <a:solidFill>
                  <a:schemeClr val="accent6">
                    <a:lumMod val="75000"/>
                  </a:schemeClr>
                </a:solidFill>
                <a:latin typeface="arial" panose="020B0604020202020204" pitchFamily="34" charset="0"/>
                <a:hlinkClick r:id="rId5"/>
              </a:rPr>
              <a:t>Died</a:t>
            </a:r>
            <a:r>
              <a:rPr lang="en-IN" b="1" dirty="0">
                <a:solidFill>
                  <a:schemeClr val="accent6">
                    <a:lumMod val="75000"/>
                  </a:schemeClr>
                </a:solidFill>
                <a:latin typeface="arial" panose="020B0604020202020204" pitchFamily="34" charset="0"/>
              </a:rPr>
              <a:t>: 5 January 1976, </a:t>
            </a:r>
            <a:r>
              <a:rPr lang="en-IN" b="1" dirty="0">
                <a:solidFill>
                  <a:schemeClr val="accent6">
                    <a:lumMod val="75000"/>
                  </a:schemeClr>
                </a:solidFill>
                <a:latin typeface="arial" panose="020B0604020202020204" pitchFamily="34" charset="0"/>
                <a:hlinkClick r:id="rId6"/>
              </a:rPr>
              <a:t>Budapest, Hungary</a:t>
            </a:r>
            <a:endParaRPr lang="en-IN" b="1" i="0" dirty="0">
              <a:solidFill>
                <a:schemeClr val="accent6">
                  <a:lumMod val="75000"/>
                </a:schemeClr>
              </a:solidFill>
              <a:effectLst/>
              <a:latin typeface="arial" panose="020B0604020202020204" pitchFamily="34" charset="0"/>
            </a:endParaRPr>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6" presetClass="entr" presetSubtype="16" fill="hold" nodeType="clickEffect">
                                  <p:stCondLst>
                                    <p:cond delay="0"/>
                                  </p:stCondLst>
                                  <p:childTnLst>
                                    <p:set>
                                      <p:cBhvr>
                                        <p:cTn id="13" dur="1" fill="hold">
                                          <p:stCondLst>
                                            <p:cond delay="0"/>
                                          </p:stCondLst>
                                        </p:cTn>
                                        <p:tgtEl>
                                          <p:spTgt spid="1026"/>
                                        </p:tgtEl>
                                        <p:attrNameLst>
                                          <p:attrName>style.visibility</p:attrName>
                                        </p:attrNameLst>
                                      </p:cBhvr>
                                      <p:to>
                                        <p:strVal val="visible"/>
                                      </p:to>
                                    </p:set>
                                    <p:animEffect transition="in" filter="circle(in)">
                                      <p:cBhvr>
                                        <p:cTn id="14" dur="2000"/>
                                        <p:tgtEl>
                                          <p:spTgt spid="1026"/>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6"/>
                                        </p:tgtEl>
                                        <p:attrNameLst>
                                          <p:attrName>style.visibility</p:attrName>
                                        </p:attrNameLst>
                                      </p:cBhvr>
                                      <p:to>
                                        <p:strVal val="visible"/>
                                      </p:to>
                                    </p:set>
                                    <p:animEffect transition="in" filter="fade">
                                      <p:cBhvr>
                                        <p:cTn id="19" dur="1000"/>
                                        <p:tgtEl>
                                          <p:spTgt spid="6"/>
                                        </p:tgtEl>
                                      </p:cBhvr>
                                    </p:animEffect>
                                    <p:anim calcmode="lin" valueType="num">
                                      <p:cBhvr>
                                        <p:cTn id="20" dur="1000" fill="hold"/>
                                        <p:tgtEl>
                                          <p:spTgt spid="6"/>
                                        </p:tgtEl>
                                        <p:attrNameLst>
                                          <p:attrName>ppt_x</p:attrName>
                                        </p:attrNameLst>
                                      </p:cBhvr>
                                      <p:tavLst>
                                        <p:tav tm="0">
                                          <p:val>
                                            <p:strVal val="#ppt_x"/>
                                          </p:val>
                                        </p:tav>
                                        <p:tav tm="100000">
                                          <p:val>
                                            <p:strVal val="#ppt_x"/>
                                          </p:val>
                                        </p:tav>
                                      </p:tavLst>
                                    </p:anim>
                                    <p:anim calcmode="lin" valueType="num">
                                      <p:cBhvr>
                                        <p:cTn id="21"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Hungarian Method of Solving an Assignment Problem</a:t>
            </a:r>
            <a:endParaRPr lang="en-US" dirty="0"/>
          </a:p>
        </p:txBody>
      </p:sp>
      <p:sp>
        <p:nvSpPr>
          <p:cNvPr id="3" name="Content Placeholder 2"/>
          <p:cNvSpPr>
            <a:spLocks noGrp="1"/>
          </p:cNvSpPr>
          <p:nvPr>
            <p:ph idx="1"/>
          </p:nvPr>
        </p:nvSpPr>
        <p:spPr/>
        <p:txBody>
          <a:bodyPr/>
          <a:lstStyle/>
          <a:p>
            <a:pPr>
              <a:buNone/>
            </a:pPr>
            <a:r>
              <a:rPr lang="en-US" dirty="0"/>
              <a:t>	The Hungarian algorithm consists of the </a:t>
            </a:r>
            <a:r>
              <a:rPr lang="en-US" dirty="0">
                <a:solidFill>
                  <a:srgbClr val="FF0000"/>
                </a:solidFill>
              </a:rPr>
              <a:t>four steps</a:t>
            </a:r>
            <a:r>
              <a:rPr lang="en-US" dirty="0"/>
              <a:t> below. The first two steps are executed once, while Steps 3 and 4 are repeated until an optimal assignment is found. </a:t>
            </a:r>
            <a:r>
              <a:rPr lang="en-US" dirty="0">
                <a:solidFill>
                  <a:srgbClr val="FF0000"/>
                </a:solidFill>
              </a:rPr>
              <a:t>The input of the algorithm is an </a:t>
            </a:r>
            <a:r>
              <a:rPr lang="en-US" i="1" dirty="0">
                <a:solidFill>
                  <a:srgbClr val="FF0000"/>
                </a:solidFill>
              </a:rPr>
              <a:t>n</a:t>
            </a:r>
            <a:r>
              <a:rPr lang="en-US" dirty="0">
                <a:solidFill>
                  <a:srgbClr val="FF0000"/>
                </a:solidFill>
              </a:rPr>
              <a:t> by </a:t>
            </a:r>
            <a:r>
              <a:rPr lang="en-US" i="1" dirty="0">
                <a:solidFill>
                  <a:srgbClr val="FF0000"/>
                </a:solidFill>
              </a:rPr>
              <a:t>n</a:t>
            </a:r>
            <a:r>
              <a:rPr lang="en-US" dirty="0">
                <a:solidFill>
                  <a:srgbClr val="FF0000"/>
                </a:solidFill>
              </a:rPr>
              <a:t> square matrix with only nonnegative elements.</a:t>
            </a:r>
          </a:p>
        </p:txBody>
      </p:sp>
      <p:sp>
        <p:nvSpPr>
          <p:cNvPr id="4" name="Rectangle 3"/>
          <p:cNvSpPr/>
          <p:nvPr/>
        </p:nvSpPr>
        <p:spPr>
          <a:xfrm>
            <a:off x="1331640" y="5301208"/>
            <a:ext cx="2016224" cy="646331"/>
          </a:xfrm>
          <a:prstGeom prst="rect">
            <a:avLst/>
          </a:prstGeom>
        </p:spPr>
        <p:txBody>
          <a:bodyPr wrap="square">
            <a:spAutoFit/>
          </a:bodyPr>
          <a:lstStyle/>
          <a:p>
            <a:br>
              <a:rPr lang="en-US" dirty="0"/>
            </a:br>
            <a:endParaRPr lang="en-US" dirty="0"/>
          </a:p>
        </p:txBody>
      </p:sp>
      <p:sp>
        <p:nvSpPr>
          <p:cNvPr id="5" name="Rectangle 4"/>
          <p:cNvSpPr/>
          <p:nvPr/>
        </p:nvSpPr>
        <p:spPr>
          <a:xfrm>
            <a:off x="7308304" y="5373216"/>
            <a:ext cx="1224136" cy="923330"/>
          </a:xfrm>
          <a:prstGeom prst="rect">
            <a:avLst/>
          </a:prstGeom>
        </p:spPr>
        <p:txBody>
          <a:bodyPr wrap="square">
            <a:spAutoFit/>
          </a:bodyPr>
          <a:lstStyle/>
          <a:p>
            <a:br>
              <a:rPr lang="en-US" dirty="0"/>
            </a:br>
            <a:br>
              <a:rPr lang="en-US" dirty="0"/>
            </a:br>
            <a:endParaRPr lang="en-US" dirty="0"/>
          </a:p>
        </p:txBody>
      </p:sp>
      <p:sp>
        <p:nvSpPr>
          <p:cNvPr id="6" name="Slide Number Placeholder 5"/>
          <p:cNvSpPr>
            <a:spLocks noGrp="1"/>
          </p:cNvSpPr>
          <p:nvPr>
            <p:ph type="sldNum" sz="quarter" idx="12"/>
          </p:nvPr>
        </p:nvSpPr>
        <p:spPr/>
        <p:txBody>
          <a:bodyPr/>
          <a:lstStyle/>
          <a:p>
            <a:fld id="{55C2A38D-ED02-420A-BF8A-05E20D604ACC}" type="slidenum">
              <a:rPr lang="en-US" smtClean="0"/>
              <a:pPr/>
              <a:t>6</a:t>
            </a:fld>
            <a:endParaRPr lang="en-US" dirty="0"/>
          </a:p>
        </p:txBody>
      </p:sp>
    </p:spTree>
  </p:cSld>
  <p:clrMapOvr>
    <a:masterClrMapping/>
  </p:clrMapOvr>
  <p:transition advClick="0"/>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332656"/>
            <a:ext cx="8568952" cy="6023694"/>
          </a:xfrm>
        </p:spPr>
        <p:txBody>
          <a:bodyPr>
            <a:normAutofit fontScale="85000" lnSpcReduction="20000"/>
          </a:bodyPr>
          <a:lstStyle/>
          <a:p>
            <a:r>
              <a:rPr lang="en-US" b="1" dirty="0"/>
              <a:t>Step 1: Subtract row minima</a:t>
            </a:r>
            <a:endParaRPr lang="en-US" dirty="0"/>
          </a:p>
          <a:p>
            <a:pPr algn="just">
              <a:buNone/>
            </a:pPr>
            <a:r>
              <a:rPr lang="en-US" dirty="0"/>
              <a:t>	For each row, find the lowest element and subtract it from each element in that row.</a:t>
            </a:r>
          </a:p>
          <a:p>
            <a:r>
              <a:rPr lang="en-US" b="1" dirty="0"/>
              <a:t>Step 2: Subtract column minima</a:t>
            </a:r>
            <a:endParaRPr lang="en-US" dirty="0"/>
          </a:p>
          <a:p>
            <a:pPr algn="just">
              <a:buNone/>
            </a:pPr>
            <a:r>
              <a:rPr lang="en-US" dirty="0"/>
              <a:t>	Similarly, for each column, find the lowest element and subtract it from each element in that column.</a:t>
            </a:r>
          </a:p>
          <a:p>
            <a:r>
              <a:rPr lang="en-US" b="1" dirty="0"/>
              <a:t>Step 3: Cover all zeros with a minimum number of lines</a:t>
            </a:r>
            <a:endParaRPr lang="en-US" dirty="0"/>
          </a:p>
          <a:p>
            <a:pPr algn="just">
              <a:buNone/>
            </a:pPr>
            <a:r>
              <a:rPr lang="en-US" dirty="0"/>
              <a:t>	Cover all zeros in the resulting matrix using a minimum number of horizontal and vertical lines. If </a:t>
            </a:r>
            <a:r>
              <a:rPr lang="en-US" i="1" dirty="0"/>
              <a:t>n</a:t>
            </a:r>
            <a:r>
              <a:rPr lang="en-US" dirty="0"/>
              <a:t> lines are required, an optimal assignment exists among the zeros. The algorithm stops.</a:t>
            </a:r>
          </a:p>
          <a:p>
            <a:pPr>
              <a:buNone/>
            </a:pPr>
            <a:r>
              <a:rPr lang="en-US" dirty="0"/>
              <a:t>	</a:t>
            </a:r>
            <a:r>
              <a:rPr lang="en-US" dirty="0">
                <a:solidFill>
                  <a:srgbClr val="FF0000"/>
                </a:solidFill>
              </a:rPr>
              <a:t>If less than </a:t>
            </a:r>
            <a:r>
              <a:rPr lang="en-US" i="1" dirty="0">
                <a:solidFill>
                  <a:srgbClr val="FF0000"/>
                </a:solidFill>
              </a:rPr>
              <a:t>n</a:t>
            </a:r>
            <a:r>
              <a:rPr lang="en-US" dirty="0">
                <a:solidFill>
                  <a:srgbClr val="FF0000"/>
                </a:solidFill>
              </a:rPr>
              <a:t> lines are required, continue with Step 4.</a:t>
            </a:r>
          </a:p>
          <a:p>
            <a:r>
              <a:rPr lang="en-US" b="1" dirty="0"/>
              <a:t>Step 4: Create additional zeros</a:t>
            </a:r>
            <a:endParaRPr lang="en-US" dirty="0"/>
          </a:p>
          <a:p>
            <a:pPr algn="just">
              <a:buNone/>
            </a:pPr>
            <a:r>
              <a:rPr lang="en-US" dirty="0"/>
              <a:t>	Find the smallest element (call it </a:t>
            </a:r>
            <a:r>
              <a:rPr lang="en-US" i="1" dirty="0"/>
              <a:t>k</a:t>
            </a:r>
            <a:r>
              <a:rPr lang="en-US" dirty="0"/>
              <a:t>) that is not covered by a line in Step 3. Subtract </a:t>
            </a:r>
            <a:r>
              <a:rPr lang="en-US" i="1" dirty="0"/>
              <a:t>k</a:t>
            </a:r>
            <a:r>
              <a:rPr lang="en-US" dirty="0"/>
              <a:t> from all uncovered elements, and add </a:t>
            </a:r>
            <a:r>
              <a:rPr lang="en-US" i="1" dirty="0"/>
              <a:t>k</a:t>
            </a:r>
            <a:r>
              <a:rPr lang="en-US" dirty="0"/>
              <a:t> to all elements that are covered twice.</a:t>
            </a:r>
          </a:p>
          <a:p>
            <a:endParaRPr lang="en-US" dirty="0"/>
          </a:p>
          <a:p>
            <a:pPr algn="just">
              <a:buNone/>
            </a:pPr>
            <a:endParaRPr lang="en-US" dirty="0"/>
          </a:p>
          <a:p>
            <a:endParaRPr lang="en-US" dirty="0"/>
          </a:p>
        </p:txBody>
      </p:sp>
      <p:sp>
        <p:nvSpPr>
          <p:cNvPr id="4" name="Slide Number Placeholder 3"/>
          <p:cNvSpPr>
            <a:spLocks noGrp="1"/>
          </p:cNvSpPr>
          <p:nvPr>
            <p:ph type="sldNum" sz="quarter" idx="12"/>
          </p:nvPr>
        </p:nvSpPr>
        <p:spPr/>
        <p:txBody>
          <a:bodyPr/>
          <a:lstStyle/>
          <a:p>
            <a:fld id="{55C2A38D-ED02-420A-BF8A-05E20D604ACC}" type="slidenum">
              <a:rPr lang="en-US" smtClean="0"/>
              <a:pPr/>
              <a:t>7</a:t>
            </a:fld>
            <a:endParaRPr lang="en-US"/>
          </a:p>
        </p:txBody>
      </p:sp>
    </p:spTree>
  </p:cSld>
  <p:clrMapOvr>
    <a:masterClrMapping/>
  </p:clrMapOvr>
  <p:transition advClick="0"/>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nvGraphicFramePr>
        <p:xfrm>
          <a:off x="2843808" y="620688"/>
          <a:ext cx="3240360" cy="1828800"/>
        </p:xfrm>
        <a:graphic>
          <a:graphicData uri="http://schemas.openxmlformats.org/drawingml/2006/table">
            <a:tbl>
              <a:tblPr firstRow="1" bandRow="1">
                <a:tableStyleId>{5C22544A-7EE6-4342-B048-85BDC9FD1C3A}</a:tableStyleId>
              </a:tblPr>
              <a:tblGrid>
                <a:gridCol w="648072">
                  <a:extLst>
                    <a:ext uri="{9D8B030D-6E8A-4147-A177-3AD203B41FA5}">
                      <a16:colId xmlns:a16="http://schemas.microsoft.com/office/drawing/2014/main" val="20000"/>
                    </a:ext>
                  </a:extLst>
                </a:gridCol>
                <a:gridCol w="648072">
                  <a:extLst>
                    <a:ext uri="{9D8B030D-6E8A-4147-A177-3AD203B41FA5}">
                      <a16:colId xmlns:a16="http://schemas.microsoft.com/office/drawing/2014/main" val="20001"/>
                    </a:ext>
                  </a:extLst>
                </a:gridCol>
                <a:gridCol w="648072">
                  <a:extLst>
                    <a:ext uri="{9D8B030D-6E8A-4147-A177-3AD203B41FA5}">
                      <a16:colId xmlns:a16="http://schemas.microsoft.com/office/drawing/2014/main" val="20002"/>
                    </a:ext>
                  </a:extLst>
                </a:gridCol>
                <a:gridCol w="648072">
                  <a:extLst>
                    <a:ext uri="{9D8B030D-6E8A-4147-A177-3AD203B41FA5}">
                      <a16:colId xmlns:a16="http://schemas.microsoft.com/office/drawing/2014/main" val="20003"/>
                    </a:ext>
                  </a:extLst>
                </a:gridCol>
                <a:gridCol w="648072">
                  <a:extLst>
                    <a:ext uri="{9D8B030D-6E8A-4147-A177-3AD203B41FA5}">
                      <a16:colId xmlns:a16="http://schemas.microsoft.com/office/drawing/2014/main" val="20004"/>
                    </a:ext>
                  </a:extLst>
                </a:gridCol>
              </a:tblGrid>
              <a:tr h="230426">
                <a:tc>
                  <a:txBody>
                    <a:bodyPr/>
                    <a:lstStyle/>
                    <a:p>
                      <a:pPr algn="ctr"/>
                      <a:endParaRPr lang="en-US" dirty="0">
                        <a:solidFill>
                          <a:schemeClr val="bg1">
                            <a:lumMod val="95000"/>
                          </a:schemeClr>
                        </a:solidFill>
                      </a:endParaRPr>
                    </a:p>
                  </a:txBody>
                  <a:tcPr>
                    <a:solidFill>
                      <a:schemeClr val="tx1"/>
                    </a:solidFill>
                  </a:tcPr>
                </a:tc>
                <a:tc>
                  <a:txBody>
                    <a:bodyPr/>
                    <a:lstStyle/>
                    <a:p>
                      <a:pPr algn="ctr"/>
                      <a:r>
                        <a:rPr lang="en-US" dirty="0">
                          <a:solidFill>
                            <a:schemeClr val="bg1">
                              <a:lumMod val="95000"/>
                            </a:schemeClr>
                          </a:solidFill>
                        </a:rPr>
                        <a:t>J1</a:t>
                      </a:r>
                    </a:p>
                  </a:txBody>
                  <a:tcPr>
                    <a:solidFill>
                      <a:schemeClr val="tx1"/>
                    </a:solidFill>
                  </a:tcPr>
                </a:tc>
                <a:tc>
                  <a:txBody>
                    <a:bodyPr/>
                    <a:lstStyle/>
                    <a:p>
                      <a:pPr algn="ctr"/>
                      <a:r>
                        <a:rPr lang="en-US" dirty="0">
                          <a:solidFill>
                            <a:schemeClr val="bg1">
                              <a:lumMod val="95000"/>
                            </a:schemeClr>
                          </a:solidFill>
                        </a:rPr>
                        <a:t>J2</a:t>
                      </a:r>
                    </a:p>
                  </a:txBody>
                  <a:tcPr>
                    <a:solidFill>
                      <a:schemeClr val="tx1"/>
                    </a:solidFill>
                  </a:tcPr>
                </a:tc>
                <a:tc>
                  <a:txBody>
                    <a:bodyPr/>
                    <a:lstStyle/>
                    <a:p>
                      <a:pPr algn="ctr"/>
                      <a:r>
                        <a:rPr lang="en-US" dirty="0">
                          <a:solidFill>
                            <a:schemeClr val="bg1">
                              <a:lumMod val="95000"/>
                            </a:schemeClr>
                          </a:solidFill>
                        </a:rPr>
                        <a:t>J3</a:t>
                      </a:r>
                    </a:p>
                  </a:txBody>
                  <a:tcPr>
                    <a:solidFill>
                      <a:schemeClr val="tx1"/>
                    </a:solidFill>
                  </a:tcPr>
                </a:tc>
                <a:tc>
                  <a:txBody>
                    <a:bodyPr/>
                    <a:lstStyle/>
                    <a:p>
                      <a:pPr algn="ctr"/>
                      <a:r>
                        <a:rPr lang="en-US" dirty="0">
                          <a:solidFill>
                            <a:schemeClr val="bg1">
                              <a:lumMod val="95000"/>
                            </a:schemeClr>
                          </a:solidFill>
                        </a:rPr>
                        <a:t>J4</a:t>
                      </a:r>
                    </a:p>
                  </a:txBody>
                  <a:tcPr>
                    <a:solidFill>
                      <a:schemeClr val="tx1"/>
                    </a:solidFill>
                  </a:tcPr>
                </a:tc>
                <a:extLst>
                  <a:ext uri="{0D108BD9-81ED-4DB2-BD59-A6C34878D82A}">
                    <a16:rowId xmlns:a16="http://schemas.microsoft.com/office/drawing/2014/main" val="10000"/>
                  </a:ext>
                </a:extLst>
              </a:tr>
              <a:tr h="230426">
                <a:tc>
                  <a:txBody>
                    <a:bodyPr/>
                    <a:lstStyle/>
                    <a:p>
                      <a:pPr algn="ctr"/>
                      <a:r>
                        <a:rPr lang="en-US" dirty="0">
                          <a:solidFill>
                            <a:schemeClr val="bg1">
                              <a:lumMod val="95000"/>
                            </a:schemeClr>
                          </a:solidFill>
                        </a:rPr>
                        <a:t>W1</a:t>
                      </a:r>
                    </a:p>
                  </a:txBody>
                  <a:tcPr>
                    <a:solidFill>
                      <a:schemeClr val="tx1"/>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82</a:t>
                      </a:r>
                    </a:p>
                  </a:txBody>
                  <a:tcPr>
                    <a:solidFill>
                      <a:schemeClr val="tx1"/>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83</a:t>
                      </a:r>
                    </a:p>
                  </a:txBody>
                  <a:tcPr>
                    <a:solidFill>
                      <a:schemeClr val="tx1"/>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69</a:t>
                      </a:r>
                    </a:p>
                  </a:txBody>
                  <a:tcPr>
                    <a:solidFill>
                      <a:schemeClr val="tx1"/>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92</a:t>
                      </a:r>
                    </a:p>
                  </a:txBody>
                  <a:tcPr>
                    <a:solidFill>
                      <a:schemeClr val="tx1"/>
                    </a:solidFill>
                  </a:tcPr>
                </a:tc>
                <a:extLst>
                  <a:ext uri="{0D108BD9-81ED-4DB2-BD59-A6C34878D82A}">
                    <a16:rowId xmlns:a16="http://schemas.microsoft.com/office/drawing/2014/main" val="10001"/>
                  </a:ext>
                </a:extLst>
              </a:tr>
              <a:tr h="230426">
                <a:tc>
                  <a:txBody>
                    <a:bodyPr/>
                    <a:lstStyle/>
                    <a:p>
                      <a:pPr algn="ctr"/>
                      <a:r>
                        <a:rPr lang="en-US" dirty="0">
                          <a:solidFill>
                            <a:schemeClr val="bg1">
                              <a:lumMod val="95000"/>
                            </a:schemeClr>
                          </a:solidFill>
                        </a:rPr>
                        <a:t>W2</a:t>
                      </a:r>
                    </a:p>
                  </a:txBody>
                  <a:tcPr>
                    <a:solidFill>
                      <a:schemeClr val="tx1"/>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77</a:t>
                      </a:r>
                    </a:p>
                  </a:txBody>
                  <a:tcPr>
                    <a:solidFill>
                      <a:schemeClr val="tx1"/>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37</a:t>
                      </a:r>
                    </a:p>
                  </a:txBody>
                  <a:tcPr>
                    <a:solidFill>
                      <a:schemeClr val="tx1"/>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49</a:t>
                      </a:r>
                    </a:p>
                  </a:txBody>
                  <a:tcPr>
                    <a:solidFill>
                      <a:schemeClr val="tx1"/>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92</a:t>
                      </a:r>
                    </a:p>
                  </a:txBody>
                  <a:tcPr>
                    <a:solidFill>
                      <a:schemeClr val="tx1"/>
                    </a:solidFill>
                  </a:tcPr>
                </a:tc>
                <a:extLst>
                  <a:ext uri="{0D108BD9-81ED-4DB2-BD59-A6C34878D82A}">
                    <a16:rowId xmlns:a16="http://schemas.microsoft.com/office/drawing/2014/main" val="10002"/>
                  </a:ext>
                </a:extLst>
              </a:tr>
              <a:tr h="230426">
                <a:tc>
                  <a:txBody>
                    <a:bodyPr/>
                    <a:lstStyle/>
                    <a:p>
                      <a:pPr algn="ctr"/>
                      <a:r>
                        <a:rPr lang="en-US" dirty="0">
                          <a:solidFill>
                            <a:schemeClr val="bg1">
                              <a:lumMod val="95000"/>
                            </a:schemeClr>
                          </a:solidFill>
                        </a:rPr>
                        <a:t>W3</a:t>
                      </a:r>
                    </a:p>
                  </a:txBody>
                  <a:tcPr>
                    <a:solidFill>
                      <a:schemeClr val="tx1"/>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11</a:t>
                      </a:r>
                    </a:p>
                  </a:txBody>
                  <a:tcPr>
                    <a:solidFill>
                      <a:schemeClr val="tx1"/>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69</a:t>
                      </a:r>
                    </a:p>
                  </a:txBody>
                  <a:tcPr>
                    <a:solidFill>
                      <a:schemeClr val="tx1"/>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5</a:t>
                      </a:r>
                    </a:p>
                  </a:txBody>
                  <a:tcPr>
                    <a:solidFill>
                      <a:schemeClr val="tx1"/>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86</a:t>
                      </a:r>
                    </a:p>
                  </a:txBody>
                  <a:tcPr>
                    <a:solidFill>
                      <a:schemeClr val="tx1"/>
                    </a:solidFill>
                  </a:tcPr>
                </a:tc>
                <a:extLst>
                  <a:ext uri="{0D108BD9-81ED-4DB2-BD59-A6C34878D82A}">
                    <a16:rowId xmlns:a16="http://schemas.microsoft.com/office/drawing/2014/main" val="10003"/>
                  </a:ext>
                </a:extLst>
              </a:tr>
              <a:tr h="230426">
                <a:tc>
                  <a:txBody>
                    <a:bodyPr/>
                    <a:lstStyle/>
                    <a:p>
                      <a:pPr algn="ctr"/>
                      <a:r>
                        <a:rPr lang="en-US" dirty="0">
                          <a:solidFill>
                            <a:schemeClr val="bg1">
                              <a:lumMod val="95000"/>
                            </a:schemeClr>
                          </a:solidFill>
                        </a:rPr>
                        <a:t>W4</a:t>
                      </a:r>
                    </a:p>
                  </a:txBody>
                  <a:tcPr>
                    <a:solidFill>
                      <a:schemeClr val="tx1"/>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8</a:t>
                      </a:r>
                    </a:p>
                  </a:txBody>
                  <a:tcPr>
                    <a:solidFill>
                      <a:schemeClr val="tx1"/>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9</a:t>
                      </a:r>
                    </a:p>
                  </a:txBody>
                  <a:tcPr>
                    <a:solidFill>
                      <a:schemeClr val="tx1"/>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98</a:t>
                      </a:r>
                    </a:p>
                  </a:txBody>
                  <a:tcPr>
                    <a:solidFill>
                      <a:schemeClr val="tx1"/>
                    </a:solidFill>
                  </a:tcPr>
                </a:tc>
                <a:tc>
                  <a:txBody>
                    <a:bodyPr/>
                    <a:lstStyle/>
                    <a:p>
                      <a:pPr marL="0" algn="ctr" defTabSz="914400" rtl="0" eaLnBrk="1" fontAlgn="t" latinLnBrk="0" hangingPunct="1"/>
                      <a:r>
                        <a:rPr lang="en-US" sz="1800" kern="1200" dirty="0">
                          <a:solidFill>
                            <a:schemeClr val="bg1">
                              <a:lumMod val="95000"/>
                            </a:schemeClr>
                          </a:solidFill>
                          <a:latin typeface="+mn-lt"/>
                          <a:ea typeface="+mn-ea"/>
                          <a:cs typeface="+mn-cs"/>
                        </a:rPr>
                        <a:t>23</a:t>
                      </a:r>
                    </a:p>
                  </a:txBody>
                  <a:tcPr>
                    <a:solidFill>
                      <a:schemeClr val="tx1"/>
                    </a:solidFill>
                  </a:tcPr>
                </a:tc>
                <a:extLst>
                  <a:ext uri="{0D108BD9-81ED-4DB2-BD59-A6C34878D82A}">
                    <a16:rowId xmlns:a16="http://schemas.microsoft.com/office/drawing/2014/main" val="10004"/>
                  </a:ext>
                </a:extLst>
              </a:tr>
            </a:tbl>
          </a:graphicData>
        </a:graphic>
      </p:graphicFrame>
      <p:sp>
        <p:nvSpPr>
          <p:cNvPr id="5" name="Rectangle 4"/>
          <p:cNvSpPr/>
          <p:nvPr/>
        </p:nvSpPr>
        <p:spPr>
          <a:xfrm>
            <a:off x="3635896" y="116632"/>
            <a:ext cx="1656184" cy="369332"/>
          </a:xfrm>
          <a:prstGeom prst="rect">
            <a:avLst/>
          </a:prstGeom>
        </p:spPr>
        <p:txBody>
          <a:bodyPr wrap="square">
            <a:spAutoFit/>
          </a:bodyPr>
          <a:lstStyle/>
          <a:p>
            <a:r>
              <a:rPr lang="en-US" b="1" dirty="0"/>
              <a:t>An example</a:t>
            </a:r>
          </a:p>
        </p:txBody>
      </p:sp>
      <p:sp>
        <p:nvSpPr>
          <p:cNvPr id="6" name="Rectangle 5"/>
          <p:cNvSpPr/>
          <p:nvPr/>
        </p:nvSpPr>
        <p:spPr>
          <a:xfrm>
            <a:off x="251520" y="2780929"/>
            <a:ext cx="3240360" cy="3416320"/>
          </a:xfrm>
          <a:prstGeom prst="rect">
            <a:avLst/>
          </a:prstGeom>
        </p:spPr>
        <p:txBody>
          <a:bodyPr wrap="square">
            <a:spAutoFit/>
          </a:bodyPr>
          <a:lstStyle/>
          <a:p>
            <a:r>
              <a:rPr lang="en-US" b="1" dirty="0"/>
              <a:t>Solution:</a:t>
            </a:r>
          </a:p>
          <a:p>
            <a:endParaRPr lang="en-US" b="1" dirty="0"/>
          </a:p>
          <a:p>
            <a:pPr algn="just"/>
            <a:r>
              <a:rPr lang="en-US" b="1" dirty="0"/>
              <a:t>Step 1: Subtract row minima:</a:t>
            </a:r>
          </a:p>
          <a:p>
            <a:pPr algn="just"/>
            <a:endParaRPr lang="en-US" b="1" dirty="0"/>
          </a:p>
          <a:p>
            <a:pPr algn="just"/>
            <a:r>
              <a:rPr lang="en-US" dirty="0"/>
              <a:t>We start with subtracting the row minimum from each row. The smallest element in the first row is, for example, 69. Therefore, we subtract 69 from each element in the first row. The resulting matrix is:           </a:t>
            </a:r>
            <a:r>
              <a:rPr lang="en-US" b="1" dirty="0"/>
              <a:t>→</a:t>
            </a:r>
          </a:p>
          <a:p>
            <a:endParaRPr lang="en-US" b="1" dirty="0"/>
          </a:p>
        </p:txBody>
      </p:sp>
      <p:pic>
        <p:nvPicPr>
          <p:cNvPr id="15362" name="Picture 2"/>
          <p:cNvPicPr>
            <a:picLocks noChangeAspect="1" noChangeArrowheads="1"/>
          </p:cNvPicPr>
          <p:nvPr/>
        </p:nvPicPr>
        <p:blipFill>
          <a:blip r:embed="rId2" cstate="print"/>
          <a:srcRect/>
          <a:stretch>
            <a:fillRect/>
          </a:stretch>
        </p:blipFill>
        <p:spPr bwMode="auto">
          <a:xfrm>
            <a:off x="3707904" y="3789040"/>
            <a:ext cx="4982400" cy="2016224"/>
          </a:xfrm>
          <a:prstGeom prst="rect">
            <a:avLst/>
          </a:prstGeom>
          <a:noFill/>
          <a:ln w="9525">
            <a:noFill/>
            <a:miter lim="800000"/>
            <a:headEnd/>
            <a:tailEnd/>
          </a:ln>
        </p:spPr>
      </p:pic>
      <p:sp>
        <p:nvSpPr>
          <p:cNvPr id="7" name="Slide Number Placeholder 6"/>
          <p:cNvSpPr>
            <a:spLocks noGrp="1"/>
          </p:cNvSpPr>
          <p:nvPr>
            <p:ph type="sldNum" sz="quarter" idx="12"/>
          </p:nvPr>
        </p:nvSpPr>
        <p:spPr/>
        <p:txBody>
          <a:bodyPr/>
          <a:lstStyle/>
          <a:p>
            <a:fld id="{55C2A38D-ED02-420A-BF8A-05E20D604ACC}" type="slidenum">
              <a:rPr lang="en-US" smtClean="0"/>
              <a:pPr/>
              <a:t>8</a:t>
            </a:fld>
            <a:endParaRPr lang="en-US"/>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5362"/>
                                        </p:tgtEl>
                                        <p:attrNameLst>
                                          <p:attrName>style.visibility</p:attrName>
                                        </p:attrNameLst>
                                      </p:cBhvr>
                                      <p:to>
                                        <p:strVal val="visible"/>
                                      </p:to>
                                    </p:set>
                                    <p:animEffect transition="in" filter="checkerboard(across)">
                                      <p:cBhvr>
                                        <p:cTn id="7" dur="5000"/>
                                        <p:tgtEl>
                                          <p:spTgt spid="153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3528" y="332656"/>
            <a:ext cx="3744416" cy="1477328"/>
          </a:xfrm>
          <a:prstGeom prst="rect">
            <a:avLst/>
          </a:prstGeom>
        </p:spPr>
        <p:txBody>
          <a:bodyPr wrap="square">
            <a:spAutoFit/>
          </a:bodyPr>
          <a:lstStyle/>
          <a:p>
            <a:r>
              <a:rPr lang="en-US" b="1" dirty="0"/>
              <a:t>Step 2: Subtract column minima</a:t>
            </a:r>
          </a:p>
          <a:p>
            <a:endParaRPr lang="en-US" dirty="0"/>
          </a:p>
          <a:p>
            <a:pPr algn="just"/>
            <a:r>
              <a:rPr lang="en-US" dirty="0"/>
              <a:t>Similarly, we subtract the column minimum from each column, giving the following matrix:         </a:t>
            </a:r>
            <a:r>
              <a:rPr lang="en-US" b="1" dirty="0"/>
              <a:t>→</a:t>
            </a:r>
          </a:p>
        </p:txBody>
      </p:sp>
      <p:pic>
        <p:nvPicPr>
          <p:cNvPr id="16386" name="Picture 2"/>
          <p:cNvPicPr>
            <a:picLocks noChangeAspect="1" noChangeArrowheads="1"/>
          </p:cNvPicPr>
          <p:nvPr/>
        </p:nvPicPr>
        <p:blipFill>
          <a:blip r:embed="rId2" cstate="print"/>
          <a:srcRect/>
          <a:stretch>
            <a:fillRect/>
          </a:stretch>
        </p:blipFill>
        <p:spPr bwMode="auto">
          <a:xfrm>
            <a:off x="4427984" y="188640"/>
            <a:ext cx="4104456" cy="2167721"/>
          </a:xfrm>
          <a:prstGeom prst="rect">
            <a:avLst/>
          </a:prstGeom>
          <a:noFill/>
          <a:ln w="9525">
            <a:noFill/>
            <a:miter lim="800000"/>
            <a:headEnd/>
            <a:tailEnd/>
          </a:ln>
        </p:spPr>
      </p:pic>
      <p:sp>
        <p:nvSpPr>
          <p:cNvPr id="6" name="Rectangle 5"/>
          <p:cNvSpPr/>
          <p:nvPr/>
        </p:nvSpPr>
        <p:spPr>
          <a:xfrm>
            <a:off x="323528" y="2276872"/>
            <a:ext cx="4104456" cy="2308324"/>
          </a:xfrm>
          <a:prstGeom prst="rect">
            <a:avLst/>
          </a:prstGeom>
        </p:spPr>
        <p:txBody>
          <a:bodyPr wrap="square">
            <a:spAutoFit/>
          </a:bodyPr>
          <a:lstStyle/>
          <a:p>
            <a:r>
              <a:rPr lang="en-US" b="1" dirty="0"/>
              <a:t>Step 3: Cover all zeros with a minimum number of lines</a:t>
            </a:r>
          </a:p>
          <a:p>
            <a:endParaRPr lang="en-US" dirty="0"/>
          </a:p>
          <a:p>
            <a:pPr algn="just"/>
            <a:r>
              <a:rPr lang="en-US" dirty="0"/>
              <a:t>We will now determine the minimum number of lines (horizontal or vertical) that are required to cover all zeros in the matrix. All zeros can be covered using 3 lines:                                             </a:t>
            </a:r>
            <a:r>
              <a:rPr lang="en-US" b="1" dirty="0"/>
              <a:t>→</a:t>
            </a:r>
          </a:p>
        </p:txBody>
      </p:sp>
      <p:grpSp>
        <p:nvGrpSpPr>
          <p:cNvPr id="17" name="Group 16"/>
          <p:cNvGrpSpPr/>
          <p:nvPr/>
        </p:nvGrpSpPr>
        <p:grpSpPr>
          <a:xfrm>
            <a:off x="4716016" y="2564904"/>
            <a:ext cx="4104456" cy="2088232"/>
            <a:chOff x="4716016" y="2996952"/>
            <a:chExt cx="4104456" cy="2088232"/>
          </a:xfrm>
        </p:grpSpPr>
        <p:pic>
          <p:nvPicPr>
            <p:cNvPr id="8" name="Picture 2"/>
            <p:cNvPicPr>
              <a:picLocks noChangeAspect="1" noChangeArrowheads="1"/>
            </p:cNvPicPr>
            <p:nvPr/>
          </p:nvPicPr>
          <p:blipFill>
            <a:blip r:embed="rId2" cstate="print"/>
            <a:srcRect b="20276"/>
            <a:stretch>
              <a:fillRect/>
            </a:stretch>
          </p:blipFill>
          <p:spPr bwMode="auto">
            <a:xfrm>
              <a:off x="4716016" y="3068960"/>
              <a:ext cx="4104456" cy="1728192"/>
            </a:xfrm>
            <a:prstGeom prst="rect">
              <a:avLst/>
            </a:prstGeom>
            <a:noFill/>
            <a:ln w="9525">
              <a:noFill/>
              <a:miter lim="800000"/>
              <a:headEnd/>
              <a:tailEnd/>
            </a:ln>
          </p:spPr>
        </p:pic>
        <p:sp>
          <p:nvSpPr>
            <p:cNvPr id="11" name="Rectangle 10"/>
            <p:cNvSpPr/>
            <p:nvPr/>
          </p:nvSpPr>
          <p:spPr>
            <a:xfrm>
              <a:off x="7380312" y="2996952"/>
              <a:ext cx="504056" cy="20882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6588224" y="2996952"/>
              <a:ext cx="504056" cy="20882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7524328" y="3573016"/>
              <a:ext cx="288032" cy="2880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6732240" y="3861048"/>
              <a:ext cx="288032" cy="2880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5" name="Group 34"/>
          <p:cNvGrpSpPr/>
          <p:nvPr/>
        </p:nvGrpSpPr>
        <p:grpSpPr>
          <a:xfrm>
            <a:off x="1331640" y="4797152"/>
            <a:ext cx="3600400" cy="1728192"/>
            <a:chOff x="1331640" y="4797152"/>
            <a:chExt cx="3600400" cy="1728192"/>
          </a:xfrm>
        </p:grpSpPr>
        <p:grpSp>
          <p:nvGrpSpPr>
            <p:cNvPr id="18" name="Group 17"/>
            <p:cNvGrpSpPr/>
            <p:nvPr/>
          </p:nvGrpSpPr>
          <p:grpSpPr>
            <a:xfrm>
              <a:off x="1331640" y="4797152"/>
              <a:ext cx="3600400" cy="1728192"/>
              <a:chOff x="4716016" y="2996952"/>
              <a:chExt cx="4104456" cy="2088232"/>
            </a:xfrm>
          </p:grpSpPr>
          <p:pic>
            <p:nvPicPr>
              <p:cNvPr id="19" name="Picture 2"/>
              <p:cNvPicPr>
                <a:picLocks noChangeAspect="1" noChangeArrowheads="1"/>
              </p:cNvPicPr>
              <p:nvPr/>
            </p:nvPicPr>
            <p:blipFill>
              <a:blip r:embed="rId2" cstate="print"/>
              <a:srcRect b="20276"/>
              <a:stretch>
                <a:fillRect/>
              </a:stretch>
            </p:blipFill>
            <p:spPr bwMode="auto">
              <a:xfrm>
                <a:off x="4716016" y="3068960"/>
                <a:ext cx="4104456" cy="1728192"/>
              </a:xfrm>
              <a:prstGeom prst="rect">
                <a:avLst/>
              </a:prstGeom>
              <a:noFill/>
              <a:ln w="9525">
                <a:noFill/>
                <a:miter lim="800000"/>
                <a:headEnd/>
                <a:tailEnd/>
              </a:ln>
            </p:spPr>
          </p:pic>
          <p:sp>
            <p:nvSpPr>
              <p:cNvPr id="20" name="Rectangle 19"/>
              <p:cNvSpPr/>
              <p:nvPr/>
            </p:nvSpPr>
            <p:spPr>
              <a:xfrm>
                <a:off x="7380312" y="2996952"/>
                <a:ext cx="504056" cy="20882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p:cNvSpPr/>
              <p:nvPr/>
            </p:nvSpPr>
            <p:spPr>
              <a:xfrm>
                <a:off x="6588224" y="2996952"/>
                <a:ext cx="504056" cy="20882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p:cNvSpPr/>
              <p:nvPr/>
            </p:nvSpPr>
            <p:spPr>
              <a:xfrm>
                <a:off x="7524328" y="3573016"/>
                <a:ext cx="288032" cy="2880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p:cNvSpPr/>
              <p:nvPr/>
            </p:nvSpPr>
            <p:spPr>
              <a:xfrm>
                <a:off x="6732240" y="3861048"/>
                <a:ext cx="288032" cy="2880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p:cNvSpPr/>
            <p:nvPr/>
          </p:nvSpPr>
          <p:spPr>
            <a:xfrm>
              <a:off x="2483768" y="6021288"/>
              <a:ext cx="288032" cy="216024"/>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p:cNvSpPr/>
            <p:nvPr/>
          </p:nvSpPr>
          <p:spPr>
            <a:xfrm>
              <a:off x="1475656" y="5949280"/>
              <a:ext cx="3456384" cy="360040"/>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cxnSp>
        <p:nvCxnSpPr>
          <p:cNvPr id="30" name="Elbow Connector 29"/>
          <p:cNvCxnSpPr/>
          <p:nvPr/>
        </p:nvCxnSpPr>
        <p:spPr>
          <a:xfrm rot="10800000" flipV="1">
            <a:off x="5076056" y="4581128"/>
            <a:ext cx="936104" cy="720080"/>
          </a:xfrm>
          <a:prstGeom prst="bentConnector3">
            <a:avLst>
              <a:gd name="adj1" fmla="val -2598"/>
            </a:avLst>
          </a:prstGeom>
          <a:ln w="38100" cap="sq" cmpd="sng">
            <a:tailEnd type="arrow"/>
          </a:ln>
        </p:spPr>
        <p:style>
          <a:lnRef idx="1">
            <a:schemeClr val="accent1"/>
          </a:lnRef>
          <a:fillRef idx="0">
            <a:schemeClr val="accent1"/>
          </a:fillRef>
          <a:effectRef idx="0">
            <a:schemeClr val="accent1"/>
          </a:effectRef>
          <a:fontRef idx="minor">
            <a:schemeClr val="tx1"/>
          </a:fontRef>
        </p:style>
      </p:cxnSp>
      <p:sp>
        <p:nvSpPr>
          <p:cNvPr id="32" name="Rectangle 31"/>
          <p:cNvSpPr/>
          <p:nvPr/>
        </p:nvSpPr>
        <p:spPr>
          <a:xfrm>
            <a:off x="5364088" y="5517232"/>
            <a:ext cx="3528392" cy="1200329"/>
          </a:xfrm>
          <a:prstGeom prst="rect">
            <a:avLst/>
          </a:prstGeom>
        </p:spPr>
        <p:txBody>
          <a:bodyPr wrap="square">
            <a:spAutoFit/>
          </a:bodyPr>
          <a:lstStyle/>
          <a:p>
            <a:pPr algn="just"/>
            <a:r>
              <a:rPr lang="en-US" dirty="0"/>
              <a:t>Because the number of lines required (3) is lower than the size of the matrix (</a:t>
            </a:r>
            <a:r>
              <a:rPr lang="en-US" i="1" dirty="0"/>
              <a:t>n</a:t>
            </a:r>
            <a:r>
              <a:rPr lang="en-US" dirty="0"/>
              <a:t>=4), we continue with Step 4.</a:t>
            </a:r>
          </a:p>
        </p:txBody>
      </p:sp>
      <p:sp>
        <p:nvSpPr>
          <p:cNvPr id="24" name="Slide Number Placeholder 23"/>
          <p:cNvSpPr>
            <a:spLocks noGrp="1"/>
          </p:cNvSpPr>
          <p:nvPr>
            <p:ph type="sldNum" sz="quarter" idx="12"/>
          </p:nvPr>
        </p:nvSpPr>
        <p:spPr/>
        <p:txBody>
          <a:bodyPr/>
          <a:lstStyle/>
          <a:p>
            <a:fld id="{55C2A38D-ED02-420A-BF8A-05E20D604ACC}" type="slidenum">
              <a:rPr lang="en-US" smtClean="0"/>
              <a:pPr/>
              <a:t>9</a:t>
            </a:fld>
            <a:endParaRPr lang="en-US"/>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6386"/>
                                        </p:tgtEl>
                                        <p:attrNameLst>
                                          <p:attrName>style.visibility</p:attrName>
                                        </p:attrNameLst>
                                      </p:cBhvr>
                                      <p:to>
                                        <p:strVal val="visible"/>
                                      </p:to>
                                    </p:set>
                                    <p:animEffect transition="in" filter="checkerboard(across)">
                                      <p:cBhvr>
                                        <p:cTn id="7" dur="5000"/>
                                        <p:tgtEl>
                                          <p:spTgt spid="1638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7"/>
                                        </p:tgtEl>
                                        <p:attrNameLst>
                                          <p:attrName>style.visibility</p:attrName>
                                        </p:attrNameLst>
                                      </p:cBhvr>
                                      <p:to>
                                        <p:strVal val="visible"/>
                                      </p:to>
                                    </p:set>
                                    <p:animEffect transition="in" filter="checkerboard(across)">
                                      <p:cBhvr>
                                        <p:cTn id="12" dur="5000"/>
                                        <p:tgtEl>
                                          <p:spTgt spid="17"/>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nodeType="clickEffect">
                                  <p:stCondLst>
                                    <p:cond delay="0"/>
                                  </p:stCondLst>
                                  <p:childTnLst>
                                    <p:set>
                                      <p:cBhvr>
                                        <p:cTn id="16" dur="1" fill="hold">
                                          <p:stCondLst>
                                            <p:cond delay="0"/>
                                          </p:stCondLst>
                                        </p:cTn>
                                        <p:tgtEl>
                                          <p:spTgt spid="35"/>
                                        </p:tgtEl>
                                        <p:attrNameLst>
                                          <p:attrName>style.visibility</p:attrName>
                                        </p:attrNameLst>
                                      </p:cBhvr>
                                      <p:to>
                                        <p:strVal val="visible"/>
                                      </p:to>
                                    </p:set>
                                    <p:animEffect transition="in" filter="checkerboard(across)">
                                      <p:cBhvr>
                                        <p:cTn id="17" dur="50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95536" y="332656"/>
            <a:ext cx="4572000" cy="2031325"/>
          </a:xfrm>
          <a:prstGeom prst="rect">
            <a:avLst/>
          </a:prstGeom>
        </p:spPr>
        <p:txBody>
          <a:bodyPr>
            <a:spAutoFit/>
          </a:bodyPr>
          <a:lstStyle/>
          <a:p>
            <a:r>
              <a:rPr lang="en-US" b="1" dirty="0"/>
              <a:t>Step 4: Create additional zeros</a:t>
            </a:r>
          </a:p>
          <a:p>
            <a:endParaRPr lang="en-US" dirty="0"/>
          </a:p>
          <a:p>
            <a:pPr algn="just"/>
            <a:r>
              <a:rPr lang="en-US" dirty="0"/>
              <a:t>First, we find that the smallest uncovered number is 6. </a:t>
            </a:r>
            <a:r>
              <a:rPr lang="en-US" b="1" dirty="0">
                <a:solidFill>
                  <a:srgbClr val="FF0000"/>
                </a:solidFill>
              </a:rPr>
              <a:t>We subtract this number from all uncovered elements </a:t>
            </a:r>
            <a:r>
              <a:rPr lang="en-US" dirty="0"/>
              <a:t>and </a:t>
            </a:r>
            <a:r>
              <a:rPr lang="en-US" b="1" dirty="0">
                <a:solidFill>
                  <a:srgbClr val="FF0000"/>
                </a:solidFill>
              </a:rPr>
              <a:t>add it to all elements that are covered twice</a:t>
            </a:r>
            <a:r>
              <a:rPr lang="en-US" dirty="0"/>
              <a:t>. This results in the following matrix:                                  </a:t>
            </a:r>
            <a:r>
              <a:rPr lang="en-US" b="1" dirty="0"/>
              <a:t>→</a:t>
            </a:r>
          </a:p>
        </p:txBody>
      </p:sp>
      <p:pic>
        <p:nvPicPr>
          <p:cNvPr id="17410" name="Picture 2"/>
          <p:cNvPicPr>
            <a:picLocks noChangeAspect="1" noChangeArrowheads="1"/>
          </p:cNvPicPr>
          <p:nvPr/>
        </p:nvPicPr>
        <p:blipFill>
          <a:blip r:embed="rId2" cstate="print"/>
          <a:srcRect/>
          <a:stretch>
            <a:fillRect/>
          </a:stretch>
        </p:blipFill>
        <p:spPr bwMode="auto">
          <a:xfrm>
            <a:off x="5292080" y="404664"/>
            <a:ext cx="3488687" cy="1728192"/>
          </a:xfrm>
          <a:prstGeom prst="rect">
            <a:avLst/>
          </a:prstGeom>
          <a:noFill/>
          <a:ln w="9525">
            <a:noFill/>
            <a:miter lim="800000"/>
            <a:headEnd/>
            <a:tailEnd/>
          </a:ln>
        </p:spPr>
      </p:pic>
      <p:sp>
        <p:nvSpPr>
          <p:cNvPr id="6" name="Rectangle 5"/>
          <p:cNvSpPr/>
          <p:nvPr/>
        </p:nvSpPr>
        <p:spPr>
          <a:xfrm>
            <a:off x="4283968" y="2564904"/>
            <a:ext cx="4680520" cy="2308324"/>
          </a:xfrm>
          <a:prstGeom prst="rect">
            <a:avLst/>
          </a:prstGeom>
        </p:spPr>
        <p:txBody>
          <a:bodyPr wrap="square">
            <a:spAutoFit/>
          </a:bodyPr>
          <a:lstStyle/>
          <a:p>
            <a:r>
              <a:rPr lang="en-US" dirty="0"/>
              <a:t>Now we return to Step 3.</a:t>
            </a:r>
          </a:p>
          <a:p>
            <a:endParaRPr lang="en-US" dirty="0"/>
          </a:p>
          <a:p>
            <a:r>
              <a:rPr lang="en-US" b="1" dirty="0"/>
              <a:t>Step 3: Cover all zeros with a minimum number of lines</a:t>
            </a:r>
          </a:p>
          <a:p>
            <a:endParaRPr lang="en-US" dirty="0"/>
          </a:p>
          <a:p>
            <a:pPr algn="just"/>
            <a:r>
              <a:rPr lang="en-US" dirty="0"/>
              <a:t>Again, We determine the minimum number of lines required to cover all zeros in the matrix. Now there are 4 lines required:</a:t>
            </a:r>
          </a:p>
        </p:txBody>
      </p:sp>
      <p:grpSp>
        <p:nvGrpSpPr>
          <p:cNvPr id="22" name="Group 21"/>
          <p:cNvGrpSpPr/>
          <p:nvPr/>
        </p:nvGrpSpPr>
        <p:grpSpPr>
          <a:xfrm>
            <a:off x="323528" y="2852936"/>
            <a:ext cx="3488687" cy="2088232"/>
            <a:chOff x="323528" y="2852936"/>
            <a:chExt cx="3488687" cy="2088232"/>
          </a:xfrm>
        </p:grpSpPr>
        <p:pic>
          <p:nvPicPr>
            <p:cNvPr id="7" name="Picture 2"/>
            <p:cNvPicPr>
              <a:picLocks noChangeAspect="1" noChangeArrowheads="1"/>
            </p:cNvPicPr>
            <p:nvPr/>
          </p:nvPicPr>
          <p:blipFill>
            <a:blip r:embed="rId2" cstate="print"/>
            <a:srcRect/>
            <a:stretch>
              <a:fillRect/>
            </a:stretch>
          </p:blipFill>
          <p:spPr bwMode="auto">
            <a:xfrm>
              <a:off x="323528" y="3068960"/>
              <a:ext cx="3488687" cy="1728192"/>
            </a:xfrm>
            <a:prstGeom prst="rect">
              <a:avLst/>
            </a:prstGeom>
            <a:noFill/>
            <a:ln w="9525">
              <a:noFill/>
              <a:miter lim="800000"/>
              <a:headEnd/>
              <a:tailEnd/>
            </a:ln>
          </p:spPr>
        </p:pic>
        <p:grpSp>
          <p:nvGrpSpPr>
            <p:cNvPr id="21" name="Group 20"/>
            <p:cNvGrpSpPr/>
            <p:nvPr/>
          </p:nvGrpSpPr>
          <p:grpSpPr>
            <a:xfrm>
              <a:off x="1187624" y="2852936"/>
              <a:ext cx="2520280" cy="2088232"/>
              <a:chOff x="1187624" y="2852936"/>
              <a:chExt cx="2520280" cy="2088232"/>
            </a:xfrm>
          </p:grpSpPr>
          <p:sp>
            <p:nvSpPr>
              <p:cNvPr id="8" name="Rectangle 7"/>
              <p:cNvSpPr/>
              <p:nvPr/>
            </p:nvSpPr>
            <p:spPr>
              <a:xfrm>
                <a:off x="1259632" y="4077072"/>
                <a:ext cx="360040" cy="2880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1979712" y="3789040"/>
                <a:ext cx="288032" cy="2880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p:cNvSpPr/>
              <p:nvPr/>
            </p:nvSpPr>
            <p:spPr>
              <a:xfrm>
                <a:off x="3275856" y="4365104"/>
                <a:ext cx="360040" cy="2880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p:cNvSpPr/>
              <p:nvPr/>
            </p:nvSpPr>
            <p:spPr>
              <a:xfrm>
                <a:off x="2627784" y="3501008"/>
                <a:ext cx="288032" cy="2880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1187624" y="2852936"/>
                <a:ext cx="504056" cy="20882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p:cNvSpPr/>
              <p:nvPr/>
            </p:nvSpPr>
            <p:spPr>
              <a:xfrm>
                <a:off x="2483768" y="2852936"/>
                <a:ext cx="504056" cy="20882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p:cNvSpPr/>
              <p:nvPr/>
            </p:nvSpPr>
            <p:spPr>
              <a:xfrm>
                <a:off x="1907704" y="2852936"/>
                <a:ext cx="504056" cy="20882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p:cNvSpPr/>
              <p:nvPr/>
            </p:nvSpPr>
            <p:spPr>
              <a:xfrm>
                <a:off x="3203848" y="2852936"/>
                <a:ext cx="504056" cy="208823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sp>
        <p:nvSpPr>
          <p:cNvPr id="16" name="Rectangle 15"/>
          <p:cNvSpPr/>
          <p:nvPr/>
        </p:nvSpPr>
        <p:spPr>
          <a:xfrm>
            <a:off x="3851920" y="4437112"/>
            <a:ext cx="393056" cy="369332"/>
          </a:xfrm>
          <a:prstGeom prst="rect">
            <a:avLst/>
          </a:prstGeom>
        </p:spPr>
        <p:txBody>
          <a:bodyPr wrap="none">
            <a:spAutoFit/>
          </a:bodyPr>
          <a:lstStyle/>
          <a:p>
            <a:r>
              <a:rPr lang="en-US" b="1" dirty="0"/>
              <a:t>←</a:t>
            </a:r>
          </a:p>
        </p:txBody>
      </p:sp>
      <p:sp>
        <p:nvSpPr>
          <p:cNvPr id="17" name="Rectangle 16"/>
          <p:cNvSpPr/>
          <p:nvPr/>
        </p:nvSpPr>
        <p:spPr>
          <a:xfrm>
            <a:off x="6804248" y="2132856"/>
            <a:ext cx="393056" cy="369332"/>
          </a:xfrm>
          <a:prstGeom prst="rect">
            <a:avLst/>
          </a:prstGeom>
        </p:spPr>
        <p:txBody>
          <a:bodyPr wrap="none">
            <a:spAutoFit/>
          </a:bodyPr>
          <a:lstStyle/>
          <a:p>
            <a:r>
              <a:rPr lang="en-US" b="1" dirty="0"/>
              <a:t>↓</a:t>
            </a:r>
            <a:endParaRPr lang="en-US" dirty="0"/>
          </a:p>
        </p:txBody>
      </p:sp>
      <p:sp>
        <p:nvSpPr>
          <p:cNvPr id="18" name="Rectangle 17"/>
          <p:cNvSpPr/>
          <p:nvPr/>
        </p:nvSpPr>
        <p:spPr>
          <a:xfrm>
            <a:off x="251520" y="5157192"/>
            <a:ext cx="4572000" cy="1200329"/>
          </a:xfrm>
          <a:prstGeom prst="rect">
            <a:avLst/>
          </a:prstGeom>
        </p:spPr>
        <p:txBody>
          <a:bodyPr>
            <a:spAutoFit/>
          </a:bodyPr>
          <a:lstStyle/>
          <a:p>
            <a:pPr algn="just"/>
            <a:r>
              <a:rPr lang="en-US" dirty="0"/>
              <a:t>Because the number of lines required (4) equals the size of the matrix (</a:t>
            </a:r>
            <a:r>
              <a:rPr lang="en-US" i="1" dirty="0"/>
              <a:t>n</a:t>
            </a:r>
            <a:r>
              <a:rPr lang="en-US" dirty="0"/>
              <a:t>=4), an optimal assignment exists among the zeros in the matrix. Therefore, the algorithm stops. </a:t>
            </a:r>
          </a:p>
        </p:txBody>
      </p:sp>
      <p:sp>
        <p:nvSpPr>
          <p:cNvPr id="19" name="Rectangle 18"/>
          <p:cNvSpPr/>
          <p:nvPr/>
        </p:nvSpPr>
        <p:spPr>
          <a:xfrm>
            <a:off x="5004048" y="5157192"/>
            <a:ext cx="3888432" cy="1477328"/>
          </a:xfrm>
          <a:prstGeom prst="rect">
            <a:avLst/>
          </a:prstGeom>
        </p:spPr>
        <p:txBody>
          <a:bodyPr wrap="square">
            <a:spAutoFit/>
          </a:bodyPr>
          <a:lstStyle/>
          <a:p>
            <a:pPr algn="just"/>
            <a:r>
              <a:rPr lang="en-US" b="1" dirty="0"/>
              <a:t>Thus, worker 1 should perform job 3, worker 2 job 2, worker 3 job 1, and worker 4 should perform job 4. The total cost of this optimal assignment is to 69 + 37 + 11 + 23 = 140.</a:t>
            </a:r>
          </a:p>
        </p:txBody>
      </p:sp>
      <p:sp>
        <p:nvSpPr>
          <p:cNvPr id="20" name="Slide Number Placeholder 19"/>
          <p:cNvSpPr>
            <a:spLocks noGrp="1"/>
          </p:cNvSpPr>
          <p:nvPr>
            <p:ph type="sldNum" sz="quarter" idx="12"/>
          </p:nvPr>
        </p:nvSpPr>
        <p:spPr/>
        <p:txBody>
          <a:bodyPr/>
          <a:lstStyle/>
          <a:p>
            <a:fld id="{55C2A38D-ED02-420A-BF8A-05E20D604ACC}" type="slidenum">
              <a:rPr lang="en-US" smtClean="0"/>
              <a:pPr/>
              <a:t>10</a:t>
            </a:fld>
            <a:endParaRPr lang="en-US"/>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7410"/>
                                        </p:tgtEl>
                                        <p:attrNameLst>
                                          <p:attrName>style.visibility</p:attrName>
                                        </p:attrNameLst>
                                      </p:cBhvr>
                                      <p:to>
                                        <p:strVal val="visible"/>
                                      </p:to>
                                    </p:set>
                                    <p:animEffect transition="in" filter="checkerboard(across)">
                                      <p:cBhvr>
                                        <p:cTn id="7" dur="5000"/>
                                        <p:tgtEl>
                                          <p:spTgt spid="17410"/>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22"/>
                                        </p:tgtEl>
                                        <p:attrNameLst>
                                          <p:attrName>style.visibility</p:attrName>
                                        </p:attrNameLst>
                                      </p:cBhvr>
                                      <p:to>
                                        <p:strVal val="visible"/>
                                      </p:to>
                                    </p:set>
                                    <p:animEffect transition="in" filter="checkerboard(across)">
                                      <p:cBhvr>
                                        <p:cTn id="12" dur="5000"/>
                                        <p:tgtEl>
                                          <p:spTgt spid="22"/>
                                        </p:tgtEl>
                                      </p:cBhvr>
                                    </p:animEffect>
                                  </p:childTnLst>
                                </p:cTn>
                              </p:par>
                            </p:childTnLst>
                          </p:cTn>
                        </p:par>
                      </p:childTnLst>
                    </p:cTn>
                  </p:par>
                  <p:par>
                    <p:cTn id="13" fill="hold">
                      <p:stCondLst>
                        <p:cond delay="indefinite"/>
                      </p:stCondLst>
                      <p:childTnLst>
                        <p:par>
                          <p:cTn id="14" fill="hold">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19"/>
                                        </p:tgtEl>
                                        <p:attrNameLst>
                                          <p:attrName>style.visibility</p:attrName>
                                        </p:attrNameLst>
                                      </p:cBhvr>
                                      <p:to>
                                        <p:strVal val="visible"/>
                                      </p:to>
                                    </p:set>
                                    <p:animEffect transition="in" filter="checkerboard(across)">
                                      <p:cBhvr>
                                        <p:cTn id="17" dur="50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323528" y="260648"/>
            <a:ext cx="8352928" cy="2308324"/>
          </a:xfrm>
          <a:prstGeom prst="rect">
            <a:avLst/>
          </a:prstGeom>
        </p:spPr>
        <p:txBody>
          <a:bodyPr wrap="square">
            <a:spAutoFit/>
          </a:bodyPr>
          <a:lstStyle/>
          <a:p>
            <a:r>
              <a:rPr lang="en-US" sz="2400" dirty="0"/>
              <a:t>Example A:</a:t>
            </a:r>
          </a:p>
          <a:p>
            <a:br>
              <a:rPr lang="en-US" sz="2400" dirty="0"/>
            </a:br>
            <a:r>
              <a:rPr lang="en-US" sz="2400" dirty="0"/>
              <a:t>Four persons A,B,C and D are to be assigned four jobs I, II, III and IV. The cost matrix is given as under, find the proper assignment.</a:t>
            </a:r>
            <a:br>
              <a:rPr lang="en-US" sz="2400" dirty="0"/>
            </a:br>
            <a:br>
              <a:rPr lang="en-US" sz="2400" dirty="0"/>
            </a:br>
            <a:endParaRPr lang="en-US" sz="2400" dirty="0"/>
          </a:p>
        </p:txBody>
      </p:sp>
      <p:pic>
        <p:nvPicPr>
          <p:cNvPr id="18434" name="Picture 2"/>
          <p:cNvPicPr>
            <a:picLocks noChangeAspect="1" noChangeArrowheads="1"/>
          </p:cNvPicPr>
          <p:nvPr/>
        </p:nvPicPr>
        <p:blipFill>
          <a:blip r:embed="rId2" cstate="print"/>
          <a:srcRect/>
          <a:stretch>
            <a:fillRect/>
          </a:stretch>
        </p:blipFill>
        <p:spPr bwMode="auto">
          <a:xfrm>
            <a:off x="467544" y="1916832"/>
            <a:ext cx="4183896" cy="2088232"/>
          </a:xfrm>
          <a:prstGeom prst="rect">
            <a:avLst/>
          </a:prstGeom>
          <a:noFill/>
          <a:ln w="9525">
            <a:noFill/>
            <a:miter lim="800000"/>
            <a:headEnd/>
            <a:tailEnd/>
          </a:ln>
        </p:spPr>
      </p:pic>
      <p:sp>
        <p:nvSpPr>
          <p:cNvPr id="6" name="Rectangle 5"/>
          <p:cNvSpPr/>
          <p:nvPr/>
        </p:nvSpPr>
        <p:spPr>
          <a:xfrm>
            <a:off x="179512" y="4365104"/>
            <a:ext cx="5328592" cy="2308324"/>
          </a:xfrm>
          <a:prstGeom prst="rect">
            <a:avLst/>
          </a:prstGeom>
        </p:spPr>
        <p:txBody>
          <a:bodyPr wrap="square">
            <a:spAutoFit/>
          </a:bodyPr>
          <a:lstStyle/>
          <a:p>
            <a:r>
              <a:rPr lang="en-US" b="1" dirty="0"/>
              <a:t>Solution :</a:t>
            </a:r>
          </a:p>
          <a:p>
            <a:br>
              <a:rPr lang="en-US" dirty="0"/>
            </a:br>
            <a:r>
              <a:rPr lang="en-US" dirty="0"/>
              <a:t>In order to find the proper assignment we </a:t>
            </a:r>
          </a:p>
          <a:p>
            <a:r>
              <a:rPr lang="en-US" dirty="0"/>
              <a:t>apply the Hungarian algorithm as follows:</a:t>
            </a:r>
          </a:p>
          <a:p>
            <a:br>
              <a:rPr lang="en-US" dirty="0"/>
            </a:br>
            <a:r>
              <a:rPr lang="en-US" dirty="0"/>
              <a:t> I (A) Row reduction                    →</a:t>
            </a:r>
            <a:br>
              <a:rPr lang="en-US" dirty="0"/>
            </a:br>
            <a:br>
              <a:rPr lang="en-US" dirty="0"/>
            </a:br>
            <a:endParaRPr lang="en-US" dirty="0"/>
          </a:p>
        </p:txBody>
      </p:sp>
      <p:pic>
        <p:nvPicPr>
          <p:cNvPr id="18435" name="Picture 3"/>
          <p:cNvPicPr>
            <a:picLocks noChangeAspect="1" noChangeArrowheads="1"/>
          </p:cNvPicPr>
          <p:nvPr/>
        </p:nvPicPr>
        <p:blipFill>
          <a:blip r:embed="rId3" cstate="print"/>
          <a:srcRect/>
          <a:stretch>
            <a:fillRect/>
          </a:stretch>
        </p:blipFill>
        <p:spPr bwMode="auto">
          <a:xfrm>
            <a:off x="4355976" y="4293096"/>
            <a:ext cx="4480850" cy="2232248"/>
          </a:xfrm>
          <a:prstGeom prst="rect">
            <a:avLst/>
          </a:prstGeom>
          <a:noFill/>
          <a:ln w="9525">
            <a:noFill/>
            <a:miter lim="800000"/>
            <a:headEnd/>
            <a:tailEnd/>
          </a:ln>
        </p:spPr>
      </p:pic>
      <p:sp>
        <p:nvSpPr>
          <p:cNvPr id="7" name="Slide Number Placeholder 6"/>
          <p:cNvSpPr>
            <a:spLocks noGrp="1"/>
          </p:cNvSpPr>
          <p:nvPr>
            <p:ph type="sldNum" sz="quarter" idx="12"/>
          </p:nvPr>
        </p:nvSpPr>
        <p:spPr/>
        <p:txBody>
          <a:bodyPr/>
          <a:lstStyle/>
          <a:p>
            <a:fld id="{55C2A38D-ED02-420A-BF8A-05E20D604ACC}" type="slidenum">
              <a:rPr lang="en-US" smtClean="0"/>
              <a:pPr/>
              <a:t>11</a:t>
            </a:fld>
            <a:endParaRPr lang="en-US"/>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8435"/>
                                        </p:tgtEl>
                                        <p:attrNameLst>
                                          <p:attrName>style.visibility</p:attrName>
                                        </p:attrNameLst>
                                      </p:cBhvr>
                                      <p:to>
                                        <p:strVal val="visible"/>
                                      </p:to>
                                    </p:set>
                                    <p:animEffect transition="in" filter="checkerboard(across)">
                                      <p:cBhvr>
                                        <p:cTn id="7" dur="5000"/>
                                        <p:tgtEl>
                                          <p:spTgt spid="18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458" name="Picture 2"/>
          <p:cNvPicPr>
            <a:picLocks noChangeAspect="1" noChangeArrowheads="1"/>
          </p:cNvPicPr>
          <p:nvPr/>
        </p:nvPicPr>
        <p:blipFill>
          <a:blip r:embed="rId2" cstate="print"/>
          <a:srcRect/>
          <a:stretch>
            <a:fillRect/>
          </a:stretch>
        </p:blipFill>
        <p:spPr bwMode="auto">
          <a:xfrm>
            <a:off x="4427984" y="332656"/>
            <a:ext cx="4220528" cy="2016224"/>
          </a:xfrm>
          <a:prstGeom prst="rect">
            <a:avLst/>
          </a:prstGeom>
          <a:noFill/>
          <a:ln w="9525">
            <a:noFill/>
            <a:miter lim="800000"/>
            <a:headEnd/>
            <a:tailEnd/>
          </a:ln>
        </p:spPr>
      </p:pic>
      <p:sp>
        <p:nvSpPr>
          <p:cNvPr id="5" name="Rectangle 4"/>
          <p:cNvSpPr/>
          <p:nvPr/>
        </p:nvSpPr>
        <p:spPr>
          <a:xfrm>
            <a:off x="395536" y="908720"/>
            <a:ext cx="2808312" cy="923330"/>
          </a:xfrm>
          <a:prstGeom prst="rect">
            <a:avLst/>
          </a:prstGeom>
        </p:spPr>
        <p:txBody>
          <a:bodyPr wrap="square">
            <a:spAutoFit/>
          </a:bodyPr>
          <a:lstStyle/>
          <a:p>
            <a:r>
              <a:rPr lang="en-US" dirty="0"/>
              <a:t>I (B) Column reduction      →</a:t>
            </a:r>
            <a:br>
              <a:rPr lang="en-US" dirty="0"/>
            </a:br>
            <a:br>
              <a:rPr lang="en-US" dirty="0"/>
            </a:br>
            <a:endParaRPr lang="en-US" dirty="0"/>
          </a:p>
        </p:txBody>
      </p:sp>
      <p:sp>
        <p:nvSpPr>
          <p:cNvPr id="6" name="Rectangle 5"/>
          <p:cNvSpPr/>
          <p:nvPr/>
        </p:nvSpPr>
        <p:spPr>
          <a:xfrm>
            <a:off x="323528" y="3284984"/>
            <a:ext cx="4572000" cy="923330"/>
          </a:xfrm>
          <a:prstGeom prst="rect">
            <a:avLst/>
          </a:prstGeom>
        </p:spPr>
        <p:txBody>
          <a:bodyPr>
            <a:spAutoFit/>
          </a:bodyPr>
          <a:lstStyle/>
          <a:p>
            <a:r>
              <a:rPr lang="en-US" dirty="0"/>
              <a:t>II(A) and (B) Zero assignment      →</a:t>
            </a:r>
            <a:br>
              <a:rPr lang="en-US" dirty="0"/>
            </a:br>
            <a:br>
              <a:rPr lang="en-US" dirty="0"/>
            </a:br>
            <a:endParaRPr lang="en-US" dirty="0"/>
          </a:p>
        </p:txBody>
      </p:sp>
      <p:pic>
        <p:nvPicPr>
          <p:cNvPr id="19459" name="Picture 3"/>
          <p:cNvPicPr>
            <a:picLocks noChangeAspect="1" noChangeArrowheads="1"/>
          </p:cNvPicPr>
          <p:nvPr/>
        </p:nvPicPr>
        <p:blipFill>
          <a:blip r:embed="rId3" cstate="print"/>
          <a:srcRect/>
          <a:stretch>
            <a:fillRect/>
          </a:stretch>
        </p:blipFill>
        <p:spPr bwMode="auto">
          <a:xfrm>
            <a:off x="4283968" y="2852936"/>
            <a:ext cx="4637476" cy="2232248"/>
          </a:xfrm>
          <a:prstGeom prst="rect">
            <a:avLst/>
          </a:prstGeom>
          <a:noFill/>
          <a:ln w="9525">
            <a:noFill/>
            <a:miter lim="800000"/>
            <a:headEnd/>
            <a:tailEnd/>
          </a:ln>
        </p:spPr>
      </p:pic>
      <p:sp>
        <p:nvSpPr>
          <p:cNvPr id="8" name="Rectangle 7"/>
          <p:cNvSpPr/>
          <p:nvPr/>
        </p:nvSpPr>
        <p:spPr>
          <a:xfrm>
            <a:off x="251520" y="4581128"/>
            <a:ext cx="4320480" cy="2031325"/>
          </a:xfrm>
          <a:prstGeom prst="rect">
            <a:avLst/>
          </a:prstGeom>
        </p:spPr>
        <p:txBody>
          <a:bodyPr wrap="square">
            <a:spAutoFit/>
          </a:bodyPr>
          <a:lstStyle/>
          <a:p>
            <a:r>
              <a:rPr lang="en-US" dirty="0"/>
              <a:t>In this way all the zero’s are either crossed out or assigned.</a:t>
            </a:r>
            <a:br>
              <a:rPr lang="en-US" dirty="0"/>
            </a:br>
            <a:r>
              <a:rPr lang="en-US" dirty="0"/>
              <a:t>Also total assigned zero’s = 4 (i.e., number of rows or columns).</a:t>
            </a:r>
            <a:br>
              <a:rPr lang="en-US" dirty="0"/>
            </a:br>
            <a:r>
              <a:rPr lang="en-US" dirty="0"/>
              <a:t>Thus, the assignment is optimal.</a:t>
            </a:r>
            <a:br>
              <a:rPr lang="en-US" dirty="0"/>
            </a:br>
            <a:r>
              <a:rPr lang="en-US" dirty="0"/>
              <a:t>From the table we get I → B; II → C: III → D and IV → A.</a:t>
            </a:r>
          </a:p>
        </p:txBody>
      </p:sp>
      <p:sp>
        <p:nvSpPr>
          <p:cNvPr id="7" name="Slide Number Placeholder 6"/>
          <p:cNvSpPr>
            <a:spLocks noGrp="1"/>
          </p:cNvSpPr>
          <p:nvPr>
            <p:ph type="sldNum" sz="quarter" idx="12"/>
          </p:nvPr>
        </p:nvSpPr>
        <p:spPr/>
        <p:txBody>
          <a:bodyPr/>
          <a:lstStyle/>
          <a:p>
            <a:fld id="{55C2A38D-ED02-420A-BF8A-05E20D604ACC}" type="slidenum">
              <a:rPr lang="en-US" smtClean="0"/>
              <a:pPr/>
              <a:t>12</a:t>
            </a:fld>
            <a:endParaRPr lang="en-US"/>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19458"/>
                                        </p:tgtEl>
                                        <p:attrNameLst>
                                          <p:attrName>style.visibility</p:attrName>
                                        </p:attrNameLst>
                                      </p:cBhvr>
                                      <p:to>
                                        <p:strVal val="visible"/>
                                      </p:to>
                                    </p:set>
                                    <p:animEffect transition="in" filter="checkerboard(across)">
                                      <p:cBhvr>
                                        <p:cTn id="7" dur="5000"/>
                                        <p:tgtEl>
                                          <p:spTgt spid="19458"/>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19459"/>
                                        </p:tgtEl>
                                        <p:attrNameLst>
                                          <p:attrName>style.visibility</p:attrName>
                                        </p:attrNameLst>
                                      </p:cBhvr>
                                      <p:to>
                                        <p:strVal val="visible"/>
                                      </p:to>
                                    </p:set>
                                    <p:animEffect transition="in" filter="checkerboard(across)">
                                      <p:cBhvr>
                                        <p:cTn id="12" dur="5000"/>
                                        <p:tgtEl>
                                          <p:spTgt spid="194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188640"/>
            <a:ext cx="4572000" cy="1384995"/>
          </a:xfrm>
          <a:prstGeom prst="rect">
            <a:avLst/>
          </a:prstGeom>
        </p:spPr>
        <p:txBody>
          <a:bodyPr>
            <a:spAutoFit/>
          </a:bodyPr>
          <a:lstStyle/>
          <a:p>
            <a:r>
              <a:rPr lang="en-US" sz="2800" b="1" dirty="0"/>
              <a:t>   </a:t>
            </a:r>
            <a:r>
              <a:rPr lang="en-US" sz="2800" b="1" dirty="0" err="1"/>
              <a:t>Maximisation</a:t>
            </a:r>
            <a:r>
              <a:rPr lang="en-US" sz="2800" b="1" dirty="0"/>
              <a:t> Problem</a:t>
            </a:r>
            <a:br>
              <a:rPr lang="en-US" sz="2800" dirty="0"/>
            </a:br>
            <a:br>
              <a:rPr lang="en-US" sz="2800" dirty="0"/>
            </a:br>
            <a:endParaRPr lang="en-US" sz="2800" dirty="0"/>
          </a:p>
        </p:txBody>
      </p:sp>
      <p:sp>
        <p:nvSpPr>
          <p:cNvPr id="3" name="Rectangle 2"/>
          <p:cNvSpPr/>
          <p:nvPr/>
        </p:nvSpPr>
        <p:spPr>
          <a:xfrm>
            <a:off x="467544" y="1196752"/>
            <a:ext cx="7848872" cy="5262979"/>
          </a:xfrm>
          <a:prstGeom prst="rect">
            <a:avLst/>
          </a:prstGeom>
        </p:spPr>
        <p:txBody>
          <a:bodyPr wrap="square">
            <a:spAutoFit/>
          </a:bodyPr>
          <a:lstStyle/>
          <a:p>
            <a:pPr algn="just"/>
            <a:r>
              <a:rPr lang="en-US" sz="2400" dirty="0"/>
              <a:t>There may be an assignment problem in the form of </a:t>
            </a:r>
            <a:r>
              <a:rPr lang="en-US" sz="2400" dirty="0" err="1"/>
              <a:t>maximisation</a:t>
            </a:r>
            <a:r>
              <a:rPr lang="en-US" sz="2400" dirty="0"/>
              <a:t> problem. For example, profits (or anything else like revenues), which need </a:t>
            </a:r>
            <a:r>
              <a:rPr lang="en-US" sz="2400" dirty="0" err="1"/>
              <a:t>maximisation</a:t>
            </a:r>
            <a:r>
              <a:rPr lang="en-US" sz="2400" dirty="0"/>
              <a:t> may be given in the cells instead of costs/times. To solve such a problem, we find the </a:t>
            </a:r>
            <a:r>
              <a:rPr lang="en-US" sz="2400" b="1" i="1" dirty="0">
                <a:solidFill>
                  <a:srgbClr val="FF0000"/>
                </a:solidFill>
              </a:rPr>
              <a:t>opportunity loss matrix </a:t>
            </a:r>
            <a:r>
              <a:rPr lang="en-US" sz="2400" dirty="0"/>
              <a:t>by subtracting the value of each cell from the largest value chosen from amongst all the given cells. When the value of a cell is subtracted from the highest value, it gives the </a:t>
            </a:r>
            <a:r>
              <a:rPr lang="en-US" sz="2400" b="1" dirty="0"/>
              <a:t>loss </a:t>
            </a:r>
            <a:r>
              <a:rPr lang="en-US" sz="2400" dirty="0"/>
              <a:t>of amount caused by not getting the opportunity which would have given the highest value. The matrix so obtained is known as the </a:t>
            </a:r>
            <a:r>
              <a:rPr lang="en-US" sz="2400" b="1" i="1" dirty="0">
                <a:solidFill>
                  <a:srgbClr val="FF0000"/>
                </a:solidFill>
              </a:rPr>
              <a:t>opportunity loss matrix </a:t>
            </a:r>
            <a:r>
              <a:rPr lang="en-US" sz="2400" dirty="0"/>
              <a:t>and is handled in the same way as the </a:t>
            </a:r>
            <a:r>
              <a:rPr lang="en-US" sz="2400" dirty="0" err="1"/>
              <a:t>minimisation</a:t>
            </a:r>
            <a:r>
              <a:rPr lang="en-US" sz="2400" dirty="0"/>
              <a:t> problem. Let us see this case with the help of an example.</a:t>
            </a:r>
            <a:br>
              <a:rPr lang="en-US" sz="2400" dirty="0"/>
            </a:br>
            <a:br>
              <a:rPr lang="en-US" sz="2400" dirty="0"/>
            </a:br>
            <a:endParaRPr lang="en-US" sz="2400" dirty="0"/>
          </a:p>
        </p:txBody>
      </p:sp>
      <p:sp>
        <p:nvSpPr>
          <p:cNvPr id="4" name="Slide Number Placeholder 3"/>
          <p:cNvSpPr>
            <a:spLocks noGrp="1"/>
          </p:cNvSpPr>
          <p:nvPr>
            <p:ph type="sldNum" sz="quarter" idx="12"/>
          </p:nvPr>
        </p:nvSpPr>
        <p:spPr/>
        <p:txBody>
          <a:bodyPr/>
          <a:lstStyle/>
          <a:p>
            <a:fld id="{55C2A38D-ED02-420A-BF8A-05E20D604ACC}" type="slidenum">
              <a:rPr lang="en-US" smtClean="0"/>
              <a:pPr/>
              <a:t>13</a:t>
            </a:fld>
            <a:endParaRPr lang="en-US"/>
          </a:p>
        </p:txBody>
      </p:sp>
    </p:spTree>
  </p:cSld>
  <p:clrMapOvr>
    <a:masterClrMapping/>
  </p:clrMapOvr>
  <p:transition advClick="0"/>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23528" y="260648"/>
            <a:ext cx="8568952" cy="1877437"/>
          </a:xfrm>
          <a:prstGeom prst="rect">
            <a:avLst/>
          </a:prstGeom>
        </p:spPr>
        <p:txBody>
          <a:bodyPr wrap="square">
            <a:spAutoFit/>
          </a:bodyPr>
          <a:lstStyle/>
          <a:p>
            <a:pPr algn="just"/>
            <a:r>
              <a:rPr lang="en-US" sz="2200" b="1" dirty="0"/>
              <a:t>Example: </a:t>
            </a:r>
            <a:r>
              <a:rPr lang="en-US" sz="2200" dirty="0"/>
              <a:t>Five salesmen are to be assigned to five districts. Estimates of sales revenue (in thousands) for each salesman are given as follows:</a:t>
            </a:r>
          </a:p>
          <a:p>
            <a:pPr algn="just"/>
            <a:br>
              <a:rPr lang="en-US" sz="2400" dirty="0"/>
            </a:br>
            <a:br>
              <a:rPr lang="en-US" sz="2400" dirty="0"/>
            </a:br>
            <a:endParaRPr lang="en-US" sz="2400" dirty="0"/>
          </a:p>
        </p:txBody>
      </p:sp>
      <p:pic>
        <p:nvPicPr>
          <p:cNvPr id="20482" name="Picture 2"/>
          <p:cNvPicPr>
            <a:picLocks noChangeAspect="1" noChangeArrowheads="1"/>
          </p:cNvPicPr>
          <p:nvPr/>
        </p:nvPicPr>
        <p:blipFill>
          <a:blip r:embed="rId2" cstate="print">
            <a:duotone>
              <a:schemeClr val="bg2">
                <a:shade val="45000"/>
                <a:satMod val="135000"/>
              </a:schemeClr>
              <a:prstClr val="white"/>
            </a:duotone>
            <a:lum bright="-69000" contrast="88000"/>
          </a:blip>
          <a:srcRect/>
          <a:stretch>
            <a:fillRect/>
          </a:stretch>
        </p:blipFill>
        <p:spPr bwMode="auto">
          <a:xfrm>
            <a:off x="4427984" y="1124744"/>
            <a:ext cx="4032448" cy="2203572"/>
          </a:xfrm>
          <a:prstGeom prst="rect">
            <a:avLst/>
          </a:prstGeom>
          <a:solidFill>
            <a:schemeClr val="bg1"/>
          </a:solidFill>
          <a:ln w="9525">
            <a:noFill/>
            <a:miter lim="800000"/>
            <a:headEnd/>
            <a:tailEnd/>
          </a:ln>
          <a:scene3d>
            <a:camera prst="orthographicFront"/>
            <a:lightRig rig="threePt" dir="t"/>
          </a:scene3d>
          <a:sp3d prstMaterial="softEdge"/>
        </p:spPr>
      </p:pic>
      <p:sp>
        <p:nvSpPr>
          <p:cNvPr id="4" name="Rectangle 3"/>
          <p:cNvSpPr/>
          <p:nvPr/>
        </p:nvSpPr>
        <p:spPr>
          <a:xfrm>
            <a:off x="323528" y="1124744"/>
            <a:ext cx="3888432" cy="1661993"/>
          </a:xfrm>
          <a:prstGeom prst="rect">
            <a:avLst/>
          </a:prstGeom>
        </p:spPr>
        <p:txBody>
          <a:bodyPr wrap="square">
            <a:spAutoFit/>
          </a:bodyPr>
          <a:lstStyle/>
          <a:p>
            <a:r>
              <a:rPr lang="en-US" sz="2200" dirty="0"/>
              <a:t>Find the assignment pattern that </a:t>
            </a:r>
            <a:r>
              <a:rPr lang="en-US" sz="2200" b="1" dirty="0" err="1"/>
              <a:t>maximises</a:t>
            </a:r>
            <a:r>
              <a:rPr lang="en-US" sz="2200" dirty="0"/>
              <a:t> the sales revenue.</a:t>
            </a:r>
            <a:br>
              <a:rPr lang="en-US" dirty="0"/>
            </a:br>
            <a:br>
              <a:rPr lang="en-US" dirty="0"/>
            </a:br>
            <a:endParaRPr lang="en-US" dirty="0"/>
          </a:p>
        </p:txBody>
      </p:sp>
      <p:sp>
        <p:nvSpPr>
          <p:cNvPr id="5" name="Rectangle 4"/>
          <p:cNvSpPr/>
          <p:nvPr/>
        </p:nvSpPr>
        <p:spPr>
          <a:xfrm>
            <a:off x="323528" y="2276872"/>
            <a:ext cx="3744416" cy="3139321"/>
          </a:xfrm>
          <a:prstGeom prst="rect">
            <a:avLst/>
          </a:prstGeom>
        </p:spPr>
        <p:txBody>
          <a:bodyPr wrap="square">
            <a:spAutoFit/>
          </a:bodyPr>
          <a:lstStyle/>
          <a:p>
            <a:pPr algn="just"/>
            <a:r>
              <a:rPr lang="en-US" b="1" dirty="0"/>
              <a:t>Solution: </a:t>
            </a:r>
            <a:r>
              <a:rPr lang="en-US" dirty="0"/>
              <a:t>Since we are to </a:t>
            </a:r>
            <a:r>
              <a:rPr lang="en-US" dirty="0" err="1"/>
              <a:t>maximise</a:t>
            </a:r>
            <a:r>
              <a:rPr lang="en-US" dirty="0"/>
              <a:t> the sales revenue, we need to convert it into </a:t>
            </a:r>
            <a:r>
              <a:rPr lang="en-US" dirty="0" err="1"/>
              <a:t>minimisation</a:t>
            </a:r>
            <a:r>
              <a:rPr lang="en-US" dirty="0"/>
              <a:t> form before applying the Hungarian method. For this, we obtain the </a:t>
            </a:r>
            <a:r>
              <a:rPr lang="en-US" b="1" i="1" dirty="0">
                <a:solidFill>
                  <a:srgbClr val="FF0000"/>
                </a:solidFill>
              </a:rPr>
              <a:t>opportunity loss matrix</a:t>
            </a:r>
            <a:r>
              <a:rPr lang="en-US" dirty="0"/>
              <a:t> by subtracting every element in the given table from the largest element in it. In this case, the largest element is 41. Thus, we obtain the following opportunity loss matrix:   </a:t>
            </a:r>
            <a:r>
              <a:rPr lang="en-US" b="1" dirty="0"/>
              <a:t>→</a:t>
            </a:r>
          </a:p>
          <a:p>
            <a:pPr algn="just"/>
            <a:r>
              <a:rPr lang="en-US" dirty="0"/>
              <a:t>                                         </a:t>
            </a:r>
          </a:p>
        </p:txBody>
      </p:sp>
      <p:pic>
        <p:nvPicPr>
          <p:cNvPr id="20483" name="Picture 3"/>
          <p:cNvPicPr>
            <a:picLocks noChangeAspect="1" noChangeArrowheads="1"/>
          </p:cNvPicPr>
          <p:nvPr/>
        </p:nvPicPr>
        <p:blipFill>
          <a:blip r:embed="rId3" cstate="print">
            <a:lum bright="-43000" contrast="100000"/>
          </a:blip>
          <a:srcRect/>
          <a:stretch>
            <a:fillRect/>
          </a:stretch>
        </p:blipFill>
        <p:spPr bwMode="auto">
          <a:xfrm>
            <a:off x="4139952" y="3429000"/>
            <a:ext cx="4780403" cy="1512168"/>
          </a:xfrm>
          <a:prstGeom prst="rect">
            <a:avLst/>
          </a:prstGeom>
          <a:noFill/>
          <a:ln w="9525">
            <a:noFill/>
            <a:miter lim="800000"/>
            <a:headEnd/>
            <a:tailEnd/>
          </a:ln>
        </p:spPr>
      </p:pic>
      <p:sp>
        <p:nvSpPr>
          <p:cNvPr id="7" name="Rectangle 6"/>
          <p:cNvSpPr/>
          <p:nvPr/>
        </p:nvSpPr>
        <p:spPr>
          <a:xfrm>
            <a:off x="251520" y="5229200"/>
            <a:ext cx="3816424" cy="646331"/>
          </a:xfrm>
          <a:prstGeom prst="rect">
            <a:avLst/>
          </a:prstGeom>
        </p:spPr>
        <p:txBody>
          <a:bodyPr wrap="square">
            <a:spAutoFit/>
          </a:bodyPr>
          <a:lstStyle/>
          <a:p>
            <a:r>
              <a:rPr lang="en-US" dirty="0"/>
              <a:t>Now, we apply the Hungarian method (Steps 1 to 4)</a:t>
            </a:r>
          </a:p>
        </p:txBody>
      </p:sp>
      <p:sp>
        <p:nvSpPr>
          <p:cNvPr id="8" name="Rectangle 7"/>
          <p:cNvSpPr/>
          <p:nvPr/>
        </p:nvSpPr>
        <p:spPr>
          <a:xfrm>
            <a:off x="4211960" y="5085184"/>
            <a:ext cx="4572000" cy="923330"/>
          </a:xfrm>
          <a:prstGeom prst="rect">
            <a:avLst/>
          </a:prstGeom>
        </p:spPr>
        <p:txBody>
          <a:bodyPr>
            <a:spAutoFit/>
          </a:bodyPr>
          <a:lstStyle/>
          <a:p>
            <a:r>
              <a:rPr lang="en-US" dirty="0"/>
              <a:t>1 -&gt; B, 2 -&gt; A, 3 -&gt; E, 4 -&gt; C, 5 -&gt; D Thus, the maximum sales revenue = 38 + 40 + 37 + 41 + 35 thousand rupees = 191 thousand rupees.</a:t>
            </a:r>
          </a:p>
        </p:txBody>
      </p:sp>
      <p:sp>
        <p:nvSpPr>
          <p:cNvPr id="9" name="Slide Number Placeholder 8"/>
          <p:cNvSpPr>
            <a:spLocks noGrp="1"/>
          </p:cNvSpPr>
          <p:nvPr>
            <p:ph type="sldNum" sz="quarter" idx="12"/>
          </p:nvPr>
        </p:nvSpPr>
        <p:spPr/>
        <p:txBody>
          <a:bodyPr/>
          <a:lstStyle/>
          <a:p>
            <a:fld id="{55C2A38D-ED02-420A-BF8A-05E20D604ACC}" type="slidenum">
              <a:rPr lang="en-US" smtClean="0"/>
              <a:pPr/>
              <a:t>14</a:t>
            </a:fld>
            <a:endParaRPr lang="en-US"/>
          </a:p>
        </p:txBody>
      </p:sp>
      <p:sp>
        <p:nvSpPr>
          <p:cNvPr id="10" name="Rectangle 9"/>
          <p:cNvSpPr/>
          <p:nvPr/>
        </p:nvSpPr>
        <p:spPr>
          <a:xfrm>
            <a:off x="395536" y="6021288"/>
            <a:ext cx="8064896" cy="646331"/>
          </a:xfrm>
          <a:prstGeom prst="rect">
            <a:avLst/>
          </a:prstGeom>
        </p:spPr>
        <p:txBody>
          <a:bodyPr wrap="square">
            <a:spAutoFit/>
          </a:bodyPr>
          <a:lstStyle/>
          <a:p>
            <a:r>
              <a:rPr lang="en-US" dirty="0">
                <a:hlinkClick r:id="rId4"/>
              </a:rPr>
              <a:t>https://www.wisdomjobs.com/e-university/quantitative-techniques-for-management-tutorial-297/maximization-problem-9902.html</a:t>
            </a:r>
            <a:endParaRPr lang="en-US" dirty="0"/>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0483"/>
                                        </p:tgtEl>
                                        <p:attrNameLst>
                                          <p:attrName>style.visibility</p:attrName>
                                        </p:attrNameLst>
                                      </p:cBhvr>
                                      <p:to>
                                        <p:strVal val="visible"/>
                                      </p:to>
                                    </p:set>
                                    <p:animEffect transition="in" filter="checkerboard(across)">
                                      <p:cBhvr>
                                        <p:cTn id="7" dur="5000"/>
                                        <p:tgtEl>
                                          <p:spTgt spid="2048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checkerboard(across)">
                                      <p:cBhvr>
                                        <p:cTn id="12" dur="50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83568" y="260648"/>
            <a:ext cx="6696744" cy="1384995"/>
          </a:xfrm>
          <a:prstGeom prst="rect">
            <a:avLst/>
          </a:prstGeom>
        </p:spPr>
        <p:txBody>
          <a:bodyPr wrap="square">
            <a:spAutoFit/>
          </a:bodyPr>
          <a:lstStyle/>
          <a:p>
            <a:r>
              <a:rPr lang="en-US" sz="2800" b="1" dirty="0"/>
              <a:t>The Unbalanced Assignment Problem</a:t>
            </a:r>
            <a:br>
              <a:rPr lang="en-US" sz="2800" dirty="0"/>
            </a:br>
            <a:br>
              <a:rPr lang="en-US" sz="2800" dirty="0"/>
            </a:br>
            <a:endParaRPr lang="en-US" sz="2800" dirty="0"/>
          </a:p>
        </p:txBody>
      </p:sp>
      <p:sp>
        <p:nvSpPr>
          <p:cNvPr id="3" name="Rectangle 2"/>
          <p:cNvSpPr/>
          <p:nvPr/>
        </p:nvSpPr>
        <p:spPr>
          <a:xfrm>
            <a:off x="611560" y="1196752"/>
            <a:ext cx="7920880" cy="4524315"/>
          </a:xfrm>
          <a:prstGeom prst="rect">
            <a:avLst/>
          </a:prstGeom>
        </p:spPr>
        <p:txBody>
          <a:bodyPr wrap="square">
            <a:spAutoFit/>
          </a:bodyPr>
          <a:lstStyle/>
          <a:p>
            <a:pPr algn="just"/>
            <a:r>
              <a:rPr lang="en-US" sz="2400" dirty="0"/>
              <a:t>The assignment problem wherein the </a:t>
            </a:r>
            <a:r>
              <a:rPr lang="en-US" sz="2400" dirty="0">
                <a:solidFill>
                  <a:srgbClr val="FF0000"/>
                </a:solidFill>
              </a:rPr>
              <a:t>number of rows is not equal to the number of columns</a:t>
            </a:r>
            <a:r>
              <a:rPr lang="en-US" sz="2400" dirty="0"/>
              <a:t> is said to be an </a:t>
            </a:r>
            <a:r>
              <a:rPr lang="en-US" sz="2400" b="1" dirty="0">
                <a:solidFill>
                  <a:srgbClr val="FF0000"/>
                </a:solidFill>
              </a:rPr>
              <a:t>unbalanced assignment problem</a:t>
            </a:r>
            <a:r>
              <a:rPr lang="en-US" sz="2400" dirty="0"/>
              <a:t>. Such a problem is handled by introducing dummy row(s) if the number of rows is less than the number of columns and dummy column(s) if the number of columns is less than the number of rows. All the elements of such a dummy row/column are taken as </a:t>
            </a:r>
            <a:r>
              <a:rPr lang="en-US" sz="2400" dirty="0">
                <a:solidFill>
                  <a:srgbClr val="FF0000"/>
                </a:solidFill>
              </a:rPr>
              <a:t>zero</a:t>
            </a:r>
            <a:r>
              <a:rPr lang="en-US" sz="2400" dirty="0"/>
              <a:t>. The assignment problem is then solved by the Hungarian method as explained earlier.</a:t>
            </a:r>
          </a:p>
          <a:p>
            <a:pPr algn="just"/>
            <a:br>
              <a:rPr lang="en-US" sz="2400" dirty="0"/>
            </a:br>
            <a:br>
              <a:rPr lang="en-US" sz="2400" dirty="0"/>
            </a:br>
            <a:endParaRPr lang="en-US" sz="2400" dirty="0"/>
          </a:p>
        </p:txBody>
      </p:sp>
      <p:sp>
        <p:nvSpPr>
          <p:cNvPr id="4" name="Slide Number Placeholder 3"/>
          <p:cNvSpPr>
            <a:spLocks noGrp="1"/>
          </p:cNvSpPr>
          <p:nvPr>
            <p:ph type="sldNum" sz="quarter" idx="12"/>
          </p:nvPr>
        </p:nvSpPr>
        <p:spPr/>
        <p:txBody>
          <a:bodyPr/>
          <a:lstStyle/>
          <a:p>
            <a:fld id="{55C2A38D-ED02-420A-BF8A-05E20D604ACC}" type="slidenum">
              <a:rPr lang="en-US" smtClean="0"/>
              <a:pPr/>
              <a:t>15</a:t>
            </a:fld>
            <a:endParaRPr lang="en-US"/>
          </a:p>
        </p:txBody>
      </p:sp>
    </p:spTree>
  </p:cSld>
  <p:clrMapOvr>
    <a:masterClrMapping/>
  </p:clrMapOvr>
  <p:transition advClick="0"/>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404664"/>
            <a:ext cx="8280920" cy="3785652"/>
          </a:xfrm>
          <a:prstGeom prst="rect">
            <a:avLst/>
          </a:prstGeom>
        </p:spPr>
        <p:txBody>
          <a:bodyPr wrap="square">
            <a:spAutoFit/>
          </a:bodyPr>
          <a:lstStyle/>
          <a:p>
            <a:pPr algn="just"/>
            <a:r>
              <a:rPr lang="en-US" sz="2000" b="1" dirty="0"/>
              <a:t>Example : </a:t>
            </a:r>
            <a:r>
              <a:rPr lang="en-US" sz="2000" dirty="0"/>
              <a:t>To stimulate interest and provide an atmosphere for intellectual discussion, the faculty of mathematical sciences in an institute decides to hold special seminars on four contemporary topics – Statistics, Operations Research, Discrete Mathematics, Matrices. Each such seminar is to be held once a week. However, scheduling these seminars (one for each topic and not more than one seminar per day) has to be done carefully so that the </a:t>
            </a:r>
            <a:r>
              <a:rPr lang="en-US" sz="2000" b="1" i="1" dirty="0">
                <a:solidFill>
                  <a:srgbClr val="FF0000"/>
                </a:solidFill>
              </a:rPr>
              <a:t>number of students unable to attend is kept to a minimum</a:t>
            </a:r>
            <a:r>
              <a:rPr lang="en-US" sz="2000" dirty="0"/>
              <a:t>. A careful study indicates that the number of students who cannot attend a particular seminar on a specific day is as follows:</a:t>
            </a:r>
          </a:p>
          <a:p>
            <a:pPr algn="just"/>
            <a:br>
              <a:rPr lang="en-US" sz="2000" dirty="0"/>
            </a:br>
            <a:br>
              <a:rPr lang="en-US" sz="2000" dirty="0"/>
            </a:br>
            <a:endParaRPr lang="en-US" sz="2000" dirty="0"/>
          </a:p>
        </p:txBody>
      </p:sp>
      <p:pic>
        <p:nvPicPr>
          <p:cNvPr id="21506" name="Picture 2"/>
          <p:cNvPicPr>
            <a:picLocks noChangeAspect="1" noChangeArrowheads="1"/>
          </p:cNvPicPr>
          <p:nvPr/>
        </p:nvPicPr>
        <p:blipFill>
          <a:blip r:embed="rId2" cstate="print">
            <a:lum bright="-16000" contrast="56000"/>
          </a:blip>
          <a:srcRect/>
          <a:stretch>
            <a:fillRect/>
          </a:stretch>
        </p:blipFill>
        <p:spPr bwMode="auto">
          <a:xfrm>
            <a:off x="539552" y="3284984"/>
            <a:ext cx="7272808" cy="2223009"/>
          </a:xfrm>
          <a:prstGeom prst="rect">
            <a:avLst/>
          </a:prstGeom>
          <a:noFill/>
          <a:ln w="9525">
            <a:noFill/>
            <a:miter lim="800000"/>
            <a:headEnd/>
            <a:tailEnd/>
          </a:ln>
        </p:spPr>
      </p:pic>
      <p:sp>
        <p:nvSpPr>
          <p:cNvPr id="4" name="Rectangle 3"/>
          <p:cNvSpPr/>
          <p:nvPr/>
        </p:nvSpPr>
        <p:spPr>
          <a:xfrm>
            <a:off x="539552" y="5733256"/>
            <a:ext cx="8136904" cy="707886"/>
          </a:xfrm>
          <a:prstGeom prst="rect">
            <a:avLst/>
          </a:prstGeom>
        </p:spPr>
        <p:txBody>
          <a:bodyPr wrap="square">
            <a:spAutoFit/>
          </a:bodyPr>
          <a:lstStyle/>
          <a:p>
            <a:pPr algn="just"/>
            <a:r>
              <a:rPr lang="en-US" sz="2000" dirty="0"/>
              <a:t>Find an optimal schedule for the seminars. Also find the number of students who will be missing at least one seminar.</a:t>
            </a:r>
            <a:endParaRPr lang="en-US" dirty="0"/>
          </a:p>
        </p:txBody>
      </p:sp>
      <p:sp>
        <p:nvSpPr>
          <p:cNvPr id="5" name="Slide Number Placeholder 4"/>
          <p:cNvSpPr>
            <a:spLocks noGrp="1"/>
          </p:cNvSpPr>
          <p:nvPr>
            <p:ph type="sldNum" sz="quarter" idx="12"/>
          </p:nvPr>
        </p:nvSpPr>
        <p:spPr/>
        <p:txBody>
          <a:bodyPr/>
          <a:lstStyle/>
          <a:p>
            <a:fld id="{55C2A38D-ED02-420A-BF8A-05E20D604ACC}" type="slidenum">
              <a:rPr lang="en-US" smtClean="0"/>
              <a:pPr/>
              <a:t>16</a:t>
            </a:fld>
            <a:endParaRPr lang="en-US"/>
          </a:p>
        </p:txBody>
      </p:sp>
    </p:spTree>
  </p:cSld>
  <p:clrMapOvr>
    <a:masterClrMapping/>
  </p:clrMapOvr>
  <p:transition advClick="0"/>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67544" y="332656"/>
            <a:ext cx="8064896" cy="2677656"/>
          </a:xfrm>
          <a:prstGeom prst="rect">
            <a:avLst/>
          </a:prstGeom>
        </p:spPr>
        <p:txBody>
          <a:bodyPr wrap="square">
            <a:spAutoFit/>
          </a:bodyPr>
          <a:lstStyle/>
          <a:p>
            <a:pPr algn="just"/>
            <a:r>
              <a:rPr lang="en-US" sz="2400" b="1" dirty="0"/>
              <a:t>Solution: </a:t>
            </a:r>
            <a:r>
              <a:rPr lang="en-US" sz="2400" dirty="0"/>
              <a:t>Monday -&gt; Matrices, Wednesday -&gt; Operations Research, Thursday -&gt; Discrete Mathematics, Friday -&gt; Statistics The total number of students who will be missing at least one seminar = 20 + 20 + 20 + 10 = 70</a:t>
            </a:r>
          </a:p>
          <a:p>
            <a:pPr algn="just"/>
            <a:br>
              <a:rPr lang="en-US" sz="2400" dirty="0"/>
            </a:br>
            <a:br>
              <a:rPr lang="en-US" sz="2400" dirty="0"/>
            </a:br>
            <a:endParaRPr lang="en-US" sz="2400" dirty="0"/>
          </a:p>
        </p:txBody>
      </p:sp>
      <p:sp>
        <p:nvSpPr>
          <p:cNvPr id="3" name="Slide Number Placeholder 2"/>
          <p:cNvSpPr>
            <a:spLocks noGrp="1"/>
          </p:cNvSpPr>
          <p:nvPr>
            <p:ph type="sldNum" sz="quarter" idx="12"/>
          </p:nvPr>
        </p:nvSpPr>
        <p:spPr/>
        <p:txBody>
          <a:bodyPr/>
          <a:lstStyle/>
          <a:p>
            <a:fld id="{55C2A38D-ED02-420A-BF8A-05E20D604ACC}" type="slidenum">
              <a:rPr lang="en-US" smtClean="0"/>
              <a:pPr/>
              <a:t>17</a:t>
            </a:fld>
            <a:endParaRPr lang="en-US"/>
          </a:p>
        </p:txBody>
      </p:sp>
    </p:spTree>
  </p:cSld>
  <p:clrMapOvr>
    <a:masterClrMapping/>
  </p:clrMapOvr>
  <p:transition advClick="0"/>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404664"/>
            <a:ext cx="8136904" cy="3785652"/>
          </a:xfrm>
          <a:prstGeom prst="rect">
            <a:avLst/>
          </a:prstGeom>
        </p:spPr>
        <p:txBody>
          <a:bodyPr wrap="square">
            <a:spAutoFit/>
          </a:bodyPr>
          <a:lstStyle/>
          <a:p>
            <a:pPr algn="just"/>
            <a:r>
              <a:rPr lang="en-US" sz="2400" b="1" dirty="0"/>
              <a:t>Example:</a:t>
            </a:r>
            <a:r>
              <a:rPr lang="en-US" sz="2400" dirty="0"/>
              <a:t> An office has four workers, and four tasks have to be </a:t>
            </a:r>
            <a:br>
              <a:rPr lang="en-US" sz="2400" dirty="0"/>
            </a:br>
            <a:r>
              <a:rPr lang="en-US" sz="2400" dirty="0"/>
              <a:t>performed. Workers differ in efficiency and tasks differ in </a:t>
            </a:r>
            <a:br>
              <a:rPr lang="en-US" sz="2400" dirty="0"/>
            </a:br>
            <a:r>
              <a:rPr lang="en-US" sz="2400" dirty="0"/>
              <a:t>their intrinsic difficulty. Time each worker would take to </a:t>
            </a:r>
            <a:br>
              <a:rPr lang="en-US" sz="2400" dirty="0"/>
            </a:br>
            <a:r>
              <a:rPr lang="en-US" sz="2400" dirty="0"/>
              <a:t>complete each task is given in the effectiveness matrix. </a:t>
            </a:r>
            <a:br>
              <a:rPr lang="en-US" sz="2400" dirty="0"/>
            </a:br>
            <a:r>
              <a:rPr lang="en-US" sz="2400" dirty="0"/>
              <a:t>How the tasks should be allocated to each worker so as </a:t>
            </a:r>
            <a:br>
              <a:rPr lang="en-US" sz="2400" dirty="0"/>
            </a:br>
            <a:r>
              <a:rPr lang="en-US" sz="2400" dirty="0"/>
              <a:t>to </a:t>
            </a:r>
            <a:r>
              <a:rPr lang="en-US" sz="2400" dirty="0" err="1"/>
              <a:t>minimise</a:t>
            </a:r>
            <a:r>
              <a:rPr lang="en-US" sz="2400" dirty="0"/>
              <a:t> the total man-hour?</a:t>
            </a:r>
          </a:p>
          <a:p>
            <a:pPr algn="just"/>
            <a:endParaRPr lang="en-US" sz="2400" dirty="0"/>
          </a:p>
          <a:p>
            <a:pPr algn="just"/>
            <a:br>
              <a:rPr lang="en-US" sz="2400" dirty="0"/>
            </a:br>
            <a:br>
              <a:rPr lang="en-US" sz="2400" dirty="0"/>
            </a:br>
            <a:endParaRPr lang="en-US" sz="2400" dirty="0"/>
          </a:p>
        </p:txBody>
      </p:sp>
      <p:grpSp>
        <p:nvGrpSpPr>
          <p:cNvPr id="5" name="Group 4"/>
          <p:cNvGrpSpPr/>
          <p:nvPr/>
        </p:nvGrpSpPr>
        <p:grpSpPr>
          <a:xfrm>
            <a:off x="971600" y="2852936"/>
            <a:ext cx="6248400" cy="2805683"/>
            <a:chOff x="1187624" y="3172326"/>
            <a:chExt cx="6248400" cy="2805683"/>
          </a:xfrm>
        </p:grpSpPr>
        <p:pic>
          <p:nvPicPr>
            <p:cNvPr id="22530" name="Picture 2"/>
            <p:cNvPicPr>
              <a:picLocks noChangeAspect="1" noChangeArrowheads="1"/>
            </p:cNvPicPr>
            <p:nvPr/>
          </p:nvPicPr>
          <p:blipFill>
            <a:blip r:embed="rId2" cstate="print"/>
            <a:srcRect t="13171"/>
            <a:stretch>
              <a:fillRect/>
            </a:stretch>
          </p:blipFill>
          <p:spPr bwMode="auto">
            <a:xfrm>
              <a:off x="1187624" y="3604374"/>
              <a:ext cx="6248400" cy="2373635"/>
            </a:xfrm>
            <a:prstGeom prst="rect">
              <a:avLst/>
            </a:prstGeom>
            <a:noFill/>
            <a:ln w="9525">
              <a:noFill/>
              <a:miter lim="800000"/>
              <a:headEnd/>
              <a:tailEnd/>
            </a:ln>
          </p:spPr>
        </p:pic>
        <p:sp>
          <p:nvSpPr>
            <p:cNvPr id="4" name="Rectangle 3"/>
            <p:cNvSpPr/>
            <p:nvPr/>
          </p:nvSpPr>
          <p:spPr>
            <a:xfrm>
              <a:off x="4139952" y="3172326"/>
              <a:ext cx="980846" cy="369332"/>
            </a:xfrm>
            <a:prstGeom prst="rect">
              <a:avLst/>
            </a:prstGeom>
          </p:spPr>
          <p:txBody>
            <a:bodyPr wrap="none">
              <a:spAutoFit/>
            </a:bodyPr>
            <a:lstStyle/>
            <a:p>
              <a:r>
                <a:rPr lang="en-US" b="1" dirty="0"/>
                <a:t>Workers</a:t>
              </a:r>
            </a:p>
          </p:txBody>
        </p:sp>
      </p:grpSp>
      <p:sp>
        <p:nvSpPr>
          <p:cNvPr id="6" name="Rectangle 5"/>
          <p:cNvSpPr/>
          <p:nvPr/>
        </p:nvSpPr>
        <p:spPr>
          <a:xfrm>
            <a:off x="1043608" y="6021288"/>
            <a:ext cx="7200800" cy="523220"/>
          </a:xfrm>
          <a:prstGeom prst="rect">
            <a:avLst/>
          </a:prstGeom>
        </p:spPr>
        <p:txBody>
          <a:bodyPr wrap="square">
            <a:spAutoFit/>
          </a:bodyPr>
          <a:lstStyle/>
          <a:p>
            <a:r>
              <a:rPr lang="en-US" sz="2800" b="1" dirty="0"/>
              <a:t>Solution: </a:t>
            </a:r>
            <a:r>
              <a:rPr lang="en-US" sz="2800" dirty="0"/>
              <a:t>I → A, II → C, III → B, IV → D</a:t>
            </a:r>
          </a:p>
        </p:txBody>
      </p:sp>
      <p:sp>
        <p:nvSpPr>
          <p:cNvPr id="7" name="Slide Number Placeholder 6"/>
          <p:cNvSpPr>
            <a:spLocks noGrp="1"/>
          </p:cNvSpPr>
          <p:nvPr>
            <p:ph type="sldNum" sz="quarter" idx="12"/>
          </p:nvPr>
        </p:nvSpPr>
        <p:spPr/>
        <p:txBody>
          <a:bodyPr/>
          <a:lstStyle/>
          <a:p>
            <a:fld id="{55C2A38D-ED02-420A-BF8A-05E20D604ACC}" type="slidenum">
              <a:rPr lang="en-US" smtClean="0"/>
              <a:pPr/>
              <a:t>18</a:t>
            </a:fld>
            <a:endParaRPr lang="en-US"/>
          </a:p>
        </p:txBody>
      </p:sp>
    </p:spTree>
  </p:cSld>
  <p:clrMapOvr>
    <a:masterClrMapping/>
  </p:clrMapOvr>
  <p:transition advClick="0"/>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1"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checkerboard(across)">
                                      <p:cBhvr>
                                        <p:cTn id="12" dur="5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6" grpId="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3554" name="Picture 2"/>
          <p:cNvPicPr>
            <a:picLocks noChangeAspect="1" noChangeArrowheads="1"/>
          </p:cNvPicPr>
          <p:nvPr/>
        </p:nvPicPr>
        <p:blipFill>
          <a:blip r:embed="rId2" cstate="print"/>
          <a:srcRect/>
          <a:stretch>
            <a:fillRect/>
          </a:stretch>
        </p:blipFill>
        <p:spPr bwMode="auto">
          <a:xfrm>
            <a:off x="3269749" y="0"/>
            <a:ext cx="5334699" cy="6703400"/>
          </a:xfrm>
          <a:prstGeom prst="rect">
            <a:avLst/>
          </a:prstGeom>
          <a:noFill/>
          <a:ln w="9525">
            <a:noFill/>
            <a:miter lim="800000"/>
            <a:headEnd/>
            <a:tailEnd/>
          </a:ln>
        </p:spPr>
      </p:pic>
      <p:sp>
        <p:nvSpPr>
          <p:cNvPr id="3" name="Rectangle 2"/>
          <p:cNvSpPr/>
          <p:nvPr/>
        </p:nvSpPr>
        <p:spPr>
          <a:xfrm>
            <a:off x="467544" y="6165304"/>
            <a:ext cx="4572000" cy="461665"/>
          </a:xfrm>
          <a:prstGeom prst="rect">
            <a:avLst/>
          </a:prstGeom>
        </p:spPr>
        <p:txBody>
          <a:bodyPr>
            <a:spAutoFit/>
          </a:bodyPr>
          <a:lstStyle/>
          <a:p>
            <a:r>
              <a:rPr lang="en-US" sz="2400" dirty="0"/>
              <a:t>Flow chart for Assignment problem</a:t>
            </a:r>
          </a:p>
        </p:txBody>
      </p:sp>
      <p:sp>
        <p:nvSpPr>
          <p:cNvPr id="4" name="Slide Number Placeholder 3"/>
          <p:cNvSpPr>
            <a:spLocks noGrp="1"/>
          </p:cNvSpPr>
          <p:nvPr>
            <p:ph type="sldNum" sz="quarter" idx="12"/>
          </p:nvPr>
        </p:nvSpPr>
        <p:spPr/>
        <p:txBody>
          <a:bodyPr/>
          <a:lstStyle/>
          <a:p>
            <a:fld id="{55C2A38D-ED02-420A-BF8A-05E20D604ACC}" type="slidenum">
              <a:rPr lang="en-US" smtClean="0"/>
              <a:pPr/>
              <a:t>19</a:t>
            </a:fld>
            <a:endParaRPr lang="en-US"/>
          </a:p>
        </p:txBody>
      </p:sp>
    </p:spTree>
  </p:cSld>
  <p:clrMapOvr>
    <a:masterClrMapping/>
  </p:clrMapOvr>
  <p:transition advClick="0"/>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395536" y="436022"/>
            <a:ext cx="8424936" cy="2954655"/>
          </a:xfrm>
          <a:prstGeom prst="rect">
            <a:avLst/>
          </a:prstGeom>
          <a:solidFill>
            <a:srgbClr val="FFFFFF"/>
          </a:solidFill>
          <a:ln w="9525">
            <a:noFill/>
            <a:miter lim="800000"/>
            <a:headEnd/>
            <a:tailEnd/>
          </a:ln>
          <a:effectLst/>
        </p:spPr>
        <p:txBody>
          <a:bodyPr vert="horz" wrap="square" lIns="0" tIns="0" rIns="0" bIns="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1" i="0" u="sng" strike="noStrike" cap="none" normalizeH="0" baseline="0" dirty="0">
                <a:ln>
                  <a:noFill/>
                </a:ln>
                <a:solidFill>
                  <a:srgbClr val="FF0000"/>
                </a:solidFill>
                <a:effectLst/>
                <a:latin typeface="inherit"/>
                <a:cs typeface="Arial" pitchFamily="34" charset="0"/>
              </a:rPr>
              <a:t>Example:</a:t>
            </a:r>
            <a:r>
              <a:rPr kumimoji="0" lang="en-US" sz="2400" b="0" i="0" u="none" strike="noStrike" cap="none" normalizeH="0" baseline="0" dirty="0">
                <a:ln>
                  <a:noFill/>
                </a:ln>
                <a:solidFill>
                  <a:srgbClr val="1A1A1A"/>
                </a:solidFill>
                <a:effectLst/>
                <a:latin typeface="inherit"/>
                <a:cs typeface="Arial" pitchFamily="34" charset="0"/>
              </a:rPr>
              <a:t>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rgbClr val="1A1A1A"/>
                </a:solidFill>
                <a:effectLst/>
                <a:latin typeface="inherit"/>
                <a:cs typeface="Arial" pitchFamily="34" charset="0"/>
              </a:rPr>
              <a:t>A food processing company has four empty trucks located at four different places. The trucks are to be moved to four different stores to carry some product.</a:t>
            </a:r>
            <a:r>
              <a:rPr kumimoji="0" lang="en-US" sz="2400" b="0" i="0" u="none" strike="noStrike" cap="none" normalizeH="0" dirty="0">
                <a:ln>
                  <a:noFill/>
                </a:ln>
                <a:solidFill>
                  <a:srgbClr val="1A1A1A"/>
                </a:solidFill>
                <a:effectLst/>
                <a:latin typeface="inherit"/>
                <a:cs typeface="Arial" pitchFamily="34" charset="0"/>
              </a:rPr>
              <a:t> </a:t>
            </a: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sz="2400" b="0" i="0" u="none" strike="noStrike" cap="none" normalizeH="0" baseline="0" dirty="0">
                <a:ln>
                  <a:noFill/>
                </a:ln>
                <a:solidFill>
                  <a:srgbClr val="1A1A1A"/>
                </a:solidFill>
                <a:effectLst/>
                <a:latin typeface="inherit"/>
                <a:cs typeface="Arial" pitchFamily="34" charset="0"/>
              </a:rPr>
              <a:t>The distance in kilometer between the trucks and the stores are given in the table below. How the trucks should be moved to the stores in order to minimize the total distance traveled by the trucks?</a:t>
            </a:r>
            <a:endParaRPr kumimoji="0" lang="en-US" sz="2400" b="0" i="0" u="none" strike="noStrike" cap="none" normalizeH="0" baseline="0" dirty="0">
              <a:ln>
                <a:noFill/>
              </a:ln>
              <a:solidFill>
                <a:schemeClr val="tx1"/>
              </a:solidFill>
              <a:effectLst/>
              <a:latin typeface="Arial" pitchFamily="34" charset="0"/>
              <a:cs typeface="Arial" pitchFamily="34" charset="0"/>
            </a:endParaRPr>
          </a:p>
        </p:txBody>
      </p:sp>
      <p:graphicFrame>
        <p:nvGraphicFramePr>
          <p:cNvPr id="3" name="Table 2"/>
          <p:cNvGraphicFramePr>
            <a:graphicFrameLocks noGrp="1"/>
          </p:cNvGraphicFramePr>
          <p:nvPr/>
        </p:nvGraphicFramePr>
        <p:xfrm>
          <a:off x="2195736" y="3501008"/>
          <a:ext cx="5400600" cy="2100566"/>
        </p:xfrm>
        <a:graphic>
          <a:graphicData uri="http://schemas.openxmlformats.org/drawingml/2006/table">
            <a:tbl>
              <a:tblPr/>
              <a:tblGrid>
                <a:gridCol w="1079762">
                  <a:extLst>
                    <a:ext uri="{9D8B030D-6E8A-4147-A177-3AD203B41FA5}">
                      <a16:colId xmlns:a16="http://schemas.microsoft.com/office/drawing/2014/main" val="20000"/>
                    </a:ext>
                  </a:extLst>
                </a:gridCol>
                <a:gridCol w="1079762">
                  <a:extLst>
                    <a:ext uri="{9D8B030D-6E8A-4147-A177-3AD203B41FA5}">
                      <a16:colId xmlns:a16="http://schemas.microsoft.com/office/drawing/2014/main" val="20001"/>
                    </a:ext>
                  </a:extLst>
                </a:gridCol>
                <a:gridCol w="1079762">
                  <a:extLst>
                    <a:ext uri="{9D8B030D-6E8A-4147-A177-3AD203B41FA5}">
                      <a16:colId xmlns:a16="http://schemas.microsoft.com/office/drawing/2014/main" val="20002"/>
                    </a:ext>
                  </a:extLst>
                </a:gridCol>
                <a:gridCol w="1080657">
                  <a:extLst>
                    <a:ext uri="{9D8B030D-6E8A-4147-A177-3AD203B41FA5}">
                      <a16:colId xmlns:a16="http://schemas.microsoft.com/office/drawing/2014/main" val="20003"/>
                    </a:ext>
                  </a:extLst>
                </a:gridCol>
                <a:gridCol w="1080657">
                  <a:extLst>
                    <a:ext uri="{9D8B030D-6E8A-4147-A177-3AD203B41FA5}">
                      <a16:colId xmlns:a16="http://schemas.microsoft.com/office/drawing/2014/main" val="20004"/>
                    </a:ext>
                  </a:extLst>
                </a:gridCol>
              </a:tblGrid>
              <a:tr h="525258">
                <a:tc>
                  <a:txBody>
                    <a:bodyPr/>
                    <a:lstStyle/>
                    <a:p>
                      <a:pPr algn="ctr" fontAlgn="base">
                        <a:spcAft>
                          <a:spcPts val="0"/>
                        </a:spcAft>
                      </a:pPr>
                      <a:r>
                        <a:rPr lang="en-US" sz="2000" dirty="0">
                          <a:latin typeface="inherit"/>
                        </a:rPr>
                        <a:t>Trucks/</a:t>
                      </a:r>
                    </a:p>
                    <a:p>
                      <a:pPr algn="ctr" fontAlgn="base">
                        <a:spcAft>
                          <a:spcPts val="0"/>
                        </a:spcAft>
                      </a:pPr>
                      <a:r>
                        <a:rPr lang="en-US" sz="2000" dirty="0">
                          <a:latin typeface="inherit"/>
                        </a:rPr>
                        <a:t>Stores</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ase">
                        <a:spcAft>
                          <a:spcPts val="0"/>
                        </a:spcAft>
                      </a:pPr>
                      <a:r>
                        <a:rPr lang="en-US" sz="2000" dirty="0">
                          <a:latin typeface="inherit"/>
                        </a:rPr>
                        <a:t>A</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ase">
                        <a:spcAft>
                          <a:spcPts val="0"/>
                        </a:spcAft>
                      </a:pPr>
                      <a:r>
                        <a:rPr lang="en-US" sz="2000" dirty="0">
                          <a:latin typeface="inherit"/>
                        </a:rPr>
                        <a:t>B</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ase">
                        <a:spcAft>
                          <a:spcPts val="0"/>
                        </a:spcAft>
                      </a:pPr>
                      <a:r>
                        <a:rPr lang="en-US" sz="2000" dirty="0">
                          <a:latin typeface="inherit"/>
                        </a:rPr>
                        <a:t>C</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ase">
                        <a:spcAft>
                          <a:spcPts val="0"/>
                        </a:spcAft>
                      </a:pPr>
                      <a:r>
                        <a:rPr lang="en-US" sz="2000" dirty="0">
                          <a:latin typeface="inherit"/>
                        </a:rPr>
                        <a:t>D</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68410">
                <a:tc>
                  <a:txBody>
                    <a:bodyPr/>
                    <a:lstStyle/>
                    <a:p>
                      <a:pPr algn="ctr" fontAlgn="base">
                        <a:spcAft>
                          <a:spcPts val="0"/>
                        </a:spcAft>
                      </a:pPr>
                      <a:r>
                        <a:rPr lang="en-US" sz="2000" dirty="0">
                          <a:latin typeface="inherit"/>
                        </a:rPr>
                        <a:t>1</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ase">
                        <a:spcAft>
                          <a:spcPts val="0"/>
                        </a:spcAft>
                      </a:pPr>
                      <a:r>
                        <a:rPr lang="en-US" sz="2000" dirty="0">
                          <a:latin typeface="inherit"/>
                        </a:rPr>
                        <a:t>90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ase">
                        <a:spcAft>
                          <a:spcPts val="0"/>
                        </a:spcAft>
                      </a:pPr>
                      <a:r>
                        <a:rPr lang="en-US" sz="2000" dirty="0">
                          <a:latin typeface="inherit"/>
                        </a:rPr>
                        <a:t>75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ase">
                        <a:spcAft>
                          <a:spcPts val="0"/>
                        </a:spcAft>
                      </a:pPr>
                      <a:r>
                        <a:rPr lang="en-US" sz="2000" dirty="0">
                          <a:latin typeface="inherit"/>
                        </a:rPr>
                        <a:t>75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ase">
                        <a:spcAft>
                          <a:spcPts val="0"/>
                        </a:spcAft>
                      </a:pPr>
                      <a:r>
                        <a:rPr lang="en-US" sz="2000" dirty="0">
                          <a:latin typeface="inherit"/>
                        </a:rPr>
                        <a:t>80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8410">
                <a:tc>
                  <a:txBody>
                    <a:bodyPr/>
                    <a:lstStyle/>
                    <a:p>
                      <a:pPr algn="ctr" fontAlgn="base">
                        <a:spcAft>
                          <a:spcPts val="0"/>
                        </a:spcAft>
                      </a:pPr>
                      <a:r>
                        <a:rPr lang="en-US" sz="2000">
                          <a:latin typeface="inherit"/>
                        </a:rPr>
                        <a:t>2</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ase">
                        <a:spcAft>
                          <a:spcPts val="0"/>
                        </a:spcAft>
                      </a:pPr>
                      <a:r>
                        <a:rPr lang="en-US" sz="2000">
                          <a:latin typeface="inherit"/>
                        </a:rPr>
                        <a:t>35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ase">
                        <a:spcAft>
                          <a:spcPts val="0"/>
                        </a:spcAft>
                      </a:pPr>
                      <a:r>
                        <a:rPr lang="en-US" sz="2000" dirty="0">
                          <a:latin typeface="inherit"/>
                        </a:rPr>
                        <a:t>85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ase">
                        <a:spcAft>
                          <a:spcPts val="0"/>
                        </a:spcAft>
                      </a:pPr>
                      <a:r>
                        <a:rPr lang="en-US" sz="2000" dirty="0">
                          <a:latin typeface="inherit"/>
                        </a:rPr>
                        <a:t>55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ase">
                        <a:spcAft>
                          <a:spcPts val="0"/>
                        </a:spcAft>
                      </a:pPr>
                      <a:r>
                        <a:rPr lang="en-US" sz="2000" dirty="0">
                          <a:latin typeface="inherit"/>
                        </a:rPr>
                        <a:t>65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68410">
                <a:tc>
                  <a:txBody>
                    <a:bodyPr/>
                    <a:lstStyle/>
                    <a:p>
                      <a:pPr algn="ctr" fontAlgn="base">
                        <a:spcAft>
                          <a:spcPts val="0"/>
                        </a:spcAft>
                      </a:pPr>
                      <a:r>
                        <a:rPr lang="en-US" sz="2000">
                          <a:latin typeface="inherit"/>
                        </a:rPr>
                        <a:t>3</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ase">
                        <a:spcAft>
                          <a:spcPts val="0"/>
                        </a:spcAft>
                      </a:pPr>
                      <a:r>
                        <a:rPr lang="en-US" sz="2000">
                          <a:latin typeface="inherit"/>
                        </a:rPr>
                        <a:t>125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ase">
                        <a:spcAft>
                          <a:spcPts val="0"/>
                        </a:spcAft>
                      </a:pPr>
                      <a:r>
                        <a:rPr lang="en-US" sz="2000">
                          <a:latin typeface="inherit"/>
                        </a:rPr>
                        <a:t>95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ase">
                        <a:spcAft>
                          <a:spcPts val="0"/>
                        </a:spcAft>
                      </a:pPr>
                      <a:r>
                        <a:rPr lang="en-US" sz="2000" dirty="0">
                          <a:latin typeface="inherit"/>
                        </a:rPr>
                        <a:t>90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ase">
                        <a:spcAft>
                          <a:spcPts val="0"/>
                        </a:spcAft>
                      </a:pPr>
                      <a:r>
                        <a:rPr lang="en-US" sz="2000" dirty="0">
                          <a:latin typeface="inherit"/>
                        </a:rPr>
                        <a:t>105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5736">
                <a:tc>
                  <a:txBody>
                    <a:bodyPr/>
                    <a:lstStyle/>
                    <a:p>
                      <a:pPr algn="ctr" fontAlgn="base">
                        <a:spcAft>
                          <a:spcPts val="0"/>
                        </a:spcAft>
                      </a:pPr>
                      <a:r>
                        <a:rPr lang="en-US" sz="2000">
                          <a:latin typeface="inherit"/>
                        </a:rPr>
                        <a:t>4</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ase">
                        <a:spcAft>
                          <a:spcPts val="0"/>
                        </a:spcAft>
                      </a:pPr>
                      <a:r>
                        <a:rPr lang="en-US" sz="2000">
                          <a:latin typeface="inherit"/>
                        </a:rPr>
                        <a:t>45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ase">
                        <a:spcAft>
                          <a:spcPts val="0"/>
                        </a:spcAft>
                      </a:pPr>
                      <a:r>
                        <a:rPr lang="en-US" sz="2000">
                          <a:latin typeface="inherit"/>
                        </a:rPr>
                        <a:t>110</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ase">
                        <a:spcAft>
                          <a:spcPts val="0"/>
                        </a:spcAft>
                      </a:pPr>
                      <a:r>
                        <a:rPr lang="en-US" sz="2000">
                          <a:latin typeface="inherit"/>
                        </a:rPr>
                        <a:t>95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tc>
                  <a:txBody>
                    <a:bodyPr/>
                    <a:lstStyle/>
                    <a:p>
                      <a:pPr algn="ctr" fontAlgn="base">
                        <a:spcAft>
                          <a:spcPts val="0"/>
                        </a:spcAft>
                      </a:pPr>
                      <a:r>
                        <a:rPr lang="en-US" sz="2000" dirty="0">
                          <a:latin typeface="inherit"/>
                        </a:rPr>
                        <a:t>115</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1026" name="Rectangle 2"/>
          <p:cNvSpPr>
            <a:spLocks noChangeArrowheads="1"/>
          </p:cNvSpPr>
          <p:nvPr/>
        </p:nvSpPr>
        <p:spPr bwMode="auto">
          <a:xfrm>
            <a:off x="323528" y="3624699"/>
            <a:ext cx="1656184" cy="830997"/>
          </a:xfrm>
          <a:prstGeom prst="rect">
            <a:avLst/>
          </a:prstGeom>
          <a:solidFill>
            <a:srgbClr val="FFFFFF"/>
          </a:solidFill>
          <a:ln w="9525">
            <a:noFill/>
            <a:miter lim="800000"/>
            <a:headEnd/>
            <a:tailEnd/>
          </a:ln>
          <a:effectLst/>
        </p:spPr>
        <p:txBody>
          <a:bodyPr vert="horz" wrap="square" lIns="0" tIns="0" rIns="0" bIns="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1" i="0" u="sng" strike="noStrike" cap="none" normalizeH="0" baseline="0" dirty="0">
                <a:ln>
                  <a:noFill/>
                </a:ln>
                <a:solidFill>
                  <a:srgbClr val="1A1A1A"/>
                </a:solidFill>
                <a:effectLst/>
                <a:latin typeface="inherit"/>
                <a:cs typeface="Arial" pitchFamily="34" charset="0"/>
              </a:rPr>
              <a:t>Given Table:-</a:t>
            </a:r>
            <a:endParaRPr kumimoji="0" lang="en-US" b="0" i="0" u="none" strike="noStrike" cap="none" normalizeH="0" baseline="0" dirty="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en-US" b="0" i="0" u="sng" strike="noStrike" cap="none" normalizeH="0" baseline="0" dirty="0">
                <a:ln>
                  <a:noFill/>
                </a:ln>
                <a:solidFill>
                  <a:srgbClr val="1A1A1A"/>
                </a:solidFill>
                <a:effectLst/>
                <a:latin typeface="inherit"/>
                <a:cs typeface="Arial" pitchFamily="34" charset="0"/>
              </a:rPr>
            </a:br>
            <a:endParaRPr kumimoji="0" lang="en-US" b="0" i="0" u="none" strike="noStrike" cap="none" normalizeH="0" baseline="0" dirty="0">
              <a:ln>
                <a:noFill/>
              </a:ln>
              <a:solidFill>
                <a:schemeClr val="tx1"/>
              </a:solidFill>
              <a:effectLst/>
              <a:latin typeface="Arial" pitchFamily="34" charset="0"/>
              <a:cs typeface="Arial" pitchFamily="34" charset="0"/>
            </a:endParaRPr>
          </a:p>
        </p:txBody>
      </p:sp>
      <p:sp>
        <p:nvSpPr>
          <p:cNvPr id="5" name="Slide Number Placeholder 4"/>
          <p:cNvSpPr>
            <a:spLocks noGrp="1"/>
          </p:cNvSpPr>
          <p:nvPr>
            <p:ph type="sldNum" sz="quarter" idx="12"/>
          </p:nvPr>
        </p:nvSpPr>
        <p:spPr/>
        <p:txBody>
          <a:bodyPr/>
          <a:lstStyle/>
          <a:p>
            <a:fld id="{55C2A38D-ED02-420A-BF8A-05E20D604ACC}" type="slidenum">
              <a:rPr lang="en-US" smtClean="0"/>
              <a:pPr/>
              <a:t>20</a:t>
            </a:fld>
            <a:endParaRPr lang="en-US"/>
          </a:p>
        </p:txBody>
      </p:sp>
    </p:spTree>
  </p:cSld>
  <p:clrMapOvr>
    <a:masterClrMapping/>
  </p:clrMapOvr>
  <p:transition advClick="0"/>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332656"/>
            <a:ext cx="4572000" cy="1384995"/>
          </a:xfrm>
          <a:prstGeom prst="rect">
            <a:avLst/>
          </a:prstGeom>
        </p:spPr>
        <p:txBody>
          <a:bodyPr>
            <a:spAutoFit/>
          </a:bodyPr>
          <a:lstStyle/>
          <a:p>
            <a:r>
              <a:rPr lang="en-US" sz="3600" dirty="0">
                <a:latin typeface="Times New Roman" pitchFamily="18" charset="0"/>
                <a:cs typeface="Times New Roman" pitchFamily="18" charset="0"/>
              </a:rPr>
              <a:t>Summary</a:t>
            </a:r>
            <a:br>
              <a:rPr lang="en-US" sz="2400" dirty="0">
                <a:latin typeface="Times New Roman" pitchFamily="18" charset="0"/>
                <a:cs typeface="Times New Roman" pitchFamily="18" charset="0"/>
              </a:rPr>
            </a:br>
            <a:br>
              <a:rPr lang="en-US" sz="2400" dirty="0">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
        <p:nvSpPr>
          <p:cNvPr id="4" name="Rectangle 3"/>
          <p:cNvSpPr/>
          <p:nvPr/>
        </p:nvSpPr>
        <p:spPr>
          <a:xfrm>
            <a:off x="251520" y="1340768"/>
            <a:ext cx="8712968" cy="4154984"/>
          </a:xfrm>
          <a:prstGeom prst="rect">
            <a:avLst/>
          </a:prstGeom>
        </p:spPr>
        <p:txBody>
          <a:bodyPr wrap="square">
            <a:spAutoFit/>
          </a:bodyPr>
          <a:lstStyle/>
          <a:p>
            <a:pPr algn="just">
              <a:buFont typeface="Arial" pitchFamily="34" charset="0"/>
              <a:buChar char="•"/>
            </a:pPr>
            <a:r>
              <a:rPr lang="en-US" sz="2400" dirty="0">
                <a:latin typeface="Times New Roman" pitchFamily="18" charset="0"/>
                <a:cs typeface="Times New Roman" pitchFamily="18" charset="0"/>
              </a:rPr>
              <a:t> Assignment problem deals with the problem of assigning jobs    </a:t>
            </a:r>
          </a:p>
          <a:p>
            <a:pPr algn="just"/>
            <a:r>
              <a:rPr lang="en-US" sz="2400" dirty="0">
                <a:latin typeface="Times New Roman" pitchFamily="18" charset="0"/>
                <a:cs typeface="Times New Roman" pitchFamily="18" charset="0"/>
              </a:rPr>
              <a:t>  to machines or men to jobs which are to be performed with </a:t>
            </a:r>
          </a:p>
          <a:p>
            <a:pPr algn="just"/>
            <a:r>
              <a:rPr lang="en-US" sz="2400" dirty="0">
                <a:latin typeface="Times New Roman" pitchFamily="18" charset="0"/>
                <a:cs typeface="Times New Roman" pitchFamily="18" charset="0"/>
              </a:rPr>
              <a:t>  varying efficiency.</a:t>
            </a:r>
          </a:p>
          <a:p>
            <a:pPr algn="just">
              <a:buFont typeface="Arial" pitchFamily="34" charset="0"/>
              <a:buChar char="•"/>
            </a:pPr>
            <a:endParaRPr lang="en-US" sz="2400" dirty="0">
              <a:latin typeface="Times New Roman" pitchFamily="18" charset="0"/>
              <a:cs typeface="Times New Roman" pitchFamily="18" charset="0"/>
            </a:endParaRPr>
          </a:p>
          <a:p>
            <a:pPr algn="just">
              <a:buFont typeface="Arial" pitchFamily="34" charset="0"/>
              <a:buChar char="•"/>
            </a:pPr>
            <a:r>
              <a:rPr lang="en-US" sz="2400" dirty="0">
                <a:latin typeface="Times New Roman" pitchFamily="18" charset="0"/>
                <a:cs typeface="Times New Roman" pitchFamily="18" charset="0"/>
              </a:rPr>
              <a:t> It can be used to solve cases of Travelling Salesman problem.</a:t>
            </a:r>
            <a:br>
              <a:rPr lang="en-US" sz="2400" dirty="0">
                <a:latin typeface="Times New Roman" pitchFamily="18" charset="0"/>
                <a:cs typeface="Times New Roman" pitchFamily="18" charset="0"/>
              </a:rPr>
            </a:br>
            <a:endParaRPr lang="en-US" sz="2400" dirty="0">
              <a:latin typeface="Times New Roman" pitchFamily="18" charset="0"/>
              <a:cs typeface="Times New Roman" pitchFamily="18" charset="0"/>
            </a:endParaRPr>
          </a:p>
          <a:p>
            <a:pPr algn="just">
              <a:buFont typeface="Arial" pitchFamily="34" charset="0"/>
              <a:buChar char="•"/>
            </a:pPr>
            <a:r>
              <a:rPr lang="en-US" sz="2400" dirty="0">
                <a:latin typeface="Times New Roman" pitchFamily="18" charset="0"/>
                <a:cs typeface="Times New Roman" pitchFamily="18" charset="0"/>
              </a:rPr>
              <a:t> It is basically a minimizing model but it can be used to solve   cases  </a:t>
            </a:r>
          </a:p>
          <a:p>
            <a:pPr algn="just"/>
            <a:r>
              <a:rPr lang="en-US" sz="2400" dirty="0">
                <a:latin typeface="Times New Roman" pitchFamily="18" charset="0"/>
                <a:cs typeface="Times New Roman" pitchFamily="18" charset="0"/>
              </a:rPr>
              <a:t>  of maximization by converting cost table in to opportunity loss </a:t>
            </a:r>
          </a:p>
          <a:p>
            <a:pPr algn="just"/>
            <a:r>
              <a:rPr lang="en-US" sz="2400" dirty="0">
                <a:latin typeface="Times New Roman" pitchFamily="18" charset="0"/>
                <a:cs typeface="Times New Roman" pitchFamily="18" charset="0"/>
              </a:rPr>
              <a:t>  table.</a:t>
            </a:r>
          </a:p>
          <a:p>
            <a:pPr algn="just"/>
            <a:br>
              <a:rPr lang="en-US" sz="2400" dirty="0">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
        <p:nvSpPr>
          <p:cNvPr id="5" name="Slide Number Placeholder 4"/>
          <p:cNvSpPr>
            <a:spLocks noGrp="1"/>
          </p:cNvSpPr>
          <p:nvPr>
            <p:ph type="sldNum" sz="quarter" idx="12"/>
          </p:nvPr>
        </p:nvSpPr>
        <p:spPr/>
        <p:txBody>
          <a:bodyPr/>
          <a:lstStyle/>
          <a:p>
            <a:fld id="{55C2A38D-ED02-420A-BF8A-05E20D604ACC}" type="slidenum">
              <a:rPr lang="en-US" smtClean="0"/>
              <a:pPr/>
              <a:t>21</a:t>
            </a:fld>
            <a:endParaRPr lang="en-US"/>
          </a:p>
        </p:txBody>
      </p:sp>
    </p:spTree>
  </p:cSld>
  <p:clrMapOvr>
    <a:masterClrMapping/>
  </p:clrMapOvr>
  <p:transition advClick="0"/>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98239" y="1716571"/>
            <a:ext cx="7704856" cy="5355312"/>
          </a:xfrm>
          <a:prstGeom prst="rect">
            <a:avLst/>
          </a:prstGeom>
        </p:spPr>
        <p:txBody>
          <a:bodyPr wrap="square" lIns="91440" tIns="45720" rIns="91440" bIns="45720" anchor="t">
            <a:spAutoFit/>
          </a:bodyPr>
          <a:lstStyle/>
          <a:p>
            <a:endParaRPr lang="en-US" dirty="0">
              <a:hlinkClick r:id="rId2"/>
            </a:endParaRPr>
          </a:p>
          <a:p>
            <a:endParaRPr lang="en-US" dirty="0">
              <a:hlinkClick r:id="rId2"/>
            </a:endParaRPr>
          </a:p>
          <a:p>
            <a:endParaRPr lang="en-US" dirty="0">
              <a:hlinkClick r:id="rId2"/>
            </a:endParaRPr>
          </a:p>
          <a:p>
            <a:endParaRPr lang="en-US" dirty="0">
              <a:hlinkClick r:id="rId2"/>
            </a:endParaRPr>
          </a:p>
          <a:p>
            <a:endParaRPr lang="en-US" dirty="0">
              <a:hlinkClick r:id="rId2"/>
            </a:endParaRPr>
          </a:p>
          <a:p>
            <a:endParaRPr lang="en-US" dirty="0">
              <a:hlinkClick r:id="rId2"/>
            </a:endParaRPr>
          </a:p>
          <a:p>
            <a:r>
              <a:rPr lang="en-US" dirty="0">
                <a:hlinkClick r:id="rId2"/>
              </a:rPr>
              <a:t>https://towardsdatascience.com/operations-research-in-r-assignment-problem-4a1f92a09ab</a:t>
            </a:r>
            <a:endParaRPr lang="en-US" dirty="0"/>
          </a:p>
          <a:p>
            <a:endParaRPr lang="en-US" dirty="0"/>
          </a:p>
          <a:p>
            <a:r>
              <a:rPr lang="en-US" dirty="0">
                <a:hlinkClick r:id="rId3"/>
              </a:rPr>
              <a:t>http://www.hungarianalgorithm.com/examplehungarianalgorithm.php</a:t>
            </a:r>
            <a:endParaRPr lang="en-US" dirty="0"/>
          </a:p>
          <a:p>
            <a:endParaRPr lang="en-US" dirty="0"/>
          </a:p>
          <a:p>
            <a:r>
              <a:rPr lang="en-US" dirty="0">
                <a:hlinkClick r:id="rId4"/>
              </a:rPr>
              <a:t>https://www.hindawi.com/journals/aor/2018/8958393/</a:t>
            </a:r>
            <a:endParaRPr lang="en-US" dirty="0"/>
          </a:p>
          <a:p>
            <a:endParaRPr lang="en-US" dirty="0">
              <a:ea typeface="+mn-lt"/>
              <a:cs typeface="+mn-lt"/>
            </a:endParaRPr>
          </a:p>
          <a:p>
            <a:r>
              <a:rPr lang="en-US" dirty="0">
                <a:ea typeface="+mn-lt"/>
                <a:cs typeface="+mn-lt"/>
                <a:hlinkClick r:id="rId5"/>
              </a:rPr>
              <a:t>https://www.youtube.com/watch?v=a2QgdDk4Xjw&amp;list=PLjc8ejfjpgTf0LaDEHgLB3gCHZYcNtsoX</a:t>
            </a:r>
            <a:endParaRPr lang="en-US"/>
          </a:p>
          <a:p>
            <a:endParaRPr lang="en-US" dirty="0"/>
          </a:p>
          <a:p>
            <a:r>
              <a:rPr lang="en-US" b="1" dirty="0"/>
              <a:t>An Assignment Problem and Its Application in Education Domain: A Review and Potential Path</a:t>
            </a:r>
          </a:p>
          <a:p>
            <a:endParaRPr lang="en-US" dirty="0"/>
          </a:p>
        </p:txBody>
      </p:sp>
      <p:sp>
        <p:nvSpPr>
          <p:cNvPr id="3" name="Rectangle 2"/>
          <p:cNvSpPr/>
          <p:nvPr/>
        </p:nvSpPr>
        <p:spPr>
          <a:xfrm>
            <a:off x="642255" y="98548"/>
            <a:ext cx="4572000" cy="1384995"/>
          </a:xfrm>
          <a:prstGeom prst="rect">
            <a:avLst/>
          </a:prstGeom>
        </p:spPr>
        <p:txBody>
          <a:bodyPr>
            <a:spAutoFit/>
          </a:bodyPr>
          <a:lstStyle/>
          <a:p>
            <a:r>
              <a:rPr lang="en-US" sz="3600" dirty="0">
                <a:latin typeface="Times New Roman" pitchFamily="18" charset="0"/>
                <a:cs typeface="Times New Roman" pitchFamily="18" charset="0"/>
              </a:rPr>
              <a:t>References</a:t>
            </a:r>
            <a:br>
              <a:rPr lang="en-US" sz="2400" dirty="0">
                <a:latin typeface="Times New Roman" pitchFamily="18" charset="0"/>
                <a:cs typeface="Times New Roman" pitchFamily="18" charset="0"/>
              </a:rPr>
            </a:br>
            <a:br>
              <a:rPr lang="en-US" sz="2400" dirty="0">
                <a:latin typeface="Times New Roman" pitchFamily="18" charset="0"/>
                <a:cs typeface="Times New Roman" pitchFamily="18" charset="0"/>
              </a:rPr>
            </a:br>
            <a:endParaRPr lang="en-US" sz="2400" dirty="0">
              <a:latin typeface="Times New Roman" pitchFamily="18" charset="0"/>
              <a:cs typeface="Times New Roman" pitchFamily="18" charset="0"/>
            </a:endParaRPr>
          </a:p>
        </p:txBody>
      </p:sp>
      <p:sp>
        <p:nvSpPr>
          <p:cNvPr id="7170" name="AutoShape 2" descr="data:image/jpeg;base64,/9j/4AAQSkZJRgABAQAAAQABAAD/2wCEAAkGBxAPERUQDxAVFRUVGBoVGBUVFx0VGBUWFhgaFhgYFxUYHSogGBolGxUWITEhJSkrLi4uFx8zODMtNygtLisBCgoKDg0OGhAQGy0lHx8tLS0tLS0tLS0tLS0tLS0tLS0tLS0tLS0tLS0tLS0tLS0tLS0tLS0tLS0tLS0tLS0tLf/AABEIAPwAyAMBEQACEQEDEQH/xAAbAAACAwEBAQAAAAAAAAAAAAAABAIDBQEGB//EAEwQAAECAgUHBwkECAUEAwAAAAEAAgMRBAUSITEGMzRBcbGyE1FhcnOBwSIyNVKCkaHC0RQVFpIHFyNCVGJ08FODs9LhJCXD8URjov/EABsBAAIDAQEBAAAAAAAAAAAAAAADAQIEBQYH/8QANhEAAgIBAgQEBAYBAwUBAAAAAAECAwQRMxIhMTITQVFxFDSBsQUVIiNhclJCRPAkQ5Gh0WL/2gAMAwEAAhEDEQA/APNUXNs6rdwXIn3P3PpmJ8vX/WP2Rc1pJkBMm4Aa1CWvQbKSitWSjQnMcWPaWuGIOIQ00RCyM1rF8iCguX0GhvjPDIYmT7gOcpV10a46sVddGuOrPfVTVjKMyy28nznayfovN5OTK6X8Hnr75Wy1Y8sok6gAQAIAEACABAAgAQAIAEACABAAgAQAIAEACABAHyaiCbGS9Vu4L201+p+56PGko41bf+Mfsj1FAqwwHCbwItm09xwo7DfaJ9fmCfCGhysnKd3JL9P3G2VcItkFjSDewOHlPB86NHIvHQOfUr8OvUyfESr7X/z0RgmrbccwYDuUAMrerpOya5+TbClatnbhlNUqdi0Z7WqatZR2WW3k+c7WT9F5nJyZXS5nGuvlbLVjyyijqABAAgAQAIAEACABAAgAQAIA44yEypjFt6IBSHWUJzS8PubMmYIIAaHEyN8rJB7wnyxbItLQjUvj0hsMWnGQmBgTMm4AAXqkKpSk4onU46ksEgXStCYndrA3uHvQqZvXRdCNSUOM13muBuBuvuOG4qsoSj1ROpNUA6gAQB8xqGlclYIsibWttOE7EwAXAc69ypaWP3Oy6vExIaeUY/Xkj1fIAvaWwvIcLTWuM3P18tH/AJZ4BP05nHcmk1rz/wCckKUimxI7jRqKSbRnFiHF+rEYMGEllysqNUXzNlOPGteLb9Eb9VVayjsstx1u1kryWRkStlr5Ge66VstWPLMKOoAEACABAAgAQAIAEACABAAgAQBXHbNrgNYI94TaXpNMhnkqQCWxJhzSGRAQZTuosMHnuXodVya8/wD6U8zVjRXmCJzeW0gNGALg2LITwE5BYZVxV8tOWqJKaRSYnLl1rA2A2Qk0F8Ce0+UU2uuKgkiBc02LDhNax8pMDpyBNzIr5YYTYBsTPBhOTckBq1dSYjorw50x5UhIeTZcGiUhPA61hzKYRrWi6Erqaq5hcEAfJqIfIZL1W7gvbT7n7npMVJ48E/8AGP2R6GjU6kUlv2eGPKeZxImtzdQJ1NHMl5GWq6+Zz54lVE/El9EeqqqrmUdlhmOt2sleWyMiVstWYLrpWy1Y6swoEACACakAmgAmoAEACABABNAAgAQAIAFIEIrbTSOcEe8K1b4ZJshmE6qIxa4GxNzXMlMmU4LYQM5X3snLpXXebV/z3K6Dr6E/k7IkTy3K4yBHKW5TljJZ5ZMJWuXk1oToUxKtiOiOcbIBIcL54uhEjDVyZ2zCZHLrjFJEaMojVPFc0AWZhoZicLMRk8P5wZJkc2pMGmaFCoTocQvJEjaw/mcHD4BZMnJhZHREpczRWAsCAPl9S0J8cMYwfutmdQEheV6/KujVq3/J3q741Ytbf+Mfsj6FVlXMo7LLBfrdrJXmcjIlbLVnGutla9WFZU4QWgymTcArY1Hic2VhDiFIlY0iGA6LBAb0G8bb1o8CmT0i+YyNcJck+Y9HpkoRitvumO9ZYU/ucDFxhrPhYjDrKkObbbABbzgjVdhOa1yx6VLRvmXdcFLhbGqHWAisc8CRbiO6azTxuCaXkys6+GSXqKUetI8QWmQARhO0Me/atEsemD0ky064xejYzHpsRkHlHwwHTlZnOV914SoUVys4U+RWuHFLTUXFZUiyH8gLJE5h2rnlimvHp14deZbghrpqP0GliM20LtRHMVkup4JcJScHF6CTq1e55ZAhW7OJJkP7uWpYsIx1myzrUVrJhArKKYohPhhpIJxn+6SOhTLHq4OJEyrXDxJkKTWceGLUSCAOtPcVMMemfRkwqjLoxmiUmO5wtwQ1pvnaB1XXTSrKqVyi+YuSiujO1ZTjGtzaBZMru9UyKFCK08wshwaFUesnmIYcCHaLcSTIBNhjVxjxTLeGktZBRqzdyghRmWXHCRuVbcaPDxQZMqv08UWTrOnuhOa1jQ4u57r5gDeox6Izi3LyIrrUk5PyKYtY0iGLUSAANZDgdyYsemf6YvmTGuE3omNx6e1kIRZTBAIHPNIrxuKfCykYOUuESFZUizynIixjjfLnlj8FpePTrw68y6rhrw68zSodIEVgeNfwIxWC6vglwi5R4ZcLGEoqCAMjJmhshUaFYF7obHOOsktBW3OulO6afk39yIWSnXHXyS+xrLGSYlf+fC63zBdHD7JGmnskO11mX929Jxd0XR3oUGhDq/Mnf7ktHd+o1UuYZ38RScndKW97M+psI/8AfrLVd3QHW9YjOTeaPXO4LPm96KZG4WV9mTtG9Rhd4Y/eXULMM7MblWzf+ot9/wBRTJzNO6x3BOytyI2/vIZN4ROsNyM7/SGT1Xscfpw2fIVdfLB/2CeU2aHW8Cl4Pcwxu5mpB81vVG5Zp7j9xBlZPYxesPFaszpEfkeRypM7G2/MVOXtxJv7YnK10iDtbxBXx9lhDZkdrrOwdo4mquL2SIq25Ddd5l3dvCRibqK0d6M2sNEhbG8JWurekXo72a0TMHqfKsUH+99RMe9FNQZgbXb1bM3Cbe9mksYsEAI1Jo0DsofA1Pyt+z+0vuxdO3H2HSkjDEr/AM+F1vmC6OJ2SNNPZIdrrMv7t6Ri7oujvQoNCHV+ZP8A9yWjvfUaqTMM7+IpOTvFLe9mfU2FI/v1lqu7oDre6Izk3mj1zuCz5vcimR3llfZk7RvUYXeGP3l1BzDOzG5RZvfUW+/6ieTmad1juCblbkRt/eRybwidYbkZ3+kMjqvY4/Ths+Qq6+WB7JPKbNDb4FLwe5hjdzNSD5jeqNyyz3H7iPMysnsYvW+q15nSI/I6r2OVJnY235ipy9uJN/SPscrbSIO1vEFbG2WENmR2u87B2jiaoxeyRFW3IbrvMu7t4SMTcRWjvQhTYZNDhkag0/CXitVckr2i9D/ca9TRoUQRoI1TbZMtUrislqdVuomacJl1DowhMDGkkCd5xvv1BJttdkuJoq229WMJRAIARqPRoHZQ+Bqflb9n9n92Lp24+w6UkYYlf+fC63zBdHE7JGmnskO11mX929Ixd0XR3oUGhDq/Mn/7ktHe+oVbWMKHBaHPvE5jvJU240526hZXJ2MqqVh5OM+Vzpy6ZAk71a9rjiibH+tL0K6mdSAw8k1hFr94yM5D/hMyPC1XEWv4OPmOVuX/AGf9pK1MTlhis+Pw+L+kpj6eJyFW0mkiAJQpNsiTpgmzLGU1p4KvE1b5lkoOfUdqJjRB8l05kk3SkZC6XuWTKb8ZFLdePmK5PRWtES04CbhiZak3LrlNLRF8iLbQWgaa0ggiRwv/AHCrOLjj6MGtKS3KbMjb4FJwe5kY3czUg+a3qjcss9x+4jzMrJ7GL1vqteZ0iPyPL2OVJnY235ipy+yJN/SPscrbSIO1vEFbG2WENmR2u87B2jiaoxduRFW3IbrvMu7t4SMPcRWjvRKr2B0BjSJgsAPuUXy4bW0Lb0k2jOgONEi2HGcN2B5ulaZpXw18zQ/3Y6+aN1cxrQyklAAgBGpNGgdlD4Gp+Vv2f2f3Yunbj7DpSRhiV/58LrfMF0cTskaaeyQ7XWZf3b0jF3RdHehQaEOr8yf/ALktHe+pbU9FhmCwmG0m+8tBPnHWl5N01Y0mVub42PUjzHdU7lnqbdibFx7kZ2TeaPXO4LTm96HZHeW19mTtG9Vwu8jH7y6g6OzsxuVbH+99Sj7/AKieTmad1jwhOy9yI2/vFaloUOLbMRs5EAXkbinZN8q9OEtfJprQlCgNh0xrWCQkbscWnnRKbnRqyHJunmMZTZkbfApGD3MjG7makHzW9UbllnuP3EeZlZPYxet9VrzOkR+R1XscqTOxtvzFTl9kSb+kfY5W2kQdreIK2LssIbMjtd52DtHE1Ri7ciKtuQ3XeZd3bwkYe4Vo70doEZrIEMvcALIxu1KLq3O2Wgtp6vQK3o4fCdzjyh3IxZuM9C9M+GaOVLGL4LZ4ibfdh8EZcOGZF0dJtGgsgsEAJVJo0DsofA1Pyt+z+z+7F07cfYcKSMMSv85C63zBdHE7JGmnskO11mX929Ixd0XR3oUGhDq+Kf8A7ktHd+o3UmYZ38RWfL3GUt72M0nzHdU7kqnvRWPcjNybzR653Bac3uQ3I7y2vsydo3owtwMfvLqDmGdQblS3e+ot9/1E8nM07rHcE7L3Ijb+8jk1hE6w3Izv9IZPcvY4/Ths+Qq6+WD/ALBPKbNDreBS8HuYY3czUg+a3qjcss9x+4jzMrJ7GL1h4rXmdIj8jqvY5UmdjbfmKnL7Ik39sfY5WukQdreIK2LssIbMjtd52DtHE1VxduRFW3IbrvMu7t4ScTcK0d6M2sNEg7G8K1w3ZF6l+qRtUjNu6p3LBDd+oiPchLJ7M+0fBNze9DMjvNRYhJ1ACNSaNA7KHwNT8rfs/s/uxdO3H2HSkjDGyghnyIgEw039F4PguhhyWjiaKWtHF+ZCsq0hRIdhhJc6V0r+fvTKcZ1z4mwrg4S1fQujwjDoll2IaJ7SZ+KXGSlkFYSTs1L6kzDO/iKRl7jK2vWTGqT5juqdyXT3orHqjCqWs4MKGWvdI2iee6Q+i6GTjyskmh90HKeq0Ga1pbItHLmGYtATwvS8ep126MrSuGfMdoOjs6g3JNm/9Rbf6xLJszhO6x3BNy+VkRl7TnqjmTRuidYbkZ3kGQ02iLz/ANcNnyFXXyxLa8HQYyggl0K4TkZnZKXikYUkptMrRJKXMYq6mMit8gzLQAei7/hVuqcJ6vzKTjwvRiOTpnyvWHinZnbEZfLoVUaOKPHiCLMB14PfPxTbK/GrWhea44LTyOOjCk0hhhzLWEEnYZ/8Kygqamn1ZHZW0+rLa7I5WDtHE1KxNuRWppQlqN15mXd28JGJulaGuPmIU2GTRIZGoNJ2SktMJLxpJl6pLjYzHreCYRk68tlLXOUlWGLNWa+RSNUlItqGGWwRMSmSRsOCRmNOfIi2SlPVGksYsEAI1Jo0DsofA1Pyt+z+z+7F07cfYdKSMK3xWtuc4DaZJkK5y5xBJvoiDHQgfJLJ9Ep/BNlC7TnqS4yLSAUjmn/JUgYrBdaaOiYCZ4VkuehZRYCMw3WmmeqYUeDNc9AaYPDGiZsgc5kFaLtn01IS1IQ40J1zXNPQCNymVdq5ss4NeRcSANQHwSUpOX8lf4KxGhjBzfeE51Wt8yeBkoTmnzSO6Xgl2Ka7gaYPLReZDpN3xUxjZJaLoRo30I/aGeu33hT4Ni56E8D9CQDWiYkBjMSCq3OT4WR1ICPDGDmjvCZKm19SeCXoTk141OHcUv8Acr/gjRok1oFwAGy5VcpS5MCmJSYQMnPbPpImE5VW6ciyjJ89C25w1EHvCVpKD9GVAFvmgjYPopcZ9wFZo8MeVYYOmQ3qysslyTJ1Za0g3gg7EuSafMrpzJqhIIARqTRoHZQ+Bqflb9n9n92Lp24+w6UkYedygbOKwc4A97pLq4j0rbNdLarkxmlVHCDXFhcCASJmeG1LrzJuWjFwulqtSeT0dzmODjOyRLYQqZkEpJonJioy5CBozYtKcx05EnC43DnWpWcFOqGSk40po1IFTQWODxamDMTKxPMnJaMzSslLqZtMBj0nk3EhoMruYCZl0mS21tVU8SNK/bq4l1ZOtqthwmB8OYIIGJO/ApePfK1uMiKLHKWjHKQ8uolo4lgJSYJK/QXWl4olVNVwosO2+1OZFxkLk/JyJVy0Re62Sm0jWodCZADrE77zMzwWOd0rZJMzSbl1MWg0f7XEe6I4yErh0zkOgCS322+BBcKNdr8JJROV3V8OC1pZO+YMzPUoxb5Wa6k403LXU1qdox6g8Fkq3zPVuIzqoquHFh2n2p2iLjLDoWnJyZQloht9koz0RBjDRqQ1jHEtcRceZ116tJq2lyaLN+JU2/I067jlkI2TIkyntWTCipWcxNEVKfMVq+p4T4TXPmXOE5gkSnhIC73p12VKM+FEytkp8vIhUD3NiPhTuEzsIMlOXFOCmXyUmoyOUHTHe14K12wmTav2kaNc5l/dvWTE3BNG4iFQZgbXb1bN3CLl+tmksQsEAI1Jo0DsofA1Pyt+z+z+7F07cfYdKSMPP19nofs8S6mLtM107UjbpPmO6p3LDXuL3M0eqMnJnzX7RuWvO6o0Zfciujaa72uFMs+XCzZRvrlGU87C032ncJXWn8ubJ7CH8oMz3hZsHvFY/eQiaGOoFaPzAV7v1J5P5n2iqZu4RkbjNCJgdh3LPV3oUuph5MYxNjfmW/O7UasvqizKfzGbTuUYHmRi9WNUzRj1BuCVVviqtxEMnsz7RUZveTkd7FKx0qHtZvWmnYY2GyxrKLNDrDcUrB72Vxe8aqrMw+qFmv3WJs7mZdT6TE2O4gtuTso0X7cQoOmO9pTd8uFu1E0a5zL/AO9ayYm4hNPeiFQZgbXb1bN3Av3GaSxCgQAjUmjQOyh8DU/K37P7P7sXTtx9h0pIw8/X2eh+zxLqYu0zXTtSNuk+Y7Ydyw17i9zLDqjJyZ81+0blqzvI05fciujaa72tydZ8uFmzE3lyTKeepR5KlhxwJB7iLJXXg+OjQ2r9dOi8jcpNHbFbZeJjHEj4hc6uyVb5GJNp6oWrKGGUdzW4BoA2JmPJyt1Y2jcTK8n8z7RVs3cJyNxmhFwOw7lmq70Kj1MPJjGJsb8y6Gd2o1ZfVFmU/mM2ncq4HmRi9WNUzRj1BuCVVviq9xEMnsz7R8EZveTkd7E6y0uHtZvWmnYY2GyxvKLNDrDcUrB72Vxe8aqvMw+qFmv3GxNncyqhVdycV0S3O1O6UpTM8ZptuSpwUQnY5JL0EKFpjva8Fpv2DRZtRNGucy/u3rJibiFUd6IVBmBtdvVs3cIv3GaSxCgQAjUejQOyh8DU/K37P7P7sXTtx9h0pIw89lC6UVh5gD7nLrYa1raNuOk65anaXXTi0tEMtndN0/EKasWClrqUrpjrrqOVBR7EMm0DaM7jOUhKU+dZs2WstBd8nKZmvjOZSnOa0uMz5I2dC2qKlTpJmhxi6VqzTolPiveGugFoOJM7rukLFZRVGPJmWcIro9SVcUHlWTb5zbx0jWFTEucHo+hamzgf8FVSU+2OTd5zfiPqFfLo0/VEtfVw/qXRjNcZl+zxScXcRSjvRk1ZTojGWWQS8TN4n4BdC+quUtWx90IObbZr0WO+IxxewsN4keaWN6xzrhCxcLMuiUuRmZMYxNjfmT85PhRpyuqLMp/MZtO5Rg+ZGL1Y1TNGPUG4JVW+Kq3EZdWVmYUOyIbnXkzE5X9y2XY8bJatj7605t6naG40ikCI4tEjOU77sAAi1KqrSJFn6K+FD+UWaHWG4rNg9zK4veNVXmYfVCy5G4xM+5jSSih5n7RyVJe6yXXuEh0rtOCnTozdKKdS5l9PrUxIbm8k5s9Zwx2JdONGEtUylVSU1zHqgzA2u3rJm7gi/cZprGLBACNSaNA7KHwNT8rfs/s/uxdO3H2HSkjDz9e56H7PEupi7TNdO1I2acwOhuDrxIrHVNqxGavlJNGZkyfJf1huWjOXQfld6KqNprva3J1ny5NmyjeXJMoIAwK5gmDEbGZdM37R9QupjT8SHAzZQ+OLgzQrGIH0dzhgWg++SzUx4btBFS0sSIZP5n2ipzdwnI3GaETA7DuWervQqPU8xVFFfELrEQslKctc58x6F177YwitVqbsiemnIlW9DfDaC+KXznz3XbVGPdGaeiIomnqtDXpujHqDcFhq3zNVuIhk9mfaKnNb4+RORuMSprQ2lss3TLSe8yK01vioeo6L1oeo5lFmh1huKTg9zF4veNVXmYfVCy5G4xVncxpJ8yhg0LTHe14Lq3bBrt2UaNc5l/dvCy4jfiITQv1orqDMDa7epzdwLtxmmsQoEAI1Jo0DsofA1Pyt+z+z+7F07cfYdKSMPP19nofs8S6mLtM107UjbpPmO6p3LDXuIzR6oycmPNftG5as7yNGX3Iro2mu9rhTrPlybNlG8uSZDLo1Me6kOhkiyAbpc0tfet9lUVTxIdOtKCkSr9s4J6CFTCeky2K/3Chp/wCi9k/Byc1/1AR3vqX5PZn2ik5veVyNxmhFwOw7lnq7kKj1MPJjGJsb8y353ajVl9UWZT+YzadyrgeZGL1Y1TNGPUG4JVW+Kr3EQyezPtFGb3k5HexOsdLh7Wb1pp2GNhssbyizQ6w3FKwe9lcXvGqqzMPqhZr91ibO5ilXU174z2OIkJyu5nALVdVGNaegy2pRjFrzFqFpjvaTL9gZZtRNGucy/wDvWsmJuITR3ohUGYG129WzdwLtxmksQoEAI1Ho0DsofA1Pyt+z+z+7F07cfYdKSMPP19nofs8S6mLtM107UjbpPmO6p3LDXuIzR6oycmfNftG5as7yNGX3Iro2mu9rhTrPlws2Uby5KMpiUPTH7HfKund8ujTbtRGq+zJ2jes+F3lcbcFmaF3HiK0S+YJhv/UYyfzPtFIze8rfuM0IuB2Hcs9XchUeph5MYxNjfmW/O7UasvqizKfzGbTuVcDzIxerGqbox6g3BKq3xVe4iGT2Z9oozdwnI72J1jpcPazetNOwxsNljeUWaHWG4pWF3sri941VWZh9ULNfusTPuZl1PpMTY7iC3ZGyjRftxChaY72kXbAWbUTRrnMv7t6yYm4hNPeiFQZgbXb1bN3Au3GaSxCgQAjUmjQOyh8DVoyt+z+z+7F07cfYdKQMMGu4bjGhyaT5uAJ/eXTxZJVNNmmuajW0zZpPmO2HcsNfKxGeL5oy8m2ENfNpF4xBGrpWvNaemjHZE1KWqFHxHQqS6JybnAE4A3zEsZLQuGdSjqMfDKtR1HoVcOc4N5B4mQJ33TMp4LPPEhFdwmVaS14iiltfAjmMGFzXc1+OIuwwTK5Rtr4G+gyMozhwt9CunU99IbycOE6883jgFemmFL4mya4xrfE2Ox6OYdFMPEhuq++czJZoWKeRxeQqE/3OJiNXVg6CyxyLzeTORGPctN1ELJa8Q2yMZS14jTolOMYPBhubIa9c54XdCzTpjW00xDiovqI5Nw3AxJtI83EEetzpma04rRjcmak1oTykYS1lkE3nAE6uhRgy011DHmot6jVMafsxEjOwLterUlVv9/UXW0p6kKgaRBvBHlHES3ozWnPkTdJSm9BSsGONKYQ0kTZfIyx50+qUVQ+YyEkqnE0K2opiwyG4i8dMtSy41qhPmKps4J6szqJWroTBDdBdNtwuI8FsnjwnLjTGyrjJ8SkXVHRXhzorwW2rgDjeZky1alTMtjooR8il1ilpFeRTQdMf7XgrXteB1L2STqSNGucy/u3rLibgulpTTZXUGYG129Tm6eIRc05to01jFggD5xQMvIkOFDhijtNhjWztm+y0CeHQvUW/hEJ2SlxdW3/7FVbcfZF5/SFE/hm/nP0S/wAlg/8AUMD9YUT+Gb+c/RT+TwS7gJOy+ii80UDa5w8FRfhFXlIA/Hsb+EH5nf7UflFXnMCP6won8O385+iv+TQ/yYEvx/Gla+yiWE7TpT5pykq/k9benGAfj6N/Cj8zv9qj8qq/zAG5fxThRWnY5x8FL/Ca+jkAHL2MP/iD8zv9qj8oq8pgDv0gRRjRWja5w8FK/CK30mBxv6QIpMhRmk8wcT4KZfg9a7pADv0gRQZGjNnzWjP3SUL8Hra5SA6cv4wxooG1zh4KF+E1eUgOD9IEU4UZv5z9FZ/g1evORAfrAi4/Zmy6x+iPyavXTiJOty+jHCiggYyc4y+Cj8oqXJzAG5fRTeKKDsc76KH+EVLrIDoy8jkyFEEzgJun7rKn8qr07wIj9IEUmQorZ81oz90kP8HrS14iAdl/FBkaK0HmLiPhJSvwmDXfyJO/j2N/CD8zvoq/lNSfeBH9YUT+GZ+c/RX/ACaD58TAP1hRP4Zn5z9FH5LD/IA/WFE/hmfnP0R+Sw/yA8TDwGwbl3ZdWUq24+y+xJQXPTZMP5Gi0qksA5RgaGuInZnjKf8Ady5uX+u6EH0YMup1Oi0iqzEjOtO5YCcgLhquSowVeTpHpoQPV9XEeBHo0OFEkx0OES2QIMzI4jmS6Ko2QnKXXmGh5/LOG1tNihoAE2mQ5y0ErdgSbpWpI3F9Dj+oO4pTb+La/gPM1coK4pECk0eHCiSYWQiWyBBtOIOIngs9FMZ1ylLqmyCFJp0WBWZgQnWYb4jC5gAkS5rZ6kRgp4vHLqiSLazjRK0EB7yYbYxstkJCTTK+U9as6oxxeJdWiNC6rKxiUmlUmixyHwgIsmlo8myZCRAVJ1quuE49eQGZVVIdRqtfHgybEdGDLcgSGyFwn3+9OsXi5ChLpoSWVvEMaDQaREAMR0Sy50pFwa8SnLZ8VFWsZ2QXRIg1aTW0YVp9lLgYTnNaWFoIkWTOqeKVGmPw3iLqBmUCC1jKzY0SDQQBzAOemWSbdX8gKUQf9qj9sz5U6x/9VH2JNSmVhEohoUKAQ1j2Mc9oA8sucAZnvKzxrVqnKXVEDNDpkSHWhorHSg2nHkwBKZZbOqfnGapOCni8b6hoI5OVnGj1i1sWIXBhihokBK4jUOgJ19cYY+sf4ApqiIYNGptIhyEVsQMa+Uy0F18p7UW/rsrg+mgFdcR3Uir4NIjSdEEVzLcgCW33GWwK1a8O+UI9NCTVrqt48KnQYLIkobhCm2QINoyOImkVUwlTKT68yDzGVcMNpkYNAAtYC7EA710cNt0rUkyVqAEARh4DYNymXVlKtuPsvsSUFz0lSej6btZvXOv+ZgAD0Qe38FSXzf0AYyr0qi9nB4lTE2rPqQIZb6dF9ngC0/h+yiRiL6HH9QdxSn82/YPMuyt0yjdnB4iq4uzP3YE629MN7SHwhVq+TYFdG9M/5ztxV5/JfQPIYycYfvCkulcBGmdQm7nS72vAgvYgQZ6IP9QOEJq+bXsSXUrQqv7V3GqQ3rfYgapnptvXZ/phEPk2BGi4VpsPE9Un1pJEaJ6Kj9sz5U6z5qPsBblXFsGhPlOzBY6XPIg+CMSPErI+rBEsn6eaTWjYxbZtzNmc5Shyx7kZFXhY3CvICvI/0l3xdzlOV8svoDJ0XQKd2zeIKkt+v2IKY/omH/UO3OUv5qXsSOZSekoGyDxKtHy8/qBkZYabH6w4QteFsoDHWsAQBGHgNgUy6spVtx9l9iSgueqyYMMUKl8sHFk2WgwgO7ielcvK4vHhw9QZZWDoBqs/Z2vDOWF0Qgmcr8NSXHj+K/X10IIZV6VRezg8SnE27PdgI5b6dF9ngC0/h+yiRiL6HH9QdxSn82/YPMuyt0yjdnB4iq4uzP3ZBOtvTDe0h8IVavk2SV0f0z/nO3FXn8lp/BBqVbWsWkUik0SKQYdmLKQskWTIXtxuKzWUxhXCxdeQGIz0Qf6gcIWpfNr2JLqVoVX9q7jVIb1vsQNUz023rs/0wiHybAjRcK02HieqT60kiNE9FR+2Z8qdZ81H2A7lnhROwarYXWfuCKch9Ohe1wFXznrSwGMkPSXfF3OS8v5ZfQGTougU7tm8QVHv1+xBTH9Ew/6h25yl/NS9iRzKT0lA2QeJRR8vP6gZGWGmx+sOELVhbMQMdawBAEYeA2Dcpl1ZSrbj7L7ElBc9JUno+m7Ye9c6/wCZgAD0Qe38FSXzf0AYyr0qi9nB4lTE27PdkCGW+nRfZ4AtP4fsokYi+hx/UHcUp/Nv2DzLsrdMo3ZweIquLsz92QTrb0w3tIfCFWr5NkldG9M/5ztxVp/J/Qguyc9I0nqxuJVv2IfQBJnog/1A3BMXza9iX1LqVoVX9q7jVY71vsQNUz023rt/0wqw+TYEaNhWmw8T1WfWkkRonoqP2zPlT7Pmo+wDOUWcoHZw+IKmO/02e4IchD/vZ2/+JLb1w9f+dQM3I/0l3xdzk7K+W/8AAMnRdAp3bN4gqvfr9iCmP6Jh/wBQ75lL+al7EjmUnpKBsg8Sij5ef1AyMsNNj9YcIWrB2YgY61gCACFCdZHkuwGo8yiU46vmUq24+y+xPkn+q73FV44+pc0aFT3wqPGo/JOPLWfKv8mz0SvWeyuMrIz16AArB32Q0TknXxOUt3+6UvFVdcXd4moFlbVo+kRYUXkXN5JrGyvM7BnOcrlFVMYQkuLqBRXdLfSo74/JObaldeZSAGMuhMx4xphw6gWurAmhCh8k6Yicpb1Xg3Sl0qnhx8Z2cXloBKtqzfSI0ONyLm8m1jZXmdgznOV01FdUYQcdeoEayrOJFpX2psIsdNrgJF0i0AcwngprqhGp1NgNRK5BpUOltopa5pLngEkPcRKYmPJS/B/adbl7AVVdWzoNIiUjkXHlA8WbxK2Z4yvkrzpjKuMOLoQcqms+ShOo8ajmLCcQ6V7C1w1ggdAUW0qUlOMtGiQrOtnRTBayjmHCgGbGCbr5gklxGN29FVMYKTctXIDRjZSsMU0htX/ttT3OcZGUgbMpYJEcVqPA58vQDNqut4sGJFdEgmI2MCIjCCLUyTcZXYlaLaYTilGWjXQCdY1rbg/ZqPRTChl1t17nucdUyRgoqpSnxzlqwGKPXrS2F9ooZivggBj7Tm3DC0JXykEuWPzfBLRMBBtbRxS/tlg27VqUjKUrNnZK5P8ABr8HwtQG6JW7IVMFKh0V7RJ1pgJM3OnMgkXC/DoS5U8VXBKQFVWVs6DyrIlHMSFGM3MM2kGcwQ4DH6KbaYy0alo0BGtqzMWEyjwaOYUJhLg29xLjrLiOkoqpUW5ylq2B2sq2fGpMOkci4WLHk3mdgzxldNTXVGFbhr1AUrikPpEd8bknNtmcpEyuAxl0J1KjXBR1AT5J3qu9xTfEj6hyDkn+q73FHiR9QPsdSaNA7KHwNXjMqcvHnz/1P7sXSv24+w6keJL1G6AjxJeoaIEeJL1DQEeJL1DQEeJL1DQFHHL1DQFPiT9Q0QI8SXqGhRHpbGGy4mcp91oN3uCdCFk1qmRyL0rin01J0RDlRasayLXcCB4hW/ccePXkRyKaTTmQ3BrpzMsBOVpwYCeYWiAm11W2Rck+hHIlGpQY5rCHEvMhITExfedVwmqwjZOLfF0JZYIwtFmsAO7iSBwlUfiKPFryDkTVPEn6hogR4kvUnQEeJL1DQEeJL1DQEeJL1DQEccvUNAR4kvUNAR4kvUNAR4kvUNAR4kvUNBKpNGgdlD4GpmVv2f2f3Yunbj7DyQMBAAgAQAIAEACABAGLXFrlWylKwJz5uWZguphaOp+5ViHLmI4yc8NtTaLZnI8jrB/mddqmtyqjFc0tdCp2HGeXB9t1ohonM4fsj4n3ocIKPDpyAvp7nWoV05sgTJOH7dl/Tes9cUoy939iTRrN4a6E44AvJlzCE5ZMWLakkDMaFHsvtutyAIItEmzajmyTO/AXrpyqTgo8iDdqlxMJpdOc3C8zIk4gCetcfLSVjSLocWUkEACABAAgAQAIAEACAEaj0aB2UPgan5W/Z/Z/di6duPsPJAwEACABAAgAQAIAEALR6G15tOnOUsdVoO3tCfVkSrWiIaF4VUQ263G+d56shh/I1Pln2PyI0K6TVLQx3J2rUhK/Ats4flHuTK86TlpLoGg1Fq+G6WNwa0SOpjw9vxaFnjlSj09dQ0B9Ba5jGuc51gStE+U6bS02jrmCULKcZuUV1J0KPueHKRLjdKc7/wB7o/8Asd8E159mvQjQco0AQ2hoJMp3nEkkk/ErJbY7JcTJRclkggAQAIAEACABAAgAQB5Kq68iNgQmhrbobBr1MAXbvwou2T16t/c1UYadUXr5L7DP4gieo34/VK+Ah6jfg4+ofiCJ6jfj9UfAR9Sfg4+off8AE9RvxR8BAj4NeofiCJ6jfj9UfAw9Q+Dj6h+IInqN+KPgYh8GvUPxBE9RvxR8DD1D4KPqH4gieo34o+Ah6h8EvU7+IInqN+KPgIeofBL1Off8T1G/FHwEPUPgl6h9/wAT1G/FHwEPUPgl6h9/xPUb8UfAQ9Sfgl6h9/xPUb8UfAQ9Q+DXqH3/ABPUb8UfAQ9SPgl6h9/xPUb8UfAQ9Q+CXqd/EET1G/FHwEPUPgl6nPxBE9RvxR8BD1D4Jep38QRPUb8UfAQ9Q+CXqH4gieo34o+Ah6h8EvUkK6jEWhCEsJyMp7VZfhy6oo8etPRyB1dRgSDCAIvIINw5yo/LkHw9f+QffUa79kL8Ljfs51P5cg+Hr1a4ugffUa/9kLsbjdt5kfly/kHj1r/UcNexf8NvPrwOBUfl6JWLB8lI5+IInqN+Kj4CHqX+CXqYNX5qH1GcIXTselkvd/cdjpuiC/8AyvsaYponPkma7tV8tXcfereKvQV8NL/I4KaLv2bLpasZGevnQ7V6B8LL/JlcKkBs/IB87/8AQlzalWNi9C8qJS0XEWCnD/CZiD7hZ93ireL/AAU+Fl/kzgpg/wAJmM9kjOWyRkjxF6A8aXL9TKIz7Ti4CU9SVJ6mmuLitG9SCguCABAAgAQAIAEACABAAgAQAIA0KLWXJw2sA/eJcf5S5hkL5T8jWFohdwRSOddheJZKevlyGW1tCESI8sLhF8k3WZMM53TMzePcru6Oon4K1xiumnM4K2ZYhNFtphlptAAzsgjAn/3Mod0eRX4KzWT5czv3rDtTAe0NeXhovtzAEnX3Xg89xU+NHXVErBt005dP/BXSa1a+CYZZ5QaxrXC6QaQXA9ExMbVSdylHQZThTrsUm+WrMlZTqFFX5qH1G8ITLdyXu/uJx1+zD+q+xeqDgQAIAEBoCjUAUgdQAIAEACABAAgAQAIAEACABAAgDiABGgMEaACA8wQHnodQB//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7172" name="AutoShape 4" descr="data:image/jpeg;base64,/9j/4AAQSkZJRgABAQAAAQABAAD/2wCEAAkGBxAPERUQDxAVFRUVGBoVGBUVFx0VGBUWFhgaFhgYFxUYHSogGBolGxUWITEhJSkrLi4uFx8zODMtNygtLisBCgoKDg0OGhAQGy0lHx8tLS0tLS0tLS0tLS0tLS0tLS0tLS0tLS0tLS0tLS0tLS0tLS0tLS0tLS0tLS0tLS0tLf/AABEIAPwAyAMBEQACEQEDEQH/xAAbAAACAwEBAQAAAAAAAAAAAAAABAIDBQEGB//EAEwQAAECAgUHBwkECAUEAwAAAAEAAgMRBAUSITEGMzRBcbGyE1FhcnOBwSIyNVKCkaHC0RQVFpIHFyNCVGJ08FODs9LhJCXD8URjov/EABsBAAIDAQEBAAAAAAAAAAAAAAADAQIEBQYH/8QANhEAAgIBAgQEBAYBAwUBAAAAAAECAwQRMxIhMTITQVFxFDSBsQUVIiNhclJCRPAkQ5Gh0WL/2gAMAwEAAhEDEQA/APNUXNs6rdwXIn3P3PpmJ8vX/WP2Rc1pJkBMm4Aa1CWvQbKSitWSjQnMcWPaWuGIOIQ00RCyM1rF8iCguX0GhvjPDIYmT7gOcpV10a46sVddGuOrPfVTVjKMyy28nznayfovN5OTK6X8Hnr75Wy1Y8sok6gAQAIAEACABAAgAQAIAEACABAAgAQAIAEACABAHyaiCbGS9Vu4L201+p+56PGko41bf+Mfsj1FAqwwHCbwItm09xwo7DfaJ9fmCfCGhysnKd3JL9P3G2VcItkFjSDewOHlPB86NHIvHQOfUr8OvUyfESr7X/z0RgmrbccwYDuUAMrerpOya5+TbClatnbhlNUqdi0Z7WqatZR2WW3k+c7WT9F5nJyZXS5nGuvlbLVjyyijqABAAgAQAIAEACABAAgAQAIA44yEypjFt6IBSHWUJzS8PubMmYIIAaHEyN8rJB7wnyxbItLQjUvj0hsMWnGQmBgTMm4AAXqkKpSk4onU46ksEgXStCYndrA3uHvQqZvXRdCNSUOM13muBuBuvuOG4qsoSj1ROpNUA6gAQB8xqGlclYIsibWttOE7EwAXAc69ypaWP3Oy6vExIaeUY/Xkj1fIAvaWwvIcLTWuM3P18tH/AJZ4BP05nHcmk1rz/wCckKUimxI7jRqKSbRnFiHF+rEYMGEllysqNUXzNlOPGteLb9Eb9VVayjsstx1u1kryWRkStlr5Ge66VstWPLMKOoAEACABAAgAQAIAEACABAAgAQBXHbNrgNYI94TaXpNMhnkqQCWxJhzSGRAQZTuosMHnuXodVya8/wD6U8zVjRXmCJzeW0gNGALg2LITwE5BYZVxV8tOWqJKaRSYnLl1rA2A2Qk0F8Ce0+UU2uuKgkiBc02LDhNax8pMDpyBNzIr5YYTYBsTPBhOTckBq1dSYjorw50x5UhIeTZcGiUhPA61hzKYRrWi6Erqaq5hcEAfJqIfIZL1W7gvbT7n7npMVJ48E/8AGP2R6GjU6kUlv2eGPKeZxImtzdQJ1NHMl5GWq6+Zz54lVE/El9EeqqqrmUdlhmOt2sleWyMiVstWYLrpWy1Y6swoEACACakAmgAmoAEACABABNAAgAQAIAFIEIrbTSOcEe8K1b4ZJshmE6qIxa4GxNzXMlMmU4LYQM5X3snLpXXebV/z3K6Dr6E/k7IkTy3K4yBHKW5TljJZ5ZMJWuXk1oToUxKtiOiOcbIBIcL54uhEjDVyZ2zCZHLrjFJEaMojVPFc0AWZhoZicLMRk8P5wZJkc2pMGmaFCoTocQvJEjaw/mcHD4BZMnJhZHREpczRWAsCAPl9S0J8cMYwfutmdQEheV6/KujVq3/J3q741Ytbf+Mfsj6FVlXMo7LLBfrdrJXmcjIlbLVnGutla9WFZU4QWgymTcArY1Hic2VhDiFIlY0iGA6LBAb0G8bb1o8CmT0i+YyNcJck+Y9HpkoRitvumO9ZYU/ucDFxhrPhYjDrKkObbbABbzgjVdhOa1yx6VLRvmXdcFLhbGqHWAisc8CRbiO6azTxuCaXkys6+GSXqKUetI8QWmQARhO0Me/atEsemD0ky064xejYzHpsRkHlHwwHTlZnOV914SoUVys4U+RWuHFLTUXFZUiyH8gLJE5h2rnlimvHp14deZbghrpqP0GliM20LtRHMVkup4JcJScHF6CTq1e55ZAhW7OJJkP7uWpYsIx1myzrUVrJhArKKYohPhhpIJxn+6SOhTLHq4OJEyrXDxJkKTWceGLUSCAOtPcVMMemfRkwqjLoxmiUmO5wtwQ1pvnaB1XXTSrKqVyi+YuSiujO1ZTjGtzaBZMru9UyKFCK08wshwaFUesnmIYcCHaLcSTIBNhjVxjxTLeGktZBRqzdyghRmWXHCRuVbcaPDxQZMqv08UWTrOnuhOa1jQ4u57r5gDeox6Izi3LyIrrUk5PyKYtY0iGLUSAANZDgdyYsemf6YvmTGuE3omNx6e1kIRZTBAIHPNIrxuKfCykYOUuESFZUizynIixjjfLnlj8FpePTrw68y6rhrw68zSodIEVgeNfwIxWC6vglwi5R4ZcLGEoqCAMjJmhshUaFYF7obHOOsktBW3OulO6afk39yIWSnXHXyS+xrLGSYlf+fC63zBdHD7JGmnskO11mX929Jxd0XR3oUGhDq/Mnf7ktHd+o1UuYZ38RScndKW97M+psI/8AfrLVd3QHW9YjOTeaPXO4LPm96KZG4WV9mTtG9Rhd4Y/eXULMM7MblWzf+ot9/wBRTJzNO6x3BOytyI2/vIZN4ROsNyM7/SGT1Xscfpw2fIVdfLB/2CeU2aHW8Cl4Pcwxu5mpB81vVG5Zp7j9xBlZPYxesPFaszpEfkeRypM7G2/MVOXtxJv7YnK10iDtbxBXx9lhDZkdrrOwdo4mquL2SIq25Ddd5l3dvCRibqK0d6M2sNEhbG8JWurekXo72a0TMHqfKsUH+99RMe9FNQZgbXb1bM3Cbe9mksYsEAI1Jo0DsofA1Pyt+z+0vuxdO3H2HSkjDEr/AM+F1vmC6OJ2SNNPZIdrrMv7t6Ri7oujvQoNCHV+ZP8A9yWjvfUaqTMM7+IpOTvFLe9mfU2FI/v1lqu7oDre6Izk3mj1zuCz5vcimR3llfZk7RvUYXeGP3l1BzDOzG5RZvfUW+/6ieTmad1juCblbkRt/eRybwidYbkZ3+kMjqvY4/Ths+Qq6+WB7JPKbNDb4FLwe5hjdzNSD5jeqNyyz3H7iPMysnsYvW+q15nSI/I6r2OVJnY235ipy9uJN/SPscrbSIO1vEFbG2WENmR2u87B2jiaoxeyRFW3IbrvMu7t4SMTcRWjvQhTYZNDhkag0/CXitVckr2i9D/ca9TRoUQRoI1TbZMtUrislqdVuomacJl1DowhMDGkkCd5xvv1BJttdkuJoq229WMJRAIARqPRoHZQ+Bqflb9n9n92Lp24+w6UkYYlf+fC63zBdHE7JGmnskO11mX929Ixd0XR3oUGhDq/Mn/7ktHe+oVbWMKHBaHPvE5jvJU240526hZXJ2MqqVh5OM+Vzpy6ZAk71a9rjiibH+tL0K6mdSAw8k1hFr94yM5D/hMyPC1XEWv4OPmOVuX/AGf9pK1MTlhis+Pw+L+kpj6eJyFW0mkiAJQpNsiTpgmzLGU1p4KvE1b5lkoOfUdqJjRB8l05kk3SkZC6XuWTKb8ZFLdePmK5PRWtES04CbhiZak3LrlNLRF8iLbQWgaa0ggiRwv/AHCrOLjj6MGtKS3KbMjb4FJwe5kY3czUg+a3qjcss9x+4jzMrJ7GL1vqteZ0iPyPL2OVJnY235ipy+yJN/SPscrbSIO1vEFbG2WENmR2u87B2jiaoxduRFW3IbrvMu7t4SMPcRWjvRKr2B0BjSJgsAPuUXy4bW0Lb0k2jOgONEi2HGcN2B5ulaZpXw18zQ/3Y6+aN1cxrQyklAAgBGpNGgdlD4Gp+Vv2f2f3Yunbj7DpSRhiV/58LrfMF0cTskaaeyQ7XWZf3b0jF3RdHehQaEOr8yf/ALktHe+pbU9FhmCwmG0m+8tBPnHWl5N01Y0mVub42PUjzHdU7lnqbdibFx7kZ2TeaPXO4LTm96HZHeW19mTtG9Vwu8jH7y6g6OzsxuVbH+99Sj7/AKieTmad1jwhOy9yI2/vFaloUOLbMRs5EAXkbinZN8q9OEtfJprQlCgNh0xrWCQkbscWnnRKbnRqyHJunmMZTZkbfApGD3MjG7makHzW9UbllnuP3EeZlZPYxet9VrzOkR+R1XscqTOxtvzFTl9kSb+kfY5W2kQdreIK2LssIbMjtd52DtHE1Ri7ciKtuQ3XeZd3bwkYe4Vo70doEZrIEMvcALIxu1KLq3O2Wgtp6vQK3o4fCdzjyh3IxZuM9C9M+GaOVLGL4LZ4ibfdh8EZcOGZF0dJtGgsgsEAJVJo0DsofA1Pyt+z+z+7F07cfYcKSMMSv85C63zBdHE7JGmnskO11mX929Ixd0XR3oUGhDq+Kf8A7ktHd+o3UmYZ38RWfL3GUt72M0nzHdU7kqnvRWPcjNybzR653Bac3uQ3I7y2vsydo3owtwMfvLqDmGdQblS3e+ot9/1E8nM07rHcE7L3Ijb+8jk1hE6w3Izv9IZPcvY4/Ths+Qq6+WD/ALBPKbNDreBS8HuYY3czUg+a3qjcss9x+4jzMrJ7GL1h4rXmdIj8jqvY5UmdjbfmKnL7Ik39sfY5WukQdreIK2LssIbMjtd52DtHE1VxduRFW3IbrvMu7t4ScTcK0d6M2sNEg7G8K1w3ZF6l+qRtUjNu6p3LBDd+oiPchLJ7M+0fBNze9DMjvNRYhJ1ACNSaNA7KHwNT8rfs/s/uxdO3H2HSkjDGyghnyIgEw039F4PguhhyWjiaKWtHF+ZCsq0hRIdhhJc6V0r+fvTKcZ1z4mwrg4S1fQujwjDoll2IaJ7SZ+KXGSlkFYSTs1L6kzDO/iKRl7jK2vWTGqT5juqdyXT3orHqjCqWs4MKGWvdI2iee6Q+i6GTjyskmh90HKeq0Ga1pbItHLmGYtATwvS8ep126MrSuGfMdoOjs6g3JNm/9Rbf6xLJszhO6x3BNy+VkRl7TnqjmTRuidYbkZ3kGQ02iLz/ANcNnyFXXyxLa8HQYyggl0K4TkZnZKXikYUkptMrRJKXMYq6mMit8gzLQAei7/hVuqcJ6vzKTjwvRiOTpnyvWHinZnbEZfLoVUaOKPHiCLMB14PfPxTbK/GrWhea44LTyOOjCk0hhhzLWEEnYZ/8Kygqamn1ZHZW0+rLa7I5WDtHE1KxNuRWppQlqN15mXd28JGJulaGuPmIU2GTRIZGoNJ2SktMJLxpJl6pLjYzHreCYRk68tlLXOUlWGLNWa+RSNUlItqGGWwRMSmSRsOCRmNOfIi2SlPVGksYsEAI1Jo0DsofA1Pyt+z+z+7F07cfYdKSMK3xWtuc4DaZJkK5y5xBJvoiDHQgfJLJ9Ep/BNlC7TnqS4yLSAUjmn/JUgYrBdaaOiYCZ4VkuehZRYCMw3WmmeqYUeDNc9AaYPDGiZsgc5kFaLtn01IS1IQ40J1zXNPQCNymVdq5ss4NeRcSANQHwSUpOX8lf4KxGhjBzfeE51Wt8yeBkoTmnzSO6Xgl2Ka7gaYPLReZDpN3xUxjZJaLoRo30I/aGeu33hT4Ni56E8D9CQDWiYkBjMSCq3OT4WR1ICPDGDmjvCZKm19SeCXoTk141OHcUv8Acr/gjRok1oFwAGy5VcpS5MCmJSYQMnPbPpImE5VW6ciyjJ89C25w1EHvCVpKD9GVAFvmgjYPopcZ9wFZo8MeVYYOmQ3qysslyTJ1Za0g3gg7EuSafMrpzJqhIIARqTRoHZQ+Bqflb9n9n92Lp24+w6UkYedygbOKwc4A97pLq4j0rbNdLarkxmlVHCDXFhcCASJmeG1LrzJuWjFwulqtSeT0dzmODjOyRLYQqZkEpJonJioy5CBozYtKcx05EnC43DnWpWcFOqGSk40po1IFTQWODxamDMTKxPMnJaMzSslLqZtMBj0nk3EhoMruYCZl0mS21tVU8SNK/bq4l1ZOtqthwmB8OYIIGJO/ApePfK1uMiKLHKWjHKQ8uolo4lgJSYJK/QXWl4olVNVwosO2+1OZFxkLk/JyJVy0Re62Sm0jWodCZADrE77zMzwWOd0rZJMzSbl1MWg0f7XEe6I4yErh0zkOgCS322+BBcKNdr8JJROV3V8OC1pZO+YMzPUoxb5Wa6k403LXU1qdox6g8Fkq3zPVuIzqoquHFh2n2p2iLjLDoWnJyZQloht9koz0RBjDRqQ1jHEtcRceZ116tJq2lyaLN+JU2/I067jlkI2TIkyntWTCipWcxNEVKfMVq+p4T4TXPmXOE5gkSnhIC73p12VKM+FEytkp8vIhUD3NiPhTuEzsIMlOXFOCmXyUmoyOUHTHe14K12wmTav2kaNc5l/dvWTE3BNG4iFQZgbXb1bN3CLl+tmksQsEAI1Jo0DsofA1Pyt+z+z+7F07cfYdKSMPP19nofs8S6mLtM107UjbpPmO6p3LDXuL3M0eqMnJnzX7RuWvO6o0Zfciujaa72uFMs+XCzZRvrlGU87C032ncJXWn8ubJ7CH8oMz3hZsHvFY/eQiaGOoFaPzAV7v1J5P5n2iqZu4RkbjNCJgdh3LPV3oUuph5MYxNjfmW/O7UasvqizKfzGbTuUYHmRi9WNUzRj1BuCVVviqtxEMnsz7RUZveTkd7FKx0qHtZvWmnYY2GyxrKLNDrDcUrB72Vxe8aqrMw+qFmv3WJs7mZdT6TE2O4gtuTso0X7cQoOmO9pTd8uFu1E0a5zL/AO9ayYm4hNPeiFQZgbXb1bN3Av3GaSxCgQAjUmjQOyh8DU/K37P7P7sXTtx9h0pIw8/X2eh+zxLqYu0zXTtSNuk+Y7Ydyw17i9zLDqjJyZ81+0blqzvI05fciujaa72tydZ8uFmzE3lyTKeepR5KlhxwJB7iLJXXg+OjQ2r9dOi8jcpNHbFbZeJjHEj4hc6uyVb5GJNp6oWrKGGUdzW4BoA2JmPJyt1Y2jcTK8n8z7RVs3cJyNxmhFwOw7lmq70Kj1MPJjGJsb8y6Gd2o1ZfVFmU/mM2ncq4HmRi9WNUzRj1BuCVVviq9xEMnsz7R8EZveTkd7E6y0uHtZvWmnYY2GyxvKLNDrDcUrB72Vxe8aqvMw+qFmv3GxNncyqhVdycV0S3O1O6UpTM8ZptuSpwUQnY5JL0EKFpjva8Fpv2DRZtRNGucy/u3rJibiFUd6IVBmBtdvVs3cIv3GaSxCgQAjUejQOyh8DU/K37P7P7sXTtx9h0pIw89lC6UVh5gD7nLrYa1raNuOk65anaXXTi0tEMtndN0/EKasWClrqUrpjrrqOVBR7EMm0DaM7jOUhKU+dZs2WstBd8nKZmvjOZSnOa0uMz5I2dC2qKlTpJmhxi6VqzTolPiveGugFoOJM7rukLFZRVGPJmWcIro9SVcUHlWTb5zbx0jWFTEucHo+hamzgf8FVSU+2OTd5zfiPqFfLo0/VEtfVw/qXRjNcZl+zxScXcRSjvRk1ZTojGWWQS8TN4n4BdC+quUtWx90IObbZr0WO+IxxewsN4keaWN6xzrhCxcLMuiUuRmZMYxNjfmT85PhRpyuqLMp/MZtO5Rg+ZGL1Y1TNGPUG4JVW+Kq3EZdWVmYUOyIbnXkzE5X9y2XY8bJatj7605t6naG40ikCI4tEjOU77sAAi1KqrSJFn6K+FD+UWaHWG4rNg9zK4veNVXmYfVCy5G4xM+5jSSih5n7RyVJe6yXXuEh0rtOCnTozdKKdS5l9PrUxIbm8k5s9Zwx2JdONGEtUylVSU1zHqgzA2u3rJm7gi/cZprGLBACNSaNA7KHwNT8rfs/s/uxdO3H2HSkjDz9e56H7PEupi7TNdO1I2acwOhuDrxIrHVNqxGavlJNGZkyfJf1huWjOXQfld6KqNprva3J1ny5NmyjeXJMoIAwK5gmDEbGZdM37R9QupjT8SHAzZQ+OLgzQrGIH0dzhgWg++SzUx4btBFS0sSIZP5n2ipzdwnI3GaETA7DuWervQqPU8xVFFfELrEQslKctc58x6F177YwitVqbsiemnIlW9DfDaC+KXznz3XbVGPdGaeiIomnqtDXpujHqDcFhq3zNVuIhk9mfaKnNb4+RORuMSprQ2lss3TLSe8yK01vioeo6L1oeo5lFmh1huKTg9zF4veNVXmYfVCy5G4xVncxpJ8yhg0LTHe14Lq3bBrt2UaNc5l/dvCy4jfiITQv1orqDMDa7epzdwLtxmmsQoEAI1Jo0DsofA1Pyt+z+z+7F07cfYdKSMPP19nofs8S6mLtM107UjbpPmO6p3LDXuIzR6oycmPNftG5as7yNGX3Iro2mu9rhTrPlybNlG8uSZDLo1Me6kOhkiyAbpc0tfet9lUVTxIdOtKCkSr9s4J6CFTCeky2K/3Chp/wCi9k/Byc1/1AR3vqX5PZn2ik5veVyNxmhFwOw7lnq7kKj1MPJjGJsb8y353ajVl9UWZT+YzadyrgeZGL1Y1TNGPUG4JVW+Kr3EQyezPtFGb3k5HexOsdLh7Wb1pp2GNhssbyizQ6w3FKwe9lcXvGqqzMPqhZr91ibO5ilXU174z2OIkJyu5nALVdVGNaegy2pRjFrzFqFpjvaTL9gZZtRNGucy/wDvWsmJuITR3ohUGYG129WzdwLtxmksQoEAI1Ho0DsofA1Pyt+z+z+7F07cfYdKSMPP19nofs8S6mLtM107UjbpPmO6p3LDXuIzR6oycmfNftG5as7yNGX3Iro2mu9rhTrPlws2Uby5KMpiUPTH7HfKund8ujTbtRGq+zJ2jes+F3lcbcFmaF3HiK0S+YJhv/UYyfzPtFIze8rfuM0IuB2Hcs9XchUeph5MYxNjfmW/O7UasvqizKfzGbTuVcDzIxerGqbox6g3BKq3xVe4iGT2Z9oozdwnI72J1jpcPazetNOwxsNljeUWaHWG4pWF3sri941VWZh9ULNfusTPuZl1PpMTY7iC3ZGyjRftxChaY72kXbAWbUTRrnMv7t6yYm4hNPeiFQZgbXb1bN3Au3GaSxCgQAjUmjQOyh8DVoyt+z+z+7F07cfYdKQMMGu4bjGhyaT5uAJ/eXTxZJVNNmmuajW0zZpPmO2HcsNfKxGeL5oy8m2ENfNpF4xBGrpWvNaemjHZE1KWqFHxHQqS6JybnAE4A3zEsZLQuGdSjqMfDKtR1HoVcOc4N5B4mQJ33TMp4LPPEhFdwmVaS14iiltfAjmMGFzXc1+OIuwwTK5Rtr4G+gyMozhwt9CunU99IbycOE6883jgFemmFL4mya4xrfE2Ox6OYdFMPEhuq++czJZoWKeRxeQqE/3OJiNXVg6CyxyLzeTORGPctN1ELJa8Q2yMZS14jTolOMYPBhubIa9c54XdCzTpjW00xDiovqI5Nw3AxJtI83EEetzpma04rRjcmak1oTykYS1lkE3nAE6uhRgy011DHmot6jVMafsxEjOwLterUlVv9/UXW0p6kKgaRBvBHlHES3ozWnPkTdJSm9BSsGONKYQ0kTZfIyx50+qUVQ+YyEkqnE0K2opiwyG4i8dMtSy41qhPmKps4J6szqJWroTBDdBdNtwuI8FsnjwnLjTGyrjJ8SkXVHRXhzorwW2rgDjeZky1alTMtjooR8il1ilpFeRTQdMf7XgrXteB1L2STqSNGucy/u3rLibgulpTTZXUGYG129Tm6eIRc05to01jFggD5xQMvIkOFDhijtNhjWztm+y0CeHQvUW/hEJ2SlxdW3/7FVbcfZF5/SFE/hm/nP0S/wAlg/8AUMD9YUT+Gb+c/RT+TwS7gJOy+ii80UDa5w8FRfhFXlIA/Hsb+EH5nf7UflFXnMCP6won8O385+iv+TQ/yYEvx/Gla+yiWE7TpT5pykq/k9benGAfj6N/Cj8zv9qj8qq/zAG5fxThRWnY5x8FL/Ca+jkAHL2MP/iD8zv9qj8oq8pgDv0gRRjRWja5w8FK/CK30mBxv6QIpMhRmk8wcT4KZfg9a7pADv0gRQZGjNnzWjP3SUL8Hra5SA6cv4wxooG1zh4KF+E1eUgOD9IEU4UZv5z9FZ/g1evORAfrAi4/Zmy6x+iPyavXTiJOty+jHCiggYyc4y+Cj8oqXJzAG5fRTeKKDsc76KH+EVLrIDoy8jkyFEEzgJun7rKn8qr07wIj9IEUmQorZ81oz90kP8HrS14iAdl/FBkaK0HmLiPhJSvwmDXfyJO/j2N/CD8zvoq/lNSfeBH9YUT+GZ+c/RX/ACaD58TAP1hRP4Zn5z9FH5LD/IA/WFE/hmfnP0R+Sw/yA8TDwGwbl3ZdWUq24+y+xJQXPTZMP5Gi0qksA5RgaGuInZnjKf8Ady5uX+u6EH0YMup1Oi0iqzEjOtO5YCcgLhquSowVeTpHpoQPV9XEeBHo0OFEkx0OES2QIMzI4jmS6Ko2QnKXXmGh5/LOG1tNihoAE2mQ5y0ErdgSbpWpI3F9Dj+oO4pTb+La/gPM1coK4pECk0eHCiSYWQiWyBBtOIOIngs9FMZ1ylLqmyCFJp0WBWZgQnWYb4jC5gAkS5rZ6kRgp4vHLqiSLazjRK0EB7yYbYxstkJCTTK+U9as6oxxeJdWiNC6rKxiUmlUmixyHwgIsmlo8myZCRAVJ1quuE49eQGZVVIdRqtfHgybEdGDLcgSGyFwn3+9OsXi5ChLpoSWVvEMaDQaREAMR0Sy50pFwa8SnLZ8VFWsZ2QXRIg1aTW0YVp9lLgYTnNaWFoIkWTOqeKVGmPw3iLqBmUCC1jKzY0SDQQBzAOemWSbdX8gKUQf9qj9sz5U6x/9VH2JNSmVhEohoUKAQ1j2Mc9oA8sucAZnvKzxrVqnKXVEDNDpkSHWhorHSg2nHkwBKZZbOqfnGapOCni8b6hoI5OVnGj1i1sWIXBhihokBK4jUOgJ19cYY+sf4ApqiIYNGptIhyEVsQMa+Uy0F18p7UW/rsrg+mgFdcR3Uir4NIjSdEEVzLcgCW33GWwK1a8O+UI9NCTVrqt48KnQYLIkobhCm2QINoyOImkVUwlTKT68yDzGVcMNpkYNAAtYC7EA710cNt0rUkyVqAEARh4DYNymXVlKtuPsvsSUFz0lSej6btZvXOv+ZgAD0Qe38FSXzf0AYyr0qi9nB4lTE2rPqQIZb6dF9ngC0/h+yiRiL6HH9QdxSn82/YPMuyt0yjdnB4iq4uzP3YE629MN7SHwhVq+TYFdG9M/5ztxV5/JfQPIYycYfvCkulcBGmdQm7nS72vAgvYgQZ6IP9QOEJq+bXsSXUrQqv7V3GqQ3rfYgapnptvXZ/phEPk2BGi4VpsPE9Un1pJEaJ6Kj9sz5U6z5qPsBblXFsGhPlOzBY6XPIg+CMSPErI+rBEsn6eaTWjYxbZtzNmc5Shyx7kZFXhY3CvICvI/0l3xdzlOV8svoDJ0XQKd2zeIKkt+v2IKY/omH/UO3OUv5qXsSOZSekoGyDxKtHy8/qBkZYabH6w4QteFsoDHWsAQBGHgNgUy6spVtx9l9iSgueqyYMMUKl8sHFk2WgwgO7ielcvK4vHhw9QZZWDoBqs/Z2vDOWF0Qgmcr8NSXHj+K/X10IIZV6VRezg8SnE27PdgI5b6dF9ngC0/h+yiRiL6HH9QdxSn82/YPMuyt0yjdnB4iq4uzP3ZBOtvTDe0h8IVavk2SV0f0z/nO3FXn8lp/BBqVbWsWkUik0SKQYdmLKQskWTIXtxuKzWUxhXCxdeQGIz0Qf6gcIWpfNr2JLqVoVX9q7jVIb1vsQNUz023rs/0wiHybAjRcK02HieqT60kiNE9FR+2Z8qdZ81H2A7lnhROwarYXWfuCKch9Ohe1wFXznrSwGMkPSXfF3OS8v5ZfQGTougU7tm8QVHv1+xBTH9Ew/6h25yl/NS9iRzKT0lA2QeJRR8vP6gZGWGmx+sOELVhbMQMdawBAEYeA2Dcpl1ZSrbj7L7ElBc9JUno+m7Ye9c6/wCZgAD0Qe38FSXzf0AYyr0qi9nB4lTE27PdkCGW+nRfZ4AtP4fsokYi+hx/UHcUp/Nv2DzLsrdMo3ZweIquLsz92QTrb0w3tIfCFWr5NkldG9M/5ztxVp/J/Qguyc9I0nqxuJVv2IfQBJnog/1A3BMXza9iX1LqVoVX9q7jVY71vsQNUz023rt/0wqw+TYEaNhWmw8T1WfWkkRonoqP2zPlT7Pmo+wDOUWcoHZw+IKmO/02e4IchD/vZ2/+JLb1w9f+dQM3I/0l3xdzk7K+W/8AAMnRdAp3bN4gqvfr9iCmP6Jh/wBQ75lL+al7EjmUnpKBsg8Sij5ef1AyMsNNj9YcIWrB2YgY61gCACFCdZHkuwGo8yiU46vmUq24+y+xPkn+q73FV44+pc0aFT3wqPGo/JOPLWfKv8mz0SvWeyuMrIz16AArB32Q0TknXxOUt3+6UvFVdcXd4moFlbVo+kRYUXkXN5JrGyvM7BnOcrlFVMYQkuLqBRXdLfSo74/JObaldeZSAGMuhMx4xphw6gWurAmhCh8k6Yicpb1Xg3Sl0qnhx8Z2cXloBKtqzfSI0ONyLm8m1jZXmdgznOV01FdUYQcdeoEayrOJFpX2psIsdNrgJF0i0AcwngprqhGp1NgNRK5BpUOltopa5pLngEkPcRKYmPJS/B/adbl7AVVdWzoNIiUjkXHlA8WbxK2Z4yvkrzpjKuMOLoQcqms+ShOo8ajmLCcQ6V7C1w1ggdAUW0qUlOMtGiQrOtnRTBayjmHCgGbGCbr5gklxGN29FVMYKTctXIDRjZSsMU0htX/ttT3OcZGUgbMpYJEcVqPA58vQDNqut4sGJFdEgmI2MCIjCCLUyTcZXYlaLaYTilGWjXQCdY1rbg/ZqPRTChl1t17nucdUyRgoqpSnxzlqwGKPXrS2F9ooZivggBj7Tm3DC0JXykEuWPzfBLRMBBtbRxS/tlg27VqUjKUrNnZK5P8ABr8HwtQG6JW7IVMFKh0V7RJ1pgJM3OnMgkXC/DoS5U8VXBKQFVWVs6DyrIlHMSFGM3MM2kGcwQ4DH6KbaYy0alo0BGtqzMWEyjwaOYUJhLg29xLjrLiOkoqpUW5ylq2B2sq2fGpMOkci4WLHk3mdgzxldNTXVGFbhr1AUrikPpEd8bknNtmcpEyuAxl0J1KjXBR1AT5J3qu9xTfEj6hyDkn+q73FHiR9QPsdSaNA7KHwNXjMqcvHnz/1P7sXSv24+w6keJL1G6AjxJeoaIEeJL1DQEeJL1DQEeJL1DQFHHL1DQFPiT9Q0QI8SXqGhRHpbGGy4mcp91oN3uCdCFk1qmRyL0rin01J0RDlRasayLXcCB4hW/ccePXkRyKaTTmQ3BrpzMsBOVpwYCeYWiAm11W2Rck+hHIlGpQY5rCHEvMhITExfedVwmqwjZOLfF0JZYIwtFmsAO7iSBwlUfiKPFryDkTVPEn6hogR4kvUnQEeJL1DQEeJL1DQEeJL1DQEccvUNAR4kvUNAR4kvUNAR4kvUNAR4kvUNBKpNGgdlD4GpmVv2f2f3Yunbj7DyQMBAAgAQAIAEACABAGLXFrlWylKwJz5uWZguphaOp+5ViHLmI4yc8NtTaLZnI8jrB/mddqmtyqjFc0tdCp2HGeXB9t1ohonM4fsj4n3ocIKPDpyAvp7nWoV05sgTJOH7dl/Tes9cUoy939iTRrN4a6E44AvJlzCE5ZMWLakkDMaFHsvtutyAIItEmzajmyTO/AXrpyqTgo8iDdqlxMJpdOc3C8zIk4gCetcfLSVjSLocWUkEACABAAgAQAIAEACAEaj0aB2UPgan5W/Z/Z/di6duPsPJAwEACABAAgAQAIAEALR6G15tOnOUsdVoO3tCfVkSrWiIaF4VUQ263G+d56shh/I1Pln2PyI0K6TVLQx3J2rUhK/Ats4flHuTK86TlpLoGg1Fq+G6WNwa0SOpjw9vxaFnjlSj09dQ0B9Ba5jGuc51gStE+U6bS02jrmCULKcZuUV1J0KPueHKRLjdKc7/wB7o/8Asd8E159mvQjQco0AQ2hoJMp3nEkkk/ErJbY7JcTJRclkggAQAIAEACABAAgAQB5Kq68iNgQmhrbobBr1MAXbvwou2T16t/c1UYadUXr5L7DP4gieo34/VK+Ah6jfg4+ofiCJ6jfj9UfAR9Sfg4+off8AE9RvxR8BAj4NeofiCJ6jfj9UfAw9Q+Dj6h+IInqN+KPgYh8GvUPxBE9RvxR8DD1D4KPqH4gieo34o+Ah6h8EvU7+IInqN+KPgIeofBL1Off8T1G/FHwEPUPgl6h9/wAT1G/FHwEPUPgl6h9/xPUb8UfAQ9Sfgl6h9/xPUb8UfAQ9Q+DXqH3/ABPUb8UfAQ9SPgl6h9/xPUb8UfAQ9Q+CXqd/EET1G/FHwEPUPgl6nPxBE9RvxR8BD1D4Jep38QRPUb8UfAQ9Q+CXqH4gieo34o+Ah6h8EvUkK6jEWhCEsJyMp7VZfhy6oo8etPRyB1dRgSDCAIvIINw5yo/LkHw9f+QffUa79kL8Ljfs51P5cg+Hr1a4ugffUa/9kLsbjdt5kfly/kHj1r/UcNexf8NvPrwOBUfl6JWLB8lI5+IInqN+Kj4CHqX+CXqYNX5qH1GcIXTselkvd/cdjpuiC/8AyvsaYponPkma7tV8tXcfereKvQV8NL/I4KaLv2bLpasZGevnQ7V6B8LL/JlcKkBs/IB87/8AQlzalWNi9C8qJS0XEWCnD/CZiD7hZ93ireL/AAU+Fl/kzgpg/wAJmM9kjOWyRkjxF6A8aXL9TKIz7Ti4CU9SVJ6mmuLitG9SCguCABAAgAQAIAEACABAAgAQAIA0KLWXJw2sA/eJcf5S5hkL5T8jWFohdwRSOddheJZKevlyGW1tCESI8sLhF8k3WZMM53TMzePcru6Oon4K1xiumnM4K2ZYhNFtphlptAAzsgjAn/3Mod0eRX4KzWT5czv3rDtTAe0NeXhovtzAEnX3Xg89xU+NHXVErBt005dP/BXSa1a+CYZZ5QaxrXC6QaQXA9ExMbVSdylHQZThTrsUm+WrMlZTqFFX5qH1G8ITLdyXu/uJx1+zD+q+xeqDgQAIAEBoCjUAUgdQAIAEACABAAgAQAIAEACABAAgDiABGgMEaACA8wQHnodQB//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7174" name="AutoShape 6" descr="data:image/jpeg;base64,/9j/4AAQSkZJRgABAQAAAQABAAD/2wCEAAkGBxAPERUQDxAVFRUVGBoVGBUVFx0VGBUWFhgaFhgYFxUYHSogGBolGxUWITEhJSkrLi4uFx8zODMtNygtLisBCgoKDg0OGhAQGy0lHx8tLS0tLS0tLS0tLS0tLS0tLS0tLS0tLS0tLS0tLS0tLS0tLS0tLS0tLS0tLS0tLS0tLf/AABEIAPwAyAMBEQACEQEDEQH/xAAbAAACAwEBAQAAAAAAAAAAAAAABAIDBQEGB//EAEwQAAECAgUHBwkECAUEAwAAAAEAAgMRBAUSITEGMzRBcbGyE1FhcnOBwSIyNVKCkaHC0RQVFpIHFyNCVGJ08FODs9LhJCXD8URjov/EABsBAAIDAQEBAAAAAAAAAAAAAAADAQIEBQYH/8QANhEAAgIBAgQEBAYBAwUBAAAAAAECAwQRMxIhMTITQVFxFDSBsQUVIiNhclJCRPAkQ5Gh0WL/2gAMAwEAAhEDEQA/APNUXNs6rdwXIn3P3PpmJ8vX/WP2Rc1pJkBMm4Aa1CWvQbKSitWSjQnMcWPaWuGIOIQ00RCyM1rF8iCguX0GhvjPDIYmT7gOcpV10a46sVddGuOrPfVTVjKMyy28nznayfovN5OTK6X8Hnr75Wy1Y8sok6gAQAIAEACABAAgAQAIAEACABAAgAQAIAEACABAHyaiCbGS9Vu4L201+p+56PGko41bf+Mfsj1FAqwwHCbwItm09xwo7DfaJ9fmCfCGhysnKd3JL9P3G2VcItkFjSDewOHlPB86NHIvHQOfUr8OvUyfESr7X/z0RgmrbccwYDuUAMrerpOya5+TbClatnbhlNUqdi0Z7WqatZR2WW3k+c7WT9F5nJyZXS5nGuvlbLVjyyijqABAAgAQAIAEACABAAgAQAIA44yEypjFt6IBSHWUJzS8PubMmYIIAaHEyN8rJB7wnyxbItLQjUvj0hsMWnGQmBgTMm4AAXqkKpSk4onU46ksEgXStCYndrA3uHvQqZvXRdCNSUOM13muBuBuvuOG4qsoSj1ROpNUA6gAQB8xqGlclYIsibWttOE7EwAXAc69ypaWP3Oy6vExIaeUY/Xkj1fIAvaWwvIcLTWuM3P18tH/AJZ4BP05nHcmk1rz/wCckKUimxI7jRqKSbRnFiHF+rEYMGEllysqNUXzNlOPGteLb9Eb9VVayjsstx1u1kryWRkStlr5Ge66VstWPLMKOoAEACABAAgAQAIAEACABAAgAQBXHbNrgNYI94TaXpNMhnkqQCWxJhzSGRAQZTuosMHnuXodVya8/wD6U8zVjRXmCJzeW0gNGALg2LITwE5BYZVxV8tOWqJKaRSYnLl1rA2A2Qk0F8Ce0+UU2uuKgkiBc02LDhNax8pMDpyBNzIr5YYTYBsTPBhOTckBq1dSYjorw50x5UhIeTZcGiUhPA61hzKYRrWi6Erqaq5hcEAfJqIfIZL1W7gvbT7n7npMVJ48E/8AGP2R6GjU6kUlv2eGPKeZxImtzdQJ1NHMl5GWq6+Zz54lVE/El9EeqqqrmUdlhmOt2sleWyMiVstWYLrpWy1Y6swoEACACakAmgAmoAEACABABNAAgAQAIAFIEIrbTSOcEe8K1b4ZJshmE6qIxa4GxNzXMlMmU4LYQM5X3snLpXXebV/z3K6Dr6E/k7IkTy3K4yBHKW5TljJZ5ZMJWuXk1oToUxKtiOiOcbIBIcL54uhEjDVyZ2zCZHLrjFJEaMojVPFc0AWZhoZicLMRk8P5wZJkc2pMGmaFCoTocQvJEjaw/mcHD4BZMnJhZHREpczRWAsCAPl9S0J8cMYwfutmdQEheV6/KujVq3/J3q741Ytbf+Mfsj6FVlXMo7LLBfrdrJXmcjIlbLVnGutla9WFZU4QWgymTcArY1Hic2VhDiFIlY0iGA6LBAb0G8bb1o8CmT0i+YyNcJck+Y9HpkoRitvumO9ZYU/ucDFxhrPhYjDrKkObbbABbzgjVdhOa1yx6VLRvmXdcFLhbGqHWAisc8CRbiO6azTxuCaXkys6+GSXqKUetI8QWmQARhO0Me/atEsemD0ky064xejYzHpsRkHlHwwHTlZnOV914SoUVys4U+RWuHFLTUXFZUiyH8gLJE5h2rnlimvHp14deZbghrpqP0GliM20LtRHMVkup4JcJScHF6CTq1e55ZAhW7OJJkP7uWpYsIx1myzrUVrJhArKKYohPhhpIJxn+6SOhTLHq4OJEyrXDxJkKTWceGLUSCAOtPcVMMemfRkwqjLoxmiUmO5wtwQ1pvnaB1XXTSrKqVyi+YuSiujO1ZTjGtzaBZMru9UyKFCK08wshwaFUesnmIYcCHaLcSTIBNhjVxjxTLeGktZBRqzdyghRmWXHCRuVbcaPDxQZMqv08UWTrOnuhOa1jQ4u57r5gDeox6Izi3LyIrrUk5PyKYtY0iGLUSAANZDgdyYsemf6YvmTGuE3omNx6e1kIRZTBAIHPNIrxuKfCykYOUuESFZUizynIixjjfLnlj8FpePTrw68y6rhrw68zSodIEVgeNfwIxWC6vglwi5R4ZcLGEoqCAMjJmhshUaFYF7obHOOsktBW3OulO6afk39yIWSnXHXyS+xrLGSYlf+fC63zBdHD7JGmnskO11mX929Jxd0XR3oUGhDq/Mnf7ktHd+o1UuYZ38RScndKW97M+psI/8AfrLVd3QHW9YjOTeaPXO4LPm96KZG4WV9mTtG9Rhd4Y/eXULMM7MblWzf+ot9/wBRTJzNO6x3BOytyI2/vIZN4ROsNyM7/SGT1Xscfpw2fIVdfLB/2CeU2aHW8Cl4Pcwxu5mpB81vVG5Zp7j9xBlZPYxesPFaszpEfkeRypM7G2/MVOXtxJv7YnK10iDtbxBXx9lhDZkdrrOwdo4mquL2SIq25Ddd5l3dvCRibqK0d6M2sNEhbG8JWurekXo72a0TMHqfKsUH+99RMe9FNQZgbXb1bM3Cbe9mksYsEAI1Jo0DsofA1Pyt+z+0vuxdO3H2HSkjDEr/AM+F1vmC6OJ2SNNPZIdrrMv7t6Ri7oujvQoNCHV+ZP8A9yWjvfUaqTMM7+IpOTvFLe9mfU2FI/v1lqu7oDre6Izk3mj1zuCz5vcimR3llfZk7RvUYXeGP3l1BzDOzG5RZvfUW+/6ieTmad1juCblbkRt/eRybwidYbkZ3+kMjqvY4/Ths+Qq6+WB7JPKbNDb4FLwe5hjdzNSD5jeqNyyz3H7iPMysnsYvW+q15nSI/I6r2OVJnY235ipy9uJN/SPscrbSIO1vEFbG2WENmR2u87B2jiaoxeyRFW3IbrvMu7t4SMTcRWjvQhTYZNDhkag0/CXitVckr2i9D/ca9TRoUQRoI1TbZMtUrislqdVuomacJl1DowhMDGkkCd5xvv1BJttdkuJoq229WMJRAIARqPRoHZQ+Bqflb9n9n92Lp24+w6UkYYlf+fC63zBdHE7JGmnskO11mX929Ixd0XR3oUGhDq/Mn/7ktHe+oVbWMKHBaHPvE5jvJU240526hZXJ2MqqVh5OM+Vzpy6ZAk71a9rjiibH+tL0K6mdSAw8k1hFr94yM5D/hMyPC1XEWv4OPmOVuX/AGf9pK1MTlhis+Pw+L+kpj6eJyFW0mkiAJQpNsiTpgmzLGU1p4KvE1b5lkoOfUdqJjRB8l05kk3SkZC6XuWTKb8ZFLdePmK5PRWtES04CbhiZak3LrlNLRF8iLbQWgaa0ggiRwv/AHCrOLjj6MGtKS3KbMjb4FJwe5kY3czUg+a3qjcss9x+4jzMrJ7GL1vqteZ0iPyPL2OVJnY235ipy+yJN/SPscrbSIO1vEFbG2WENmR2u87B2jiaoxduRFW3IbrvMu7t4SMPcRWjvRKr2B0BjSJgsAPuUXy4bW0Lb0k2jOgONEi2HGcN2B5ulaZpXw18zQ/3Y6+aN1cxrQyklAAgBGpNGgdlD4Gp+Vv2f2f3Yunbj7DpSRhiV/58LrfMF0cTskaaeyQ7XWZf3b0jF3RdHehQaEOr8yf/ALktHe+pbU9FhmCwmG0m+8tBPnHWl5N01Y0mVub42PUjzHdU7lnqbdibFx7kZ2TeaPXO4LTm96HZHeW19mTtG9Vwu8jH7y6g6OzsxuVbH+99Sj7/AKieTmad1jwhOy9yI2/vFaloUOLbMRs5EAXkbinZN8q9OEtfJprQlCgNh0xrWCQkbscWnnRKbnRqyHJunmMZTZkbfApGD3MjG7makHzW9UbllnuP3EeZlZPYxet9VrzOkR+R1XscqTOxtvzFTl9kSb+kfY5W2kQdreIK2LssIbMjtd52DtHE1Ri7ciKtuQ3XeZd3bwkYe4Vo70doEZrIEMvcALIxu1KLq3O2Wgtp6vQK3o4fCdzjyh3IxZuM9C9M+GaOVLGL4LZ4ibfdh8EZcOGZF0dJtGgsgsEAJVJo0DsofA1Pyt+z+z+7F07cfYcKSMMSv85C63zBdHE7JGmnskO11mX929Ixd0XR3oUGhDq+Kf8A7ktHd+o3UmYZ38RWfL3GUt72M0nzHdU7kqnvRWPcjNybzR653Bac3uQ3I7y2vsydo3owtwMfvLqDmGdQblS3e+ot9/1E8nM07rHcE7L3Ijb+8jk1hE6w3Izv9IZPcvY4/Ths+Qq6+WD/ALBPKbNDreBS8HuYY3czUg+a3qjcss9x+4jzMrJ7GL1h4rXmdIj8jqvY5UmdjbfmKnL7Ik39sfY5WukQdreIK2LssIbMjtd52DtHE1VxduRFW3IbrvMu7t4ScTcK0d6M2sNEg7G8K1w3ZF6l+qRtUjNu6p3LBDd+oiPchLJ7M+0fBNze9DMjvNRYhJ1ACNSaNA7KHwNT8rfs/s/uxdO3H2HSkjDGyghnyIgEw039F4PguhhyWjiaKWtHF+ZCsq0hRIdhhJc6V0r+fvTKcZ1z4mwrg4S1fQujwjDoll2IaJ7SZ+KXGSlkFYSTs1L6kzDO/iKRl7jK2vWTGqT5juqdyXT3orHqjCqWs4MKGWvdI2iee6Q+i6GTjyskmh90HKeq0Ga1pbItHLmGYtATwvS8ep126MrSuGfMdoOjs6g3JNm/9Rbf6xLJszhO6x3BNy+VkRl7TnqjmTRuidYbkZ3kGQ02iLz/ANcNnyFXXyxLa8HQYyggl0K4TkZnZKXikYUkptMrRJKXMYq6mMit8gzLQAei7/hVuqcJ6vzKTjwvRiOTpnyvWHinZnbEZfLoVUaOKPHiCLMB14PfPxTbK/GrWhea44LTyOOjCk0hhhzLWEEnYZ/8Kygqamn1ZHZW0+rLa7I5WDtHE1KxNuRWppQlqN15mXd28JGJulaGuPmIU2GTRIZGoNJ2SktMJLxpJl6pLjYzHreCYRk68tlLXOUlWGLNWa+RSNUlItqGGWwRMSmSRsOCRmNOfIi2SlPVGksYsEAI1Jo0DsofA1Pyt+z+z+7F07cfYdKSMK3xWtuc4DaZJkK5y5xBJvoiDHQgfJLJ9Ep/BNlC7TnqS4yLSAUjmn/JUgYrBdaaOiYCZ4VkuehZRYCMw3WmmeqYUeDNc9AaYPDGiZsgc5kFaLtn01IS1IQ40J1zXNPQCNymVdq5ss4NeRcSANQHwSUpOX8lf4KxGhjBzfeE51Wt8yeBkoTmnzSO6Xgl2Ka7gaYPLReZDpN3xUxjZJaLoRo30I/aGeu33hT4Ni56E8D9CQDWiYkBjMSCq3OT4WR1ICPDGDmjvCZKm19SeCXoTk141OHcUv8Acr/gjRok1oFwAGy5VcpS5MCmJSYQMnPbPpImE5VW6ciyjJ89C25w1EHvCVpKD9GVAFvmgjYPopcZ9wFZo8MeVYYOmQ3qysslyTJ1Za0g3gg7EuSafMrpzJqhIIARqTRoHZQ+Bqflb9n9n92Lp24+w6UkYedygbOKwc4A97pLq4j0rbNdLarkxmlVHCDXFhcCASJmeG1LrzJuWjFwulqtSeT0dzmODjOyRLYQqZkEpJonJioy5CBozYtKcx05EnC43DnWpWcFOqGSk40po1IFTQWODxamDMTKxPMnJaMzSslLqZtMBj0nk3EhoMruYCZl0mS21tVU8SNK/bq4l1ZOtqthwmB8OYIIGJO/ApePfK1uMiKLHKWjHKQ8uolo4lgJSYJK/QXWl4olVNVwosO2+1OZFxkLk/JyJVy0Re62Sm0jWodCZADrE77zMzwWOd0rZJMzSbl1MWg0f7XEe6I4yErh0zkOgCS322+BBcKNdr8JJROV3V8OC1pZO+YMzPUoxb5Wa6k403LXU1qdox6g8Fkq3zPVuIzqoquHFh2n2p2iLjLDoWnJyZQloht9koz0RBjDRqQ1jHEtcRceZ116tJq2lyaLN+JU2/I067jlkI2TIkyntWTCipWcxNEVKfMVq+p4T4TXPmXOE5gkSnhIC73p12VKM+FEytkp8vIhUD3NiPhTuEzsIMlOXFOCmXyUmoyOUHTHe14K12wmTav2kaNc5l/dvWTE3BNG4iFQZgbXb1bN3CLl+tmksQsEAI1Jo0DsofA1Pyt+z+z+7F07cfYdKSMPP19nofs8S6mLtM107UjbpPmO6p3LDXuL3M0eqMnJnzX7RuWvO6o0Zfciujaa72uFMs+XCzZRvrlGU87C032ncJXWn8ubJ7CH8oMz3hZsHvFY/eQiaGOoFaPzAV7v1J5P5n2iqZu4RkbjNCJgdh3LPV3oUuph5MYxNjfmW/O7UasvqizKfzGbTuUYHmRi9WNUzRj1BuCVVviqtxEMnsz7RUZveTkd7FKx0qHtZvWmnYY2GyxrKLNDrDcUrB72Vxe8aqrMw+qFmv3WJs7mZdT6TE2O4gtuTso0X7cQoOmO9pTd8uFu1E0a5zL/AO9ayYm4hNPeiFQZgbXb1bN3Av3GaSxCgQAjUmjQOyh8DU/K37P7P7sXTtx9h0pIw8/X2eh+zxLqYu0zXTtSNuk+Y7Ydyw17i9zLDqjJyZ81+0blqzvI05fciujaa72tydZ8uFmzE3lyTKeepR5KlhxwJB7iLJXXg+OjQ2r9dOi8jcpNHbFbZeJjHEj4hc6uyVb5GJNp6oWrKGGUdzW4BoA2JmPJyt1Y2jcTK8n8z7RVs3cJyNxmhFwOw7lmq70Kj1MPJjGJsb8y6Gd2o1ZfVFmU/mM2ncq4HmRi9WNUzRj1BuCVVviq9xEMnsz7R8EZveTkd7E6y0uHtZvWmnYY2GyxvKLNDrDcUrB72Vxe8aqvMw+qFmv3GxNncyqhVdycV0S3O1O6UpTM8ZptuSpwUQnY5JL0EKFpjva8Fpv2DRZtRNGucy/u3rJibiFUd6IVBmBtdvVs3cIv3GaSxCgQAjUejQOyh8DU/K37P7P7sXTtx9h0pIw89lC6UVh5gD7nLrYa1raNuOk65anaXXTi0tEMtndN0/EKasWClrqUrpjrrqOVBR7EMm0DaM7jOUhKU+dZs2WstBd8nKZmvjOZSnOa0uMz5I2dC2qKlTpJmhxi6VqzTolPiveGugFoOJM7rukLFZRVGPJmWcIro9SVcUHlWTb5zbx0jWFTEucHo+hamzgf8FVSU+2OTd5zfiPqFfLo0/VEtfVw/qXRjNcZl+zxScXcRSjvRk1ZTojGWWQS8TN4n4BdC+quUtWx90IObbZr0WO+IxxewsN4keaWN6xzrhCxcLMuiUuRmZMYxNjfmT85PhRpyuqLMp/MZtO5Rg+ZGL1Y1TNGPUG4JVW+Kq3EZdWVmYUOyIbnXkzE5X9y2XY8bJatj7605t6naG40ikCI4tEjOU77sAAi1KqrSJFn6K+FD+UWaHWG4rNg9zK4veNVXmYfVCy5G4xM+5jSSih5n7RyVJe6yXXuEh0rtOCnTozdKKdS5l9PrUxIbm8k5s9Zwx2JdONGEtUylVSU1zHqgzA2u3rJm7gi/cZprGLBACNSaNA7KHwNT8rfs/s/uxdO3H2HSkjDz9e56H7PEupi7TNdO1I2acwOhuDrxIrHVNqxGavlJNGZkyfJf1huWjOXQfld6KqNprva3J1ny5NmyjeXJMoIAwK5gmDEbGZdM37R9QupjT8SHAzZQ+OLgzQrGIH0dzhgWg++SzUx4btBFS0sSIZP5n2ipzdwnI3GaETA7DuWervQqPU8xVFFfELrEQslKctc58x6F177YwitVqbsiemnIlW9DfDaC+KXznz3XbVGPdGaeiIomnqtDXpujHqDcFhq3zNVuIhk9mfaKnNb4+RORuMSprQ2lss3TLSe8yK01vioeo6L1oeo5lFmh1huKTg9zF4veNVXmYfVCy5G4xVncxpJ8yhg0LTHe14Lq3bBrt2UaNc5l/dvCy4jfiITQv1orqDMDa7epzdwLtxmmsQoEAI1Jo0DsofA1Pyt+z+z+7F07cfYdKSMPP19nofs8S6mLtM107UjbpPmO6p3LDXuIzR6oycmPNftG5as7yNGX3Iro2mu9rhTrPlybNlG8uSZDLo1Me6kOhkiyAbpc0tfet9lUVTxIdOtKCkSr9s4J6CFTCeky2K/3Chp/wCi9k/Byc1/1AR3vqX5PZn2ik5veVyNxmhFwOw7lnq7kKj1MPJjGJsb8y353ajVl9UWZT+YzadyrgeZGL1Y1TNGPUG4JVW+Kr3EQyezPtFGb3k5HexOsdLh7Wb1pp2GNhssbyizQ6w3FKwe9lcXvGqqzMPqhZr91ibO5ilXU174z2OIkJyu5nALVdVGNaegy2pRjFrzFqFpjvaTL9gZZtRNGucy/wDvWsmJuITR3ohUGYG129WzdwLtxmksQoEAI1Ho0DsofA1Pyt+z+z+7F07cfYdKSMPP19nofs8S6mLtM107UjbpPmO6p3LDXuIzR6oycmfNftG5as7yNGX3Iro2mu9rhTrPlws2Uby5KMpiUPTH7HfKund8ujTbtRGq+zJ2jes+F3lcbcFmaF3HiK0S+YJhv/UYyfzPtFIze8rfuM0IuB2Hcs9XchUeph5MYxNjfmW/O7UasvqizKfzGbTuVcDzIxerGqbox6g3BKq3xVe4iGT2Z9oozdwnI72J1jpcPazetNOwxsNljeUWaHWG4pWF3sri941VWZh9ULNfusTPuZl1PpMTY7iC3ZGyjRftxChaY72kXbAWbUTRrnMv7t6yYm4hNPeiFQZgbXb1bN3Au3GaSxCgQAjUmjQOyh8DVoyt+z+z+7F07cfYdKQMMGu4bjGhyaT5uAJ/eXTxZJVNNmmuajW0zZpPmO2HcsNfKxGeL5oy8m2ENfNpF4xBGrpWvNaemjHZE1KWqFHxHQqS6JybnAE4A3zEsZLQuGdSjqMfDKtR1HoVcOc4N5B4mQJ33TMp4LPPEhFdwmVaS14iiltfAjmMGFzXc1+OIuwwTK5Rtr4G+gyMozhwt9CunU99IbycOE6883jgFemmFL4mya4xrfE2Ox6OYdFMPEhuq++czJZoWKeRxeQqE/3OJiNXVg6CyxyLzeTORGPctN1ELJa8Q2yMZS14jTolOMYPBhubIa9c54XdCzTpjW00xDiovqI5Nw3AxJtI83EEetzpma04rRjcmak1oTykYS1lkE3nAE6uhRgy011DHmot6jVMafsxEjOwLterUlVv9/UXW0p6kKgaRBvBHlHES3ozWnPkTdJSm9BSsGONKYQ0kTZfIyx50+qUVQ+YyEkqnE0K2opiwyG4i8dMtSy41qhPmKps4J6szqJWroTBDdBdNtwuI8FsnjwnLjTGyrjJ8SkXVHRXhzorwW2rgDjeZky1alTMtjooR8il1ilpFeRTQdMf7XgrXteB1L2STqSNGucy/u3rLibgulpTTZXUGYG129Tm6eIRc05to01jFggD5xQMvIkOFDhijtNhjWztm+y0CeHQvUW/hEJ2SlxdW3/7FVbcfZF5/SFE/hm/nP0S/wAlg/8AUMD9YUT+Gb+c/RT+TwS7gJOy+ii80UDa5w8FRfhFXlIA/Hsb+EH5nf7UflFXnMCP6won8O385+iv+TQ/yYEvx/Gla+yiWE7TpT5pykq/k9benGAfj6N/Cj8zv9qj8qq/zAG5fxThRWnY5x8FL/Ca+jkAHL2MP/iD8zv9qj8oq8pgDv0gRRjRWja5w8FK/CK30mBxv6QIpMhRmk8wcT4KZfg9a7pADv0gRQZGjNnzWjP3SUL8Hra5SA6cv4wxooG1zh4KF+E1eUgOD9IEU4UZv5z9FZ/g1evORAfrAi4/Zmy6x+iPyavXTiJOty+jHCiggYyc4y+Cj8oqXJzAG5fRTeKKDsc76KH+EVLrIDoy8jkyFEEzgJun7rKn8qr07wIj9IEUmQorZ81oz90kP8HrS14iAdl/FBkaK0HmLiPhJSvwmDXfyJO/j2N/CD8zvoq/lNSfeBH9YUT+GZ+c/RX/ACaD58TAP1hRP4Zn5z9FH5LD/IA/WFE/hmfnP0R+Sw/yA8TDwGwbl3ZdWUq24+y+xJQXPTZMP5Gi0qksA5RgaGuInZnjKf8Ady5uX+u6EH0YMup1Oi0iqzEjOtO5YCcgLhquSowVeTpHpoQPV9XEeBHo0OFEkx0OES2QIMzI4jmS6Ko2QnKXXmGh5/LOG1tNihoAE2mQ5y0ErdgSbpWpI3F9Dj+oO4pTb+La/gPM1coK4pECk0eHCiSYWQiWyBBtOIOIngs9FMZ1ylLqmyCFJp0WBWZgQnWYb4jC5gAkS5rZ6kRgp4vHLqiSLazjRK0EB7yYbYxstkJCTTK+U9as6oxxeJdWiNC6rKxiUmlUmixyHwgIsmlo8myZCRAVJ1quuE49eQGZVVIdRqtfHgybEdGDLcgSGyFwn3+9OsXi5ChLpoSWVvEMaDQaREAMR0Sy50pFwa8SnLZ8VFWsZ2QXRIg1aTW0YVp9lLgYTnNaWFoIkWTOqeKVGmPw3iLqBmUCC1jKzY0SDQQBzAOemWSbdX8gKUQf9qj9sz5U6x/9VH2JNSmVhEohoUKAQ1j2Mc9oA8sucAZnvKzxrVqnKXVEDNDpkSHWhorHSg2nHkwBKZZbOqfnGapOCni8b6hoI5OVnGj1i1sWIXBhihokBK4jUOgJ19cYY+sf4ApqiIYNGptIhyEVsQMa+Uy0F18p7UW/rsrg+mgFdcR3Uir4NIjSdEEVzLcgCW33GWwK1a8O+UI9NCTVrqt48KnQYLIkobhCm2QINoyOImkVUwlTKT68yDzGVcMNpkYNAAtYC7EA710cNt0rUkyVqAEARh4DYNymXVlKtuPsvsSUFz0lSej6btZvXOv+ZgAD0Qe38FSXzf0AYyr0qi9nB4lTE2rPqQIZb6dF9ngC0/h+yiRiL6HH9QdxSn82/YPMuyt0yjdnB4iq4uzP3YE629MN7SHwhVq+TYFdG9M/5ztxV5/JfQPIYycYfvCkulcBGmdQm7nS72vAgvYgQZ6IP9QOEJq+bXsSXUrQqv7V3GqQ3rfYgapnptvXZ/phEPk2BGi4VpsPE9Un1pJEaJ6Kj9sz5U6z5qPsBblXFsGhPlOzBY6XPIg+CMSPErI+rBEsn6eaTWjYxbZtzNmc5Shyx7kZFXhY3CvICvI/0l3xdzlOV8svoDJ0XQKd2zeIKkt+v2IKY/omH/UO3OUv5qXsSOZSekoGyDxKtHy8/qBkZYabH6w4QteFsoDHWsAQBGHgNgUy6spVtx9l9iSgueqyYMMUKl8sHFk2WgwgO7ielcvK4vHhw9QZZWDoBqs/Z2vDOWF0Qgmcr8NSXHj+K/X10IIZV6VRezg8SnE27PdgI5b6dF9ngC0/h+yiRiL6HH9QdxSn82/YPMuyt0yjdnB4iq4uzP3ZBOtvTDe0h8IVavk2SV0f0z/nO3FXn8lp/BBqVbWsWkUik0SKQYdmLKQskWTIXtxuKzWUxhXCxdeQGIz0Qf6gcIWpfNr2JLqVoVX9q7jVIb1vsQNUz023rs/0wiHybAjRcK02HieqT60kiNE9FR+2Z8qdZ81H2A7lnhROwarYXWfuCKch9Ohe1wFXznrSwGMkPSXfF3OS8v5ZfQGTougU7tm8QVHv1+xBTH9Ew/6h25yl/NS9iRzKT0lA2QeJRR8vP6gZGWGmx+sOELVhbMQMdawBAEYeA2Dcpl1ZSrbj7L7ElBc9JUno+m7Ye9c6/wCZgAD0Qe38FSXzf0AYyr0qi9nB4lTE27PdkCGW+nRfZ4AtP4fsokYi+hx/UHcUp/Nv2DzLsrdMo3ZweIquLsz92QTrb0w3tIfCFWr5NkldG9M/5ztxVp/J/Qguyc9I0nqxuJVv2IfQBJnog/1A3BMXza9iX1LqVoVX9q7jVY71vsQNUz023rt/0wqw+TYEaNhWmw8T1WfWkkRonoqP2zPlT7Pmo+wDOUWcoHZw+IKmO/02e4IchD/vZ2/+JLb1w9f+dQM3I/0l3xdzk7K+W/8AAMnRdAp3bN4gqvfr9iCmP6Jh/wBQ75lL+al7EjmUnpKBsg8Sij5ef1AyMsNNj9YcIWrB2YgY61gCACFCdZHkuwGo8yiU46vmUq24+y+xPkn+q73FV44+pc0aFT3wqPGo/JOPLWfKv8mz0SvWeyuMrIz16AArB32Q0TknXxOUt3+6UvFVdcXd4moFlbVo+kRYUXkXN5JrGyvM7BnOcrlFVMYQkuLqBRXdLfSo74/JObaldeZSAGMuhMx4xphw6gWurAmhCh8k6Yicpb1Xg3Sl0qnhx8Z2cXloBKtqzfSI0ONyLm8m1jZXmdgznOV01FdUYQcdeoEayrOJFpX2psIsdNrgJF0i0AcwngprqhGp1NgNRK5BpUOltopa5pLngEkPcRKYmPJS/B/adbl7AVVdWzoNIiUjkXHlA8WbxK2Z4yvkrzpjKuMOLoQcqms+ShOo8ajmLCcQ6V7C1w1ggdAUW0qUlOMtGiQrOtnRTBayjmHCgGbGCbr5gklxGN29FVMYKTctXIDRjZSsMU0htX/ttT3OcZGUgbMpYJEcVqPA58vQDNqut4sGJFdEgmI2MCIjCCLUyTcZXYlaLaYTilGWjXQCdY1rbg/ZqPRTChl1t17nucdUyRgoqpSnxzlqwGKPXrS2F9ooZivggBj7Tm3DC0JXykEuWPzfBLRMBBtbRxS/tlg27VqUjKUrNnZK5P8ABr8HwtQG6JW7IVMFKh0V7RJ1pgJM3OnMgkXC/DoS5U8VXBKQFVWVs6DyrIlHMSFGM3MM2kGcwQ4DH6KbaYy0alo0BGtqzMWEyjwaOYUJhLg29xLjrLiOkoqpUW5ylq2B2sq2fGpMOkci4WLHk3mdgzxldNTXVGFbhr1AUrikPpEd8bknNtmcpEyuAxl0J1KjXBR1AT5J3qu9xTfEj6hyDkn+q73FHiR9QPsdSaNA7KHwNXjMqcvHnz/1P7sXSv24+w6keJL1G6AjxJeoaIEeJL1DQEeJL1DQEeJL1DQFHHL1DQFPiT9Q0QI8SXqGhRHpbGGy4mcp91oN3uCdCFk1qmRyL0rin01J0RDlRasayLXcCB4hW/ccePXkRyKaTTmQ3BrpzMsBOVpwYCeYWiAm11W2Rck+hHIlGpQY5rCHEvMhITExfedVwmqwjZOLfF0JZYIwtFmsAO7iSBwlUfiKPFryDkTVPEn6hogR4kvUnQEeJL1DQEeJL1DQEeJL1DQEccvUNAR4kvUNAR4kvUNAR4kvUNAR4kvUNBKpNGgdlD4GpmVv2f2f3Yunbj7DyQMBAAgAQAIAEACABAGLXFrlWylKwJz5uWZguphaOp+5ViHLmI4yc8NtTaLZnI8jrB/mddqmtyqjFc0tdCp2HGeXB9t1ohonM4fsj4n3ocIKPDpyAvp7nWoV05sgTJOH7dl/Tes9cUoy939iTRrN4a6E44AvJlzCE5ZMWLakkDMaFHsvtutyAIItEmzajmyTO/AXrpyqTgo8iDdqlxMJpdOc3C8zIk4gCetcfLSVjSLocWUkEACABAAgAQAIAEACAEaj0aB2UPgan5W/Z/Z/di6duPsPJAwEACABAAgAQAIAEALR6G15tOnOUsdVoO3tCfVkSrWiIaF4VUQ263G+d56shh/I1Pln2PyI0K6TVLQx3J2rUhK/Ats4flHuTK86TlpLoGg1Fq+G6WNwa0SOpjw9vxaFnjlSj09dQ0B9Ba5jGuc51gStE+U6bS02jrmCULKcZuUV1J0KPueHKRLjdKc7/wB7o/8Asd8E159mvQjQco0AQ2hoJMp3nEkkk/ErJbY7JcTJRclkggAQAIAEACABAAgAQB5Kq68iNgQmhrbobBr1MAXbvwou2T16t/c1UYadUXr5L7DP4gieo34/VK+Ah6jfg4+ofiCJ6jfj9UfAR9Sfg4+off8AE9RvxR8BAj4NeofiCJ6jfj9UfAw9Q+Dj6h+IInqN+KPgYh8GvUPxBE9RvxR8DD1D4KPqH4gieo34o+Ah6h8EvU7+IInqN+KPgIeofBL1Off8T1G/FHwEPUPgl6h9/wAT1G/FHwEPUPgl6h9/xPUb8UfAQ9Sfgl6h9/xPUb8UfAQ9Q+DXqH3/ABPUb8UfAQ9SPgl6h9/xPUb8UfAQ9Q+CXqd/EET1G/FHwEPUPgl6nPxBE9RvxR8BD1D4Jep38QRPUb8UfAQ9Q+CXqH4gieo34o+Ah6h8EvUkK6jEWhCEsJyMp7VZfhy6oo8etPRyB1dRgSDCAIvIINw5yo/LkHw9f+QffUa79kL8Ljfs51P5cg+Hr1a4ugffUa/9kLsbjdt5kfly/kHj1r/UcNexf8NvPrwOBUfl6JWLB8lI5+IInqN+Kj4CHqX+CXqYNX5qH1GcIXTselkvd/cdjpuiC/8AyvsaYponPkma7tV8tXcfereKvQV8NL/I4KaLv2bLpasZGevnQ7V6B8LL/JlcKkBs/IB87/8AQlzalWNi9C8qJS0XEWCnD/CZiD7hZ93ireL/AAU+Fl/kzgpg/wAJmM9kjOWyRkjxF6A8aXL9TKIz7Ti4CU9SVJ6mmuLitG9SCguCABAAgAQAIAEACABAAgAQAIA0KLWXJw2sA/eJcf5S5hkL5T8jWFohdwRSOddheJZKevlyGW1tCESI8sLhF8k3WZMM53TMzePcru6Oon4K1xiumnM4K2ZYhNFtphlptAAzsgjAn/3Mod0eRX4KzWT5czv3rDtTAe0NeXhovtzAEnX3Xg89xU+NHXVErBt005dP/BXSa1a+CYZZ5QaxrXC6QaQXA9ExMbVSdylHQZThTrsUm+WrMlZTqFFX5qH1G8ITLdyXu/uJx1+zD+q+xeqDgQAIAEBoCjUAUgdQAIAEACABAAgAQAIAEACABAAgDiABGgMEaACA8wQHnodQB//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7176" name="AutoShape 8" descr="data:image/jpeg;base64,/9j/4AAQSkZJRgABAQAAAQABAAD/2wCEAAkGBxAPERUQDxAVFRUVGBoVGBUVFx0VGBUWFhgaFhgYFxUYHSogGBolGxUWITEhJSkrLi4uFx8zODMtNygtLisBCgoKDg0OGhAQGy0lHx8tLS0tLS0tLS0tLS0tLS0tLS0tLS0tLS0tLS0tLS0tLS0tLS0tLS0tLS0tLS0tLS0tLf/AABEIAPwAyAMBEQACEQEDEQH/xAAbAAACAwEBAQAAAAAAAAAAAAAABAIDBQEGB//EAEwQAAECAgUHBwkECAUEAwAAAAEAAgMRBAUSITEGMzRBcbGyE1FhcnOBwSIyNVKCkaHC0RQVFpIHFyNCVGJ08FODs9LhJCXD8URjov/EABsBAAIDAQEBAAAAAAAAAAAAAAADAQIEBQYH/8QANhEAAgIBAgQEBAYBAwUBAAAAAAECAwQRMxIhMTITQVFxFDSBsQUVIiNhclJCRPAkQ5Gh0WL/2gAMAwEAAhEDEQA/APNUXNs6rdwXIn3P3PpmJ8vX/WP2Rc1pJkBMm4Aa1CWvQbKSitWSjQnMcWPaWuGIOIQ00RCyM1rF8iCguX0GhvjPDIYmT7gOcpV10a46sVddGuOrPfVTVjKMyy28nznayfovN5OTK6X8Hnr75Wy1Y8sok6gAQAIAEACABAAgAQAIAEACABAAgAQAIAEACABAHyaiCbGS9Vu4L201+p+56PGko41bf+Mfsj1FAqwwHCbwItm09xwo7DfaJ9fmCfCGhysnKd3JL9P3G2VcItkFjSDewOHlPB86NHIvHQOfUr8OvUyfESr7X/z0RgmrbccwYDuUAMrerpOya5+TbClatnbhlNUqdi0Z7WqatZR2WW3k+c7WT9F5nJyZXS5nGuvlbLVjyyijqABAAgAQAIAEACABAAgAQAIA44yEypjFt6IBSHWUJzS8PubMmYIIAaHEyN8rJB7wnyxbItLQjUvj0hsMWnGQmBgTMm4AAXqkKpSk4onU46ksEgXStCYndrA3uHvQqZvXRdCNSUOM13muBuBuvuOG4qsoSj1ROpNUA6gAQB8xqGlclYIsibWttOE7EwAXAc69ypaWP3Oy6vExIaeUY/Xkj1fIAvaWwvIcLTWuM3P18tH/AJZ4BP05nHcmk1rz/wCckKUimxI7jRqKSbRnFiHF+rEYMGEllysqNUXzNlOPGteLb9Eb9VVayjsstx1u1kryWRkStlr5Ge66VstWPLMKOoAEACABAAgAQAIAEACABAAgAQBXHbNrgNYI94TaXpNMhnkqQCWxJhzSGRAQZTuosMHnuXodVya8/wD6U8zVjRXmCJzeW0gNGALg2LITwE5BYZVxV8tOWqJKaRSYnLl1rA2A2Qk0F8Ce0+UU2uuKgkiBc02LDhNax8pMDpyBNzIr5YYTYBsTPBhOTckBq1dSYjorw50x5UhIeTZcGiUhPA61hzKYRrWi6Erqaq5hcEAfJqIfIZL1W7gvbT7n7npMVJ48E/8AGP2R6GjU6kUlv2eGPKeZxImtzdQJ1NHMl5GWq6+Zz54lVE/El9EeqqqrmUdlhmOt2sleWyMiVstWYLrpWy1Y6swoEACACakAmgAmoAEACABABNAAgAQAIAFIEIrbTSOcEe8K1b4ZJshmE6qIxa4GxNzXMlMmU4LYQM5X3snLpXXebV/z3K6Dr6E/k7IkTy3K4yBHKW5TljJZ5ZMJWuXk1oToUxKtiOiOcbIBIcL54uhEjDVyZ2zCZHLrjFJEaMojVPFc0AWZhoZicLMRk8P5wZJkc2pMGmaFCoTocQvJEjaw/mcHD4BZMnJhZHREpczRWAsCAPl9S0J8cMYwfutmdQEheV6/KujVq3/J3q741Ytbf+Mfsj6FVlXMo7LLBfrdrJXmcjIlbLVnGutla9WFZU4QWgymTcArY1Hic2VhDiFIlY0iGA6LBAb0G8bb1o8CmT0i+YyNcJck+Y9HpkoRitvumO9ZYU/ucDFxhrPhYjDrKkObbbABbzgjVdhOa1yx6VLRvmXdcFLhbGqHWAisc8CRbiO6azTxuCaXkys6+GSXqKUetI8QWmQARhO0Me/atEsemD0ky064xejYzHpsRkHlHwwHTlZnOV914SoUVys4U+RWuHFLTUXFZUiyH8gLJE5h2rnlimvHp14deZbghrpqP0GliM20LtRHMVkup4JcJScHF6CTq1e55ZAhW7OJJkP7uWpYsIx1myzrUVrJhArKKYohPhhpIJxn+6SOhTLHq4OJEyrXDxJkKTWceGLUSCAOtPcVMMemfRkwqjLoxmiUmO5wtwQ1pvnaB1XXTSrKqVyi+YuSiujO1ZTjGtzaBZMru9UyKFCK08wshwaFUesnmIYcCHaLcSTIBNhjVxjxTLeGktZBRqzdyghRmWXHCRuVbcaPDxQZMqv08UWTrOnuhOa1jQ4u57r5gDeox6Izi3LyIrrUk5PyKYtY0iGLUSAANZDgdyYsemf6YvmTGuE3omNx6e1kIRZTBAIHPNIrxuKfCykYOUuESFZUizynIixjjfLnlj8FpePTrw68y6rhrw68zSodIEVgeNfwIxWC6vglwi5R4ZcLGEoqCAMjJmhshUaFYF7obHOOsktBW3OulO6afk39yIWSnXHXyS+xrLGSYlf+fC63zBdHD7JGmnskO11mX929Jxd0XR3oUGhDq/Mnf7ktHd+o1UuYZ38RScndKW97M+psI/8AfrLVd3QHW9YjOTeaPXO4LPm96KZG4WV9mTtG9Rhd4Y/eXULMM7MblWzf+ot9/wBRTJzNO6x3BOytyI2/vIZN4ROsNyM7/SGT1Xscfpw2fIVdfLB/2CeU2aHW8Cl4Pcwxu5mpB81vVG5Zp7j9xBlZPYxesPFaszpEfkeRypM7G2/MVOXtxJv7YnK10iDtbxBXx9lhDZkdrrOwdo4mquL2SIq25Ddd5l3dvCRibqK0d6M2sNEhbG8JWurekXo72a0TMHqfKsUH+99RMe9FNQZgbXb1bM3Cbe9mksYsEAI1Jo0DsofA1Pyt+z+0vuxdO3H2HSkjDEr/AM+F1vmC6OJ2SNNPZIdrrMv7t6Ri7oujvQoNCHV+ZP8A9yWjvfUaqTMM7+IpOTvFLe9mfU2FI/v1lqu7oDre6Izk3mj1zuCz5vcimR3llfZk7RvUYXeGP3l1BzDOzG5RZvfUW+/6ieTmad1juCblbkRt/eRybwidYbkZ3+kMjqvY4/Ths+Qq6+WB7JPKbNDb4FLwe5hjdzNSD5jeqNyyz3H7iPMysnsYvW+q15nSI/I6r2OVJnY235ipy9uJN/SPscrbSIO1vEFbG2WENmR2u87B2jiaoxeyRFW3IbrvMu7t4SMTcRWjvQhTYZNDhkag0/CXitVckr2i9D/ca9TRoUQRoI1TbZMtUrislqdVuomacJl1DowhMDGkkCd5xvv1BJttdkuJoq229WMJRAIARqPRoHZQ+Bqflb9n9n92Lp24+w6UkYYlf+fC63zBdHE7JGmnskO11mX929Ixd0XR3oUGhDq/Mn/7ktHe+oVbWMKHBaHPvE5jvJU240526hZXJ2MqqVh5OM+Vzpy6ZAk71a9rjiibH+tL0K6mdSAw8k1hFr94yM5D/hMyPC1XEWv4OPmOVuX/AGf9pK1MTlhis+Pw+L+kpj6eJyFW0mkiAJQpNsiTpgmzLGU1p4KvE1b5lkoOfUdqJjRB8l05kk3SkZC6XuWTKb8ZFLdePmK5PRWtES04CbhiZak3LrlNLRF8iLbQWgaa0ggiRwv/AHCrOLjj6MGtKS3KbMjb4FJwe5kY3czUg+a3qjcss9x+4jzMrJ7GL1vqteZ0iPyPL2OVJnY235ipy+yJN/SPscrbSIO1vEFbG2WENmR2u87B2jiaoxduRFW3IbrvMu7t4SMPcRWjvRKr2B0BjSJgsAPuUXy4bW0Lb0k2jOgONEi2HGcN2B5ulaZpXw18zQ/3Y6+aN1cxrQyklAAgBGpNGgdlD4Gp+Vv2f2f3Yunbj7DpSRhiV/58LrfMF0cTskaaeyQ7XWZf3b0jF3RdHehQaEOr8yf/ALktHe+pbU9FhmCwmG0m+8tBPnHWl5N01Y0mVub42PUjzHdU7lnqbdibFx7kZ2TeaPXO4LTm96HZHeW19mTtG9Vwu8jH7y6g6OzsxuVbH+99Sj7/AKieTmad1jwhOy9yI2/vFaloUOLbMRs5EAXkbinZN8q9OEtfJprQlCgNh0xrWCQkbscWnnRKbnRqyHJunmMZTZkbfApGD3MjG7makHzW9UbllnuP3EeZlZPYxet9VrzOkR+R1XscqTOxtvzFTl9kSb+kfY5W2kQdreIK2LssIbMjtd52DtHE1Ri7ciKtuQ3XeZd3bwkYe4Vo70doEZrIEMvcALIxu1KLq3O2Wgtp6vQK3o4fCdzjyh3IxZuM9C9M+GaOVLGL4LZ4ibfdh8EZcOGZF0dJtGgsgsEAJVJo0DsofA1Pyt+z+z+7F07cfYcKSMMSv85C63zBdHE7JGmnskO11mX929Ixd0XR3oUGhDq+Kf8A7ktHd+o3UmYZ38RWfL3GUt72M0nzHdU7kqnvRWPcjNybzR653Bac3uQ3I7y2vsydo3owtwMfvLqDmGdQblS3e+ot9/1E8nM07rHcE7L3Ijb+8jk1hE6w3Izv9IZPcvY4/Ths+Qq6+WD/ALBPKbNDreBS8HuYY3czUg+a3qjcss9x+4jzMrJ7GL1h4rXmdIj8jqvY5UmdjbfmKnL7Ik39sfY5WukQdreIK2LssIbMjtd52DtHE1VxduRFW3IbrvMu7t4ScTcK0d6M2sNEg7G8K1w3ZF6l+qRtUjNu6p3LBDd+oiPchLJ7M+0fBNze9DMjvNRYhJ1ACNSaNA7KHwNT8rfs/s/uxdO3H2HSkjDGyghnyIgEw039F4PguhhyWjiaKWtHF+ZCsq0hRIdhhJc6V0r+fvTKcZ1z4mwrg4S1fQujwjDoll2IaJ7SZ+KXGSlkFYSTs1L6kzDO/iKRl7jK2vWTGqT5juqdyXT3orHqjCqWs4MKGWvdI2iee6Q+i6GTjyskmh90HKeq0Ga1pbItHLmGYtATwvS8ep126MrSuGfMdoOjs6g3JNm/9Rbf6xLJszhO6x3BNy+VkRl7TnqjmTRuidYbkZ3kGQ02iLz/ANcNnyFXXyxLa8HQYyggl0K4TkZnZKXikYUkptMrRJKXMYq6mMit8gzLQAei7/hVuqcJ6vzKTjwvRiOTpnyvWHinZnbEZfLoVUaOKPHiCLMB14PfPxTbK/GrWhea44LTyOOjCk0hhhzLWEEnYZ/8Kygqamn1ZHZW0+rLa7I5WDtHE1KxNuRWppQlqN15mXd28JGJulaGuPmIU2GTRIZGoNJ2SktMJLxpJl6pLjYzHreCYRk68tlLXOUlWGLNWa+RSNUlItqGGWwRMSmSRsOCRmNOfIi2SlPVGksYsEAI1Jo0DsofA1Pyt+z+z+7F07cfYdKSMK3xWtuc4DaZJkK5y5xBJvoiDHQgfJLJ9Ep/BNlC7TnqS4yLSAUjmn/JUgYrBdaaOiYCZ4VkuehZRYCMw3WmmeqYUeDNc9AaYPDGiZsgc5kFaLtn01IS1IQ40J1zXNPQCNymVdq5ss4NeRcSANQHwSUpOX8lf4KxGhjBzfeE51Wt8yeBkoTmnzSO6Xgl2Ka7gaYPLReZDpN3xUxjZJaLoRo30I/aGeu33hT4Ni56E8D9CQDWiYkBjMSCq3OT4WR1ICPDGDmjvCZKm19SeCXoTk141OHcUv8Acr/gjRok1oFwAGy5VcpS5MCmJSYQMnPbPpImE5VW6ciyjJ89C25w1EHvCVpKD9GVAFvmgjYPopcZ9wFZo8MeVYYOmQ3qysslyTJ1Za0g3gg7EuSafMrpzJqhIIARqTRoHZQ+Bqflb9n9n92Lp24+w6UkYedygbOKwc4A97pLq4j0rbNdLarkxmlVHCDXFhcCASJmeG1LrzJuWjFwulqtSeT0dzmODjOyRLYQqZkEpJonJioy5CBozYtKcx05EnC43DnWpWcFOqGSk40po1IFTQWODxamDMTKxPMnJaMzSslLqZtMBj0nk3EhoMruYCZl0mS21tVU8SNK/bq4l1ZOtqthwmB8OYIIGJO/ApePfK1uMiKLHKWjHKQ8uolo4lgJSYJK/QXWl4olVNVwosO2+1OZFxkLk/JyJVy0Re62Sm0jWodCZADrE77zMzwWOd0rZJMzSbl1MWg0f7XEe6I4yErh0zkOgCS322+BBcKNdr8JJROV3V8OC1pZO+YMzPUoxb5Wa6k403LXU1qdox6g8Fkq3zPVuIzqoquHFh2n2p2iLjLDoWnJyZQloht9koz0RBjDRqQ1jHEtcRceZ116tJq2lyaLN+JU2/I067jlkI2TIkyntWTCipWcxNEVKfMVq+p4T4TXPmXOE5gkSnhIC73p12VKM+FEytkp8vIhUD3NiPhTuEzsIMlOXFOCmXyUmoyOUHTHe14K12wmTav2kaNc5l/dvWTE3BNG4iFQZgbXb1bN3CLl+tmksQsEAI1Jo0DsofA1Pyt+z+z+7F07cfYdKSMPP19nofs8S6mLtM107UjbpPmO6p3LDXuL3M0eqMnJnzX7RuWvO6o0Zfciujaa72uFMs+XCzZRvrlGU87C032ncJXWn8ubJ7CH8oMz3hZsHvFY/eQiaGOoFaPzAV7v1J5P5n2iqZu4RkbjNCJgdh3LPV3oUuph5MYxNjfmW/O7UasvqizKfzGbTuUYHmRi9WNUzRj1BuCVVviqtxEMnsz7RUZveTkd7FKx0qHtZvWmnYY2GyxrKLNDrDcUrB72Vxe8aqrMw+qFmv3WJs7mZdT6TE2O4gtuTso0X7cQoOmO9pTd8uFu1E0a5zL/AO9ayYm4hNPeiFQZgbXb1bN3Av3GaSxCgQAjUmjQOyh8DU/K37P7P7sXTtx9h0pIw8/X2eh+zxLqYu0zXTtSNuk+Y7Ydyw17i9zLDqjJyZ81+0blqzvI05fciujaa72tydZ8uFmzE3lyTKeepR5KlhxwJB7iLJXXg+OjQ2r9dOi8jcpNHbFbZeJjHEj4hc6uyVb5GJNp6oWrKGGUdzW4BoA2JmPJyt1Y2jcTK8n8z7RVs3cJyNxmhFwOw7lmq70Kj1MPJjGJsb8y6Gd2o1ZfVFmU/mM2ncq4HmRi9WNUzRj1BuCVVviq9xEMnsz7R8EZveTkd7E6y0uHtZvWmnYY2GyxvKLNDrDcUrB72Vxe8aqvMw+qFmv3GxNncyqhVdycV0S3O1O6UpTM8ZptuSpwUQnY5JL0EKFpjva8Fpv2DRZtRNGucy/u3rJibiFUd6IVBmBtdvVs3cIv3GaSxCgQAjUejQOyh8DU/K37P7P7sXTtx9h0pIw89lC6UVh5gD7nLrYa1raNuOk65anaXXTi0tEMtndN0/EKasWClrqUrpjrrqOVBR7EMm0DaM7jOUhKU+dZs2WstBd8nKZmvjOZSnOa0uMz5I2dC2qKlTpJmhxi6VqzTolPiveGugFoOJM7rukLFZRVGPJmWcIro9SVcUHlWTb5zbx0jWFTEucHo+hamzgf8FVSU+2OTd5zfiPqFfLo0/VEtfVw/qXRjNcZl+zxScXcRSjvRk1ZTojGWWQS8TN4n4BdC+quUtWx90IObbZr0WO+IxxewsN4keaWN6xzrhCxcLMuiUuRmZMYxNjfmT85PhRpyuqLMp/MZtO5Rg+ZGL1Y1TNGPUG4JVW+Kq3EZdWVmYUOyIbnXkzE5X9y2XY8bJatj7605t6naG40ikCI4tEjOU77sAAi1KqrSJFn6K+FD+UWaHWG4rNg9zK4veNVXmYfVCy5G4xM+5jSSih5n7RyVJe6yXXuEh0rtOCnTozdKKdS5l9PrUxIbm8k5s9Zwx2JdONGEtUylVSU1zHqgzA2u3rJm7gi/cZprGLBACNSaNA7KHwNT8rfs/s/uxdO3H2HSkjDz9e56H7PEupi7TNdO1I2acwOhuDrxIrHVNqxGavlJNGZkyfJf1huWjOXQfld6KqNprva3J1ny5NmyjeXJMoIAwK5gmDEbGZdM37R9QupjT8SHAzZQ+OLgzQrGIH0dzhgWg++SzUx4btBFS0sSIZP5n2ipzdwnI3GaETA7DuWervQqPU8xVFFfELrEQslKctc58x6F177YwitVqbsiemnIlW9DfDaC+KXznz3XbVGPdGaeiIomnqtDXpujHqDcFhq3zNVuIhk9mfaKnNb4+RORuMSprQ2lss3TLSe8yK01vioeo6L1oeo5lFmh1huKTg9zF4veNVXmYfVCy5G4xVncxpJ8yhg0LTHe14Lq3bBrt2UaNc5l/dvCy4jfiITQv1orqDMDa7epzdwLtxmmsQoEAI1Jo0DsofA1Pyt+z+z+7F07cfYdKSMPP19nofs8S6mLtM107UjbpPmO6p3LDXuIzR6oycmPNftG5as7yNGX3Iro2mu9rhTrPlybNlG8uSZDLo1Me6kOhkiyAbpc0tfet9lUVTxIdOtKCkSr9s4J6CFTCeky2K/3Chp/wCi9k/Byc1/1AR3vqX5PZn2ik5veVyNxmhFwOw7lnq7kKj1MPJjGJsb8y353ajVl9UWZT+YzadyrgeZGL1Y1TNGPUG4JVW+Kr3EQyezPtFGb3k5HexOsdLh7Wb1pp2GNhssbyizQ6w3FKwe9lcXvGqqzMPqhZr91ibO5ilXU174z2OIkJyu5nALVdVGNaegy2pRjFrzFqFpjvaTL9gZZtRNGucy/wDvWsmJuITR3ohUGYG129WzdwLtxmksQoEAI1Ho0DsofA1Pyt+z+z+7F07cfYdKSMPP19nofs8S6mLtM107UjbpPmO6p3LDXuIzR6oycmfNftG5as7yNGX3Iro2mu9rhTrPlws2Uby5KMpiUPTH7HfKund8ujTbtRGq+zJ2jes+F3lcbcFmaF3HiK0S+YJhv/UYyfzPtFIze8rfuM0IuB2Hcs9XchUeph5MYxNjfmW/O7UasvqizKfzGbTuVcDzIxerGqbox6g3BKq3xVe4iGT2Z9oozdwnI72J1jpcPazetNOwxsNljeUWaHWG4pWF3sri941VWZh9ULNfusTPuZl1PpMTY7iC3ZGyjRftxChaY72kXbAWbUTRrnMv7t6yYm4hNPeiFQZgbXb1bN3Au3GaSxCgQAjUmjQOyh8DVoyt+z+z+7F07cfYdKQMMGu4bjGhyaT5uAJ/eXTxZJVNNmmuajW0zZpPmO2HcsNfKxGeL5oy8m2ENfNpF4xBGrpWvNaemjHZE1KWqFHxHQqS6JybnAE4A3zEsZLQuGdSjqMfDKtR1HoVcOc4N5B4mQJ33TMp4LPPEhFdwmVaS14iiltfAjmMGFzXc1+OIuwwTK5Rtr4G+gyMozhwt9CunU99IbycOE6883jgFemmFL4mya4xrfE2Ox6OYdFMPEhuq++czJZoWKeRxeQqE/3OJiNXVg6CyxyLzeTORGPctN1ELJa8Q2yMZS14jTolOMYPBhubIa9c54XdCzTpjW00xDiovqI5Nw3AxJtI83EEetzpma04rRjcmak1oTykYS1lkE3nAE6uhRgy011DHmot6jVMafsxEjOwLterUlVv9/UXW0p6kKgaRBvBHlHES3ozWnPkTdJSm9BSsGONKYQ0kTZfIyx50+qUVQ+YyEkqnE0K2opiwyG4i8dMtSy41qhPmKps4J6szqJWroTBDdBdNtwuI8FsnjwnLjTGyrjJ8SkXVHRXhzorwW2rgDjeZky1alTMtjooR8il1ilpFeRTQdMf7XgrXteB1L2STqSNGucy/u3rLibgulpTTZXUGYG129Tm6eIRc05to01jFggD5xQMvIkOFDhijtNhjWztm+y0CeHQvUW/hEJ2SlxdW3/7FVbcfZF5/SFE/hm/nP0S/wAlg/8AUMD9YUT+Gb+c/RT+TwS7gJOy+ii80UDa5w8FRfhFXlIA/Hsb+EH5nf7UflFXnMCP6won8O385+iv+TQ/yYEvx/Gla+yiWE7TpT5pykq/k9benGAfj6N/Cj8zv9qj8qq/zAG5fxThRWnY5x8FL/Ca+jkAHL2MP/iD8zv9qj8oq8pgDv0gRRjRWja5w8FK/CK30mBxv6QIpMhRmk8wcT4KZfg9a7pADv0gRQZGjNnzWjP3SUL8Hra5SA6cv4wxooG1zh4KF+E1eUgOD9IEU4UZv5z9FZ/g1evORAfrAi4/Zmy6x+iPyavXTiJOty+jHCiggYyc4y+Cj8oqXJzAG5fRTeKKDsc76KH+EVLrIDoy8jkyFEEzgJun7rKn8qr07wIj9IEUmQorZ81oz90kP8HrS14iAdl/FBkaK0HmLiPhJSvwmDXfyJO/j2N/CD8zvoq/lNSfeBH9YUT+GZ+c/RX/ACaD58TAP1hRP4Zn5z9FH5LD/IA/WFE/hmfnP0R+Sw/yA8TDwGwbl3ZdWUq24+y+xJQXPTZMP5Gi0qksA5RgaGuInZnjKf8Ady5uX+u6EH0YMup1Oi0iqzEjOtO5YCcgLhquSowVeTpHpoQPV9XEeBHo0OFEkx0OES2QIMzI4jmS6Ko2QnKXXmGh5/LOG1tNihoAE2mQ5y0ErdgSbpWpI3F9Dj+oO4pTb+La/gPM1coK4pECk0eHCiSYWQiWyBBtOIOIngs9FMZ1ylLqmyCFJp0WBWZgQnWYb4jC5gAkS5rZ6kRgp4vHLqiSLazjRK0EB7yYbYxstkJCTTK+U9as6oxxeJdWiNC6rKxiUmlUmixyHwgIsmlo8myZCRAVJ1quuE49eQGZVVIdRqtfHgybEdGDLcgSGyFwn3+9OsXi5ChLpoSWVvEMaDQaREAMR0Sy50pFwa8SnLZ8VFWsZ2QXRIg1aTW0YVp9lLgYTnNaWFoIkWTOqeKVGmPw3iLqBmUCC1jKzY0SDQQBzAOemWSbdX8gKUQf9qj9sz5U6x/9VH2JNSmVhEohoUKAQ1j2Mc9oA8sucAZnvKzxrVqnKXVEDNDpkSHWhorHSg2nHkwBKZZbOqfnGapOCni8b6hoI5OVnGj1i1sWIXBhihokBK4jUOgJ19cYY+sf4ApqiIYNGptIhyEVsQMa+Uy0F18p7UW/rsrg+mgFdcR3Uir4NIjSdEEVzLcgCW33GWwK1a8O+UI9NCTVrqt48KnQYLIkobhCm2QINoyOImkVUwlTKT68yDzGVcMNpkYNAAtYC7EA710cNt0rUkyVqAEARh4DYNymXVlKtuPsvsSUFz0lSej6btZvXOv+ZgAD0Qe38FSXzf0AYyr0qi9nB4lTE2rPqQIZb6dF9ngC0/h+yiRiL6HH9QdxSn82/YPMuyt0yjdnB4iq4uzP3YE629MN7SHwhVq+TYFdG9M/5ztxV5/JfQPIYycYfvCkulcBGmdQm7nS72vAgvYgQZ6IP9QOEJq+bXsSXUrQqv7V3GqQ3rfYgapnptvXZ/phEPk2BGi4VpsPE9Un1pJEaJ6Kj9sz5U6z5qPsBblXFsGhPlOzBY6XPIg+CMSPErI+rBEsn6eaTWjYxbZtzNmc5Shyx7kZFXhY3CvICvI/0l3xdzlOV8svoDJ0XQKd2zeIKkt+v2IKY/omH/UO3OUv5qXsSOZSekoGyDxKtHy8/qBkZYabH6w4QteFsoDHWsAQBGHgNgUy6spVtx9l9iSgueqyYMMUKl8sHFk2WgwgO7ielcvK4vHhw9QZZWDoBqs/Z2vDOWF0Qgmcr8NSXHj+K/X10IIZV6VRezg8SnE27PdgI5b6dF9ngC0/h+yiRiL6HH9QdxSn82/YPMuyt0yjdnB4iq4uzP3ZBOtvTDe0h8IVavk2SV0f0z/nO3FXn8lp/BBqVbWsWkUik0SKQYdmLKQskWTIXtxuKzWUxhXCxdeQGIz0Qf6gcIWpfNr2JLqVoVX9q7jVIb1vsQNUz023rs/0wiHybAjRcK02HieqT60kiNE9FR+2Z8qdZ81H2A7lnhROwarYXWfuCKch9Ohe1wFXznrSwGMkPSXfF3OS8v5ZfQGTougU7tm8QVHv1+xBTH9Ew/6h25yl/NS9iRzKT0lA2QeJRR8vP6gZGWGmx+sOELVhbMQMdawBAEYeA2Dcpl1ZSrbj7L7ElBc9JUno+m7Ye9c6/wCZgAD0Qe38FSXzf0AYyr0qi9nB4lTE27PdkCGW+nRfZ4AtP4fsokYi+hx/UHcUp/Nv2DzLsrdMo3ZweIquLsz92QTrb0w3tIfCFWr5NkldG9M/5ztxVp/J/Qguyc9I0nqxuJVv2IfQBJnog/1A3BMXza9iX1LqVoVX9q7jVY71vsQNUz023rt/0wqw+TYEaNhWmw8T1WfWkkRonoqP2zPlT7Pmo+wDOUWcoHZw+IKmO/02e4IchD/vZ2/+JLb1w9f+dQM3I/0l3xdzk7K+W/8AAMnRdAp3bN4gqvfr9iCmP6Jh/wBQ75lL+al7EjmUnpKBsg8Sij5ef1AyMsNNj9YcIWrB2YgY61gCACFCdZHkuwGo8yiU46vmUq24+y+xPkn+q73FV44+pc0aFT3wqPGo/JOPLWfKv8mz0SvWeyuMrIz16AArB32Q0TknXxOUt3+6UvFVdcXd4moFlbVo+kRYUXkXN5JrGyvM7BnOcrlFVMYQkuLqBRXdLfSo74/JObaldeZSAGMuhMx4xphw6gWurAmhCh8k6Yicpb1Xg3Sl0qnhx8Z2cXloBKtqzfSI0ONyLm8m1jZXmdgznOV01FdUYQcdeoEayrOJFpX2psIsdNrgJF0i0AcwngprqhGp1NgNRK5BpUOltopa5pLngEkPcRKYmPJS/B/adbl7AVVdWzoNIiUjkXHlA8WbxK2Z4yvkrzpjKuMOLoQcqms+ShOo8ajmLCcQ6V7C1w1ggdAUW0qUlOMtGiQrOtnRTBayjmHCgGbGCbr5gklxGN29FVMYKTctXIDRjZSsMU0htX/ttT3OcZGUgbMpYJEcVqPA58vQDNqut4sGJFdEgmI2MCIjCCLUyTcZXYlaLaYTilGWjXQCdY1rbg/ZqPRTChl1t17nucdUyRgoqpSnxzlqwGKPXrS2F9ooZivggBj7Tm3DC0JXykEuWPzfBLRMBBtbRxS/tlg27VqUjKUrNnZK5P8ABr8HwtQG6JW7IVMFKh0V7RJ1pgJM3OnMgkXC/DoS5U8VXBKQFVWVs6DyrIlHMSFGM3MM2kGcwQ4DH6KbaYy0alo0BGtqzMWEyjwaOYUJhLg29xLjrLiOkoqpUW5ylq2B2sq2fGpMOkci4WLHk3mdgzxldNTXVGFbhr1AUrikPpEd8bknNtmcpEyuAxl0J1KjXBR1AT5J3qu9xTfEj6hyDkn+q73FHiR9QPsdSaNA7KHwNXjMqcvHnz/1P7sXSv24+w6keJL1G6AjxJeoaIEeJL1DQEeJL1DQEeJL1DQFHHL1DQFPiT9Q0QI8SXqGhRHpbGGy4mcp91oN3uCdCFk1qmRyL0rin01J0RDlRasayLXcCB4hW/ccePXkRyKaTTmQ3BrpzMsBOVpwYCeYWiAm11W2Rck+hHIlGpQY5rCHEvMhITExfedVwmqwjZOLfF0JZYIwtFmsAO7iSBwlUfiKPFryDkTVPEn6hogR4kvUnQEeJL1DQEeJL1DQEeJL1DQEccvUNAR4kvUNAR4kvUNAR4kvUNAR4kvUNBKpNGgdlD4GpmVv2f2f3Yunbj7DyQMBAAgAQAIAEACABAGLXFrlWylKwJz5uWZguphaOp+5ViHLmI4yc8NtTaLZnI8jrB/mddqmtyqjFc0tdCp2HGeXB9t1ohonM4fsj4n3ocIKPDpyAvp7nWoV05sgTJOH7dl/Tes9cUoy939iTRrN4a6E44AvJlzCE5ZMWLakkDMaFHsvtutyAIItEmzajmyTO/AXrpyqTgo8iDdqlxMJpdOc3C8zIk4gCetcfLSVjSLocWUkEACABAAgAQAIAEACAEaj0aB2UPgan5W/Z/Z/di6duPsPJAwEACABAAgAQAIAEALR6G15tOnOUsdVoO3tCfVkSrWiIaF4VUQ263G+d56shh/I1Pln2PyI0K6TVLQx3J2rUhK/Ats4flHuTK86TlpLoGg1Fq+G6WNwa0SOpjw9vxaFnjlSj09dQ0B9Ba5jGuc51gStE+U6bS02jrmCULKcZuUV1J0KPueHKRLjdKc7/wB7o/8Asd8E159mvQjQco0AQ2hoJMp3nEkkk/ErJbY7JcTJRclkggAQAIAEACABAAgAQB5Kq68iNgQmhrbobBr1MAXbvwou2T16t/c1UYadUXr5L7DP4gieo34/VK+Ah6jfg4+ofiCJ6jfj9UfAR9Sfg4+off8AE9RvxR8BAj4NeofiCJ6jfj9UfAw9Q+Dj6h+IInqN+KPgYh8GvUPxBE9RvxR8DD1D4KPqH4gieo34o+Ah6h8EvU7+IInqN+KPgIeofBL1Off8T1G/FHwEPUPgl6h9/wAT1G/FHwEPUPgl6h9/xPUb8UfAQ9Sfgl6h9/xPUb8UfAQ9Q+DXqH3/ABPUb8UfAQ9SPgl6h9/xPUb8UfAQ9Q+CXqd/EET1G/FHwEPUPgl6nPxBE9RvxR8BD1D4Jep38QRPUb8UfAQ9Q+CXqH4gieo34o+Ah6h8EvUkK6jEWhCEsJyMp7VZfhy6oo8etPRyB1dRgSDCAIvIINw5yo/LkHw9f+QffUa79kL8Ljfs51P5cg+Hr1a4ugffUa/9kLsbjdt5kfly/kHj1r/UcNexf8NvPrwOBUfl6JWLB8lI5+IInqN+Kj4CHqX+CXqYNX5qH1GcIXTselkvd/cdjpuiC/8AyvsaYponPkma7tV8tXcfereKvQV8NL/I4KaLv2bLpasZGevnQ7V6B8LL/JlcKkBs/IB87/8AQlzalWNi9C8qJS0XEWCnD/CZiD7hZ93ireL/AAU+Fl/kzgpg/wAJmM9kjOWyRkjxF6A8aXL9TKIz7Ti4CU9SVJ6mmuLitG9SCguCABAAgAQAIAEACABAAgAQAIA0KLWXJw2sA/eJcf5S5hkL5T8jWFohdwRSOddheJZKevlyGW1tCESI8sLhF8k3WZMM53TMzePcru6Oon4K1xiumnM4K2ZYhNFtphlptAAzsgjAn/3Mod0eRX4KzWT5czv3rDtTAe0NeXhovtzAEnX3Xg89xU+NHXVErBt005dP/BXSa1a+CYZZ5QaxrXC6QaQXA9ExMbVSdylHQZThTrsUm+WrMlZTqFFX5qH1G8ITLdyXu/uJx1+zD+q+xeqDgQAIAEBoCjUAUgdQAIAEACABAAgAQAIAEACABAAgDiABGgMEaACA8wQHnodQB//Z"/>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7177" name="Picture 9"/>
          <p:cNvPicPr>
            <a:picLocks noChangeAspect="1" noChangeArrowheads="1"/>
          </p:cNvPicPr>
          <p:nvPr/>
        </p:nvPicPr>
        <p:blipFill>
          <a:blip r:embed="rId6" cstate="print"/>
          <a:srcRect/>
          <a:stretch>
            <a:fillRect/>
          </a:stretch>
        </p:blipFill>
        <p:spPr bwMode="auto">
          <a:xfrm>
            <a:off x="1160082" y="595138"/>
            <a:ext cx="2552136" cy="2833476"/>
          </a:xfrm>
          <a:prstGeom prst="rect">
            <a:avLst/>
          </a:prstGeom>
          <a:noFill/>
          <a:ln w="9525">
            <a:noFill/>
            <a:miter lim="800000"/>
            <a:headEnd/>
            <a:tailEnd/>
          </a:ln>
        </p:spPr>
      </p:pic>
      <p:pic>
        <p:nvPicPr>
          <p:cNvPr id="7178" name="Picture 10"/>
          <p:cNvPicPr>
            <a:picLocks noChangeAspect="1" noChangeArrowheads="1"/>
          </p:cNvPicPr>
          <p:nvPr/>
        </p:nvPicPr>
        <p:blipFill>
          <a:blip r:embed="rId7" cstate="print"/>
          <a:srcRect/>
          <a:stretch>
            <a:fillRect/>
          </a:stretch>
        </p:blipFill>
        <p:spPr bwMode="auto">
          <a:xfrm>
            <a:off x="4731779" y="327182"/>
            <a:ext cx="2377425" cy="3016684"/>
          </a:xfrm>
          <a:prstGeom prst="rect">
            <a:avLst/>
          </a:prstGeom>
          <a:noFill/>
          <a:ln w="9525">
            <a:noFill/>
            <a:miter lim="800000"/>
            <a:headEnd/>
            <a:tailEnd/>
          </a:ln>
        </p:spPr>
      </p:pic>
      <p:sp>
        <p:nvSpPr>
          <p:cNvPr id="10" name="Slide Number Placeholder 9"/>
          <p:cNvSpPr>
            <a:spLocks noGrp="1"/>
          </p:cNvSpPr>
          <p:nvPr>
            <p:ph type="sldNum" sz="quarter" idx="12"/>
          </p:nvPr>
        </p:nvSpPr>
        <p:spPr/>
        <p:txBody>
          <a:bodyPr/>
          <a:lstStyle/>
          <a:p>
            <a:fld id="{55C2A38D-ED02-420A-BF8A-05E20D604ACC}" type="slidenum">
              <a:rPr lang="en-US" smtClean="0"/>
              <a:pPr/>
              <a:t>22</a:t>
            </a:fld>
            <a:endParaRPr lang="en-US"/>
          </a:p>
        </p:txBody>
      </p:sp>
    </p:spTree>
  </p:cSld>
  <p:clrMapOvr>
    <a:masterClrMapping/>
  </p:clrMapOvr>
  <p:transition advClick="0"/>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2"/>
          </p:nvPr>
        </p:nvSpPr>
        <p:spPr/>
        <p:txBody>
          <a:bodyPr/>
          <a:lstStyle/>
          <a:p>
            <a:fld id="{55C2A38D-ED02-420A-BF8A-05E20D604ACC}" type="slidenum">
              <a:rPr lang="en-US" smtClean="0"/>
              <a:pPr/>
              <a:t>23</a:t>
            </a:fld>
            <a:endParaRPr lang="en-US"/>
          </a:p>
        </p:txBody>
      </p:sp>
      <p:sp>
        <p:nvSpPr>
          <p:cNvPr id="3" name="Rectangle 2"/>
          <p:cNvSpPr/>
          <p:nvPr/>
        </p:nvSpPr>
        <p:spPr>
          <a:xfrm>
            <a:off x="695738" y="1562877"/>
            <a:ext cx="7992888" cy="4031873"/>
          </a:xfrm>
          <a:prstGeom prst="rect">
            <a:avLst/>
          </a:prstGeom>
        </p:spPr>
        <p:txBody>
          <a:bodyPr wrap="square" anchor="t">
            <a:spAutoFit/>
          </a:bodyPr>
          <a:lstStyle/>
          <a:p>
            <a:r>
              <a:rPr lang="en-US" sz="3200" dirty="0">
                <a:hlinkClick r:id="rId2"/>
              </a:rPr>
              <a:t>https://tinyurl.com/quizonAssignmentProblem</a:t>
            </a:r>
            <a:endParaRPr lang="en-US" sz="3200" dirty="0"/>
          </a:p>
          <a:p>
            <a:endParaRPr lang="en-US" sz="3200" dirty="0">
              <a:cs typeface="Calibri"/>
            </a:endParaRPr>
          </a:p>
          <a:p>
            <a:r>
              <a:rPr lang="en-US" sz="3200" dirty="0">
                <a:ea typeface="+mn-lt"/>
                <a:cs typeface="+mn-lt"/>
                <a:hlinkClick r:id="rId3"/>
              </a:rPr>
              <a:t>https://tinyurl.com/AssignProb1</a:t>
            </a:r>
            <a:endParaRPr lang="en-US">
              <a:ea typeface="+mn-lt"/>
              <a:cs typeface="+mn-lt"/>
            </a:endParaRPr>
          </a:p>
          <a:p>
            <a:endParaRPr lang="en-US" sz="3200" dirty="0">
              <a:ea typeface="+mn-lt"/>
              <a:cs typeface="+mn-lt"/>
            </a:endParaRPr>
          </a:p>
          <a:p>
            <a:endParaRPr lang="en-US" sz="3200" dirty="0"/>
          </a:p>
          <a:p>
            <a:r>
              <a:rPr lang="en-US" sz="3200" dirty="0"/>
              <a:t>Thank you…</a:t>
            </a:r>
            <a:r>
              <a:rPr lang="en-US" sz="3200" dirty="0">
                <a:sym typeface="Wingdings" pitchFamily="2" charset="2"/>
              </a:rPr>
              <a:t></a:t>
            </a:r>
          </a:p>
          <a:p>
            <a:endParaRPr lang="en-US" sz="3200" dirty="0"/>
          </a:p>
          <a:p>
            <a:endParaRPr lang="en-US" sz="3200" dirty="0"/>
          </a:p>
        </p:txBody>
      </p:sp>
      <p:sp>
        <p:nvSpPr>
          <p:cNvPr id="4" name="TextBox 3">
            <a:extLst>
              <a:ext uri="{FF2B5EF4-FFF2-40B4-BE49-F238E27FC236}">
                <a16:creationId xmlns:a16="http://schemas.microsoft.com/office/drawing/2014/main" id="{7D1F7C8B-F868-40C9-82D3-863926D2ACB8}"/>
              </a:ext>
            </a:extLst>
          </p:cNvPr>
          <p:cNvSpPr txBox="1"/>
          <p:nvPr/>
        </p:nvSpPr>
        <p:spPr>
          <a:xfrm>
            <a:off x="3101009" y="431643"/>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3600" dirty="0"/>
              <a:t>Quiz</a:t>
            </a:r>
            <a:endParaRPr lang="en-US" sz="3600" dirty="0">
              <a:cs typeface="Calibri"/>
            </a:endParaRPr>
          </a:p>
        </p:txBody>
      </p:sp>
    </p:spTree>
  </p:cSld>
  <p:clrMapOvr>
    <a:masterClrMapping/>
  </p:clrMapOvr>
  <p:transition advClick="0"/>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BE71CFA69A98247845C383A00253C40" ma:contentTypeVersion="2" ma:contentTypeDescription="Create a new document." ma:contentTypeScope="" ma:versionID="f72964e7bbe5712c818c7fedd9512191">
  <xsd:schema xmlns:xsd="http://www.w3.org/2001/XMLSchema" xmlns:xs="http://www.w3.org/2001/XMLSchema" xmlns:p="http://schemas.microsoft.com/office/2006/metadata/properties" xmlns:ns2="df63d6c3-3097-4dac-9e01-3e35a00a78b2" targetNamespace="http://schemas.microsoft.com/office/2006/metadata/properties" ma:root="true" ma:fieldsID="ddd1b32bd9dd0fd619750b9a6d7097df" ns2:_="">
    <xsd:import namespace="df63d6c3-3097-4dac-9e01-3e35a00a78b2"/>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f63d6c3-3097-4dac-9e01-3e35a00a78b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4C8315B1-0D51-4F4B-99F2-38301F7615FC}"/>
</file>

<file path=customXml/itemProps2.xml><?xml version="1.0" encoding="utf-8"?>
<ds:datastoreItem xmlns:ds="http://schemas.openxmlformats.org/officeDocument/2006/customXml" ds:itemID="{1F2CF46D-E4B3-49C7-86F0-C40834F36002}"/>
</file>

<file path=customXml/itemProps3.xml><?xml version="1.0" encoding="utf-8"?>
<ds:datastoreItem xmlns:ds="http://schemas.openxmlformats.org/officeDocument/2006/customXml" ds:itemID="{88E574EE-D4FC-491A-9B1F-65505EFA9155}"/>
</file>

<file path=docProps/app.xml><?xml version="1.0" encoding="utf-8"?>
<Properties xmlns="http://schemas.openxmlformats.org/officeDocument/2006/extended-properties" xmlns:vt="http://schemas.openxmlformats.org/officeDocument/2006/docPropsVTypes">
  <TotalTime>1558</TotalTime>
  <Words>1368</Words>
  <Application>Microsoft Office PowerPoint</Application>
  <PresentationFormat>On-screen Show (4:3)</PresentationFormat>
  <Paragraphs>235</Paragraphs>
  <Slides>23</Slides>
  <Notes>1</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    Operations Research   ASSIGNMENT PROBLEMS  </vt:lpstr>
      <vt:lpstr>PowerPoint Presentation</vt:lpstr>
      <vt:lpstr>PowerPoint Presentation</vt:lpstr>
      <vt:lpstr> What is... The assignment problem </vt:lpstr>
      <vt:lpstr> OBJECTIVES </vt:lpstr>
      <vt:lpstr>Hungarian Method of Solving an Assignment Problem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Operations Research</dc:title>
  <dc:creator>happy</dc:creator>
  <cp:lastModifiedBy>anand pardeshi</cp:lastModifiedBy>
  <cp:revision>129</cp:revision>
  <dcterms:created xsi:type="dcterms:W3CDTF">2020-05-25T12:34:02Z</dcterms:created>
  <dcterms:modified xsi:type="dcterms:W3CDTF">2021-09-24T12:46:30Z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0x0101008BE71CFA69A98247845C383A00253C40</vt:lpwstr>
  </property>
</Properties>
</file>