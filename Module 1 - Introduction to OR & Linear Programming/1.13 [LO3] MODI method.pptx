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75" r:id="rId6"/>
    <p:sldId id="276" r:id="rId7"/>
    <p:sldId id="283" r:id="rId8"/>
    <p:sldId id="277" r:id="rId9"/>
    <p:sldId id="278" r:id="rId10"/>
    <p:sldId id="279" r:id="rId11"/>
    <p:sldId id="280" r:id="rId12"/>
    <p:sldId id="281" r:id="rId13"/>
    <p:sldId id="282" r:id="rId14"/>
    <p:sldId id="259" r:id="rId15"/>
    <p:sldId id="260" r:id="rId16"/>
    <p:sldId id="261" r:id="rId17"/>
    <p:sldId id="262" r:id="rId18"/>
    <p:sldId id="263" r:id="rId19"/>
    <p:sldId id="264" r:id="rId20"/>
    <p:sldId id="266" r:id="rId21"/>
    <p:sldId id="265" r:id="rId22"/>
    <p:sldId id="267" r:id="rId23"/>
    <p:sldId id="268" r:id="rId24"/>
    <p:sldId id="269" r:id="rId25"/>
    <p:sldId id="271" r:id="rId26"/>
    <p:sldId id="27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3" d="100"/>
          <a:sy n="73" d="100"/>
        </p:scale>
        <p:origin x="-420"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customXml" Target="../customXml/item3.xml"/><Relationship Id="rId32" Type="http://schemas.openxmlformats.org/officeDocument/2006/relationships/customXml" Target="../customXml/item2.xml"/><Relationship Id="rId31" Type="http://schemas.openxmlformats.org/officeDocument/2006/relationships/customXml" Target="../customXml/item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82EDB8D0-98ED-4B86-9D5F-E61ADC70144D}"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fld>
            <a:endParaRPr lang="en-US"/>
          </a:p>
        </p:txBody>
      </p:sp>
      <p:sp>
        <p:nvSpPr>
          <p:cNvPr id="7" name="Freeform: Shape 6"/>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385974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EDB8D0-98ED-4B86-9D5F-E61ADC70144D}"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fld>
            <a:endParaRPr lang="en-US"/>
          </a:p>
        </p:txBody>
      </p:sp>
      <p:sp>
        <p:nvSpPr>
          <p:cNvPr id="7" name="Freeform: Shape 6"/>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2EDB8D0-98ED-4B86-9D5F-E61ADC7014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fld>
            <a:endParaRPr lang="en-US"/>
          </a:p>
        </p:txBody>
      </p:sp>
      <p:sp>
        <p:nvSpPr>
          <p:cNvPr id="9" name="Freeform: Shape 8"/>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82EDB8D0-98ED-4B86-9D5F-E61ADC7014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54181D-6920-4594-9A5D-6CE56DC9F8B2}" type="slidenum">
              <a:rPr lang="en-US" smtClean="0"/>
            </a:fld>
            <a:endParaRPr lang="en-US"/>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2EDB8D0-98ED-4B86-9D5F-E61ADC70144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54181D-6920-4594-9A5D-6CE56DC9F8B2}" type="slidenum">
              <a:rPr lang="en-US" smtClean="0"/>
            </a:fld>
            <a:endParaRPr lang="en-US"/>
          </a:p>
        </p:txBody>
      </p:sp>
      <p:sp>
        <p:nvSpPr>
          <p:cNvPr id="10" name="Freeform: Shape 9"/>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82EDB8D0-98ED-4B86-9D5F-E61ADC70144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54181D-6920-4594-9A5D-6CE56DC9F8B2}" type="slidenum">
              <a:rPr lang="en-US" smtClean="0"/>
            </a:fld>
            <a:endParaRPr lang="en-US"/>
          </a:p>
        </p:txBody>
      </p:sp>
      <p:sp>
        <p:nvSpPr>
          <p:cNvPr id="6" name="Freeform: Shape 5"/>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DB8D0-98ED-4B86-9D5F-E61ADC70144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54181D-6920-4594-9A5D-6CE56DC9F8B2}" type="slidenum">
              <a:rPr lang="en-US" smtClean="0"/>
            </a:fld>
            <a:endParaRPr lang="en-US"/>
          </a:p>
        </p:txBody>
      </p:sp>
      <p:sp>
        <p:nvSpPr>
          <p:cNvPr id="5" name="Freeform: Shape 4"/>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EDB8D0-98ED-4B86-9D5F-E61ADC7014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54181D-6920-4594-9A5D-6CE56DC9F8B2}" type="slidenum">
              <a:rPr lang="en-US" smtClean="0"/>
            </a:fld>
            <a:endParaRPr lang="en-US"/>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2EDB8D0-98ED-4B86-9D5F-E61ADC7014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54181D-6920-4594-9A5D-6CE56DC9F8B2}" type="slidenum">
              <a:rPr lang="en-US" smtClean="0"/>
            </a:fld>
            <a:endParaRPr lang="en-US"/>
          </a:p>
        </p:txBody>
      </p:sp>
      <p:sp>
        <p:nvSpPr>
          <p:cNvPr id="8" name="Freeform: Shape 7"/>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EDB8D0-98ED-4B86-9D5F-E61ADC7014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fld>
            <a:endParaRPr lang="en-US"/>
          </a:p>
        </p:txBody>
      </p:sp>
      <p:sp>
        <p:nvSpPr>
          <p:cNvPr id="7" name="Freeform: Shape 6"/>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2EDB8D0-98ED-4B86-9D5F-E61ADC7014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54181D-6920-4594-9A5D-6CE56DC9F8B2}" type="slidenum">
              <a:rPr lang="en-US" smtClean="0"/>
            </a:fld>
            <a:endParaRPr lang="en-US"/>
          </a:p>
        </p:txBody>
      </p:sp>
      <p:sp>
        <p:nvSpPr>
          <p:cNvPr id="7" name="Freeform: Shape 6"/>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cbom.atozmath.com/example/CBOM/Transportation.aspx?he=e&amp;q=modi" TargetMode="Externa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ecoursesonline.iasri.res.in/mod/page/view.php?id=2959"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p:cNvSpPr>
            <a:spLocks noGrp="1" noRot="1" noChangeAspect="1" noMove="1" noResize="1" noEditPoints="1" noAdjustHandles="1" noChangeArrowheads="1" noChangeShapeType="1" noTextEdit="1"/>
          </p:cNvSpPr>
          <p:nvPr/>
        </p:nvSpPr>
        <p:spPr>
          <a:xfrm flipH="1">
            <a:off x="848239"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13"/>
          <p:cNvSpPr>
            <a:spLocks noGrp="1" noRot="1" noChangeAspect="1" noMove="1" noResize="1" noEditPoints="1" noAdjustHandles="1" noChangeArrowheads="1" noChangeShapeType="1" noTextEdit="1"/>
          </p:cNvSpPr>
          <p:nvPr/>
        </p:nvSpPr>
        <p:spPr>
          <a:xfrm flipH="1">
            <a:off x="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Freeform: Shape 13"/>
          <p:cNvSpPr>
            <a:spLocks noGrp="1" noRot="1" noChangeAspect="1" noMove="1" noResize="1" noEditPoints="1" noAdjustHandles="1" noChangeArrowheads="1" noChangeShapeType="1" noTextEdit="1"/>
          </p:cNvSpPr>
          <p:nvPr/>
        </p:nvSpPr>
        <p:spPr>
          <a:xfrm flipH="1">
            <a:off x="4619910"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Oval 15"/>
          <p:cNvSpPr>
            <a:spLocks noGrp="1" noRot="1" noChangeAspect="1" noMove="1" noResize="1" noEditPoints="1" noAdjustHandles="1" noChangeArrowheads="1" noChangeShapeType="1" noTextEdit="1"/>
          </p:cNvSpPr>
          <p:nvPr/>
        </p:nvSpPr>
        <p:spPr>
          <a:xfrm flipH="1">
            <a:off x="8229605"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8" name="Straight Connector 17"/>
          <p:cNvCxnSpPr>
            <a:cxnSpLocks noGrp="1" noRot="1" noChangeAspect="1" noMove="1" noResize="1" noEditPoints="1" noAdjustHandles="1" noChangeArrowheads="1" noChangeShapeType="1"/>
          </p:cNvCxnSpPr>
          <p:nvPr/>
        </p:nvCxnSpPr>
        <p:spPr>
          <a:xfrm flipH="1">
            <a:off x="11785759"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Arc 19"/>
          <p:cNvSpPr>
            <a:spLocks noGrp="1" noRot="1" noChangeAspect="1" noMove="1" noResize="1" noEditPoints="1" noAdjustHandles="1" noChangeArrowheads="1" noChangeShapeType="1" noTextEdit="1"/>
          </p:cNvSpPr>
          <p:nvPr/>
        </p:nvSpPr>
        <p:spPr>
          <a:xfrm rot="5400000" flipH="1">
            <a:off x="6568884"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p:cNvSpPr>
            <a:spLocks noGrp="1"/>
          </p:cNvSpPr>
          <p:nvPr>
            <p:ph type="ctrTitle"/>
          </p:nvPr>
        </p:nvSpPr>
        <p:spPr>
          <a:xfrm>
            <a:off x="644561" y="2744662"/>
            <a:ext cx="6589707" cy="2387600"/>
          </a:xfrm>
        </p:spPr>
        <p:txBody>
          <a:bodyPr>
            <a:normAutofit/>
          </a:bodyPr>
          <a:lstStyle/>
          <a:p>
            <a:pPr algn="l"/>
            <a:r>
              <a:rPr lang="en-US" sz="3600" dirty="0">
                <a:solidFill>
                  <a:srgbClr val="FFFFFF"/>
                </a:solidFill>
                <a:ea typeface="+mj-lt"/>
                <a:cs typeface="+mj-lt"/>
              </a:rPr>
              <a:t>Modified Distribution Method</a:t>
            </a:r>
            <a:endParaRPr lang="en-US" sz="3600" dirty="0">
              <a:solidFill>
                <a:srgbClr val="FFFFFF"/>
              </a:solidFill>
            </a:endParaRPr>
          </a:p>
        </p:txBody>
      </p:sp>
      <p:sp>
        <p:nvSpPr>
          <p:cNvPr id="3" name="Subtitle 2"/>
          <p:cNvSpPr>
            <a:spLocks noGrp="1"/>
          </p:cNvSpPr>
          <p:nvPr>
            <p:ph type="subTitle" idx="1"/>
          </p:nvPr>
        </p:nvSpPr>
        <p:spPr>
          <a:xfrm>
            <a:off x="644561" y="5224337"/>
            <a:ext cx="6589707" cy="995327"/>
          </a:xfrm>
        </p:spPr>
        <p:txBody>
          <a:bodyPr>
            <a:normAutofit/>
          </a:bodyPr>
          <a:lstStyle/>
          <a:p>
            <a:pPr algn="l"/>
            <a:endParaRPr lang="en-US">
              <a:solidFill>
                <a:srgbClr val="FFFFFF"/>
              </a:solidFill>
            </a:endParaRPr>
          </a:p>
        </p:txBody>
      </p:sp>
      <p:sp>
        <p:nvSpPr>
          <p:cNvPr id="22" name="Freeform: Shape 21"/>
          <p:cNvSpPr>
            <a:spLocks noGrp="1" noRot="1" noChangeAspect="1" noMove="1" noResize="1" noEditPoints="1" noAdjustHandles="1" noChangeArrowheads="1" noChangeShapeType="1" noTextEdit="1"/>
          </p:cNvSpPr>
          <p:nvPr/>
        </p:nvSpPr>
        <p:spPr>
          <a:xfrm>
            <a:off x="11005549"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256371" y="169979"/>
            <a:ext cx="10515600" cy="1325563"/>
          </a:xfrm>
        </p:spPr>
        <p:txBody>
          <a:bodyPr>
            <a:normAutofit/>
          </a:bodyPr>
          <a:lstStyle/>
          <a:p>
            <a:r>
              <a:rPr lang="en-US" dirty="0">
                <a:ea typeface="+mj-lt"/>
                <a:cs typeface="+mj-lt"/>
              </a:rPr>
              <a:t>Modified Distribution Method</a:t>
            </a:r>
            <a:endParaRPr lang="en-US" dirty="0"/>
          </a:p>
        </p:txBody>
      </p:sp>
      <p:sp>
        <p:nvSpPr>
          <p:cNvPr id="10" name="Freeform: Shape 9"/>
          <p:cNvSpPr>
            <a:spLocks noGrp="1" noRot="1" noChangeAspect="1" noMove="1" noResize="1" noEditPoints="1" noAdjustHandles="1" noChangeArrowheads="1" noChangeShapeType="1" noTextEdit="1"/>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1024054" y="1676942"/>
            <a:ext cx="10515600" cy="3859742"/>
          </a:xfrm>
        </p:spPr>
        <p:txBody>
          <a:bodyPr vert="horz" lIns="91440" tIns="45720" rIns="91440" bIns="45720" rtlCol="0" anchor="t">
            <a:noAutofit/>
          </a:bodyPr>
          <a:lstStyle/>
          <a:p>
            <a:pPr algn="just">
              <a:lnSpc>
                <a:spcPct val="100000"/>
              </a:lnSpc>
              <a:buNone/>
            </a:pPr>
            <a:r>
              <a:rPr lang="en-US" sz="2000" dirty="0">
                <a:ea typeface="+mn-lt"/>
                <a:cs typeface="+mn-lt"/>
              </a:rPr>
              <a:t>   The Modified Distribution Method, also known as MODI method or u-v method, which provides a minimum cost solution (optimal solution) to the transportation problem. The following are the steps involved in this method.</a:t>
            </a:r>
            <a:endParaRPr lang="en-US" sz="3200" dirty="0"/>
          </a:p>
          <a:p>
            <a:pPr algn="just">
              <a:lnSpc>
                <a:spcPct val="100000"/>
              </a:lnSpc>
              <a:buNone/>
            </a:pPr>
            <a:r>
              <a:rPr lang="en-US" sz="2000" dirty="0">
                <a:ea typeface="+mn-lt"/>
                <a:cs typeface="+mn-lt"/>
              </a:rPr>
              <a:t>   </a:t>
            </a:r>
            <a:r>
              <a:rPr lang="en-US" sz="2000" b="1" dirty="0">
                <a:ea typeface="+mn-lt"/>
                <a:cs typeface="+mn-lt"/>
              </a:rPr>
              <a:t>Step 1:</a:t>
            </a:r>
            <a:r>
              <a:rPr lang="en-US" sz="2000" dirty="0">
                <a:ea typeface="+mn-lt"/>
                <a:cs typeface="+mn-lt"/>
              </a:rPr>
              <a:t> Find out the basic feasible solution of the transportation problem using any one of the three methods discussed in the previous section.</a:t>
            </a:r>
            <a:endParaRPr lang="en-US" sz="2000" dirty="0">
              <a:ea typeface="+mn-lt"/>
              <a:cs typeface="+mn-lt"/>
            </a:endParaRPr>
          </a:p>
          <a:p>
            <a:pPr algn="just">
              <a:lnSpc>
                <a:spcPct val="100000"/>
              </a:lnSpc>
              <a:buNone/>
            </a:pPr>
            <a:endParaRPr lang="en-US" sz="2000" b="1" dirty="0">
              <a:ea typeface="+mn-lt"/>
              <a:cs typeface="+mn-lt"/>
            </a:endParaRPr>
          </a:p>
          <a:p>
            <a:pPr algn="just">
              <a:lnSpc>
                <a:spcPct val="100000"/>
              </a:lnSpc>
              <a:buNone/>
            </a:pPr>
            <a:r>
              <a:rPr lang="en-US" sz="2000" b="1" dirty="0">
                <a:ea typeface="+mn-lt"/>
                <a:cs typeface="+mn-lt"/>
              </a:rPr>
              <a:t>   Step 2:</a:t>
            </a:r>
            <a:r>
              <a:rPr lang="en-US" sz="2000" dirty="0">
                <a:ea typeface="+mn-lt"/>
                <a:cs typeface="+mn-lt"/>
              </a:rPr>
              <a:t> Introduce dual variables corresponding to the row constraints and the column constraints. If there are m origins and n destinations then there will be </a:t>
            </a:r>
            <a:r>
              <a:rPr lang="en-US" sz="2000" dirty="0" err="1">
                <a:ea typeface="+mn-lt"/>
                <a:cs typeface="+mn-lt"/>
              </a:rPr>
              <a:t>m+n</a:t>
            </a:r>
            <a:r>
              <a:rPr lang="en-US" sz="2000" dirty="0">
                <a:ea typeface="+mn-lt"/>
                <a:cs typeface="+mn-lt"/>
              </a:rPr>
              <a:t> dual variables. The dual variables corresponding to the row constraints are represented by </a:t>
            </a:r>
            <a:r>
              <a:rPr lang="en-US" sz="2000" dirty="0" err="1">
                <a:ea typeface="+mn-lt"/>
                <a:cs typeface="+mn-lt"/>
              </a:rPr>
              <a:t>ui</a:t>
            </a:r>
            <a:r>
              <a:rPr lang="en-US" sz="2000" dirty="0">
                <a:ea typeface="+mn-lt"/>
                <a:cs typeface="+mn-lt"/>
              </a:rPr>
              <a:t>, </a:t>
            </a:r>
            <a:r>
              <a:rPr lang="en-US" sz="2000" dirty="0" err="1">
                <a:ea typeface="+mn-lt"/>
                <a:cs typeface="+mn-lt"/>
              </a:rPr>
              <a:t>i</a:t>
            </a:r>
            <a:r>
              <a:rPr lang="en-US" sz="2000" dirty="0">
                <a:ea typeface="+mn-lt"/>
                <a:cs typeface="+mn-lt"/>
              </a:rPr>
              <a:t>=1,2,…..m where as the dual variables corresponding to the column constraints are represented by </a:t>
            </a:r>
            <a:r>
              <a:rPr lang="en-US" sz="2000" dirty="0" err="1">
                <a:ea typeface="+mn-lt"/>
                <a:cs typeface="+mn-lt"/>
              </a:rPr>
              <a:t>vj</a:t>
            </a:r>
            <a:r>
              <a:rPr lang="en-US" sz="2000" dirty="0">
                <a:ea typeface="+mn-lt"/>
                <a:cs typeface="+mn-lt"/>
              </a:rPr>
              <a:t>, j=1,2,…..n. The values of the dual variables are calculated from the equation given below </a:t>
            </a:r>
            <a:endParaRPr lang="en-US" sz="3200" dirty="0"/>
          </a:p>
          <a:p>
            <a:pPr algn="ctr">
              <a:lnSpc>
                <a:spcPct val="100000"/>
              </a:lnSpc>
              <a:buNone/>
            </a:pPr>
            <a:r>
              <a:rPr lang="en-US" sz="2000" dirty="0" err="1">
                <a:ea typeface="+mn-lt"/>
                <a:cs typeface="+mn-lt"/>
              </a:rPr>
              <a:t>ui</a:t>
            </a:r>
            <a:r>
              <a:rPr lang="en-US" sz="2000" dirty="0">
                <a:ea typeface="+mn-lt"/>
                <a:cs typeface="+mn-lt"/>
              </a:rPr>
              <a:t> + </a:t>
            </a:r>
            <a:r>
              <a:rPr lang="en-US" sz="2000" dirty="0" err="1">
                <a:ea typeface="+mn-lt"/>
                <a:cs typeface="+mn-lt"/>
              </a:rPr>
              <a:t>vj</a:t>
            </a:r>
            <a:r>
              <a:rPr lang="en-US" sz="2000" dirty="0">
                <a:ea typeface="+mn-lt"/>
                <a:cs typeface="+mn-lt"/>
              </a:rPr>
              <a:t> = </a:t>
            </a:r>
            <a:r>
              <a:rPr lang="en-US" sz="2000" dirty="0" err="1">
                <a:ea typeface="+mn-lt"/>
                <a:cs typeface="+mn-lt"/>
              </a:rPr>
              <a:t>cij</a:t>
            </a:r>
            <a:r>
              <a:rPr lang="en-US" sz="2000" dirty="0">
                <a:ea typeface="+mn-lt"/>
                <a:cs typeface="+mn-lt"/>
              </a:rPr>
              <a:t> if </a:t>
            </a:r>
            <a:r>
              <a:rPr lang="en-US" sz="2000" dirty="0" err="1">
                <a:ea typeface="+mn-lt"/>
                <a:cs typeface="+mn-lt"/>
              </a:rPr>
              <a:t>xij</a:t>
            </a:r>
            <a:r>
              <a:rPr lang="en-US" sz="2000" dirty="0">
                <a:ea typeface="+mn-lt"/>
                <a:cs typeface="+mn-lt"/>
              </a:rPr>
              <a:t> &gt; 0</a:t>
            </a:r>
            <a:endParaRPr lang="en-US" sz="3200" dirty="0"/>
          </a:p>
        </p:txBody>
      </p:sp>
      <p:sp>
        <p:nvSpPr>
          <p:cNvPr id="12" name="Arc 11"/>
          <p:cNvSpPr>
            <a:spLocks noGrp="1" noRot="1" noChangeAspect="1" noMove="1" noResize="1" noEditPoints="1" noAdjustHandles="1" noChangeArrowheads="1" noChangeShapeType="1" noTextEdit="1"/>
          </p:cNvSpPr>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p:cNvSpPr>
            <a:spLocks noGrp="1" noRot="1" noChangeAspect="1" noMove="1" noResize="1" noEditPoints="1" noAdjustHandles="1" noChangeArrowheads="1" noChangeShapeType="1" noTextEdit="1"/>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1327030" y="481518"/>
            <a:ext cx="10497015" cy="5160717"/>
          </a:xfrm>
        </p:spPr>
        <p:txBody>
          <a:bodyPr vert="horz" lIns="91440" tIns="45720" rIns="91440" bIns="45720" rtlCol="0" anchor="t">
            <a:noAutofit/>
          </a:bodyPr>
          <a:lstStyle/>
          <a:p>
            <a:pPr algn="just">
              <a:lnSpc>
                <a:spcPct val="120000"/>
              </a:lnSpc>
              <a:buNone/>
            </a:pPr>
            <a:r>
              <a:rPr lang="en-US" sz="2000" dirty="0">
                <a:ea typeface="+mn-lt"/>
                <a:cs typeface="+mn-lt"/>
              </a:rPr>
              <a:t>   </a:t>
            </a:r>
            <a:r>
              <a:rPr lang="en-US" sz="2000" b="1" dirty="0">
                <a:ea typeface="+mn-lt"/>
                <a:cs typeface="+mn-lt"/>
              </a:rPr>
              <a:t>Step 3:</a:t>
            </a:r>
            <a:r>
              <a:rPr lang="en-US" sz="2000" dirty="0">
                <a:ea typeface="+mn-lt"/>
                <a:cs typeface="+mn-lt"/>
              </a:rPr>
              <a:t> Any basic feasible solution has m + n -1 </a:t>
            </a:r>
            <a:r>
              <a:rPr lang="en-US" sz="2000" dirty="0" err="1">
                <a:ea typeface="+mn-lt"/>
                <a:cs typeface="+mn-lt"/>
              </a:rPr>
              <a:t>xij</a:t>
            </a:r>
            <a:r>
              <a:rPr lang="en-US" sz="2000" dirty="0">
                <a:ea typeface="+mn-lt"/>
                <a:cs typeface="+mn-lt"/>
              </a:rPr>
              <a:t> &gt; 0. Thus, there will be m + n -1 equation to determine m + n dual variables. One of the dual variables can be chosen arbitrarily. It is also to be noted that as the primal constraints are equations, the dual variables are unrestricted in sign.</a:t>
            </a:r>
            <a:endParaRPr lang="en-US" sz="2000" dirty="0"/>
          </a:p>
          <a:p>
            <a:pPr algn="just">
              <a:lnSpc>
                <a:spcPct val="120000"/>
              </a:lnSpc>
              <a:buNone/>
            </a:pPr>
            <a:endParaRPr lang="en-US" sz="2000" dirty="0"/>
          </a:p>
          <a:p>
            <a:pPr algn="just">
              <a:lnSpc>
                <a:spcPct val="120000"/>
              </a:lnSpc>
              <a:buNone/>
            </a:pPr>
            <a:r>
              <a:rPr lang="en-US" sz="2000" dirty="0">
                <a:ea typeface="+mn-lt"/>
                <a:cs typeface="+mn-lt"/>
              </a:rPr>
              <a:t>  </a:t>
            </a:r>
            <a:r>
              <a:rPr lang="en-US" sz="2000" b="1" dirty="0">
                <a:ea typeface="+mn-lt"/>
                <a:cs typeface="+mn-lt"/>
              </a:rPr>
              <a:t> Step 4:</a:t>
            </a:r>
            <a:r>
              <a:rPr lang="en-US" sz="2000" dirty="0">
                <a:ea typeface="+mn-lt"/>
                <a:cs typeface="+mn-lt"/>
              </a:rPr>
              <a:t> If </a:t>
            </a:r>
            <a:r>
              <a:rPr lang="en-US" sz="2000" dirty="0" err="1">
                <a:ea typeface="+mn-lt"/>
                <a:cs typeface="+mn-lt"/>
              </a:rPr>
              <a:t>xij</a:t>
            </a:r>
            <a:r>
              <a:rPr lang="en-US" sz="2000" dirty="0">
                <a:ea typeface="+mn-lt"/>
                <a:cs typeface="+mn-lt"/>
              </a:rPr>
              <a:t>=0, the dual variables calculated in Step 3 are compared with the </a:t>
            </a:r>
            <a:r>
              <a:rPr lang="en-US" sz="2000" dirty="0" err="1">
                <a:ea typeface="+mn-lt"/>
                <a:cs typeface="+mn-lt"/>
              </a:rPr>
              <a:t>cij</a:t>
            </a:r>
            <a:r>
              <a:rPr lang="en-US" sz="2000" dirty="0">
                <a:ea typeface="+mn-lt"/>
                <a:cs typeface="+mn-lt"/>
              </a:rPr>
              <a:t> values of this allocation as </a:t>
            </a:r>
            <a:r>
              <a:rPr lang="en-US" sz="2000" dirty="0" err="1">
                <a:ea typeface="+mn-lt"/>
                <a:cs typeface="+mn-lt"/>
              </a:rPr>
              <a:t>cij</a:t>
            </a:r>
            <a:r>
              <a:rPr lang="en-US" sz="2000" dirty="0">
                <a:ea typeface="+mn-lt"/>
                <a:cs typeface="+mn-lt"/>
              </a:rPr>
              <a:t> – </a:t>
            </a:r>
            <a:r>
              <a:rPr lang="en-US" sz="2000" dirty="0" err="1">
                <a:ea typeface="+mn-lt"/>
                <a:cs typeface="+mn-lt"/>
              </a:rPr>
              <a:t>ui</a:t>
            </a:r>
            <a:r>
              <a:rPr lang="en-US" sz="2000" dirty="0">
                <a:ea typeface="+mn-lt"/>
                <a:cs typeface="+mn-lt"/>
              </a:rPr>
              <a:t> – </a:t>
            </a:r>
            <a:r>
              <a:rPr lang="en-US" sz="2000" dirty="0" err="1">
                <a:ea typeface="+mn-lt"/>
                <a:cs typeface="+mn-lt"/>
              </a:rPr>
              <a:t>vj</a:t>
            </a:r>
            <a:r>
              <a:rPr lang="en-US" sz="2000" dirty="0">
                <a:ea typeface="+mn-lt"/>
                <a:cs typeface="+mn-lt"/>
              </a:rPr>
              <a:t>. If </a:t>
            </a:r>
            <a:r>
              <a:rPr lang="en-US" sz="2000" dirty="0" smtClean="0">
                <a:ea typeface="+mn-lt"/>
                <a:cs typeface="+mn-lt"/>
              </a:rPr>
              <a:t>all </a:t>
            </a:r>
            <a:r>
              <a:rPr lang="en-US" sz="2000" dirty="0" err="1">
                <a:ea typeface="+mn-lt"/>
                <a:cs typeface="+mn-lt"/>
              </a:rPr>
              <a:t>cij</a:t>
            </a:r>
            <a:r>
              <a:rPr lang="en-US" sz="2000" dirty="0">
                <a:ea typeface="+mn-lt"/>
                <a:cs typeface="+mn-lt"/>
              </a:rPr>
              <a:t> – </a:t>
            </a:r>
            <a:r>
              <a:rPr lang="en-US" sz="2000" dirty="0" err="1">
                <a:ea typeface="+mn-lt"/>
                <a:cs typeface="+mn-lt"/>
              </a:rPr>
              <a:t>ui</a:t>
            </a:r>
            <a:r>
              <a:rPr lang="en-US" sz="2000" dirty="0">
                <a:ea typeface="+mn-lt"/>
                <a:cs typeface="+mn-lt"/>
              </a:rPr>
              <a:t> – </a:t>
            </a:r>
            <a:r>
              <a:rPr lang="en-US" sz="2000" dirty="0" err="1">
                <a:ea typeface="+mn-lt"/>
                <a:cs typeface="+mn-lt"/>
              </a:rPr>
              <a:t>vj</a:t>
            </a:r>
            <a:r>
              <a:rPr lang="en-US" sz="2000" dirty="0">
                <a:ea typeface="+mn-lt"/>
                <a:cs typeface="+mn-lt"/>
              </a:rPr>
              <a:t> ≥ 0, then by the theorem of complementary slackness it can be shown that the corresponding solution of the transportation problem is optimum. If one or more </a:t>
            </a:r>
            <a:r>
              <a:rPr lang="en-US" sz="2000" dirty="0" err="1">
                <a:ea typeface="+mn-lt"/>
                <a:cs typeface="+mn-lt"/>
              </a:rPr>
              <a:t>cij</a:t>
            </a:r>
            <a:r>
              <a:rPr lang="en-US" sz="2000" dirty="0">
                <a:ea typeface="+mn-lt"/>
                <a:cs typeface="+mn-lt"/>
              </a:rPr>
              <a:t> – </a:t>
            </a:r>
            <a:r>
              <a:rPr lang="en-US" sz="2000" dirty="0" err="1">
                <a:ea typeface="+mn-lt"/>
                <a:cs typeface="+mn-lt"/>
              </a:rPr>
              <a:t>ui</a:t>
            </a:r>
            <a:r>
              <a:rPr lang="en-US" sz="2000" dirty="0">
                <a:ea typeface="+mn-lt"/>
                <a:cs typeface="+mn-lt"/>
              </a:rPr>
              <a:t> – </a:t>
            </a:r>
            <a:r>
              <a:rPr lang="en-US" sz="2000" dirty="0" err="1">
                <a:ea typeface="+mn-lt"/>
                <a:cs typeface="+mn-lt"/>
              </a:rPr>
              <a:t>vj</a:t>
            </a:r>
            <a:r>
              <a:rPr lang="en-US" sz="2000" dirty="0">
                <a:ea typeface="+mn-lt"/>
                <a:cs typeface="+mn-lt"/>
              </a:rPr>
              <a:t> &lt; 0, we select the cell with the least value of </a:t>
            </a:r>
            <a:r>
              <a:rPr lang="en-US" sz="2000" dirty="0" err="1">
                <a:ea typeface="+mn-lt"/>
                <a:cs typeface="+mn-lt"/>
              </a:rPr>
              <a:t>cij</a:t>
            </a:r>
            <a:r>
              <a:rPr lang="en-US" sz="2000" dirty="0">
                <a:ea typeface="+mn-lt"/>
                <a:cs typeface="+mn-lt"/>
              </a:rPr>
              <a:t> – </a:t>
            </a:r>
            <a:r>
              <a:rPr lang="en-US" sz="2000" dirty="0" err="1">
                <a:ea typeface="+mn-lt"/>
                <a:cs typeface="+mn-lt"/>
              </a:rPr>
              <a:t>ui</a:t>
            </a:r>
            <a:r>
              <a:rPr lang="en-US" sz="2000" dirty="0">
                <a:ea typeface="+mn-lt"/>
                <a:cs typeface="+mn-lt"/>
              </a:rPr>
              <a:t> – </a:t>
            </a:r>
            <a:r>
              <a:rPr lang="en-US" sz="2000" dirty="0" err="1">
                <a:ea typeface="+mn-lt"/>
                <a:cs typeface="+mn-lt"/>
              </a:rPr>
              <a:t>vj</a:t>
            </a:r>
            <a:r>
              <a:rPr lang="en-US" sz="2000" dirty="0">
                <a:ea typeface="+mn-lt"/>
                <a:cs typeface="+mn-lt"/>
              </a:rPr>
              <a:t> and allocate as much as possible subject to the row and column constraints. The allocations of the number of adjacent cell are adjusted so that a basic variable becomes non-basic.</a:t>
            </a:r>
            <a:endParaRPr lang="en-US" sz="2000" dirty="0"/>
          </a:p>
          <a:p>
            <a:pPr algn="just">
              <a:lnSpc>
                <a:spcPct val="120000"/>
              </a:lnSpc>
              <a:buNone/>
            </a:pPr>
            <a:endParaRPr lang="en-US" sz="2000" dirty="0"/>
          </a:p>
          <a:p>
            <a:pPr marL="0" indent="0" algn="just">
              <a:lnSpc>
                <a:spcPct val="120000"/>
              </a:lnSpc>
              <a:buNone/>
            </a:pPr>
            <a:r>
              <a:rPr lang="en-US" sz="2000" dirty="0">
                <a:ea typeface="+mn-lt"/>
                <a:cs typeface="+mn-lt"/>
              </a:rPr>
              <a:t>     </a:t>
            </a:r>
            <a:r>
              <a:rPr lang="en-US" sz="2000" b="1" dirty="0">
                <a:ea typeface="+mn-lt"/>
                <a:cs typeface="+mn-lt"/>
              </a:rPr>
              <a:t>Step 5:</a:t>
            </a:r>
            <a:r>
              <a:rPr lang="en-US" sz="2000" dirty="0">
                <a:ea typeface="+mn-lt"/>
                <a:cs typeface="+mn-lt"/>
              </a:rPr>
              <a:t> A fresh set of dual variables are calculated and repeat the </a:t>
            </a:r>
            <a:endParaRPr lang="en-US" sz="2000" dirty="0">
              <a:ea typeface="+mn-lt"/>
              <a:cs typeface="+mn-lt"/>
            </a:endParaRPr>
          </a:p>
          <a:p>
            <a:pPr marL="0" indent="0" algn="just">
              <a:lnSpc>
                <a:spcPct val="120000"/>
              </a:lnSpc>
              <a:buNone/>
            </a:pPr>
            <a:r>
              <a:rPr lang="en-US" sz="2000" dirty="0">
                <a:ea typeface="+mn-lt"/>
                <a:cs typeface="+mn-lt"/>
              </a:rPr>
              <a:t>    entire procedure from Step 1 to Step 5.</a:t>
            </a:r>
            <a:endParaRPr lang="en-US" sz="2000" dirty="0">
              <a:ea typeface="+mn-lt"/>
              <a:cs typeface="+mn-lt"/>
            </a:endParaRPr>
          </a:p>
          <a:p>
            <a:pPr marL="0" indent="0" algn="just">
              <a:lnSpc>
                <a:spcPct val="120000"/>
              </a:lnSpc>
              <a:buNone/>
            </a:pPr>
            <a:endParaRPr lang="en-US" sz="2000" dirty="0"/>
          </a:p>
        </p:txBody>
      </p:sp>
      <p:sp>
        <p:nvSpPr>
          <p:cNvPr id="12" name="Arc 11"/>
          <p:cNvSpPr>
            <a:spLocks noGrp="1" noRot="1" noChangeAspect="1" noMove="1" noResize="1" noEditPoints="1" noAdjustHandles="1" noChangeArrowheads="1" noChangeShapeType="1" noTextEdit="1"/>
          </p:cNvSpPr>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p:cNvSpPr>
            <a:spLocks noGrp="1" noRot="1" noChangeAspect="1" noMove="1" noResize="1" noEditPoints="1" noAdjustHandles="1" noChangeArrowheads="1" noChangeShapeType="1" noTextEdit="1"/>
          </p:cNvSpPr>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p:cNvSpPr>
            <a:spLocks noGrp="1" noRot="1" noChangeAspect="1" noMove="1" noResize="1" noEditPoints="1" noAdjustHandles="1" noChangeArrowheads="1" noChangeShapeType="1" noTextEdit="1"/>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Arc 15"/>
          <p:cNvSpPr>
            <a:spLocks noGrp="1" noRot="1" noChangeAspect="1" noMove="1" noResize="1" noEditPoints="1" noAdjustHandles="1" noChangeArrowheads="1" noChangeShapeType="1" noTextEdit="1"/>
          </p:cNvSpPr>
          <p:nvPr/>
        </p:nvSpPr>
        <p:spPr>
          <a:xfrm flipH="1">
            <a:off x="891583" y="775849"/>
            <a:ext cx="2987899" cy="2987899"/>
          </a:xfrm>
          <a:prstGeom prst="arc">
            <a:avLst>
              <a:gd name="adj1" fmla="val 14441841"/>
              <a:gd name="adj2" fmla="val 0"/>
            </a:avLst>
          </a:prstGeom>
          <a:ln w="127000" cap="rnd">
            <a:solidFill>
              <a:schemeClr val="accent2">
                <a:lumMod val="7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TextBox 3"/>
          <p:cNvSpPr txBox="1"/>
          <p:nvPr/>
        </p:nvSpPr>
        <p:spPr>
          <a:xfrm>
            <a:off x="838200" y="647593"/>
            <a:ext cx="4467792" cy="3060541"/>
          </a:xfrm>
          <a:prstGeom prst="rect">
            <a:avLst/>
          </a:prstGeom>
        </p:spPr>
        <p:txBody>
          <a:bodyPr rot="0" spcFirstLastPara="0" vertOverflow="overflow" horzOverflow="overflow" vert="horz" lIns="91440" tIns="45720" rIns="91440" bIns="45720" numCol="1" spcCol="0" rtlCol="0" fromWordArt="0" anchor="b" anchorCtr="0" forceAA="0" compatLnSpc="1">
            <a:normAutofit/>
          </a:bodyPr>
          <a:lstStyle/>
          <a:p>
            <a:pPr algn="ctr">
              <a:lnSpc>
                <a:spcPct val="90000"/>
              </a:lnSpc>
              <a:spcBef>
                <a:spcPct val="0"/>
              </a:spcBef>
              <a:spcAft>
                <a:spcPts val="600"/>
              </a:spcAft>
            </a:pPr>
            <a:r>
              <a:rPr lang="en-US" sz="3300" b="1" kern="1200" dirty="0">
                <a:solidFill>
                  <a:srgbClr val="FFFFFF"/>
                </a:solidFill>
                <a:latin typeface="+mj-lt"/>
                <a:ea typeface="+mj-ea"/>
                <a:cs typeface="+mj-cs"/>
              </a:rPr>
              <a:t>Example-1</a:t>
            </a:r>
            <a:br>
              <a:rPr lang="en-US" sz="3300" kern="1200" dirty="0">
                <a:solidFill>
                  <a:srgbClr val="FFFFFF"/>
                </a:solidFill>
                <a:latin typeface="+mj-lt"/>
                <a:ea typeface="+mj-ea"/>
                <a:cs typeface="+mj-cs"/>
              </a:rPr>
            </a:br>
            <a:r>
              <a:rPr lang="en-US" sz="3300" b="1" kern="1200" dirty="0">
                <a:solidFill>
                  <a:srgbClr val="FFFFFF"/>
                </a:solidFill>
                <a:latin typeface="+mj-lt"/>
                <a:ea typeface="+mj-ea"/>
                <a:cs typeface="+mj-cs"/>
              </a:rPr>
              <a:t>Find Solution using Vogel's Approximation method, also find optimal solution using MODI method, </a:t>
            </a:r>
            <a:endParaRPr lang="en-US" sz="3300" b="1" kern="1200" dirty="0">
              <a:solidFill>
                <a:srgbClr val="FFFFFF"/>
              </a:solidFill>
              <a:latin typeface="+mj-lt"/>
              <a:ea typeface="+mj-ea"/>
              <a:cs typeface="+mj-cs"/>
            </a:endParaRPr>
          </a:p>
          <a:p>
            <a:pPr algn="ctr">
              <a:lnSpc>
                <a:spcPct val="90000"/>
              </a:lnSpc>
              <a:spcBef>
                <a:spcPct val="0"/>
              </a:spcBef>
              <a:spcAft>
                <a:spcPts val="600"/>
              </a:spcAft>
            </a:pPr>
            <a:endParaRPr lang="en-US" sz="3300" b="1" kern="1200" dirty="0">
              <a:solidFill>
                <a:srgbClr val="FFFFFF"/>
              </a:solidFill>
              <a:latin typeface="+mj-lt"/>
              <a:ea typeface="+mj-ea"/>
              <a:cs typeface="+mj-cs"/>
            </a:endParaRPr>
          </a:p>
        </p:txBody>
      </p:sp>
      <p:sp>
        <p:nvSpPr>
          <p:cNvPr id="18" name="Oval 17"/>
          <p:cNvSpPr>
            <a:spLocks noGrp="1" noRot="1" noChangeAspect="1" noMove="1" noResize="1" noEditPoints="1" noAdjustHandles="1" noChangeArrowheads="1" noChangeShapeType="1" noTextEdit="1"/>
          </p:cNvSpPr>
          <p:nvPr/>
        </p:nvSpPr>
        <p:spPr>
          <a:xfrm>
            <a:off x="5229419"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5" descr="A close up of a light&#10;&#10;Description generated with high confidence"/>
          <p:cNvPicPr>
            <a:picLocks noChangeAspect="1"/>
          </p:cNvPicPr>
          <p:nvPr/>
        </p:nvPicPr>
        <p:blipFill>
          <a:blip r:embed="rId1" cstate="print"/>
          <a:stretch>
            <a:fillRect/>
          </a:stretch>
        </p:blipFill>
        <p:spPr>
          <a:xfrm>
            <a:off x="5720477" y="2019145"/>
            <a:ext cx="5129074" cy="2920350"/>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
        <p:nvSpPr>
          <p:cNvPr id="2" name="TextBox 1"/>
          <p:cNvSpPr txBox="1"/>
          <p:nvPr/>
        </p:nvSpPr>
        <p:spPr>
          <a:xfrm>
            <a:off x="1460739" y="6291532"/>
            <a:ext cx="102338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dirty="0"/>
              <a:t>Ref: </a:t>
            </a:r>
            <a:r>
              <a:rPr lang="en-US" dirty="0">
                <a:hlinkClick r:id="rId2"/>
              </a:rPr>
              <a:t>https://cbom.atozmath.com/example/CBOM/Transportation.aspx?he=e&amp;q=modi</a:t>
            </a:r>
            <a:endParaRPr lang="en-US"/>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8702" y="353683"/>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Solution:</a:t>
            </a:r>
            <a:endParaRPr lang="en-US" sz="2400" dirty="0"/>
          </a:p>
        </p:txBody>
      </p:sp>
      <p:pic>
        <p:nvPicPr>
          <p:cNvPr id="3" name="Picture 3" descr="A screenshot of a cell phone&#10;&#10;Description generated with very high confidence"/>
          <p:cNvPicPr>
            <a:picLocks noChangeAspect="1"/>
          </p:cNvPicPr>
          <p:nvPr/>
        </p:nvPicPr>
        <p:blipFill>
          <a:blip r:embed="rId1" cstate="print"/>
          <a:stretch>
            <a:fillRect/>
          </a:stretch>
        </p:blipFill>
        <p:spPr>
          <a:xfrm>
            <a:off x="2035834" y="348157"/>
            <a:ext cx="8954218" cy="606104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2628" y="479868"/>
            <a:ext cx="10432869" cy="5262979"/>
          </a:xfrm>
          <a:prstGeom prst="rect">
            <a:avLst/>
          </a:prstGeom>
        </p:spPr>
        <p:txBody>
          <a:bodyPr wrap="square">
            <a:spAutoFit/>
          </a:bodyPr>
          <a:lstStyle/>
          <a:p>
            <a:pPr algn="just"/>
            <a:r>
              <a:rPr lang="en-US" sz="2800" b="1" dirty="0" smtClean="0">
                <a:solidFill>
                  <a:srgbClr val="FF0000"/>
                </a:solidFill>
              </a:rPr>
              <a:t>Non - degenerate basic feasible solution:</a:t>
            </a:r>
            <a:r>
              <a:rPr lang="en-US" sz="2800" dirty="0" smtClean="0"/>
              <a:t> A basic feasible solution to a (m x n) transportation problem is said to be non – degenerate if,</a:t>
            </a:r>
            <a:endParaRPr lang="en-US" sz="2800" dirty="0" smtClean="0"/>
          </a:p>
          <a:p>
            <a:pPr lvl="2" algn="just"/>
            <a:r>
              <a:rPr lang="en-US" sz="2800" dirty="0" smtClean="0"/>
              <a:t>the total number of non-negative allocations is </a:t>
            </a:r>
            <a:r>
              <a:rPr lang="en-US" sz="2800" b="1" dirty="0" smtClean="0">
                <a:solidFill>
                  <a:srgbClr val="FF0000"/>
                </a:solidFill>
              </a:rPr>
              <a:t>exactly</a:t>
            </a:r>
            <a:r>
              <a:rPr lang="en-US" sz="2800" dirty="0" smtClean="0"/>
              <a:t> </a:t>
            </a:r>
            <a:r>
              <a:rPr lang="en-US" sz="2800" dirty="0" smtClean="0">
                <a:solidFill>
                  <a:srgbClr val="FF0000"/>
                </a:solidFill>
              </a:rPr>
              <a:t>m + n – 1</a:t>
            </a:r>
            <a:r>
              <a:rPr lang="en-US" sz="2800" dirty="0" smtClean="0"/>
              <a:t> (i.e., number of independent constraint equations), and</a:t>
            </a:r>
            <a:endParaRPr lang="en-US" sz="2800" dirty="0" smtClean="0"/>
          </a:p>
          <a:p>
            <a:pPr lvl="2" algn="just"/>
            <a:r>
              <a:rPr lang="en-US" sz="2800" dirty="0" smtClean="0"/>
              <a:t>these </a:t>
            </a:r>
            <a:r>
              <a:rPr lang="en-US" sz="2800" dirty="0" smtClean="0">
                <a:solidFill>
                  <a:srgbClr val="FF0000"/>
                </a:solidFill>
              </a:rPr>
              <a:t>m + n – 1 </a:t>
            </a:r>
            <a:r>
              <a:rPr lang="en-US" sz="2800" dirty="0" smtClean="0"/>
              <a:t>allocations are in independent positions.</a:t>
            </a:r>
            <a:endParaRPr lang="en-US" sz="2800" dirty="0" smtClean="0"/>
          </a:p>
          <a:p>
            <a:pPr lvl="2" algn="just"/>
            <a:endParaRPr lang="en-US" sz="2800" dirty="0" smtClean="0"/>
          </a:p>
          <a:p>
            <a:pPr lvl="2" algn="just"/>
            <a:endParaRPr lang="en-US" sz="2800" dirty="0" smtClean="0"/>
          </a:p>
          <a:p>
            <a:pPr algn="just"/>
            <a:r>
              <a:rPr lang="en-US" sz="2800" b="1" i="1" dirty="0" smtClean="0">
                <a:solidFill>
                  <a:srgbClr val="FF0000"/>
                </a:solidFill>
              </a:rPr>
              <a:t>Degenerate basic feasible solution:</a:t>
            </a:r>
            <a:r>
              <a:rPr lang="en-US" sz="2800" dirty="0" smtClean="0"/>
              <a:t> A basic feasible solution in which the total number of non-negative allocations is </a:t>
            </a:r>
            <a:r>
              <a:rPr lang="en-US" sz="2800" b="1" i="1" dirty="0" smtClean="0">
                <a:solidFill>
                  <a:srgbClr val="FF0000"/>
                </a:solidFill>
              </a:rPr>
              <a:t>less</a:t>
            </a:r>
            <a:r>
              <a:rPr lang="en-US" sz="2800" dirty="0" smtClean="0"/>
              <a:t> than </a:t>
            </a:r>
            <a:r>
              <a:rPr lang="en-US" sz="2800" dirty="0" smtClean="0">
                <a:solidFill>
                  <a:srgbClr val="FF0000"/>
                </a:solidFill>
              </a:rPr>
              <a:t>m + n – 1</a:t>
            </a:r>
            <a:r>
              <a:rPr lang="en-US" sz="2800" dirty="0" smtClean="0"/>
              <a:t> is called degenerate basic feasible solution.</a:t>
            </a:r>
            <a:endParaRPr lang="en-US" sz="2800" dirty="0"/>
          </a:p>
        </p:txBody>
      </p:sp>
      <p:sp>
        <p:nvSpPr>
          <p:cNvPr id="3" name="Rectangle 2"/>
          <p:cNvSpPr/>
          <p:nvPr/>
        </p:nvSpPr>
        <p:spPr>
          <a:xfrm>
            <a:off x="1193075" y="6016173"/>
            <a:ext cx="10132422" cy="646331"/>
          </a:xfrm>
          <a:prstGeom prst="rect">
            <a:avLst/>
          </a:prstGeom>
        </p:spPr>
        <p:txBody>
          <a:bodyPr wrap="square">
            <a:spAutoFit/>
          </a:bodyPr>
          <a:lstStyle/>
          <a:p>
            <a:r>
              <a:rPr lang="en-US" dirty="0" smtClean="0">
                <a:hlinkClick r:id="rId1"/>
              </a:rPr>
              <a:t>http://ecoursesonline.iasri.res.in/mod/page/view.php?id=2959#:~:text=Non%20%2Ddegenerate%20basic%20feasible%20solution,allocations%20are%20in%20independent%20positions.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close up of a white wall&#10;&#10;Description generated with high confidence"/>
          <p:cNvPicPr>
            <a:picLocks noChangeAspect="1"/>
          </p:cNvPicPr>
          <p:nvPr/>
        </p:nvPicPr>
        <p:blipFill>
          <a:blip r:embed="rId1" cstate="print"/>
          <a:stretch>
            <a:fillRect/>
          </a:stretch>
        </p:blipFill>
        <p:spPr>
          <a:xfrm>
            <a:off x="7355456" y="67626"/>
            <a:ext cx="4123427" cy="2538937"/>
          </a:xfrm>
          <a:prstGeom prst="rect">
            <a:avLst/>
          </a:prstGeom>
        </p:spPr>
      </p:pic>
      <p:sp>
        <p:nvSpPr>
          <p:cNvPr id="3" name="TextBox 2"/>
          <p:cNvSpPr txBox="1"/>
          <p:nvPr/>
        </p:nvSpPr>
        <p:spPr>
          <a:xfrm>
            <a:off x="80513" y="1791419"/>
            <a:ext cx="674010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dirty="0"/>
              <a:t>Iteration-1 of optimality test</a:t>
            </a:r>
            <a:br>
              <a:rPr lang="en-US" sz="2400" dirty="0"/>
            </a:br>
            <a:r>
              <a:rPr lang="en-US" sz="2400" b="1" dirty="0"/>
              <a:t>1.</a:t>
            </a:r>
            <a:r>
              <a:rPr lang="en-US" sz="2400" dirty="0"/>
              <a:t> Find </a:t>
            </a:r>
            <a:r>
              <a:rPr lang="en-US" sz="2400" dirty="0" err="1"/>
              <a:t>ui</a:t>
            </a:r>
            <a:r>
              <a:rPr lang="en-US" sz="2400" dirty="0"/>
              <a:t> and </a:t>
            </a:r>
            <a:r>
              <a:rPr lang="en-US" sz="2400" dirty="0" err="1"/>
              <a:t>vj</a:t>
            </a:r>
            <a:r>
              <a:rPr lang="en-US" sz="2400" dirty="0"/>
              <a:t> for all occupied cells(</a:t>
            </a:r>
            <a:r>
              <a:rPr lang="en-US" sz="2400" dirty="0" err="1"/>
              <a:t>i,j</a:t>
            </a:r>
            <a:r>
              <a:rPr lang="en-US" sz="2400" dirty="0"/>
              <a:t>), where </a:t>
            </a:r>
            <a:r>
              <a:rPr lang="en-US" sz="2400" dirty="0" err="1"/>
              <a:t>cij</a:t>
            </a:r>
            <a:r>
              <a:rPr lang="en-US" sz="2400" dirty="0"/>
              <a:t>=</a:t>
            </a:r>
            <a:r>
              <a:rPr lang="en-US" sz="2400" dirty="0" err="1"/>
              <a:t>ui+vj</a:t>
            </a:r>
            <a:br>
              <a:rPr lang="en-US" sz="2400" dirty="0"/>
            </a:br>
            <a:br>
              <a:rPr lang="en-US" sz="2400" dirty="0"/>
            </a:br>
            <a:endParaRPr lang="en-US" sz="2400" dirty="0"/>
          </a:p>
        </p:txBody>
      </p:sp>
      <p:pic>
        <p:nvPicPr>
          <p:cNvPr id="4" name="Picture 4" descr="A close up of a white wall&#10;&#10;Description generated with high confidence"/>
          <p:cNvPicPr>
            <a:picLocks noChangeAspect="1"/>
          </p:cNvPicPr>
          <p:nvPr/>
        </p:nvPicPr>
        <p:blipFill>
          <a:blip r:embed="rId2" cstate="print"/>
          <a:stretch>
            <a:fillRect/>
          </a:stretch>
        </p:blipFill>
        <p:spPr>
          <a:xfrm>
            <a:off x="195531" y="3115453"/>
            <a:ext cx="5460521" cy="2539283"/>
          </a:xfrm>
          <a:prstGeom prst="rect">
            <a:avLst/>
          </a:prstGeom>
        </p:spPr>
      </p:pic>
      <p:sp>
        <p:nvSpPr>
          <p:cNvPr id="5" name="TextBox 4"/>
          <p:cNvSpPr txBox="1"/>
          <p:nvPr/>
        </p:nvSpPr>
        <p:spPr>
          <a:xfrm>
            <a:off x="6301105" y="2606675"/>
            <a:ext cx="4441825" cy="2716530"/>
          </a:xfrm>
          <a:prstGeom prst="rect">
            <a:avLst/>
          </a:prstGeom>
          <a:solidFill>
            <a:schemeClr val="accent3">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noAutofit/>
          </a:bodyPr>
          <a:lstStyle/>
          <a:p>
            <a:r>
              <a:rPr lang="en-US" dirty="0" smtClean="0"/>
              <a:t>Substituting</a:t>
            </a:r>
            <a:r>
              <a:rPr lang="en-US" dirty="0"/>
              <a:t>, v4=0, we get</a:t>
            </a:r>
            <a:br>
              <a:rPr lang="en-US" dirty="0"/>
            </a:br>
            <a:br>
              <a:rPr lang="en-US" dirty="0"/>
            </a:br>
            <a:r>
              <a:rPr lang="en-US" dirty="0" smtClean="0"/>
              <a:t>1. c14=u1+v4</a:t>
            </a:r>
            <a:r>
              <a:rPr lang="en-US" dirty="0"/>
              <a:t>⇒u1=c14-v4⇒u1=10-0⇒u1=10</a:t>
            </a:r>
            <a:br>
              <a:rPr lang="en-US" dirty="0"/>
            </a:br>
            <a:br>
              <a:rPr lang="en-US" dirty="0"/>
            </a:br>
            <a:r>
              <a:rPr lang="en-US" dirty="0" smtClean="0"/>
              <a:t>2. c11=u1+v1</a:t>
            </a:r>
            <a:r>
              <a:rPr lang="en-US" dirty="0"/>
              <a:t>⇒v1=c11-u1⇒v1=19-10⇒v1=9</a:t>
            </a:r>
            <a:br>
              <a:rPr lang="en-US" dirty="0"/>
            </a:br>
            <a:br>
              <a:rPr lang="en-US" dirty="0"/>
            </a:br>
            <a:r>
              <a:rPr lang="en-US" dirty="0" smtClean="0"/>
              <a:t>3. c24=u2+v4</a:t>
            </a:r>
            <a:r>
              <a:rPr lang="en-US" dirty="0"/>
              <a:t>⇒u2=c24-v4⇒u2=60-0⇒u2=60</a:t>
            </a:r>
            <a:br>
              <a:rPr lang="en-US" dirty="0"/>
            </a:br>
            <a:br>
              <a:rPr lang="en-US" dirty="0"/>
            </a:br>
            <a:r>
              <a:rPr lang="en-US" dirty="0" smtClean="0"/>
              <a:t>4. c23=u2+v3</a:t>
            </a:r>
            <a:r>
              <a:rPr lang="en-US" dirty="0"/>
              <a:t>⇒v3=c23-u2⇒v3=40-60⇒v3=-20</a:t>
            </a:r>
            <a:br>
              <a:rPr lang="en-US" dirty="0"/>
            </a:br>
            <a:br>
              <a:rPr lang="en-US" dirty="0"/>
            </a:br>
            <a:r>
              <a:rPr lang="en-US" dirty="0" smtClean="0"/>
              <a:t>5. c34=u3+v4</a:t>
            </a:r>
            <a:r>
              <a:rPr lang="en-US" dirty="0"/>
              <a:t>⇒u3=c34-v4⇒u3=20-0⇒u3=20</a:t>
            </a:r>
            <a:br>
              <a:rPr lang="en-US" dirty="0"/>
            </a:br>
            <a:br>
              <a:rPr lang="en-US" dirty="0"/>
            </a:br>
            <a:r>
              <a:rPr lang="en-US" dirty="0" smtClean="0"/>
              <a:t>6. c32=u3+v2</a:t>
            </a:r>
            <a:r>
              <a:rPr lang="en-US" dirty="0"/>
              <a:t>⇒v2=c32-u3⇒v2=8-20⇒v2=-12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close up of a white wall&#10;&#10;Description generated with high confidence"/>
          <p:cNvPicPr>
            <a:picLocks noChangeAspect="1"/>
          </p:cNvPicPr>
          <p:nvPr/>
        </p:nvPicPr>
        <p:blipFill>
          <a:blip r:embed="rId1" cstate="print"/>
          <a:stretch>
            <a:fillRect/>
          </a:stretch>
        </p:blipFill>
        <p:spPr>
          <a:xfrm>
            <a:off x="152400" y="224388"/>
            <a:ext cx="5230483" cy="2397942"/>
          </a:xfrm>
          <a:prstGeom prst="rect">
            <a:avLst/>
          </a:prstGeom>
        </p:spPr>
      </p:pic>
      <p:sp>
        <p:nvSpPr>
          <p:cNvPr id="3" name="TextBox 2"/>
          <p:cNvSpPr txBox="1"/>
          <p:nvPr/>
        </p:nvSpPr>
        <p:spPr>
          <a:xfrm>
            <a:off x="5572665" y="641230"/>
            <a:ext cx="63231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a:t>2.</a:t>
            </a:r>
            <a:r>
              <a:rPr lang="en-US"/>
              <a:t> Find dij for all unoccupied cells(i,j), where dij=cij-(ui+vj)</a:t>
            </a:r>
            <a:endParaRPr lang="en-US"/>
          </a:p>
        </p:txBody>
      </p:sp>
      <p:pic>
        <p:nvPicPr>
          <p:cNvPr id="4" name="Picture 4" descr="A close up of a white wall&#10;&#10;Description generated with high confidence"/>
          <p:cNvPicPr>
            <a:picLocks noChangeAspect="1"/>
          </p:cNvPicPr>
          <p:nvPr/>
        </p:nvPicPr>
        <p:blipFill>
          <a:blip r:embed="rId2" cstate="print"/>
          <a:stretch>
            <a:fillRect/>
          </a:stretch>
        </p:blipFill>
        <p:spPr>
          <a:xfrm>
            <a:off x="66136" y="3594280"/>
            <a:ext cx="6538822" cy="2990610"/>
          </a:xfrm>
          <a:prstGeom prst="rect">
            <a:avLst/>
          </a:prstGeom>
        </p:spPr>
      </p:pic>
      <p:sp>
        <p:nvSpPr>
          <p:cNvPr id="5" name="TextBox 4"/>
          <p:cNvSpPr txBox="1"/>
          <p:nvPr/>
        </p:nvSpPr>
        <p:spPr>
          <a:xfrm>
            <a:off x="6895381" y="1805796"/>
            <a:ext cx="4885426" cy="3477875"/>
          </a:xfrm>
          <a:prstGeom prst="rect">
            <a:avLst/>
          </a:prstGeom>
          <a:solidFill>
            <a:schemeClr val="accent3">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dirty="0"/>
              <a:t>1.d12=c12-(u1+v2)=30-(10-12)=</a:t>
            </a:r>
            <a:r>
              <a:rPr lang="en-US" sz="2000" dirty="0">
                <a:solidFill>
                  <a:srgbClr val="0000FF"/>
                </a:solidFill>
              </a:rPr>
              <a:t>32</a:t>
            </a:r>
            <a:br>
              <a:rPr lang="en-US" sz="2000" dirty="0"/>
            </a:br>
            <a:br>
              <a:rPr lang="en-US" sz="2000" dirty="0"/>
            </a:br>
            <a:r>
              <a:rPr lang="en-US" sz="2000" dirty="0"/>
              <a:t>2.d13=c13-(u1+v3)=50-(10-20)=</a:t>
            </a:r>
            <a:r>
              <a:rPr lang="en-US" sz="2000" dirty="0">
                <a:solidFill>
                  <a:srgbClr val="0000FF"/>
                </a:solidFill>
              </a:rPr>
              <a:t>60</a:t>
            </a:r>
            <a:br>
              <a:rPr lang="en-US" sz="2000" dirty="0"/>
            </a:br>
            <a:br>
              <a:rPr lang="en-US" sz="2000" dirty="0"/>
            </a:br>
            <a:r>
              <a:rPr lang="en-US" sz="2000" dirty="0"/>
              <a:t>3.d21=c21-(u2+v1)=70-(60+9)=</a:t>
            </a:r>
            <a:r>
              <a:rPr lang="en-US" sz="2000" dirty="0">
                <a:solidFill>
                  <a:srgbClr val="0000FF"/>
                </a:solidFill>
              </a:rPr>
              <a:t>1</a:t>
            </a:r>
            <a:br>
              <a:rPr lang="en-US" sz="2000" dirty="0"/>
            </a:br>
            <a:br>
              <a:rPr lang="en-US" sz="2000" dirty="0"/>
            </a:br>
            <a:r>
              <a:rPr lang="en-US" sz="2000" dirty="0"/>
              <a:t>4.d22=c22-(u2+v2)=30-(60-12)=</a:t>
            </a:r>
            <a:r>
              <a:rPr lang="en-US" sz="2000" dirty="0">
                <a:solidFill>
                  <a:srgbClr val="0000FF"/>
                </a:solidFill>
              </a:rPr>
              <a:t>-18</a:t>
            </a:r>
            <a:br>
              <a:rPr lang="en-US" sz="2000" dirty="0"/>
            </a:br>
            <a:br>
              <a:rPr lang="en-US" sz="2000" dirty="0"/>
            </a:br>
            <a:r>
              <a:rPr lang="en-US" sz="2000" dirty="0"/>
              <a:t>5.d31=c31-(u3+v1)=40-(20+9)=</a:t>
            </a:r>
            <a:r>
              <a:rPr lang="en-US" sz="2000" dirty="0">
                <a:solidFill>
                  <a:srgbClr val="0000FF"/>
                </a:solidFill>
              </a:rPr>
              <a:t>11</a:t>
            </a:r>
            <a:br>
              <a:rPr lang="en-US" sz="2000" dirty="0"/>
            </a:br>
            <a:br>
              <a:rPr lang="en-US" sz="2000" dirty="0"/>
            </a:br>
            <a:r>
              <a:rPr lang="en-US" sz="2000" dirty="0"/>
              <a:t>6.d33=c33-(u3+v3)=70-(20-20)=</a:t>
            </a:r>
            <a:r>
              <a:rPr lang="en-US" sz="2000" dirty="0">
                <a:solidFill>
                  <a:srgbClr val="0000FF"/>
                </a:solidFill>
              </a:rPr>
              <a:t>70</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797" y="267419"/>
            <a:ext cx="538863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a:t>3.</a:t>
            </a:r>
            <a:r>
              <a:rPr lang="en-US"/>
              <a:t> Now choose the minimum negative value from all dij (opportunity cost) = d22 = [-18] </a:t>
            </a:r>
            <a:br>
              <a:rPr lang="en-US"/>
            </a:br>
            <a:br>
              <a:rPr lang="en-US"/>
            </a:br>
            <a:r>
              <a:rPr lang="en-US"/>
              <a:t>and draw a closed path from S2D2.</a:t>
            </a:r>
            <a:br>
              <a:rPr lang="en-US"/>
            </a:br>
            <a:br>
              <a:rPr lang="en-US"/>
            </a:br>
            <a:r>
              <a:rPr lang="en-US"/>
              <a:t>Closed path is S2D2→S2D4→S3D4→S3D2</a:t>
            </a:r>
            <a:br>
              <a:rPr lang="en-US"/>
            </a:br>
            <a:br>
              <a:rPr lang="en-US"/>
            </a:br>
            <a:r>
              <a:rPr lang="en-US"/>
              <a:t>Closed path and plus/minus sign allocation...</a:t>
            </a:r>
            <a:endParaRPr lang="en-US"/>
          </a:p>
        </p:txBody>
      </p:sp>
      <p:pic>
        <p:nvPicPr>
          <p:cNvPr id="3" name="Picture 3" descr="A close up of a white wall&#10;&#10;Description generated with high confidence"/>
          <p:cNvPicPr>
            <a:picLocks noChangeAspect="1"/>
          </p:cNvPicPr>
          <p:nvPr/>
        </p:nvPicPr>
        <p:blipFill>
          <a:blip r:embed="rId1" cstate="print"/>
          <a:stretch>
            <a:fillRect/>
          </a:stretch>
        </p:blipFill>
        <p:spPr>
          <a:xfrm>
            <a:off x="123645" y="3318981"/>
            <a:ext cx="5848709" cy="2491661"/>
          </a:xfrm>
          <a:prstGeom prst="rect">
            <a:avLst/>
          </a:prstGeom>
        </p:spPr>
      </p:pic>
      <p:sp>
        <p:nvSpPr>
          <p:cNvPr id="4" name="TextBox 3"/>
          <p:cNvSpPr txBox="1"/>
          <p:nvPr/>
        </p:nvSpPr>
        <p:spPr>
          <a:xfrm>
            <a:off x="6464060" y="267419"/>
            <a:ext cx="385025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dirty="0"/>
              <a:t>4.</a:t>
            </a:r>
            <a:r>
              <a:rPr lang="en-US" dirty="0"/>
              <a:t> Minimum allocated value among all negative position </a:t>
            </a:r>
            <a:r>
              <a:rPr lang="en-US" b="1" dirty="0"/>
              <a:t>(-)</a:t>
            </a:r>
            <a:r>
              <a:rPr lang="en-US" dirty="0"/>
              <a:t> on closed path = 2</a:t>
            </a:r>
            <a:endParaRPr lang="en-US" dirty="0"/>
          </a:p>
          <a:p>
            <a:br>
              <a:rPr lang="en-US" dirty="0"/>
            </a:br>
            <a:r>
              <a:rPr lang="en-US" dirty="0" err="1"/>
              <a:t>Substract</a:t>
            </a:r>
            <a:r>
              <a:rPr lang="en-US" dirty="0"/>
              <a:t> 2 from all </a:t>
            </a:r>
            <a:r>
              <a:rPr lang="en-US" b="1" dirty="0"/>
              <a:t>(-)</a:t>
            </a:r>
            <a:r>
              <a:rPr lang="en-US" dirty="0"/>
              <a:t> and Add it to all </a:t>
            </a:r>
            <a:r>
              <a:rPr lang="en-US" b="1" dirty="0"/>
              <a:t>(+)</a:t>
            </a:r>
            <a:endParaRPr lang="en-US" dirty="0"/>
          </a:p>
        </p:txBody>
      </p:sp>
      <p:pic>
        <p:nvPicPr>
          <p:cNvPr id="5" name="Picture 5" descr="A close up of a device&#10;&#10;Description generated with high confidence"/>
          <p:cNvPicPr>
            <a:picLocks noChangeAspect="1"/>
          </p:cNvPicPr>
          <p:nvPr/>
        </p:nvPicPr>
        <p:blipFill>
          <a:blip r:embed="rId2" cstate="print"/>
          <a:stretch>
            <a:fillRect/>
          </a:stretch>
        </p:blipFill>
        <p:spPr>
          <a:xfrm>
            <a:off x="6464060" y="3312058"/>
            <a:ext cx="5187350" cy="25198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2438" y="353683"/>
            <a:ext cx="88248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a:t>5.</a:t>
            </a:r>
            <a:r>
              <a:rPr lang="en-US"/>
              <a:t> Repeat the step 1 to 4, until an optimal solution is obtained.</a:t>
            </a:r>
            <a:endParaRPr lang="en-US"/>
          </a:p>
        </p:txBody>
      </p:sp>
      <p:sp>
        <p:nvSpPr>
          <p:cNvPr id="3" name="TextBox 2"/>
          <p:cNvSpPr txBox="1"/>
          <p:nvPr/>
        </p:nvSpPr>
        <p:spPr>
          <a:xfrm>
            <a:off x="382438" y="871268"/>
            <a:ext cx="840787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Iteration-2 of optimality test</a:t>
            </a:r>
            <a:br>
              <a:rPr lang="en-US"/>
            </a:br>
            <a:r>
              <a:rPr lang="en-US" b="1"/>
              <a:t>1.</a:t>
            </a:r>
            <a:r>
              <a:rPr lang="en-US"/>
              <a:t> Find ui and vj for all occupied cells(i,j), where cij=ui+vj</a:t>
            </a:r>
            <a:endParaRPr lang="en-US"/>
          </a:p>
        </p:txBody>
      </p:sp>
      <p:pic>
        <p:nvPicPr>
          <p:cNvPr id="4" name="Picture 4" descr="A close up of a white wall&#10;&#10;Description generated with high confidence"/>
          <p:cNvPicPr>
            <a:picLocks noChangeAspect="1"/>
          </p:cNvPicPr>
          <p:nvPr/>
        </p:nvPicPr>
        <p:blipFill>
          <a:blip r:embed="rId1" cstate="print"/>
          <a:stretch>
            <a:fillRect/>
          </a:stretch>
        </p:blipFill>
        <p:spPr>
          <a:xfrm>
            <a:off x="195532" y="2218659"/>
            <a:ext cx="5561161" cy="2708229"/>
          </a:xfrm>
          <a:prstGeom prst="rect">
            <a:avLst/>
          </a:prstGeom>
        </p:spPr>
      </p:pic>
      <p:sp>
        <p:nvSpPr>
          <p:cNvPr id="5" name="TextBox 4"/>
          <p:cNvSpPr txBox="1"/>
          <p:nvPr/>
        </p:nvSpPr>
        <p:spPr>
          <a:xfrm>
            <a:off x="5946475" y="1719532"/>
            <a:ext cx="5963728" cy="3693319"/>
          </a:xfrm>
          <a:prstGeom prst="rect">
            <a:avLst/>
          </a:prstGeom>
          <a:solidFill>
            <a:schemeClr val="tx2">
              <a:lumMod val="10000"/>
              <a:lumOff val="90000"/>
            </a:schemeClr>
          </a:solid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 Substituting, u1=0, we get</a:t>
            </a:r>
            <a:br>
              <a:rPr lang="en-US"/>
            </a:br>
            <a:br>
              <a:rPr lang="en-US"/>
            </a:br>
            <a:r>
              <a:rPr lang="en-US"/>
              <a:t>2.c11=u1+v1⇒v1=c11-u1⇒v1=19-0⇒v1=19</a:t>
            </a:r>
            <a:br>
              <a:rPr lang="en-US"/>
            </a:br>
            <a:br>
              <a:rPr lang="en-US"/>
            </a:br>
            <a:r>
              <a:rPr lang="en-US"/>
              <a:t>3.c14=u1+v4⇒v4=c14-u1⇒v4=10-0⇒v4=10</a:t>
            </a:r>
            <a:br>
              <a:rPr lang="en-US"/>
            </a:br>
            <a:br>
              <a:rPr lang="en-US"/>
            </a:br>
            <a:r>
              <a:rPr lang="en-US"/>
              <a:t>4.c34=u3+v4⇒u3=c34-v4⇒u3=20-10⇒u3=10</a:t>
            </a:r>
            <a:br>
              <a:rPr lang="en-US"/>
            </a:br>
            <a:br>
              <a:rPr lang="en-US"/>
            </a:br>
            <a:r>
              <a:rPr lang="en-US"/>
              <a:t>5.c32=u3+v2⇒v2=c32-u3⇒v2=8-10⇒v2=-2</a:t>
            </a:r>
            <a:br>
              <a:rPr lang="en-US"/>
            </a:br>
            <a:br>
              <a:rPr lang="en-US"/>
            </a:br>
            <a:r>
              <a:rPr lang="en-US"/>
              <a:t>6.c22=u2+v2⇒u2=c22-v2⇒u2=30+2⇒u2=32</a:t>
            </a:r>
            <a:br>
              <a:rPr lang="en-US"/>
            </a:br>
            <a:br>
              <a:rPr lang="en-US"/>
            </a:br>
            <a:r>
              <a:rPr lang="en-US"/>
              <a:t>7.c23=u2+v3⇒v3=c23-u2⇒v3=40-32⇒v3=8</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5570" y="281796"/>
            <a:ext cx="76027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a:t>2.</a:t>
            </a:r>
            <a:r>
              <a:rPr lang="en-US"/>
              <a:t> Find dij for all unoccupied cells(i,j), where dij=cij-(ui+vj)</a:t>
            </a:r>
            <a:endParaRPr lang="en-US"/>
          </a:p>
        </p:txBody>
      </p:sp>
      <p:pic>
        <p:nvPicPr>
          <p:cNvPr id="4" name="Picture 4" descr="A close up of a white wall&#10;&#10;Description generated with high confidence"/>
          <p:cNvPicPr>
            <a:picLocks noChangeAspect="1"/>
          </p:cNvPicPr>
          <p:nvPr/>
        </p:nvPicPr>
        <p:blipFill>
          <a:blip r:embed="rId1" cstate="print"/>
          <a:stretch>
            <a:fillRect/>
          </a:stretch>
        </p:blipFill>
        <p:spPr>
          <a:xfrm>
            <a:off x="425570" y="910319"/>
            <a:ext cx="4597878" cy="2233777"/>
          </a:xfrm>
          <a:prstGeom prst="rect">
            <a:avLst/>
          </a:prstGeom>
        </p:spPr>
      </p:pic>
      <p:pic>
        <p:nvPicPr>
          <p:cNvPr id="5" name="Picture 5" descr="A close up of a white wall&#10;&#10;Description generated with high confidence"/>
          <p:cNvPicPr>
            <a:picLocks noChangeAspect="1"/>
          </p:cNvPicPr>
          <p:nvPr/>
        </p:nvPicPr>
        <p:blipFill>
          <a:blip r:embed="rId2" cstate="print"/>
          <a:stretch>
            <a:fillRect/>
          </a:stretch>
        </p:blipFill>
        <p:spPr>
          <a:xfrm>
            <a:off x="123645" y="3534874"/>
            <a:ext cx="6653841" cy="3181308"/>
          </a:xfrm>
          <a:prstGeom prst="rect">
            <a:avLst/>
          </a:prstGeom>
        </p:spPr>
      </p:pic>
      <p:sp>
        <p:nvSpPr>
          <p:cNvPr id="6" name="TextBox 5"/>
          <p:cNvSpPr txBox="1"/>
          <p:nvPr/>
        </p:nvSpPr>
        <p:spPr>
          <a:xfrm>
            <a:off x="6952891" y="914400"/>
            <a:ext cx="4698520" cy="3139321"/>
          </a:xfrm>
          <a:prstGeom prst="rect">
            <a:avLst/>
          </a:prstGeom>
          <a:solidFill>
            <a:schemeClr val="tx2">
              <a:lumMod val="10000"/>
              <a:lumOff val="90000"/>
            </a:schemeClr>
          </a:solid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1.d12=c12-(u1+v2)=30-(0-2)=</a:t>
            </a:r>
            <a:r>
              <a:rPr lang="en-US">
                <a:solidFill>
                  <a:srgbClr val="0000FF"/>
                </a:solidFill>
              </a:rPr>
              <a:t>32</a:t>
            </a:r>
            <a:br>
              <a:rPr lang="en-US"/>
            </a:br>
            <a:br>
              <a:rPr lang="en-US"/>
            </a:br>
            <a:r>
              <a:rPr lang="en-US"/>
              <a:t>2.d13=c13-(u1+v3)=50-(0+8)=</a:t>
            </a:r>
            <a:r>
              <a:rPr lang="en-US">
                <a:solidFill>
                  <a:srgbClr val="0000FF"/>
                </a:solidFill>
              </a:rPr>
              <a:t>42</a:t>
            </a:r>
            <a:br>
              <a:rPr lang="en-US"/>
            </a:br>
            <a:br>
              <a:rPr lang="en-US"/>
            </a:br>
            <a:r>
              <a:rPr lang="en-US"/>
              <a:t>3.d21=c21-(u2+v1)=70-(32+19)=</a:t>
            </a:r>
            <a:r>
              <a:rPr lang="en-US">
                <a:solidFill>
                  <a:srgbClr val="0000FF"/>
                </a:solidFill>
              </a:rPr>
              <a:t>19</a:t>
            </a:r>
            <a:br>
              <a:rPr lang="en-US"/>
            </a:br>
            <a:br>
              <a:rPr lang="en-US"/>
            </a:br>
            <a:r>
              <a:rPr lang="en-US"/>
              <a:t>4.d24=c24-(u2+v4)=60-(32+10)=</a:t>
            </a:r>
            <a:r>
              <a:rPr lang="en-US">
                <a:solidFill>
                  <a:srgbClr val="0000FF"/>
                </a:solidFill>
              </a:rPr>
              <a:t>18</a:t>
            </a:r>
            <a:br>
              <a:rPr lang="en-US"/>
            </a:br>
            <a:br>
              <a:rPr lang="en-US"/>
            </a:br>
            <a:r>
              <a:rPr lang="en-US"/>
              <a:t>5.d31=c31-(u3+v1)=40-(10+19)=</a:t>
            </a:r>
            <a:r>
              <a:rPr lang="en-US">
                <a:solidFill>
                  <a:srgbClr val="0000FF"/>
                </a:solidFill>
              </a:rPr>
              <a:t>11</a:t>
            </a:r>
            <a:br>
              <a:rPr lang="en-US"/>
            </a:br>
            <a:br>
              <a:rPr lang="en-US"/>
            </a:br>
            <a:r>
              <a:rPr lang="en-US"/>
              <a:t>6.d33=c33-(u3+v3)=70-(10+8)=</a:t>
            </a:r>
            <a:r>
              <a:rPr lang="en-US">
                <a:solidFill>
                  <a:srgbClr val="0000FF"/>
                </a:solidFill>
              </a:rPr>
              <a:t>52</a:t>
            </a:r>
            <a:endParaRPr lang="en-US"/>
          </a:p>
        </p:txBody>
      </p:sp>
      <p:sp>
        <p:nvSpPr>
          <p:cNvPr id="7" name="TextBox 6"/>
          <p:cNvSpPr txBox="1"/>
          <p:nvPr/>
        </p:nvSpPr>
        <p:spPr>
          <a:xfrm>
            <a:off x="7125419" y="4796287"/>
            <a:ext cx="4569124" cy="923330"/>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spAutoFit/>
          </a:bodyPr>
          <a:lstStyle/>
          <a:p>
            <a:r>
              <a:rPr lang="en-US" b="1" i="1" dirty="0"/>
              <a:t>Since all dij≥0.</a:t>
            </a:r>
            <a:br>
              <a:rPr lang="en-US" b="1" i="1" dirty="0"/>
            </a:br>
            <a:br>
              <a:rPr lang="en-US" b="1" i="1" dirty="0"/>
            </a:br>
            <a:r>
              <a:rPr lang="en-US" b="1" i="1" dirty="0"/>
              <a:t>So final optimal solution is arrived.</a:t>
            </a:r>
            <a:endParaRPr lang="en-US"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close up of a device&#10;&#10;Description generated with high confidence"/>
          <p:cNvPicPr>
            <a:picLocks noChangeAspect="1"/>
          </p:cNvPicPr>
          <p:nvPr/>
        </p:nvPicPr>
        <p:blipFill>
          <a:blip r:embed="rId1" cstate="print"/>
          <a:stretch>
            <a:fillRect/>
          </a:stretch>
        </p:blipFill>
        <p:spPr>
          <a:xfrm>
            <a:off x="828136" y="177866"/>
            <a:ext cx="10420709" cy="5193928"/>
          </a:xfrm>
          <a:prstGeom prst="rect">
            <a:avLst/>
          </a:prstGeom>
        </p:spPr>
      </p:pic>
      <p:sp>
        <p:nvSpPr>
          <p:cNvPr id="3" name="TextBox 2"/>
          <p:cNvSpPr txBox="1"/>
          <p:nvPr/>
        </p:nvSpPr>
        <p:spPr>
          <a:xfrm>
            <a:off x="914401" y="5917721"/>
            <a:ext cx="1060761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i="1" dirty="0"/>
              <a:t>The minimum total transportation cost =19×5+10×2+30×2+40×7+8×6+20×12=743</a:t>
            </a:r>
            <a:endParaRPr lang="en-US" sz="2000" b="1" i="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5" name="TextBox 4"/>
          <p:cNvSpPr txBox="1"/>
          <p:nvPr/>
        </p:nvSpPr>
        <p:spPr>
          <a:xfrm>
            <a:off x="477644" y="319669"/>
            <a:ext cx="87555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For example consider the transportation problem given below:</a:t>
            </a:r>
            <a:endParaRPr lang="en-US"/>
          </a:p>
        </p:txBody>
      </p:sp>
      <p:pic>
        <p:nvPicPr>
          <p:cNvPr id="6" name="Picture 6" descr="A picture containing photo, light, sitting, clock&#10;&#10;Description generated with very high confidence"/>
          <p:cNvPicPr>
            <a:picLocks noChangeAspect="1"/>
          </p:cNvPicPr>
          <p:nvPr/>
        </p:nvPicPr>
        <p:blipFill>
          <a:blip r:embed="rId1" cstate="print"/>
          <a:stretch>
            <a:fillRect/>
          </a:stretch>
        </p:blipFill>
        <p:spPr>
          <a:xfrm>
            <a:off x="1574180" y="1064464"/>
            <a:ext cx="8802029" cy="2563875"/>
          </a:xfrm>
          <a:prstGeom prst="rect">
            <a:avLst/>
          </a:prstGeom>
        </p:spPr>
      </p:pic>
      <p:sp>
        <p:nvSpPr>
          <p:cNvPr id="7" name="TextBox 6"/>
          <p:cNvSpPr txBox="1"/>
          <p:nvPr/>
        </p:nvSpPr>
        <p:spPr>
          <a:xfrm>
            <a:off x="979449" y="4036741"/>
            <a:ext cx="955473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dirty="0"/>
              <a:t>Solution:</a:t>
            </a:r>
            <a:endParaRPr lang="en-US" dirty="0"/>
          </a:p>
          <a:p>
            <a:endParaRPr lang="en-US" dirty="0"/>
          </a:p>
          <a:p>
            <a:r>
              <a:rPr lang="en-US" dirty="0"/>
              <a:t>Step 1: First we have to determine the basic feasible solution. The basic feasible solution using least cost method is</a:t>
            </a:r>
            <a:endParaRPr lang="en-US" dirty="0"/>
          </a:p>
        </p:txBody>
      </p:sp>
      <p:pic>
        <p:nvPicPr>
          <p:cNvPr id="10" name="Picture 10"/>
          <p:cNvPicPr>
            <a:picLocks noChangeAspect="1"/>
          </p:cNvPicPr>
          <p:nvPr/>
        </p:nvPicPr>
        <p:blipFill>
          <a:blip r:embed="rId2" cstate="print"/>
          <a:stretch>
            <a:fillRect/>
          </a:stretch>
        </p:blipFill>
        <p:spPr>
          <a:xfrm>
            <a:off x="2020230" y="5579267"/>
            <a:ext cx="8142248" cy="7639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2" descr="A screenshot of a cell phone&#10;&#10;Description generated with high confidence"/>
          <p:cNvPicPr>
            <a:picLocks noChangeAspect="1"/>
          </p:cNvPicPr>
          <p:nvPr/>
        </p:nvPicPr>
        <p:blipFill>
          <a:blip r:embed="rId1" cstate="print"/>
          <a:stretch>
            <a:fillRect/>
          </a:stretch>
        </p:blipFill>
        <p:spPr>
          <a:xfrm>
            <a:off x="496229" y="525070"/>
            <a:ext cx="11246004" cy="845568"/>
          </a:xfrm>
          <a:prstGeom prst="rect">
            <a:avLst/>
          </a:prstGeom>
        </p:spPr>
      </p:pic>
      <p:pic>
        <p:nvPicPr>
          <p:cNvPr id="3" name="Picture 3" descr="A close up of a logo&#10;&#10;Description generated with high confidence"/>
          <p:cNvPicPr>
            <a:picLocks noChangeAspect="1"/>
          </p:cNvPicPr>
          <p:nvPr/>
        </p:nvPicPr>
        <p:blipFill>
          <a:blip r:embed="rId2" cstate="print"/>
          <a:stretch>
            <a:fillRect/>
          </a:stretch>
        </p:blipFill>
        <p:spPr>
          <a:xfrm>
            <a:off x="1852961" y="1416896"/>
            <a:ext cx="8476785" cy="1366503"/>
          </a:xfrm>
          <a:prstGeom prst="rect">
            <a:avLst/>
          </a:prstGeom>
        </p:spPr>
      </p:pic>
      <p:pic>
        <p:nvPicPr>
          <p:cNvPr id="4" name="Picture 4" descr="A picture containing baseball, player, orange, man&#10;&#10;Description generated with very high confidence"/>
          <p:cNvPicPr>
            <a:picLocks noChangeAspect="1"/>
          </p:cNvPicPr>
          <p:nvPr/>
        </p:nvPicPr>
        <p:blipFill>
          <a:blip r:embed="rId3" cstate="print"/>
          <a:stretch>
            <a:fillRect/>
          </a:stretch>
        </p:blipFill>
        <p:spPr>
          <a:xfrm>
            <a:off x="496229" y="3022294"/>
            <a:ext cx="10995102" cy="739070"/>
          </a:xfrm>
          <a:prstGeom prst="rect">
            <a:avLst/>
          </a:prstGeom>
        </p:spPr>
      </p:pic>
      <p:pic>
        <p:nvPicPr>
          <p:cNvPr id="5" name="Picture 5"/>
          <p:cNvPicPr>
            <a:picLocks noChangeAspect="1"/>
          </p:cNvPicPr>
          <p:nvPr/>
        </p:nvPicPr>
        <p:blipFill>
          <a:blip r:embed="rId4" cstate="print"/>
          <a:stretch>
            <a:fillRect/>
          </a:stretch>
        </p:blipFill>
        <p:spPr>
          <a:xfrm>
            <a:off x="1890132" y="3996275"/>
            <a:ext cx="8328102" cy="18019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2" descr="A close up of a mans face&#10;&#10;Description generated with very high confidence"/>
          <p:cNvPicPr>
            <a:picLocks noChangeAspect="1"/>
          </p:cNvPicPr>
          <p:nvPr/>
        </p:nvPicPr>
        <p:blipFill>
          <a:blip r:embed="rId1" cstate="print"/>
          <a:stretch>
            <a:fillRect/>
          </a:stretch>
        </p:blipFill>
        <p:spPr>
          <a:xfrm>
            <a:off x="431180" y="716156"/>
            <a:ext cx="10995102" cy="816517"/>
          </a:xfrm>
          <a:prstGeom prst="rect">
            <a:avLst/>
          </a:prstGeom>
        </p:spPr>
      </p:pic>
      <p:pic>
        <p:nvPicPr>
          <p:cNvPr id="3" name="Picture 3" descr="A picture containing bird&#10;&#10;Description generated with very high confidence"/>
          <p:cNvPicPr>
            <a:picLocks noChangeAspect="1"/>
          </p:cNvPicPr>
          <p:nvPr/>
        </p:nvPicPr>
        <p:blipFill>
          <a:blip r:embed="rId2" cstate="print"/>
          <a:stretch>
            <a:fillRect/>
          </a:stretch>
        </p:blipFill>
        <p:spPr>
          <a:xfrm>
            <a:off x="784303" y="1908417"/>
            <a:ext cx="10140175" cy="33571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2" descr="A picture containing indoor, bird, table&#10;&#10;Description generated with very high confidence"/>
          <p:cNvPicPr>
            <a:picLocks noChangeAspect="1"/>
          </p:cNvPicPr>
          <p:nvPr/>
        </p:nvPicPr>
        <p:blipFill>
          <a:blip r:embed="rId1" cstate="print"/>
          <a:stretch>
            <a:fillRect/>
          </a:stretch>
        </p:blipFill>
        <p:spPr>
          <a:xfrm>
            <a:off x="208156" y="481532"/>
            <a:ext cx="11496906" cy="358105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905108" y="180278"/>
            <a:ext cx="664612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dirty="0"/>
              <a:t>Unbalanced Transportation Problem</a:t>
            </a:r>
            <a:endParaRPr lang="en-US" sz="2800" dirty="0"/>
          </a:p>
        </p:txBody>
      </p:sp>
      <p:sp>
        <p:nvSpPr>
          <p:cNvPr id="3" name="TextBox 2"/>
          <p:cNvSpPr txBox="1"/>
          <p:nvPr/>
        </p:nvSpPr>
        <p:spPr>
          <a:xfrm>
            <a:off x="905107" y="821473"/>
            <a:ext cx="10995102" cy="529375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sz="2600" dirty="0"/>
              <a:t>In the previous section we discussed about the </a:t>
            </a:r>
            <a:r>
              <a:rPr lang="en-US" sz="2600" dirty="0">
                <a:solidFill>
                  <a:srgbClr val="FF0000"/>
                </a:solidFill>
              </a:rPr>
              <a:t>balanced transportation problem i.e. the total supply (capacity) at the origins is equal to the total demand (requirement) at the destination</a:t>
            </a:r>
            <a:r>
              <a:rPr lang="en-US" sz="2600" dirty="0"/>
              <a:t>. In this section we are going to discuss about the unbalanced transportation problems i.e. </a:t>
            </a:r>
            <a:r>
              <a:rPr lang="en-US" sz="2600" b="1" i="1" dirty="0">
                <a:solidFill>
                  <a:srgbClr val="FF0000"/>
                </a:solidFill>
              </a:rPr>
              <a:t>when the total supply is not equal to the total demand, which are called as unbalanced transportation problem</a:t>
            </a:r>
            <a:r>
              <a:rPr lang="en-US" sz="2600" dirty="0"/>
              <a:t>.</a:t>
            </a:r>
            <a:endParaRPr lang="en-US" sz="2600" dirty="0"/>
          </a:p>
          <a:p>
            <a:pPr algn="just"/>
            <a:endParaRPr lang="en-US" sz="2600" dirty="0"/>
          </a:p>
          <a:p>
            <a:pPr algn="just"/>
            <a:r>
              <a:rPr lang="en-US" sz="2600" dirty="0"/>
              <a:t>In the unbalanced transportation problem if the total supply is more than the total demand then we introduce an additional column which will indicate the surplus supply with transportation cost zero. Similarly, if the total demand is more than the total supply an additional row is introduced in the transportation table which indicates unsatisfied demand with zero transportation cost.</a:t>
            </a:r>
            <a:endParaRPr lang="en-US" sz="26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98449" y="28249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Example</a:t>
            </a:r>
            <a:endParaRPr lang="en-US"/>
          </a:p>
        </p:txBody>
      </p:sp>
      <p:sp>
        <p:nvSpPr>
          <p:cNvPr id="3" name="TextBox 2"/>
          <p:cNvSpPr txBox="1"/>
          <p:nvPr/>
        </p:nvSpPr>
        <p:spPr>
          <a:xfrm>
            <a:off x="598449" y="784302"/>
            <a:ext cx="103260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Consider the following unbalanced transportation problem</a:t>
            </a:r>
            <a:endParaRPr lang="en-US"/>
          </a:p>
        </p:txBody>
      </p:sp>
      <p:grpSp>
        <p:nvGrpSpPr>
          <p:cNvPr id="6" name="Group 5"/>
          <p:cNvGrpSpPr/>
          <p:nvPr/>
        </p:nvGrpSpPr>
        <p:grpSpPr>
          <a:xfrm>
            <a:off x="1518425" y="1287269"/>
            <a:ext cx="8067906" cy="2203625"/>
            <a:chOff x="1611351" y="1538171"/>
            <a:chExt cx="7538224" cy="2240795"/>
          </a:xfrm>
        </p:grpSpPr>
        <p:pic>
          <p:nvPicPr>
            <p:cNvPr id="4" name="Picture 4"/>
            <p:cNvPicPr>
              <a:picLocks noChangeAspect="1"/>
            </p:cNvPicPr>
            <p:nvPr/>
          </p:nvPicPr>
          <p:blipFill>
            <a:blip r:embed="rId1" cstate="print"/>
            <a:stretch>
              <a:fillRect/>
            </a:stretch>
          </p:blipFill>
          <p:spPr>
            <a:xfrm>
              <a:off x="5245255" y="1538171"/>
              <a:ext cx="1181100" cy="361950"/>
            </a:xfrm>
            <a:prstGeom prst="rect">
              <a:avLst/>
            </a:prstGeom>
          </p:spPr>
        </p:pic>
        <p:pic>
          <p:nvPicPr>
            <p:cNvPr id="5" name="Picture 5" descr="A picture containing orange, photo, looking, light&#10;&#10;Description generated with very high confidence"/>
            <p:cNvPicPr>
              <a:picLocks noChangeAspect="1"/>
            </p:cNvPicPr>
            <p:nvPr/>
          </p:nvPicPr>
          <p:blipFill>
            <a:blip r:embed="rId2" cstate="print"/>
            <a:stretch>
              <a:fillRect/>
            </a:stretch>
          </p:blipFill>
          <p:spPr>
            <a:xfrm>
              <a:off x="1611351" y="2103302"/>
              <a:ext cx="7538224" cy="1675664"/>
            </a:xfrm>
            <a:prstGeom prst="rect">
              <a:avLst/>
            </a:prstGeom>
          </p:spPr>
        </p:pic>
      </p:grpSp>
      <p:sp>
        <p:nvSpPr>
          <p:cNvPr id="7" name="TextBox 6"/>
          <p:cNvSpPr txBox="1"/>
          <p:nvPr/>
        </p:nvSpPr>
        <p:spPr>
          <a:xfrm>
            <a:off x="1090962" y="3665034"/>
            <a:ext cx="98056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dirty="0"/>
              <a:t>In this problem the demand is 1300 whereas the total supply is 900. Thus, we now introduce an additional row with zero transportation cost denoting the unsatisfied demand. So that the modified transportation problem table is as follows:</a:t>
            </a:r>
            <a:endParaRPr lang="en-US"/>
          </a:p>
        </p:txBody>
      </p:sp>
      <p:pic>
        <p:nvPicPr>
          <p:cNvPr id="8" name="Picture 8" descr="A picture containing clock, orange, room&#10;&#10;Description generated with very high confidence"/>
          <p:cNvPicPr>
            <a:picLocks noChangeAspect="1"/>
          </p:cNvPicPr>
          <p:nvPr/>
        </p:nvPicPr>
        <p:blipFill>
          <a:blip r:embed="rId3" cstate="print"/>
          <a:stretch>
            <a:fillRect/>
          </a:stretch>
        </p:blipFill>
        <p:spPr>
          <a:xfrm>
            <a:off x="2940206" y="4628852"/>
            <a:ext cx="5856248" cy="2014320"/>
          </a:xfrm>
          <a:prstGeom prst="rect">
            <a:avLst/>
          </a:prstGeom>
        </p:spPr>
      </p:pic>
      <p:sp>
        <p:nvSpPr>
          <p:cNvPr id="9" name="TextBox 8"/>
          <p:cNvSpPr txBox="1"/>
          <p:nvPr/>
        </p:nvSpPr>
        <p:spPr>
          <a:xfrm>
            <a:off x="9352156" y="5086815"/>
            <a:ext cx="2362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dirty="0"/>
              <a:t>Now we can solve as balanced problem discussed as in the previous sections.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700668" y="282498"/>
            <a:ext cx="106791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4800" dirty="0"/>
              <a:t>Degenerate Transportation Problem</a:t>
            </a:r>
            <a:endParaRPr lang="en-US" sz="4800" dirty="0"/>
          </a:p>
        </p:txBody>
      </p:sp>
      <p:sp>
        <p:nvSpPr>
          <p:cNvPr id="3" name="TextBox 2"/>
          <p:cNvSpPr txBox="1"/>
          <p:nvPr/>
        </p:nvSpPr>
        <p:spPr>
          <a:xfrm>
            <a:off x="700668" y="1406913"/>
            <a:ext cx="1060481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sz="2400" dirty="0"/>
              <a:t>In a transportation problem, if a basic feasible solution with m origins and n destinations has less than m + n -1 positive </a:t>
            </a:r>
            <a:r>
              <a:rPr lang="en-US" sz="2400" dirty="0" err="1"/>
              <a:t>Xij</a:t>
            </a:r>
            <a:r>
              <a:rPr lang="en-US" sz="2400" dirty="0"/>
              <a:t> i.e. occupied cells, then the problem is said to be a degenerate transportation problem. The degeneracy problem does not cause any serious difficulty, but it can cause computational problem while determining the optimal minimum solution. </a:t>
            </a:r>
            <a:endParaRPr lang="en-US" dirty="0"/>
          </a:p>
          <a:p>
            <a:pPr algn="just"/>
            <a:r>
              <a:rPr lang="en-US" sz="2400" dirty="0"/>
              <a:t>Therefore it is important to identify a degenerate problem as early as beginning and take the necessary action to avoid any computational difficulty. The degeneracy can be identified through the following results:</a:t>
            </a:r>
            <a:endParaRPr lang="en-US"/>
          </a:p>
          <a:p>
            <a:pPr algn="just"/>
            <a:endParaRPr lang="en-US" sz="2400" dirty="0"/>
          </a:p>
          <a:p>
            <a:pPr algn="just"/>
            <a:r>
              <a:rPr lang="en-US" sz="2400" dirty="0"/>
              <a:t>In a transportation problem, a degenerate basic feasible solution exists if and only if some partial sum of supply (row) is equal to a partial sum of demand (column). </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477644" y="394010"/>
            <a:ext cx="106605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For example, the following transportation problem is degenerate. Because in this problem​</a:t>
            </a:r>
            <a:endParaRPr lang="en-US"/>
          </a:p>
        </p:txBody>
      </p:sp>
      <p:pic>
        <p:nvPicPr>
          <p:cNvPr id="3" name="Picture 3" descr="A picture containing clock&#10;&#10;Description generated with very high confidence"/>
          <p:cNvPicPr>
            <a:picLocks noChangeAspect="1"/>
          </p:cNvPicPr>
          <p:nvPr/>
        </p:nvPicPr>
        <p:blipFill>
          <a:blip r:embed="rId1" cstate="print"/>
          <a:stretch>
            <a:fillRect/>
          </a:stretch>
        </p:blipFill>
        <p:spPr>
          <a:xfrm>
            <a:off x="927294" y="988044"/>
            <a:ext cx="3618803" cy="904642"/>
          </a:xfrm>
          <a:prstGeom prst="rect">
            <a:avLst/>
          </a:prstGeom>
        </p:spPr>
      </p:pic>
      <p:grpSp>
        <p:nvGrpSpPr>
          <p:cNvPr id="6" name="Group 5"/>
          <p:cNvGrpSpPr/>
          <p:nvPr/>
        </p:nvGrpSpPr>
        <p:grpSpPr>
          <a:xfrm>
            <a:off x="1351156" y="1858866"/>
            <a:ext cx="8383858" cy="2885385"/>
            <a:chOff x="1676400" y="2267744"/>
            <a:chExt cx="8383858" cy="2885385"/>
          </a:xfrm>
        </p:grpSpPr>
        <p:pic>
          <p:nvPicPr>
            <p:cNvPr id="4" name="Picture 4" descr="A screenshot of a cell phone&#10;&#10;Description generated with very high confidence"/>
            <p:cNvPicPr>
              <a:picLocks noChangeAspect="1"/>
            </p:cNvPicPr>
            <p:nvPr/>
          </p:nvPicPr>
          <p:blipFill>
            <a:blip r:embed="rId2" cstate="print"/>
            <a:stretch>
              <a:fillRect/>
            </a:stretch>
          </p:blipFill>
          <p:spPr>
            <a:xfrm>
              <a:off x="1676400" y="3108066"/>
              <a:ext cx="7974980" cy="2045063"/>
            </a:xfrm>
            <a:prstGeom prst="rect">
              <a:avLst/>
            </a:prstGeom>
          </p:spPr>
        </p:pic>
        <p:pic>
          <p:nvPicPr>
            <p:cNvPr id="5" name="Picture 5"/>
            <p:cNvPicPr>
              <a:picLocks noChangeAspect="1"/>
            </p:cNvPicPr>
            <p:nvPr/>
          </p:nvPicPr>
          <p:blipFill>
            <a:blip r:embed="rId3" cstate="print"/>
            <a:stretch>
              <a:fillRect/>
            </a:stretch>
          </p:blipFill>
          <p:spPr>
            <a:xfrm>
              <a:off x="1676400" y="2267744"/>
              <a:ext cx="8383858" cy="566194"/>
            </a:xfrm>
            <a:prstGeom prst="rect">
              <a:avLst/>
            </a:prstGeom>
          </p:spPr>
        </p:pic>
      </p:grpSp>
      <p:sp>
        <p:nvSpPr>
          <p:cNvPr id="7" name="TextBox 6"/>
          <p:cNvSpPr txBox="1"/>
          <p:nvPr/>
        </p:nvSpPr>
        <p:spPr>
          <a:xfrm>
            <a:off x="1323279" y="5309839"/>
            <a:ext cx="98613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There is a technique called perturbation, which helps to solve the degenerate problems.</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691375" y="338253"/>
            <a:ext cx="732449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200" dirty="0"/>
              <a:t>Perturbation Technique:</a:t>
            </a:r>
            <a:endParaRPr lang="en-US" sz="3200" dirty="0"/>
          </a:p>
        </p:txBody>
      </p:sp>
      <p:pic>
        <p:nvPicPr>
          <p:cNvPr id="3" name="Picture 3" descr="A screenshot of a cell phone&#10;&#10;Description generated with very high confidence"/>
          <p:cNvPicPr>
            <a:picLocks noChangeAspect="1"/>
          </p:cNvPicPr>
          <p:nvPr/>
        </p:nvPicPr>
        <p:blipFill>
          <a:blip r:embed="rId1" cstate="print"/>
          <a:stretch>
            <a:fillRect/>
          </a:stretch>
        </p:blipFill>
        <p:spPr>
          <a:xfrm>
            <a:off x="691376" y="1060193"/>
            <a:ext cx="11060151" cy="328795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p:cNvSpPr txBox="1"/>
          <p:nvPr/>
        </p:nvSpPr>
        <p:spPr>
          <a:xfrm>
            <a:off x="914400" y="291790"/>
            <a:ext cx="632088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dirty="0"/>
              <a:t>Consider the problem</a:t>
            </a:r>
            <a:endParaRPr lang="en-US" sz="2400" dirty="0"/>
          </a:p>
        </p:txBody>
      </p:sp>
      <p:pic>
        <p:nvPicPr>
          <p:cNvPr id="3" name="Picture 3" descr="A screenshot of a cell phone&#10;&#10;Description generated with very high confidence"/>
          <p:cNvPicPr>
            <a:picLocks noChangeAspect="1"/>
          </p:cNvPicPr>
          <p:nvPr/>
        </p:nvPicPr>
        <p:blipFill>
          <a:blip r:embed="rId1" cstate="print"/>
          <a:stretch>
            <a:fillRect/>
          </a:stretch>
        </p:blipFill>
        <p:spPr>
          <a:xfrm>
            <a:off x="914400" y="1078528"/>
            <a:ext cx="9870687" cy="366945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2" descr="A screenshot of a cell phone&#10;&#10;Description generated with very high confidence"/>
          <p:cNvPicPr>
            <a:picLocks noChangeAspect="1"/>
          </p:cNvPicPr>
          <p:nvPr/>
        </p:nvPicPr>
        <p:blipFill>
          <a:blip r:embed="rId1" cstate="print"/>
          <a:stretch>
            <a:fillRect/>
          </a:stretch>
        </p:blipFill>
        <p:spPr>
          <a:xfrm>
            <a:off x="598098" y="820479"/>
            <a:ext cx="10248181" cy="4685080"/>
          </a:xfrm>
          <a:prstGeom prst="rect">
            <a:avLst/>
          </a:prstGeom>
        </p:spPr>
      </p:pic>
      <p:pic>
        <p:nvPicPr>
          <p:cNvPr id="3" name="Picture 3" descr="A close up of a logo&#10;&#10;Description generated with very high confidence"/>
          <p:cNvPicPr>
            <a:picLocks noChangeAspect="1"/>
          </p:cNvPicPr>
          <p:nvPr/>
        </p:nvPicPr>
        <p:blipFill>
          <a:blip r:embed="rId2" cstate="print"/>
          <a:stretch>
            <a:fillRect/>
          </a:stretch>
        </p:blipFill>
        <p:spPr>
          <a:xfrm>
            <a:off x="2740325" y="5714517"/>
            <a:ext cx="6049992" cy="1036136"/>
          </a:xfrm>
          <a:prstGeom prst="rect">
            <a:avLst/>
          </a:prstGeom>
        </p:spPr>
      </p:pic>
      <p:sp>
        <p:nvSpPr>
          <p:cNvPr id="4" name="TextBox 3"/>
          <p:cNvSpPr txBox="1"/>
          <p:nvPr/>
        </p:nvSpPr>
        <p:spPr>
          <a:xfrm>
            <a:off x="598098" y="253042"/>
            <a:ext cx="593497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dirty="0"/>
              <a:t>Self Assessment Questions</a:t>
            </a:r>
            <a:br>
              <a:rPr lang="en-US" sz="2000" dirty="0"/>
            </a:b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2" name="Picture 2" descr="A screenshot of a cell phone&#10;&#10;Description generated with very high confidence"/>
          <p:cNvPicPr>
            <a:picLocks noChangeAspect="1"/>
          </p:cNvPicPr>
          <p:nvPr/>
        </p:nvPicPr>
        <p:blipFill>
          <a:blip r:embed="rId1" cstate="print"/>
          <a:stretch>
            <a:fillRect/>
          </a:stretch>
        </p:blipFill>
        <p:spPr>
          <a:xfrm>
            <a:off x="497457" y="137883"/>
            <a:ext cx="10995803" cy="5043857"/>
          </a:xfrm>
          <a:prstGeom prst="rect">
            <a:avLst/>
          </a:prstGeom>
        </p:spPr>
      </p:pic>
      <p:pic>
        <p:nvPicPr>
          <p:cNvPr id="3" name="Picture 3" descr="A close up of a logo&#10;&#10;Description generated with very high confidence"/>
          <p:cNvPicPr>
            <a:picLocks noChangeAspect="1"/>
          </p:cNvPicPr>
          <p:nvPr/>
        </p:nvPicPr>
        <p:blipFill>
          <a:blip r:embed="rId2" cstate="print"/>
          <a:stretch>
            <a:fillRect/>
          </a:stretch>
        </p:blipFill>
        <p:spPr>
          <a:xfrm>
            <a:off x="2078966" y="5357684"/>
            <a:ext cx="8048445" cy="12322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95A80CB-4CF0-4107-9D7F-3534A765D0CA}">
  <ds:schemaRefs/>
</ds:datastoreItem>
</file>

<file path=customXml/itemProps2.xml><?xml version="1.0" encoding="utf-8"?>
<ds:datastoreItem xmlns:ds="http://schemas.openxmlformats.org/officeDocument/2006/customXml" ds:itemID="{C49E75A2-7743-47A6-B23E-658AC0FBE820}">
  <ds:schemaRefs/>
</ds:datastoreItem>
</file>

<file path=customXml/itemProps3.xml><?xml version="1.0" encoding="utf-8"?>
<ds:datastoreItem xmlns:ds="http://schemas.openxmlformats.org/officeDocument/2006/customXml" ds:itemID="{4CAAF481-932C-4E81-9CC2-00095FE2E648}">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6862</Words>
  <Application>WPS Presentation</Application>
  <PresentationFormat>Custom</PresentationFormat>
  <Paragraphs>99</Paragraphs>
  <Slides>25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Arial</vt:lpstr>
      <vt:lpstr>SimSun</vt:lpstr>
      <vt:lpstr>Wingdings</vt:lpstr>
      <vt:lpstr>Calibri</vt:lpstr>
      <vt:lpstr>Tw Cen MT</vt:lpstr>
      <vt:lpstr>Avenir Next LT Pro</vt:lpstr>
      <vt:lpstr>Segoe Print</vt:lpstr>
      <vt:lpstr>Microsoft YaHei</vt:lpstr>
      <vt:lpstr>Arial Unicode MS</vt:lpstr>
      <vt:lpstr>ShapesVTI</vt:lpstr>
      <vt:lpstr>Modified Distribution Method</vt:lpstr>
      <vt:lpstr>Modified Distribution Method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ankit</cp:lastModifiedBy>
  <cp:revision>529</cp:revision>
  <dcterms:created xsi:type="dcterms:W3CDTF">2020-06-03T17:06:00Z</dcterms:created>
  <dcterms:modified xsi:type="dcterms:W3CDTF">2026-08-08T08:25:48Z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y fmtid="{D5CDD505-2E9C-101B-9397-08002B2CF9AE}" pid="3" name="ICV">
    <vt:lpwstr>D0DF6A2772DB40CCAB73AD659D625B56_12</vt:lpwstr>
  </property>
  <property fmtid="{D5CDD505-2E9C-101B-9397-08002B2CF9AE}" pid="4" name="KSOProductBuildVer">
    <vt:lpwstr>2057-12.2.0.23206</vt:lpwstr>
  </property>
</Properties>
</file>