
<file path=[Content_Types].xml><?xml version="1.0" encoding="utf-8"?>
<Types xmlns="http://schemas.openxmlformats.org/package/2006/content-types">
  <Default Extension="xml" ContentType="application/xml"/>
  <Default Extension="emf" ContentType="image/x-e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319" r:id="rId4"/>
    <p:sldId id="320" r:id="rId5"/>
    <p:sldId id="333" r:id="rId6"/>
    <p:sldId id="332" r:id="rId7"/>
    <p:sldId id="335" r:id="rId8"/>
    <p:sldId id="337" r:id="rId9"/>
    <p:sldId id="336" r:id="rId10"/>
    <p:sldId id="338" r:id="rId11"/>
    <p:sldId id="339" r:id="rId12"/>
    <p:sldId id="341" r:id="rId13"/>
    <p:sldId id="342" r:id="rId14"/>
    <p:sldId id="30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3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20" Type="http://schemas.openxmlformats.org/officeDocument/2006/relationships/customXml" Target="../customXml/item2.xml"/><Relationship Id="rId2" Type="http://schemas.openxmlformats.org/officeDocument/2006/relationships/theme" Target="theme/theme1.xml"/><Relationship Id="rId19" Type="http://schemas.openxmlformats.org/officeDocument/2006/relationships/customXml" Target="../customXml/item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770" y="1876864"/>
            <a:ext cx="8596668" cy="3104271"/>
          </a:xfrm>
        </p:spPr>
        <p:txBody>
          <a:bodyPr>
            <a:normAutofit/>
          </a:bodyPr>
          <a:lstStyle/>
          <a:p>
            <a:pPr algn="ctr"/>
            <a:r>
              <a:rPr lang="en-US" sz="8000" dirty="0"/>
              <a:t>OPERATIONAL RESEARCH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146" y="2629485"/>
            <a:ext cx="8596668" cy="3033933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Duality</a:t>
            </a:r>
            <a:endParaRPr lang="en-US" sz="6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84514"/>
            <a:ext cx="8596668" cy="657635"/>
          </a:xfrm>
        </p:spPr>
        <p:txBody>
          <a:bodyPr/>
          <a:lstStyle/>
          <a:p>
            <a:r>
              <a:rPr lang="en-US" dirty="0"/>
              <a:t>Points to be NOTED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860" y="1063306"/>
            <a:ext cx="8368192" cy="464805"/>
          </a:xfrm>
        </p:spPr>
        <p:txBody>
          <a:bodyPr>
            <a:normAutofit/>
          </a:bodyPr>
          <a:lstStyle/>
          <a:p>
            <a:r>
              <a:rPr lang="en-US" b="1" dirty="0"/>
              <a:t>The original Objective Function Problem is called </a:t>
            </a:r>
            <a:r>
              <a:rPr lang="en-US" b="1" dirty="0">
                <a:solidFill>
                  <a:srgbClr val="FF0000"/>
                </a:solidFill>
              </a:rPr>
              <a:t>Primal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578860" y="1528112"/>
            <a:ext cx="5413977" cy="529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Transposed Objective Function is called </a:t>
            </a:r>
            <a:r>
              <a:rPr lang="en-US" b="1" dirty="0">
                <a:solidFill>
                  <a:srgbClr val="FF0000"/>
                </a:solidFill>
              </a:rPr>
              <a:t>DUAL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7436685" y="880680"/>
            <a:ext cx="3020733" cy="1181156"/>
            <a:chOff x="6921320" y="2404587"/>
            <a:chExt cx="3020733" cy="1181156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921320" y="2404587"/>
              <a:ext cx="3020733" cy="1181156"/>
            </a:xfrm>
            <a:prstGeom prst="rect">
              <a:avLst/>
            </a:prstGeom>
          </p:spPr>
        </p:pic>
        <p:sp>
          <p:nvSpPr>
            <p:cNvPr id="15" name="Arrow: Down 14"/>
            <p:cNvSpPr/>
            <p:nvPr/>
          </p:nvSpPr>
          <p:spPr>
            <a:xfrm rot="16200000">
              <a:off x="8248568" y="2765023"/>
              <a:ext cx="408180" cy="506442"/>
            </a:xfrm>
            <a:prstGeom prst="downArrow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Content Placeholder 2"/>
          <p:cNvSpPr txBox="1"/>
          <p:nvPr/>
        </p:nvSpPr>
        <p:spPr>
          <a:xfrm>
            <a:off x="578860" y="2015219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Maximization problem in Primal becomes Minimization problem in DUAL and VICE VERSA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77209" y="2750816"/>
            <a:ext cx="6670460" cy="1137612"/>
            <a:chOff x="577209" y="3186917"/>
            <a:chExt cx="6670460" cy="1137612"/>
          </a:xfrm>
        </p:grpSpPr>
        <p:sp>
          <p:nvSpPr>
            <p:cNvPr id="39" name="Content Placeholder 2"/>
            <p:cNvSpPr txBox="1"/>
            <p:nvPr/>
          </p:nvSpPr>
          <p:spPr>
            <a:xfrm>
              <a:off x="577209" y="3251696"/>
              <a:ext cx="6670460" cy="100805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/>
                <a:t>      Type of Constraints in PRIMAL become</a:t>
              </a:r>
              <a:endParaRPr lang="en-US" b="1" dirty="0"/>
            </a:p>
            <a:p>
              <a:endParaRPr lang="en-US" b="1" dirty="0">
                <a:solidFill>
                  <a:srgbClr val="FF0000"/>
                </a:solidFill>
              </a:endParaRPr>
            </a:p>
            <a:p>
              <a:r>
                <a:rPr lang="en-US" b="1" dirty="0">
                  <a:solidFill>
                    <a:srgbClr val="FF0000"/>
                  </a:solidFill>
                </a:rPr>
                <a:t>       </a:t>
              </a:r>
              <a:r>
                <a:rPr lang="en-US" b="1" dirty="0">
                  <a:solidFill>
                    <a:schemeClr val="tx1"/>
                  </a:solidFill>
                </a:rPr>
                <a:t>Type of Constraints in </a:t>
              </a:r>
              <a:r>
                <a:rPr lang="en-US" b="1" dirty="0">
                  <a:solidFill>
                    <a:srgbClr val="FF0000"/>
                  </a:solidFill>
                </a:rPr>
                <a:t>DUAL </a:t>
              </a:r>
              <a:r>
                <a:rPr lang="en-US" b="1" dirty="0">
                  <a:solidFill>
                    <a:schemeClr val="tx1"/>
                  </a:solidFill>
                </a:rPr>
                <a:t>&amp; Vice Versa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0011" y="3815991"/>
              <a:ext cx="439071" cy="508538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2370" y="3186917"/>
              <a:ext cx="387854" cy="449218"/>
            </a:xfrm>
            <a:prstGeom prst="rect">
              <a:avLst/>
            </a:prstGeom>
          </p:spPr>
        </p:pic>
      </p:grpSp>
      <p:sp>
        <p:nvSpPr>
          <p:cNvPr id="41" name="Content Placeholder 2"/>
          <p:cNvSpPr txBox="1"/>
          <p:nvPr/>
        </p:nvSpPr>
        <p:spPr>
          <a:xfrm>
            <a:off x="7034499" y="2346233"/>
            <a:ext cx="4704094" cy="1946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Max </a:t>
            </a:r>
            <a:r>
              <a:rPr lang="en-US" sz="2000" b="1" i="1" dirty="0"/>
              <a:t>Z = C1 x1 + C2 x2 + C3 x3..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 </a:t>
            </a:r>
            <a:r>
              <a:rPr lang="en-US" b="1" dirty="0"/>
              <a:t>Constraints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A11 x1 + A12 x2 &lt;= B1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A21 x1 + A22  x2 &lt;= B2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 &gt;= 0</a:t>
            </a:r>
            <a:endParaRPr lang="en-US" sz="2000" i="1" dirty="0"/>
          </a:p>
        </p:txBody>
      </p:sp>
      <p:sp>
        <p:nvSpPr>
          <p:cNvPr id="42" name="Content Placeholder 2"/>
          <p:cNvSpPr txBox="1"/>
          <p:nvPr/>
        </p:nvSpPr>
        <p:spPr>
          <a:xfrm>
            <a:off x="565951" y="4104811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coefficients of Objective Function of Primal becomes constants B1, B2.. In Objective Function of </a:t>
            </a:r>
            <a:r>
              <a:rPr lang="en-US" b="1" dirty="0">
                <a:solidFill>
                  <a:srgbClr val="FF0000"/>
                </a:solidFill>
              </a:rPr>
              <a:t>DUAL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3" name="Content Placeholder 2"/>
          <p:cNvSpPr txBox="1"/>
          <p:nvPr/>
        </p:nvSpPr>
        <p:spPr>
          <a:xfrm>
            <a:off x="577209" y="4871530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constants B1, B2.. In the Constraints of Primal becomes C1, C2 .. Coefficients in </a:t>
            </a:r>
            <a:r>
              <a:rPr lang="en-US" b="1" dirty="0">
                <a:solidFill>
                  <a:srgbClr val="FF0000"/>
                </a:solidFill>
              </a:rPr>
              <a:t>DUAL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4" name="Content Placeholder 2"/>
          <p:cNvSpPr txBox="1"/>
          <p:nvPr/>
        </p:nvSpPr>
        <p:spPr>
          <a:xfrm>
            <a:off x="565951" y="5669657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If the Primal has </a:t>
            </a:r>
            <a:r>
              <a:rPr lang="en-US" b="1" i="1" dirty="0"/>
              <a:t>n</a:t>
            </a:r>
            <a:r>
              <a:rPr lang="en-US" b="1" dirty="0"/>
              <a:t> variables and </a:t>
            </a:r>
            <a:r>
              <a:rPr lang="en-US" b="1" i="1" dirty="0"/>
              <a:t>m</a:t>
            </a:r>
            <a:r>
              <a:rPr lang="en-US" b="1" dirty="0"/>
              <a:t> constraints the DUAL will have </a:t>
            </a:r>
            <a:r>
              <a:rPr lang="en-US" b="1" i="1" dirty="0"/>
              <a:t>m</a:t>
            </a:r>
            <a:r>
              <a:rPr lang="en-US" b="1" dirty="0"/>
              <a:t> variables and </a:t>
            </a:r>
            <a:r>
              <a:rPr lang="en-US" b="1" i="1" dirty="0"/>
              <a:t>n</a:t>
            </a:r>
            <a:r>
              <a:rPr lang="en-US" b="1" dirty="0"/>
              <a:t> constraints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5" name="Content Placeholder 2"/>
          <p:cNvSpPr txBox="1"/>
          <p:nvPr/>
        </p:nvSpPr>
        <p:spPr>
          <a:xfrm>
            <a:off x="7034499" y="4682501"/>
            <a:ext cx="4704094" cy="1946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Min </a:t>
            </a:r>
            <a:r>
              <a:rPr lang="en-US" sz="2000" b="1" i="1" dirty="0"/>
              <a:t>W = B1 y1 + B2 y2 + B3 y3..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 </a:t>
            </a:r>
            <a:r>
              <a:rPr lang="en-US" b="1" dirty="0"/>
              <a:t>Constraints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A11 y1 + A12 y2 &gt;= C1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A21 y1 + A22  y2 &gt;= C2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y1, y2 &gt;= 0</a:t>
            </a:r>
            <a:endParaRPr lang="en-US" sz="2000" i="1" dirty="0"/>
          </a:p>
        </p:txBody>
      </p:sp>
      <p:sp>
        <p:nvSpPr>
          <p:cNvPr id="46" name="Thought Bubble: Cloud 45"/>
          <p:cNvSpPr/>
          <p:nvPr/>
        </p:nvSpPr>
        <p:spPr>
          <a:xfrm>
            <a:off x="10522374" y="1633833"/>
            <a:ext cx="1708424" cy="73555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Primal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47" name="Thought Bubble: Cloud 46"/>
          <p:cNvSpPr/>
          <p:nvPr/>
        </p:nvSpPr>
        <p:spPr>
          <a:xfrm>
            <a:off x="10457418" y="3888468"/>
            <a:ext cx="1708424" cy="73555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DUAL</a:t>
            </a:r>
            <a:endParaRPr lang="en-US" sz="1200" b="1" dirty="0">
              <a:solidFill>
                <a:srgbClr val="FF0000"/>
              </a:solidFill>
            </a:endParaRPr>
          </a:p>
        </p:txBody>
      </p:sp>
      <p:sp>
        <p:nvSpPr>
          <p:cNvPr id="49" name="Content Placeholder 2"/>
          <p:cNvSpPr txBox="1"/>
          <p:nvPr/>
        </p:nvSpPr>
        <p:spPr>
          <a:xfrm>
            <a:off x="7034499" y="4693721"/>
            <a:ext cx="4704094" cy="1946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>
                <a:highlight>
                  <a:srgbClr val="FFFF00"/>
                </a:highlight>
              </a:rPr>
              <a:t>Min</a:t>
            </a:r>
            <a:r>
              <a:rPr lang="en-US" sz="2000" b="1" dirty="0"/>
              <a:t> </a:t>
            </a:r>
            <a:r>
              <a:rPr lang="en-US" sz="2000" b="1" i="1" dirty="0"/>
              <a:t>W = </a:t>
            </a:r>
            <a:r>
              <a:rPr lang="en-US" sz="2000" b="1" i="1" dirty="0">
                <a:highlight>
                  <a:srgbClr val="FFFF00"/>
                </a:highlight>
              </a:rPr>
              <a:t>B1</a:t>
            </a:r>
            <a:r>
              <a:rPr lang="en-US" sz="2000" b="1" i="1" dirty="0"/>
              <a:t> y1 + </a:t>
            </a:r>
            <a:r>
              <a:rPr lang="en-US" sz="2000" b="1" i="1" dirty="0">
                <a:highlight>
                  <a:srgbClr val="FFFF00"/>
                </a:highlight>
              </a:rPr>
              <a:t>B2</a:t>
            </a:r>
            <a:r>
              <a:rPr lang="en-US" sz="2000" b="1" i="1" dirty="0"/>
              <a:t> y2 + </a:t>
            </a:r>
            <a:r>
              <a:rPr lang="en-US" sz="2000" b="1" i="1" dirty="0">
                <a:highlight>
                  <a:srgbClr val="FFFF00"/>
                </a:highlight>
              </a:rPr>
              <a:t>B3</a:t>
            </a:r>
            <a:r>
              <a:rPr lang="en-US" sz="2000" b="1" i="1" dirty="0"/>
              <a:t> y3..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 </a:t>
            </a:r>
            <a:r>
              <a:rPr lang="en-US" b="1" dirty="0"/>
              <a:t>Constraints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A11 y1 + A12 y2 </a:t>
            </a:r>
            <a:r>
              <a:rPr lang="en-US" sz="2000" i="1" dirty="0">
                <a:highlight>
                  <a:srgbClr val="FFFF00"/>
                </a:highlight>
              </a:rPr>
              <a:t>&gt;=</a:t>
            </a:r>
            <a:r>
              <a:rPr lang="en-US" sz="2000" i="1" dirty="0"/>
              <a:t> </a:t>
            </a:r>
            <a:r>
              <a:rPr lang="en-US" sz="2000" i="1" dirty="0">
                <a:highlight>
                  <a:srgbClr val="FFFF00"/>
                </a:highlight>
              </a:rPr>
              <a:t>C1</a:t>
            </a:r>
            <a:endParaRPr lang="en-US" sz="2000" i="1" dirty="0">
              <a:highlight>
                <a:srgbClr val="FFFF00"/>
              </a:highlight>
            </a:endParaRPr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A21 y1 + A22  y2 </a:t>
            </a:r>
            <a:r>
              <a:rPr lang="en-US" sz="2000" i="1" dirty="0">
                <a:highlight>
                  <a:srgbClr val="FFFF00"/>
                </a:highlight>
              </a:rPr>
              <a:t>&gt;=</a:t>
            </a:r>
            <a:r>
              <a:rPr lang="en-US" sz="2000" i="1" dirty="0"/>
              <a:t> </a:t>
            </a:r>
            <a:r>
              <a:rPr lang="en-US" sz="2000" i="1" dirty="0">
                <a:highlight>
                  <a:srgbClr val="FFFF00"/>
                </a:highlight>
              </a:rPr>
              <a:t>C2</a:t>
            </a:r>
            <a:endParaRPr lang="en-US" sz="2000" i="1" dirty="0">
              <a:highlight>
                <a:srgbClr val="FFFF00"/>
              </a:highlight>
            </a:endParaRPr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y1, y2 &gt;= 0</a:t>
            </a:r>
            <a:endParaRPr 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33" grpId="0"/>
      <p:bldP spid="41" grpId="0" animBg="1"/>
      <p:bldP spid="42" grpId="0"/>
      <p:bldP spid="43" grpId="0"/>
      <p:bldP spid="44" grpId="0"/>
      <p:bldP spid="45" grpId="0" animBg="1"/>
      <p:bldP spid="46" grpId="0" animBg="1"/>
      <p:bldP spid="47" grpId="0" animBg="1"/>
      <p:bldP spid="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/>
          <p:cNvGrpSpPr/>
          <p:nvPr/>
        </p:nvGrpSpPr>
        <p:grpSpPr>
          <a:xfrm>
            <a:off x="5816134" y="1478400"/>
            <a:ext cx="810774" cy="889352"/>
            <a:chOff x="7680944" y="4751443"/>
            <a:chExt cx="810774" cy="889352"/>
          </a:xfrm>
        </p:grpSpPr>
        <p:sp>
          <p:nvSpPr>
            <p:cNvPr id="67" name="Rectangle: Rounded Corners 66"/>
            <p:cNvSpPr/>
            <p:nvPr/>
          </p:nvSpPr>
          <p:spPr>
            <a:xfrm>
              <a:off x="7680944" y="5068317"/>
              <a:ext cx="810774" cy="57247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Content Placeholder 2"/>
            <p:cNvSpPr txBox="1"/>
            <p:nvPr/>
          </p:nvSpPr>
          <p:spPr>
            <a:xfrm>
              <a:off x="7697779" y="4751443"/>
              <a:ext cx="363728" cy="316844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08262" y="1457051"/>
            <a:ext cx="810774" cy="889352"/>
            <a:chOff x="7680944" y="4751443"/>
            <a:chExt cx="810774" cy="889352"/>
          </a:xfrm>
        </p:grpSpPr>
        <p:sp>
          <p:nvSpPr>
            <p:cNvPr id="60" name="Rectangle: Rounded Corners 59"/>
            <p:cNvSpPr/>
            <p:nvPr/>
          </p:nvSpPr>
          <p:spPr>
            <a:xfrm>
              <a:off x="7680944" y="5068317"/>
              <a:ext cx="810774" cy="57247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Content Placeholder 2"/>
            <p:cNvSpPr txBox="1"/>
            <p:nvPr/>
          </p:nvSpPr>
          <p:spPr>
            <a:xfrm>
              <a:off x="7697779" y="4751443"/>
              <a:ext cx="363728" cy="316844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1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06217" y="2170864"/>
            <a:ext cx="420333" cy="1581027"/>
            <a:chOff x="8693834" y="4088253"/>
            <a:chExt cx="617684" cy="1581027"/>
          </a:xfrm>
        </p:grpSpPr>
        <p:sp>
          <p:nvSpPr>
            <p:cNvPr id="21" name="Rectangle: Rounded Corners 20"/>
            <p:cNvSpPr/>
            <p:nvPr/>
          </p:nvSpPr>
          <p:spPr>
            <a:xfrm>
              <a:off x="8693834" y="4388066"/>
              <a:ext cx="617684" cy="128121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8937855" y="4088253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2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074684" y="1478400"/>
            <a:ext cx="2762428" cy="721844"/>
            <a:chOff x="6554177" y="1000097"/>
            <a:chExt cx="2762428" cy="721844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6554177" y="1299910"/>
              <a:ext cx="2762428" cy="4220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Content Placeholder 2"/>
            <p:cNvSpPr txBox="1"/>
            <p:nvPr/>
          </p:nvSpPr>
          <p:spPr>
            <a:xfrm>
              <a:off x="8758545" y="1000097"/>
              <a:ext cx="534891" cy="29981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3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355741" y="2329636"/>
            <a:ext cx="584409" cy="1581027"/>
            <a:chOff x="8693834" y="4088253"/>
            <a:chExt cx="617684" cy="1581027"/>
          </a:xfrm>
        </p:grpSpPr>
        <p:sp>
          <p:nvSpPr>
            <p:cNvPr id="34" name="Rectangle: Rounded Corners 33"/>
            <p:cNvSpPr/>
            <p:nvPr/>
          </p:nvSpPr>
          <p:spPr>
            <a:xfrm>
              <a:off x="8693834" y="4388066"/>
              <a:ext cx="617684" cy="128121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Content Placeholder 2"/>
            <p:cNvSpPr txBox="1"/>
            <p:nvPr/>
          </p:nvSpPr>
          <p:spPr>
            <a:xfrm>
              <a:off x="8937855" y="4088253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chemeClr val="tx1"/>
                  </a:solidFill>
                </a:rPr>
                <a:t>3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9" y="248679"/>
            <a:ext cx="8596668" cy="684628"/>
          </a:xfrm>
        </p:spPr>
        <p:txBody>
          <a:bodyPr/>
          <a:lstStyle/>
          <a:p>
            <a:r>
              <a:rPr lang="en-US" dirty="0"/>
              <a:t>Example – Primal to DUAL</a:t>
            </a:r>
            <a:endParaRPr lang="en-US" dirty="0"/>
          </a:p>
        </p:txBody>
      </p:sp>
      <p:sp>
        <p:nvSpPr>
          <p:cNvPr id="13" name="Content Placeholder 2"/>
          <p:cNvSpPr txBox="1"/>
          <p:nvPr/>
        </p:nvSpPr>
        <p:spPr>
          <a:xfrm>
            <a:off x="577209" y="4452393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coefficients of Objective Function of Primal becomes constants B1, B2.. In Objective Function of </a:t>
            </a:r>
            <a:r>
              <a:rPr lang="en-US" b="1" dirty="0">
                <a:solidFill>
                  <a:srgbClr val="FF0000"/>
                </a:solidFill>
              </a:rPr>
              <a:t>DUAL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Content Placeholder 2"/>
          <p:cNvSpPr txBox="1"/>
          <p:nvPr/>
        </p:nvSpPr>
        <p:spPr>
          <a:xfrm>
            <a:off x="577209" y="5045335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constants B1, B2.. In the Constraints of Primal becomes C1, C2 .. Coefficients in </a:t>
            </a:r>
            <a:r>
              <a:rPr lang="en-US" b="1" dirty="0">
                <a:solidFill>
                  <a:srgbClr val="FF0000"/>
                </a:solidFill>
              </a:rPr>
              <a:t>DUAL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Content Placeholder 2"/>
          <p:cNvSpPr txBox="1"/>
          <p:nvPr/>
        </p:nvSpPr>
        <p:spPr>
          <a:xfrm>
            <a:off x="577209" y="5723640"/>
            <a:ext cx="6670460" cy="70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If the Primal has </a:t>
            </a:r>
            <a:r>
              <a:rPr lang="en-US" b="1" i="1" dirty="0"/>
              <a:t>n</a:t>
            </a:r>
            <a:r>
              <a:rPr lang="en-US" b="1" dirty="0"/>
              <a:t> variables and </a:t>
            </a:r>
            <a:r>
              <a:rPr lang="en-US" b="1" i="1" dirty="0"/>
              <a:t>m</a:t>
            </a:r>
            <a:r>
              <a:rPr lang="en-US" b="1" dirty="0"/>
              <a:t> constraints the DUAL will have </a:t>
            </a:r>
            <a:r>
              <a:rPr lang="en-US" b="1" i="1" dirty="0"/>
              <a:t>m</a:t>
            </a:r>
            <a:r>
              <a:rPr lang="en-US" b="1" dirty="0"/>
              <a:t> variables and </a:t>
            </a:r>
            <a:r>
              <a:rPr lang="en-US" b="1" i="1" dirty="0"/>
              <a:t>n</a:t>
            </a:r>
            <a:r>
              <a:rPr lang="en-US" b="1" dirty="0"/>
              <a:t> constraints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914259" y="1537930"/>
            <a:ext cx="1659988" cy="721844"/>
            <a:chOff x="1393752" y="1059627"/>
            <a:chExt cx="1659988" cy="721844"/>
          </a:xfrm>
        </p:grpSpPr>
        <p:sp>
          <p:nvSpPr>
            <p:cNvPr id="16" name="Rectangle: Rounded Corners 15"/>
            <p:cNvSpPr/>
            <p:nvPr/>
          </p:nvSpPr>
          <p:spPr>
            <a:xfrm>
              <a:off x="1393752" y="1359440"/>
              <a:ext cx="1659988" cy="4220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ontent Placeholder 2"/>
            <p:cNvSpPr txBox="1"/>
            <p:nvPr/>
          </p:nvSpPr>
          <p:spPr>
            <a:xfrm>
              <a:off x="2680077" y="1059627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/>
                <a:t>2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3003798" y="2720460"/>
            <a:ext cx="753311" cy="1281214"/>
            <a:chOff x="7936587" y="4359550"/>
            <a:chExt cx="753311" cy="1281214"/>
          </a:xfrm>
        </p:grpSpPr>
        <p:sp>
          <p:nvSpPr>
            <p:cNvPr id="39" name="Right Brace 38"/>
            <p:cNvSpPr/>
            <p:nvPr/>
          </p:nvSpPr>
          <p:spPr>
            <a:xfrm>
              <a:off x="7936587" y="4359550"/>
              <a:ext cx="342002" cy="1281214"/>
            </a:xfrm>
            <a:prstGeom prst="rightBrace">
              <a:avLst>
                <a:gd name="adj1" fmla="val 33013"/>
                <a:gd name="adj2" fmla="val 47804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Content Placeholder 2"/>
            <p:cNvSpPr txBox="1"/>
            <p:nvPr/>
          </p:nvSpPr>
          <p:spPr>
            <a:xfrm>
              <a:off x="8330157" y="4766546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chemeClr val="tx1"/>
                  </a:solidFill>
                </a:rPr>
                <a:t>5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7199287" y="1079608"/>
            <a:ext cx="2403556" cy="661966"/>
            <a:chOff x="8956271" y="2938035"/>
            <a:chExt cx="2403556" cy="661966"/>
          </a:xfrm>
        </p:grpSpPr>
        <p:sp>
          <p:nvSpPr>
            <p:cNvPr id="44" name="Right Brace 43"/>
            <p:cNvSpPr/>
            <p:nvPr/>
          </p:nvSpPr>
          <p:spPr>
            <a:xfrm rot="16200000">
              <a:off x="9987048" y="2227222"/>
              <a:ext cx="342002" cy="2403556"/>
            </a:xfrm>
            <a:prstGeom prst="rightBrace">
              <a:avLst>
                <a:gd name="adj1" fmla="val 33013"/>
                <a:gd name="adj2" fmla="val 47804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Content Placeholder 2"/>
            <p:cNvSpPr txBox="1"/>
            <p:nvPr/>
          </p:nvSpPr>
          <p:spPr>
            <a:xfrm>
              <a:off x="9949248" y="2938035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5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852209" y="1161104"/>
            <a:ext cx="1784088" cy="661966"/>
            <a:chOff x="8956271" y="2938035"/>
            <a:chExt cx="2403556" cy="661966"/>
          </a:xfrm>
        </p:grpSpPr>
        <p:sp>
          <p:nvSpPr>
            <p:cNvPr id="49" name="Right Brace 48"/>
            <p:cNvSpPr/>
            <p:nvPr/>
          </p:nvSpPr>
          <p:spPr>
            <a:xfrm rot="16200000">
              <a:off x="9987048" y="2227222"/>
              <a:ext cx="342002" cy="2403556"/>
            </a:xfrm>
            <a:prstGeom prst="rightBrace">
              <a:avLst>
                <a:gd name="adj1" fmla="val 33013"/>
                <a:gd name="adj2" fmla="val 47804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Content Placeholder 2"/>
            <p:cNvSpPr txBox="1"/>
            <p:nvPr/>
          </p:nvSpPr>
          <p:spPr>
            <a:xfrm>
              <a:off x="9949248" y="2938035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chemeClr val="tx1"/>
                  </a:solidFill>
                </a:rPr>
                <a:t>4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8525741" y="2588174"/>
            <a:ext cx="753311" cy="999089"/>
            <a:chOff x="7936587" y="4359550"/>
            <a:chExt cx="753311" cy="1281214"/>
          </a:xfrm>
        </p:grpSpPr>
        <p:sp>
          <p:nvSpPr>
            <p:cNvPr id="52" name="Right Brace 51"/>
            <p:cNvSpPr/>
            <p:nvPr/>
          </p:nvSpPr>
          <p:spPr>
            <a:xfrm>
              <a:off x="7936587" y="4359550"/>
              <a:ext cx="342002" cy="1281214"/>
            </a:xfrm>
            <a:prstGeom prst="rightBrace">
              <a:avLst>
                <a:gd name="adj1" fmla="val 33013"/>
                <a:gd name="adj2" fmla="val 47804"/>
              </a:avLst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Content Placeholder 2"/>
            <p:cNvSpPr txBox="1"/>
            <p:nvPr/>
          </p:nvSpPr>
          <p:spPr>
            <a:xfrm>
              <a:off x="8330157" y="4766546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700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4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905414" y="3209069"/>
            <a:ext cx="1351136" cy="721844"/>
            <a:chOff x="1393752" y="1059627"/>
            <a:chExt cx="1659988" cy="721844"/>
          </a:xfrm>
        </p:grpSpPr>
        <p:sp>
          <p:nvSpPr>
            <p:cNvPr id="70" name="Rectangle: Rounded Corners 69"/>
            <p:cNvSpPr/>
            <p:nvPr/>
          </p:nvSpPr>
          <p:spPr>
            <a:xfrm>
              <a:off x="1393752" y="1359440"/>
              <a:ext cx="1659988" cy="4220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Content Placeholder 2"/>
            <p:cNvSpPr txBox="1"/>
            <p:nvPr/>
          </p:nvSpPr>
          <p:spPr>
            <a:xfrm>
              <a:off x="2680077" y="1059627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chemeClr val="tx1"/>
                  </a:solidFill>
                </a:rPr>
                <a:t>6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7207093" y="2263574"/>
            <a:ext cx="420333" cy="1323690"/>
            <a:chOff x="8693834" y="4088253"/>
            <a:chExt cx="617684" cy="1581027"/>
          </a:xfrm>
        </p:grpSpPr>
        <p:sp>
          <p:nvSpPr>
            <p:cNvPr id="76" name="Rectangle: Rounded Corners 75"/>
            <p:cNvSpPr/>
            <p:nvPr/>
          </p:nvSpPr>
          <p:spPr>
            <a:xfrm>
              <a:off x="8693834" y="4388066"/>
              <a:ext cx="617684" cy="128121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Content Placeholder 2"/>
            <p:cNvSpPr txBox="1"/>
            <p:nvPr/>
          </p:nvSpPr>
          <p:spPr>
            <a:xfrm>
              <a:off x="8937855" y="4088253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6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54" name="Content Placeholder 2"/>
          <p:cNvSpPr txBox="1"/>
          <p:nvPr/>
        </p:nvSpPr>
        <p:spPr>
          <a:xfrm>
            <a:off x="827880" y="967745"/>
            <a:ext cx="1576338" cy="3532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Primal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" name="Content Placeholder 2"/>
          <p:cNvSpPr txBox="1"/>
          <p:nvPr/>
        </p:nvSpPr>
        <p:spPr>
          <a:xfrm>
            <a:off x="5966805" y="992298"/>
            <a:ext cx="1576338" cy="3532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DUAL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5996228" y="2419726"/>
            <a:ext cx="1910797" cy="721844"/>
            <a:chOff x="1393752" y="1059627"/>
            <a:chExt cx="1659988" cy="721844"/>
          </a:xfrm>
        </p:grpSpPr>
        <p:sp>
          <p:nvSpPr>
            <p:cNvPr id="57" name="Rectangle: Rounded Corners 56"/>
            <p:cNvSpPr/>
            <p:nvPr/>
          </p:nvSpPr>
          <p:spPr>
            <a:xfrm>
              <a:off x="1393752" y="1359440"/>
              <a:ext cx="1659988" cy="4220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Content Placeholder 2"/>
            <p:cNvSpPr txBox="1"/>
            <p:nvPr/>
          </p:nvSpPr>
          <p:spPr>
            <a:xfrm>
              <a:off x="2680077" y="1059627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rgbClr val="FF0000"/>
                  </a:solidFill>
                </a:rPr>
                <a:t>7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972663" y="2449438"/>
            <a:ext cx="420333" cy="1552235"/>
            <a:chOff x="8693834" y="4088253"/>
            <a:chExt cx="617684" cy="1581027"/>
          </a:xfrm>
        </p:grpSpPr>
        <p:sp>
          <p:nvSpPr>
            <p:cNvPr id="62" name="Rectangle: Rounded Corners 61"/>
            <p:cNvSpPr/>
            <p:nvPr/>
          </p:nvSpPr>
          <p:spPr>
            <a:xfrm>
              <a:off x="8693834" y="4388066"/>
              <a:ext cx="617684" cy="128121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Content Placeholder 2"/>
            <p:cNvSpPr txBox="1"/>
            <p:nvPr/>
          </p:nvSpPr>
          <p:spPr>
            <a:xfrm>
              <a:off x="8937855" y="4088253"/>
              <a:ext cx="359741" cy="335553"/>
            </a:xfrm>
            <a:prstGeom prst="rect">
              <a:avLst/>
            </a:prstGeom>
            <a:solidFill>
              <a:srgbClr val="FFFF00"/>
            </a:solidFill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panose="05040102010807070707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b="1" dirty="0">
                  <a:solidFill>
                    <a:schemeClr val="tx1"/>
                  </a:solidFill>
                </a:rPr>
                <a:t>7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Content Placeholder 2"/>
          <p:cNvSpPr txBox="1"/>
          <p:nvPr/>
        </p:nvSpPr>
        <p:spPr>
          <a:xfrm>
            <a:off x="5963012" y="1411610"/>
            <a:ext cx="4704094" cy="296316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</a:t>
            </a:r>
            <a:endParaRPr lang="en-US" sz="2000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Min W</a:t>
            </a:r>
            <a:r>
              <a:rPr lang="en-US" sz="2000" b="1" i="1" dirty="0"/>
              <a:t> = 15 y1 + 10 y2 + 20 y3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3 y1 </a:t>
            </a:r>
            <a:r>
              <a:rPr lang="en-US" sz="2000" i="1"/>
              <a:t>+ y2 </a:t>
            </a:r>
            <a:r>
              <a:rPr lang="en-US" sz="2000" i="1" dirty="0"/>
              <a:t>+ 5 y3 &gt;= 4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y1 + 2 y2 + 2 y3 &gt;= 5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y1, y2, y3 &gt;= 0</a:t>
            </a:r>
            <a:endParaRPr lang="en-US" sz="2000" i="1" dirty="0"/>
          </a:p>
        </p:txBody>
      </p:sp>
      <p:sp>
        <p:nvSpPr>
          <p:cNvPr id="11" name="Content Placeholder 2"/>
          <p:cNvSpPr txBox="1"/>
          <p:nvPr/>
        </p:nvSpPr>
        <p:spPr>
          <a:xfrm>
            <a:off x="900988" y="1411610"/>
            <a:ext cx="4704094" cy="296316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</a:t>
            </a:r>
            <a:endParaRPr lang="en-US" sz="2000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Max </a:t>
            </a:r>
            <a:r>
              <a:rPr lang="en-US" sz="2000" b="1" i="1" dirty="0"/>
              <a:t>Z = 4 x1 + 5 x2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3 x1 + x2 &lt;= 15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+ 2 x2 &lt;= 10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5 x1 + 2 x2 &lt;=20 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 &gt;= 0</a:t>
            </a:r>
            <a:endParaRPr lang="en-US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54" grpId="0"/>
      <p:bldP spid="55" grpId="0"/>
      <p:bldP spid="12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9" y="107999"/>
            <a:ext cx="8596668" cy="684628"/>
          </a:xfrm>
        </p:spPr>
        <p:txBody>
          <a:bodyPr/>
          <a:lstStyle/>
          <a:p>
            <a:r>
              <a:rPr lang="en-US" dirty="0"/>
              <a:t>Note</a:t>
            </a:r>
            <a:endParaRPr lang="en-US" dirty="0"/>
          </a:p>
        </p:txBody>
      </p:sp>
      <p:sp>
        <p:nvSpPr>
          <p:cNvPr id="54" name="Content Placeholder 2"/>
          <p:cNvSpPr txBox="1"/>
          <p:nvPr/>
        </p:nvSpPr>
        <p:spPr>
          <a:xfrm>
            <a:off x="575478" y="844593"/>
            <a:ext cx="8385642" cy="70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DUAL simplex method is useful to solve complex problems with more than 2 constraints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5" name="Content Placeholder 2"/>
          <p:cNvSpPr txBox="1"/>
          <p:nvPr/>
        </p:nvSpPr>
        <p:spPr>
          <a:xfrm>
            <a:off x="575478" y="1728512"/>
            <a:ext cx="8385642" cy="986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In case the constraints are mixed (&lt;= &amp; &gt;=), convert them as per the requirement of the problem i.e. for Max. all constraints should be &lt;= &amp; for Min. all constraints should be &gt;=)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9" name="Content Placeholder 2"/>
          <p:cNvSpPr txBox="1"/>
          <p:nvPr/>
        </p:nvSpPr>
        <p:spPr>
          <a:xfrm>
            <a:off x="5815444" y="3071976"/>
            <a:ext cx="3933467" cy="268692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Max </a:t>
            </a:r>
            <a:r>
              <a:rPr lang="en-US" sz="2000" b="1" i="1" dirty="0"/>
              <a:t>Z = x1 + 2 x2 + 3 x3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-2 x1 + x2 - x3 &lt;= -4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x2 + 2 x3 &lt;= 8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-x2 + x3 &lt;= -2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 &amp; x3 &gt;= 0</a:t>
            </a:r>
            <a:endParaRPr lang="en-US" sz="2000" i="1" dirty="0"/>
          </a:p>
        </p:txBody>
      </p:sp>
      <p:sp>
        <p:nvSpPr>
          <p:cNvPr id="3" name="Oval 2"/>
          <p:cNvSpPr/>
          <p:nvPr/>
        </p:nvSpPr>
        <p:spPr>
          <a:xfrm>
            <a:off x="2335237" y="3896750"/>
            <a:ext cx="604911" cy="4923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1587304" y="4752534"/>
            <a:ext cx="604911" cy="4923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ontent Placeholder 2"/>
          <p:cNvSpPr txBox="1"/>
          <p:nvPr/>
        </p:nvSpPr>
        <p:spPr>
          <a:xfrm>
            <a:off x="704038" y="3071976"/>
            <a:ext cx="3417796" cy="26535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Max </a:t>
            </a:r>
            <a:r>
              <a:rPr lang="en-US" sz="2000" b="1" i="1" dirty="0"/>
              <a:t>Z = x1 + 2 x2 + 3 x3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2 x1 - x2 + x3 &gt;= 4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x2 + 2 x3 &lt;= 8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x2 – x3 &gt;= 2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 &amp; x3 &gt;= 0</a:t>
            </a:r>
            <a:endParaRPr lang="en-US" sz="2000" i="1" dirty="0"/>
          </a:p>
        </p:txBody>
      </p:sp>
      <p:sp>
        <p:nvSpPr>
          <p:cNvPr id="4" name="Arrow: Right 3"/>
          <p:cNvSpPr/>
          <p:nvPr/>
        </p:nvSpPr>
        <p:spPr>
          <a:xfrm>
            <a:off x="4208922" y="3726123"/>
            <a:ext cx="1521728" cy="1378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Multiply by -1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9" grpId="0" animBg="1"/>
      <p:bldP spid="3" grpId="0" animBg="1"/>
      <p:bldP spid="62" grpId="0" animBg="1"/>
      <p:bldP spid="56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208" y="107999"/>
            <a:ext cx="9171703" cy="68462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– Solve DUAL using Simplex Method</a:t>
            </a:r>
            <a:endParaRPr lang="en-US" dirty="0"/>
          </a:p>
        </p:txBody>
      </p:sp>
      <p:sp>
        <p:nvSpPr>
          <p:cNvPr id="56" name="Content Placeholder 2"/>
          <p:cNvSpPr txBox="1"/>
          <p:nvPr/>
        </p:nvSpPr>
        <p:spPr>
          <a:xfrm>
            <a:off x="646353" y="775425"/>
            <a:ext cx="3933467" cy="26535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Min </a:t>
            </a:r>
            <a:r>
              <a:rPr lang="en-US" sz="2000" b="1" i="1" dirty="0"/>
              <a:t>Z = 25 x1 + 10 x2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x2 = 50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&gt;= 20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x2 &lt;= 40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 &gt;= 0</a:t>
            </a:r>
            <a:endParaRPr lang="en-US" sz="2000" i="1" dirty="0"/>
          </a:p>
        </p:txBody>
      </p:sp>
      <p:sp>
        <p:nvSpPr>
          <p:cNvPr id="4" name="Arrow: Right 3"/>
          <p:cNvSpPr/>
          <p:nvPr/>
        </p:nvSpPr>
        <p:spPr>
          <a:xfrm>
            <a:off x="4638422" y="1404952"/>
            <a:ext cx="1911684" cy="1394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Standardize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 txBox="1"/>
          <p:nvPr/>
        </p:nvSpPr>
        <p:spPr>
          <a:xfrm>
            <a:off x="6608709" y="775424"/>
            <a:ext cx="3933467" cy="26535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Min </a:t>
            </a:r>
            <a:r>
              <a:rPr lang="en-US" sz="2000" b="1" i="1" dirty="0"/>
              <a:t>Z = 25 x1 + 10 x2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x1 + x2 &gt;= 50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+ 0 x2 &gt;= 20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0 x1 - x2 &gt;= -40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 &gt;= 0</a:t>
            </a:r>
            <a:endParaRPr lang="en-US" sz="2000" i="1" dirty="0"/>
          </a:p>
        </p:txBody>
      </p:sp>
      <p:sp>
        <p:nvSpPr>
          <p:cNvPr id="8" name="Content Placeholder 2"/>
          <p:cNvSpPr txBox="1"/>
          <p:nvPr/>
        </p:nvSpPr>
        <p:spPr>
          <a:xfrm>
            <a:off x="3627530" y="4058533"/>
            <a:ext cx="3933467" cy="234226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Max </a:t>
            </a:r>
            <a:r>
              <a:rPr lang="en-US" sz="2000" b="1" i="1" dirty="0"/>
              <a:t>Z = 50 x1 + 20 x2 – 40 x3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x1 + x2 + 0 x3 &lt;= 25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+ 0 x2 – x3 &lt;= 10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</a:t>
            </a:r>
            <a:r>
              <a:rPr lang="en-US" sz="2000" i="1"/>
              <a:t>, x2, x3 </a:t>
            </a:r>
            <a:r>
              <a:rPr lang="en-US" sz="2000" i="1" dirty="0"/>
              <a:t>&gt;= 0</a:t>
            </a:r>
            <a:endParaRPr lang="en-US" sz="2000" i="1" dirty="0"/>
          </a:p>
        </p:txBody>
      </p:sp>
      <p:sp>
        <p:nvSpPr>
          <p:cNvPr id="9" name="Arrow: Right 8"/>
          <p:cNvSpPr/>
          <p:nvPr/>
        </p:nvSpPr>
        <p:spPr>
          <a:xfrm>
            <a:off x="1657244" y="3540897"/>
            <a:ext cx="1911684" cy="1394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DUAL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4" grpId="0" animBg="1"/>
      <p:bldP spid="10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1520"/>
          </a:xfrm>
        </p:spPr>
        <p:txBody>
          <a:bodyPr/>
          <a:lstStyle/>
          <a:p>
            <a:r>
              <a:rPr lang="en-US" dirty="0"/>
              <a:t>Simplex Method</a:t>
            </a:r>
            <a:endParaRPr lang="en-US" dirty="0"/>
          </a:p>
        </p:txBody>
      </p:sp>
      <p:sp>
        <p:nvSpPr>
          <p:cNvPr id="4" name="Content Placeholder 2"/>
          <p:cNvSpPr txBox="1"/>
          <p:nvPr/>
        </p:nvSpPr>
        <p:spPr>
          <a:xfrm>
            <a:off x="930050" y="2257866"/>
            <a:ext cx="6430870" cy="269513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charset="2"/>
              <a:buNone/>
            </a:pPr>
            <a:r>
              <a:rPr lang="en-US" sz="2000" b="1" dirty="0"/>
              <a:t> Max </a:t>
            </a:r>
            <a:r>
              <a:rPr lang="en-US" sz="2000" b="1" i="1" dirty="0"/>
              <a:t>Z = 50 x1 + 20 x2 – 40 x3 + 0 s1 + 0 s2</a:t>
            </a:r>
            <a:endParaRPr lang="en-US" sz="2000" b="1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dirty="0"/>
              <a:t>Subject to</a:t>
            </a:r>
            <a:endParaRPr lang="en-US" b="1" dirty="0"/>
          </a:p>
          <a:p>
            <a:pPr marL="0" indent="0">
              <a:buNone/>
            </a:pPr>
            <a:r>
              <a:rPr lang="en-US" sz="2000" i="1" dirty="0"/>
              <a:t>x1 + x2 + 0 x3 +  s1 = 25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 + 0 x2 – x3 +  s2 = 10</a:t>
            </a: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endParaRPr lang="en-US" sz="2000" i="1" dirty="0"/>
          </a:p>
          <a:p>
            <a:pPr marL="0" indent="0">
              <a:buFont typeface="Wingdings 3" panose="05040102010807070707" charset="2"/>
              <a:buNone/>
            </a:pPr>
            <a:r>
              <a:rPr lang="en-US" sz="2000" i="1" dirty="0"/>
              <a:t>x1, x2, s1, s2 &gt;= 0</a:t>
            </a:r>
            <a:endParaRPr lang="en-US" sz="2000" i="1" dirty="0"/>
          </a:p>
        </p:txBody>
      </p:sp>
      <p:sp>
        <p:nvSpPr>
          <p:cNvPr id="5" name="Content Placeholder 2"/>
          <p:cNvSpPr txBox="1"/>
          <p:nvPr/>
        </p:nvSpPr>
        <p:spPr>
          <a:xfrm>
            <a:off x="677334" y="1341120"/>
            <a:ext cx="8009466" cy="70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To Equalize DUAL Objective Function, Add Slack Variables 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/>
          <p:cNvSpPr/>
          <p:nvPr/>
        </p:nvSpPr>
        <p:spPr>
          <a:xfrm>
            <a:off x="3018972" y="3797549"/>
            <a:ext cx="8037837" cy="594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/>
          <p:cNvSpPr/>
          <p:nvPr/>
        </p:nvSpPr>
        <p:spPr>
          <a:xfrm>
            <a:off x="3274130" y="1689474"/>
            <a:ext cx="806911" cy="4157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325" y="295586"/>
            <a:ext cx="8596668" cy="783771"/>
          </a:xfrm>
        </p:spPr>
        <p:txBody>
          <a:bodyPr/>
          <a:lstStyle/>
          <a:p>
            <a:r>
              <a:rPr lang="en-US" dirty="0"/>
              <a:t>Step – Develop Simplex Table using </a:t>
            </a:r>
            <a:r>
              <a:rPr lang="en-US" dirty="0">
                <a:solidFill>
                  <a:srgbClr val="FF0000"/>
                </a:solidFill>
              </a:rPr>
              <a:t>DUAL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1667" y="1851781"/>
          <a:ext cx="9786815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424"/>
                <a:gridCol w="1236302"/>
                <a:gridCol w="938545"/>
                <a:gridCol w="1087424"/>
                <a:gridCol w="1087424"/>
                <a:gridCol w="1087424"/>
                <a:gridCol w="1087424"/>
                <a:gridCol w="1087424"/>
                <a:gridCol w="1087424"/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  <a:endParaRPr lang="en-US" b="1" dirty="0"/>
                    </a:p>
                  </a:txBody>
                  <a:tcPr anchor="ctr"/>
                </a:tc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57160" y="5734260"/>
            <a:ext cx="40421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 + x2 + 0 x3 +  s1 = 25</a:t>
            </a:r>
            <a:endParaRPr lang="en-US" sz="2400" i="1" dirty="0"/>
          </a:p>
        </p:txBody>
      </p:sp>
      <p:sp>
        <p:nvSpPr>
          <p:cNvPr id="9" name="Rectangle 8"/>
          <p:cNvSpPr/>
          <p:nvPr/>
        </p:nvSpPr>
        <p:spPr>
          <a:xfrm>
            <a:off x="3400869" y="1984408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-40        0         0 </a:t>
            </a:r>
            <a:endParaRPr lang="en-US" sz="2400" i="1" dirty="0"/>
          </a:p>
        </p:txBody>
      </p:sp>
      <p:sp>
        <p:nvSpPr>
          <p:cNvPr id="11" name="Rectangle 10"/>
          <p:cNvSpPr/>
          <p:nvPr/>
        </p:nvSpPr>
        <p:spPr>
          <a:xfrm>
            <a:off x="3400868" y="2659136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x3       s1         s2 </a:t>
            </a:r>
            <a:endParaRPr lang="en-US" sz="2400" i="1" dirty="0"/>
          </a:p>
        </p:txBody>
      </p:sp>
      <p:sp>
        <p:nvSpPr>
          <p:cNvPr id="12" name="Rectangle 11"/>
          <p:cNvSpPr/>
          <p:nvPr/>
        </p:nvSpPr>
        <p:spPr>
          <a:xfrm>
            <a:off x="3400868" y="3290887"/>
            <a:ext cx="6032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1          1          0          1         0         25</a:t>
            </a:r>
            <a:endParaRPr lang="en-US" sz="2400" i="1" dirty="0"/>
          </a:p>
        </p:txBody>
      </p:sp>
      <p:sp>
        <p:nvSpPr>
          <p:cNvPr id="13" name="Rectangle 12"/>
          <p:cNvSpPr/>
          <p:nvPr/>
        </p:nvSpPr>
        <p:spPr>
          <a:xfrm>
            <a:off x="854630" y="1166254"/>
            <a:ext cx="90056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</a:t>
            </a:r>
            <a:r>
              <a:rPr lang="en-US" sz="2800" b="1" i="1" dirty="0"/>
              <a:t>50 x1 + 20 x2 – 40 x3 + 0 s1 + 0 s2</a:t>
            </a:r>
            <a:endParaRPr lang="en-US" sz="2800" b="1" i="1" dirty="0">
              <a:solidFill>
                <a:prstClr val="black">
                  <a:lumMod val="75000"/>
                  <a:lumOff val="25000"/>
                </a:prstClr>
              </a:solidFill>
              <a:highlight>
                <a:srgbClr val="FFFF00"/>
              </a:highligh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336801" y="240253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172925" y="199752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393491" y="323283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s1</a:t>
            </a:r>
            <a:endParaRPr lang="en-US" sz="2400" i="1" dirty="0"/>
          </a:p>
        </p:txBody>
      </p:sp>
      <p:sp>
        <p:nvSpPr>
          <p:cNvPr id="23" name="Rectangle 22"/>
          <p:cNvSpPr/>
          <p:nvPr/>
        </p:nvSpPr>
        <p:spPr>
          <a:xfrm>
            <a:off x="2373087" y="386088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s2</a:t>
            </a:r>
            <a:endParaRPr lang="en-US" sz="2400" i="1" dirty="0"/>
          </a:p>
        </p:txBody>
      </p:sp>
      <p:sp>
        <p:nvSpPr>
          <p:cNvPr id="24" name="Rectangle 23"/>
          <p:cNvSpPr/>
          <p:nvPr/>
        </p:nvSpPr>
        <p:spPr>
          <a:xfrm>
            <a:off x="1291769" y="320048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  <a:endParaRPr lang="en-US" sz="2400" i="1" dirty="0"/>
          </a:p>
        </p:txBody>
      </p:sp>
      <p:sp>
        <p:nvSpPr>
          <p:cNvPr id="25" name="Rectangle 24"/>
          <p:cNvSpPr/>
          <p:nvPr/>
        </p:nvSpPr>
        <p:spPr>
          <a:xfrm>
            <a:off x="1269994" y="381734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  <a:endParaRPr lang="en-US" sz="2400" i="1" dirty="0"/>
          </a:p>
        </p:txBody>
      </p:sp>
      <p:sp>
        <p:nvSpPr>
          <p:cNvPr id="26" name="Rectangle 25"/>
          <p:cNvSpPr/>
          <p:nvPr/>
        </p:nvSpPr>
        <p:spPr>
          <a:xfrm>
            <a:off x="7747001" y="6194421"/>
            <a:ext cx="35791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 + 0 x2 – x3 +  s2 = 10</a:t>
            </a:r>
            <a:endParaRPr lang="en-US" sz="2400" i="1" dirty="0"/>
          </a:p>
        </p:txBody>
      </p:sp>
      <p:sp>
        <p:nvSpPr>
          <p:cNvPr id="27" name="Rectangle 26"/>
          <p:cNvSpPr/>
          <p:nvPr/>
        </p:nvSpPr>
        <p:spPr>
          <a:xfrm>
            <a:off x="3350066" y="3835170"/>
            <a:ext cx="6235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0         -1          0         1         10 </a:t>
            </a:r>
            <a:endParaRPr lang="en-US" sz="2400" i="1" dirty="0"/>
          </a:p>
        </p:txBody>
      </p:sp>
      <p:sp>
        <p:nvSpPr>
          <p:cNvPr id="28" name="Rectangle 27"/>
          <p:cNvSpPr/>
          <p:nvPr/>
        </p:nvSpPr>
        <p:spPr>
          <a:xfrm>
            <a:off x="2359939" y="439512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1" name="Rectangle 30"/>
          <p:cNvSpPr/>
          <p:nvPr/>
        </p:nvSpPr>
        <p:spPr>
          <a:xfrm>
            <a:off x="3328298" y="4408481"/>
            <a:ext cx="51045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0          0          0          0          0 </a:t>
            </a:r>
            <a:endParaRPr lang="en-US" sz="2400" i="1" dirty="0"/>
          </a:p>
        </p:txBody>
      </p:sp>
      <p:sp>
        <p:nvSpPr>
          <p:cNvPr id="32" name="Rectangle 31"/>
          <p:cNvSpPr/>
          <p:nvPr/>
        </p:nvSpPr>
        <p:spPr>
          <a:xfrm>
            <a:off x="2097315" y="488376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/>
          <p:cNvSpPr/>
          <p:nvPr/>
        </p:nvSpPr>
        <p:spPr>
          <a:xfrm>
            <a:off x="3328298" y="4898280"/>
            <a:ext cx="6105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-40        0          0</a:t>
            </a:r>
            <a:endParaRPr lang="en-US" sz="2400" i="1" dirty="0"/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854630" y="5918869"/>
            <a:ext cx="6419202" cy="643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For Maximization All </a:t>
            </a:r>
            <a:r>
              <a:rPr lang="en-US" sz="3200" dirty="0" err="1"/>
              <a:t>Cj</a:t>
            </a:r>
            <a:r>
              <a:rPr lang="en-US" sz="3200" dirty="0"/>
              <a:t> – </a:t>
            </a:r>
            <a:r>
              <a:rPr lang="en-US" sz="3200" dirty="0" err="1"/>
              <a:t>Zj</a:t>
            </a:r>
            <a:r>
              <a:rPr lang="en-US" sz="3200" dirty="0"/>
              <a:t> &lt;= 0</a:t>
            </a:r>
            <a:endParaRPr lang="en-US" dirty="0"/>
          </a:p>
        </p:txBody>
      </p:sp>
      <p:sp>
        <p:nvSpPr>
          <p:cNvPr id="36" name="Speech Bubble: Oval 35"/>
          <p:cNvSpPr/>
          <p:nvPr/>
        </p:nvSpPr>
        <p:spPr>
          <a:xfrm>
            <a:off x="3411029" y="5751269"/>
            <a:ext cx="2066919" cy="657365"/>
          </a:xfrm>
          <a:prstGeom prst="wedgeEllipseCallout">
            <a:avLst>
              <a:gd name="adj1" fmla="val -21774"/>
              <a:gd name="adj2" fmla="val -1374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Positive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7" name="Speech Bubble: Oval 36"/>
          <p:cNvSpPr/>
          <p:nvPr/>
        </p:nvSpPr>
        <p:spPr>
          <a:xfrm>
            <a:off x="9984679" y="2511974"/>
            <a:ext cx="2066919" cy="657365"/>
          </a:xfrm>
          <a:prstGeom prst="wedgeEllipseCallout">
            <a:avLst>
              <a:gd name="adj1" fmla="val -33232"/>
              <a:gd name="adj2" fmla="val 170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959729" y="329883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25</a:t>
            </a:r>
            <a:endParaRPr lang="en-US" sz="2400" i="1" dirty="0"/>
          </a:p>
        </p:txBody>
      </p:sp>
      <p:sp>
        <p:nvSpPr>
          <p:cNvPr id="39" name="Rectangle 38"/>
          <p:cNvSpPr/>
          <p:nvPr/>
        </p:nvSpPr>
        <p:spPr>
          <a:xfrm>
            <a:off x="9913037" y="3885856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10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4" grpId="0" animBg="1"/>
      <p:bldP spid="7" grpId="0"/>
      <p:bldP spid="7" grpId="1"/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6" grpId="0"/>
      <p:bldP spid="26" grpId="1"/>
      <p:bldP spid="27" grpId="0"/>
      <p:bldP spid="28" grpId="0"/>
      <p:bldP spid="31" grpId="0"/>
      <p:bldP spid="32" grpId="0"/>
      <p:bldP spid="33" grpId="0"/>
      <p:bldP spid="29" grpId="0" build="p"/>
      <p:bldP spid="36" grpId="0" animBg="1"/>
      <p:bldP spid="36" grpId="1" animBg="1"/>
      <p:bldP spid="37" grpId="0" animBg="1"/>
      <p:bldP spid="37" grpId="1" animBg="1"/>
      <p:bldP spid="38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/>
          <p:cNvSpPr/>
          <p:nvPr/>
        </p:nvSpPr>
        <p:spPr>
          <a:xfrm>
            <a:off x="2795540" y="2821847"/>
            <a:ext cx="8037837" cy="594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: Rounded Corners 45"/>
          <p:cNvSpPr/>
          <p:nvPr/>
        </p:nvSpPr>
        <p:spPr>
          <a:xfrm>
            <a:off x="4111069" y="1247293"/>
            <a:ext cx="806911" cy="41570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324" y="204146"/>
            <a:ext cx="9005649" cy="78377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– Iteration 2 Simplex Table using </a:t>
            </a:r>
            <a:r>
              <a:rPr lang="en-US" dirty="0">
                <a:solidFill>
                  <a:srgbClr val="FF0000"/>
                </a:solidFill>
              </a:rPr>
              <a:t>DUAL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547" y="1425061"/>
          <a:ext cx="9786815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424"/>
                <a:gridCol w="1236302"/>
                <a:gridCol w="938545"/>
                <a:gridCol w="1087424"/>
                <a:gridCol w="1087424"/>
                <a:gridCol w="1087424"/>
                <a:gridCol w="1087424"/>
                <a:gridCol w="1087424"/>
                <a:gridCol w="1087424"/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  <a:endParaRPr lang="en-US" b="1" dirty="0"/>
                    </a:p>
                  </a:txBody>
                  <a:tcPr anchor="ctr"/>
                </a:tc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2749" y="1557688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-40        0         0 </a:t>
            </a:r>
            <a:endParaRPr lang="en-US" sz="2400" i="1" dirty="0"/>
          </a:p>
        </p:txBody>
      </p:sp>
      <p:sp>
        <p:nvSpPr>
          <p:cNvPr id="11" name="Rectangle 10"/>
          <p:cNvSpPr/>
          <p:nvPr/>
        </p:nvSpPr>
        <p:spPr>
          <a:xfrm>
            <a:off x="3202748" y="2232416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x3       s1         s2 </a:t>
            </a:r>
            <a:endParaRPr lang="en-US" sz="2400" i="1" dirty="0"/>
          </a:p>
        </p:txBody>
      </p:sp>
      <p:sp>
        <p:nvSpPr>
          <p:cNvPr id="12" name="Rectangle 11"/>
          <p:cNvSpPr/>
          <p:nvPr/>
        </p:nvSpPr>
        <p:spPr>
          <a:xfrm>
            <a:off x="3202748" y="2864167"/>
            <a:ext cx="6032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0          1          1          1         -1         15</a:t>
            </a:r>
            <a:endParaRPr lang="en-US" sz="2400" i="1" dirty="0"/>
          </a:p>
        </p:txBody>
      </p:sp>
      <p:sp>
        <p:nvSpPr>
          <p:cNvPr id="13" name="Rectangle 12"/>
          <p:cNvSpPr/>
          <p:nvPr/>
        </p:nvSpPr>
        <p:spPr>
          <a:xfrm>
            <a:off x="763190" y="861454"/>
            <a:ext cx="90056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</a:t>
            </a:r>
            <a:r>
              <a:rPr lang="en-US" sz="2800" b="1" i="1" dirty="0"/>
              <a:t>50 x1 + 20 x2 – 40 x3 + 0 s1 + 0 s2</a:t>
            </a:r>
            <a:endParaRPr lang="en-US" sz="2800" b="1" i="1" dirty="0">
              <a:solidFill>
                <a:prstClr val="black">
                  <a:lumMod val="75000"/>
                  <a:lumOff val="25000"/>
                </a:prstClr>
              </a:solidFill>
              <a:highlight>
                <a:srgbClr val="FFFF00"/>
              </a:highligh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138681" y="197581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974805" y="157080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95371" y="280611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s1</a:t>
            </a:r>
            <a:endParaRPr lang="en-US" sz="2400" i="1" dirty="0"/>
          </a:p>
        </p:txBody>
      </p:sp>
      <p:sp>
        <p:nvSpPr>
          <p:cNvPr id="23" name="Rectangle 22"/>
          <p:cNvSpPr/>
          <p:nvPr/>
        </p:nvSpPr>
        <p:spPr>
          <a:xfrm>
            <a:off x="2174967" y="343416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</a:t>
            </a:r>
            <a:endParaRPr lang="en-US" sz="2400" i="1" dirty="0"/>
          </a:p>
        </p:txBody>
      </p:sp>
      <p:sp>
        <p:nvSpPr>
          <p:cNvPr id="24" name="Rectangle 23"/>
          <p:cNvSpPr/>
          <p:nvPr/>
        </p:nvSpPr>
        <p:spPr>
          <a:xfrm>
            <a:off x="1093649" y="277376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0</a:t>
            </a:r>
            <a:endParaRPr lang="en-US" sz="2400" i="1" dirty="0"/>
          </a:p>
        </p:txBody>
      </p:sp>
      <p:sp>
        <p:nvSpPr>
          <p:cNvPr id="25" name="Rectangle 24"/>
          <p:cNvSpPr/>
          <p:nvPr/>
        </p:nvSpPr>
        <p:spPr>
          <a:xfrm>
            <a:off x="1071874" y="339062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50</a:t>
            </a:r>
            <a:endParaRPr lang="en-US" sz="2400" i="1" dirty="0"/>
          </a:p>
        </p:txBody>
      </p:sp>
      <p:sp>
        <p:nvSpPr>
          <p:cNvPr id="27" name="Rectangle 26"/>
          <p:cNvSpPr/>
          <p:nvPr/>
        </p:nvSpPr>
        <p:spPr>
          <a:xfrm>
            <a:off x="3151946" y="3408450"/>
            <a:ext cx="6235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0         -1          0         1         10 </a:t>
            </a:r>
            <a:endParaRPr lang="en-US" sz="2400" i="1" dirty="0"/>
          </a:p>
        </p:txBody>
      </p:sp>
      <p:sp>
        <p:nvSpPr>
          <p:cNvPr id="28" name="Rectangle 27"/>
          <p:cNvSpPr/>
          <p:nvPr/>
        </p:nvSpPr>
        <p:spPr>
          <a:xfrm>
            <a:off x="2161819" y="396840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1" name="Rectangle 30"/>
          <p:cNvSpPr/>
          <p:nvPr/>
        </p:nvSpPr>
        <p:spPr>
          <a:xfrm>
            <a:off x="3130178" y="3981761"/>
            <a:ext cx="6257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  0        -50        0         50 </a:t>
            </a:r>
            <a:endParaRPr lang="en-US" sz="2400" i="1" dirty="0"/>
          </a:p>
        </p:txBody>
      </p:sp>
      <p:sp>
        <p:nvSpPr>
          <p:cNvPr id="32" name="Rectangle 31"/>
          <p:cNvSpPr/>
          <p:nvPr/>
        </p:nvSpPr>
        <p:spPr>
          <a:xfrm>
            <a:off x="1899195" y="445704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/>
          <p:cNvSpPr/>
          <p:nvPr/>
        </p:nvSpPr>
        <p:spPr>
          <a:xfrm>
            <a:off x="3130178" y="4471560"/>
            <a:ext cx="6105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20         10         0        -50</a:t>
            </a:r>
            <a:endParaRPr lang="en-US" sz="2400" i="1" dirty="0"/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309173" y="5399503"/>
            <a:ext cx="4059019" cy="10660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For Maximization All </a:t>
            </a:r>
            <a:r>
              <a:rPr lang="en-US" sz="3200" dirty="0" err="1"/>
              <a:t>Cj</a:t>
            </a:r>
            <a:r>
              <a:rPr lang="en-US" sz="3200" dirty="0"/>
              <a:t> – </a:t>
            </a:r>
            <a:r>
              <a:rPr lang="en-US" sz="3200" dirty="0" err="1"/>
              <a:t>Zj</a:t>
            </a:r>
            <a:r>
              <a:rPr lang="en-US" sz="3200" dirty="0"/>
              <a:t> &lt;= 0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761609" y="287211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  <a:endParaRPr lang="en-US" sz="2400" i="1" dirty="0"/>
          </a:p>
        </p:txBody>
      </p:sp>
      <p:sp>
        <p:nvSpPr>
          <p:cNvPr id="39" name="Rectangle 38"/>
          <p:cNvSpPr/>
          <p:nvPr/>
        </p:nvSpPr>
        <p:spPr>
          <a:xfrm>
            <a:off x="9577756" y="3550576"/>
            <a:ext cx="8966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infinite</a:t>
            </a:r>
            <a:endParaRPr lang="en-US" sz="1400" i="1" dirty="0"/>
          </a:p>
        </p:txBody>
      </p:sp>
      <p:sp>
        <p:nvSpPr>
          <p:cNvPr id="30" name="Rectangle 29"/>
          <p:cNvSpPr/>
          <p:nvPr/>
        </p:nvSpPr>
        <p:spPr>
          <a:xfrm>
            <a:off x="6350808" y="5137025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x1 = old values / Key Element </a:t>
            </a:r>
            <a:endParaRPr lang="en-US" sz="2400" i="1" dirty="0"/>
          </a:p>
        </p:txBody>
      </p:sp>
      <p:grpSp>
        <p:nvGrpSpPr>
          <p:cNvPr id="40" name="Group 39"/>
          <p:cNvGrpSpPr/>
          <p:nvPr/>
        </p:nvGrpSpPr>
        <p:grpSpPr>
          <a:xfrm>
            <a:off x="4233633" y="5720922"/>
            <a:ext cx="7351857" cy="973216"/>
            <a:chOff x="4314689" y="5456608"/>
            <a:chExt cx="7848280" cy="1027625"/>
          </a:xfrm>
        </p:grpSpPr>
        <p:sp>
          <p:nvSpPr>
            <p:cNvPr id="41" name="Rectangle 40"/>
            <p:cNvSpPr/>
            <p:nvPr/>
          </p:nvSpPr>
          <p:spPr>
            <a:xfrm>
              <a:off x="4314689" y="5723475"/>
              <a:ext cx="2719655" cy="4874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s1 </a:t>
              </a:r>
              <a:r>
                <a:rPr lang="en-US" sz="1600" i="1" dirty="0"/>
                <a:t>=Old Value -</a:t>
              </a:r>
              <a:endParaRPr lang="en-US" sz="1600" i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07194" y="5456608"/>
              <a:ext cx="53557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Column Value X Corresponding Key Row Value  </a:t>
              </a:r>
              <a:endParaRPr lang="en-US" sz="1600" i="1" dirty="0"/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6894286" y="6041383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7910733" y="6145679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  <a:endParaRPr lang="en-US" sz="1600" i="1" dirty="0"/>
            </a:p>
          </p:txBody>
        </p:sp>
      </p:grpSp>
      <p:sp>
        <p:nvSpPr>
          <p:cNvPr id="47" name="Speech Bubble: Oval 46"/>
          <p:cNvSpPr/>
          <p:nvPr/>
        </p:nvSpPr>
        <p:spPr>
          <a:xfrm>
            <a:off x="4190323" y="5538875"/>
            <a:ext cx="2066919" cy="657365"/>
          </a:xfrm>
          <a:prstGeom prst="wedgeEllipseCallout">
            <a:avLst>
              <a:gd name="adj1" fmla="val -21774"/>
              <a:gd name="adj2" fmla="val -1374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Most Positive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8" name="Speech Bubble: Oval 47"/>
          <p:cNvSpPr/>
          <p:nvPr/>
        </p:nvSpPr>
        <p:spPr>
          <a:xfrm>
            <a:off x="10034435" y="1575051"/>
            <a:ext cx="2066919" cy="657365"/>
          </a:xfrm>
          <a:prstGeom prst="wedgeEllipseCallout">
            <a:avLst>
              <a:gd name="adj1" fmla="val -33232"/>
              <a:gd name="adj2" fmla="val 17052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Least Positive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7" grpId="0"/>
      <p:bldP spid="28" grpId="0"/>
      <p:bldP spid="31" grpId="0"/>
      <p:bldP spid="32" grpId="0"/>
      <p:bldP spid="33" grpId="0"/>
      <p:bldP spid="29" grpId="0" build="p"/>
      <p:bldP spid="38" grpId="0"/>
      <p:bldP spid="39" grpId="0"/>
      <p:bldP spid="30" grpId="0"/>
      <p:bldP spid="47" grpId="0" animBg="1"/>
      <p:bldP spid="47" grpId="1" animBg="1"/>
      <p:bldP spid="48" grpId="0" animBg="1"/>
      <p:bldP spid="4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324" y="204146"/>
            <a:ext cx="9005649" cy="78377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– Iteration 2 Simplex Table using </a:t>
            </a:r>
            <a:r>
              <a:rPr lang="en-US" dirty="0">
                <a:solidFill>
                  <a:srgbClr val="FF0000"/>
                </a:solidFill>
              </a:rPr>
              <a:t>DUAL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547" y="1425061"/>
          <a:ext cx="9786815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424"/>
                <a:gridCol w="1236302"/>
                <a:gridCol w="938545"/>
                <a:gridCol w="1087424"/>
                <a:gridCol w="1087424"/>
                <a:gridCol w="1087424"/>
                <a:gridCol w="1087424"/>
                <a:gridCol w="1087424"/>
                <a:gridCol w="1087424"/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  <a:endParaRPr lang="en-US" b="1" dirty="0"/>
                    </a:p>
                  </a:txBody>
                  <a:tcPr anchor="ctr"/>
                </a:tc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2749" y="1557688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-40        0         0 </a:t>
            </a:r>
            <a:endParaRPr lang="en-US" sz="2400" i="1" dirty="0"/>
          </a:p>
        </p:txBody>
      </p:sp>
      <p:sp>
        <p:nvSpPr>
          <p:cNvPr id="11" name="Rectangle 10"/>
          <p:cNvSpPr/>
          <p:nvPr/>
        </p:nvSpPr>
        <p:spPr>
          <a:xfrm>
            <a:off x="3202748" y="2232416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x3       s1         s2 </a:t>
            </a:r>
            <a:endParaRPr lang="en-US" sz="2400" i="1" dirty="0"/>
          </a:p>
        </p:txBody>
      </p:sp>
      <p:sp>
        <p:nvSpPr>
          <p:cNvPr id="12" name="Rectangle 11"/>
          <p:cNvSpPr/>
          <p:nvPr/>
        </p:nvSpPr>
        <p:spPr>
          <a:xfrm>
            <a:off x="3202748" y="2864167"/>
            <a:ext cx="6032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0          1          1          1         -1         15</a:t>
            </a:r>
            <a:endParaRPr lang="en-US" sz="2400" i="1" dirty="0"/>
          </a:p>
        </p:txBody>
      </p:sp>
      <p:sp>
        <p:nvSpPr>
          <p:cNvPr id="13" name="Rectangle 12"/>
          <p:cNvSpPr/>
          <p:nvPr/>
        </p:nvSpPr>
        <p:spPr>
          <a:xfrm>
            <a:off x="763190" y="861454"/>
            <a:ext cx="90056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</a:t>
            </a:r>
            <a:r>
              <a:rPr lang="en-US" sz="2800" b="1" i="1" dirty="0"/>
              <a:t>50 x1 + 20 x2 – 40 x3 + 0 s1 + 0 s2</a:t>
            </a:r>
            <a:endParaRPr lang="en-US" sz="2800" b="1" i="1" dirty="0">
              <a:solidFill>
                <a:prstClr val="black">
                  <a:lumMod val="75000"/>
                  <a:lumOff val="25000"/>
                </a:prstClr>
              </a:solidFill>
              <a:highlight>
                <a:srgbClr val="FFFF00"/>
              </a:highligh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138681" y="197581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974805" y="157080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95371" y="280611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  <a:endParaRPr lang="en-US" sz="2400" i="1" dirty="0"/>
          </a:p>
        </p:txBody>
      </p:sp>
      <p:sp>
        <p:nvSpPr>
          <p:cNvPr id="23" name="Rectangle 22"/>
          <p:cNvSpPr/>
          <p:nvPr/>
        </p:nvSpPr>
        <p:spPr>
          <a:xfrm>
            <a:off x="2174967" y="343416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</a:t>
            </a:r>
            <a:endParaRPr lang="en-US" sz="2400" i="1" dirty="0"/>
          </a:p>
        </p:txBody>
      </p:sp>
      <p:sp>
        <p:nvSpPr>
          <p:cNvPr id="24" name="Rectangle 23"/>
          <p:cNvSpPr/>
          <p:nvPr/>
        </p:nvSpPr>
        <p:spPr>
          <a:xfrm>
            <a:off x="1093649" y="277376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20</a:t>
            </a:r>
            <a:endParaRPr lang="en-US" sz="2400" i="1" dirty="0"/>
          </a:p>
        </p:txBody>
      </p:sp>
      <p:sp>
        <p:nvSpPr>
          <p:cNvPr id="25" name="Rectangle 24"/>
          <p:cNvSpPr/>
          <p:nvPr/>
        </p:nvSpPr>
        <p:spPr>
          <a:xfrm>
            <a:off x="1071874" y="339062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50</a:t>
            </a:r>
            <a:endParaRPr lang="en-US" sz="2400" i="1" dirty="0"/>
          </a:p>
        </p:txBody>
      </p:sp>
      <p:sp>
        <p:nvSpPr>
          <p:cNvPr id="27" name="Rectangle 26"/>
          <p:cNvSpPr/>
          <p:nvPr/>
        </p:nvSpPr>
        <p:spPr>
          <a:xfrm>
            <a:off x="3151946" y="3408450"/>
            <a:ext cx="6235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0         -1         0         1          10 </a:t>
            </a:r>
            <a:endParaRPr lang="en-US" sz="2400" i="1" dirty="0"/>
          </a:p>
        </p:txBody>
      </p:sp>
      <p:sp>
        <p:nvSpPr>
          <p:cNvPr id="28" name="Rectangle 27"/>
          <p:cNvSpPr/>
          <p:nvPr/>
        </p:nvSpPr>
        <p:spPr>
          <a:xfrm>
            <a:off x="2161819" y="396840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1" name="Rectangle 30"/>
          <p:cNvSpPr/>
          <p:nvPr/>
        </p:nvSpPr>
        <p:spPr>
          <a:xfrm>
            <a:off x="3130178" y="3981761"/>
            <a:ext cx="6257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-30        20       30        800</a:t>
            </a:r>
            <a:endParaRPr lang="en-US" sz="2400" i="1" dirty="0"/>
          </a:p>
        </p:txBody>
      </p:sp>
      <p:sp>
        <p:nvSpPr>
          <p:cNvPr id="32" name="Rectangle 31"/>
          <p:cNvSpPr/>
          <p:nvPr/>
        </p:nvSpPr>
        <p:spPr>
          <a:xfrm>
            <a:off x="1899195" y="445704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/>
          <p:cNvSpPr/>
          <p:nvPr/>
        </p:nvSpPr>
        <p:spPr>
          <a:xfrm>
            <a:off x="3130178" y="4471560"/>
            <a:ext cx="6105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0         -10       -20     -30</a:t>
            </a:r>
            <a:endParaRPr lang="en-US" sz="2400" i="1" dirty="0"/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309173" y="5399503"/>
            <a:ext cx="4059019" cy="10660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For Maximization All </a:t>
            </a:r>
            <a:r>
              <a:rPr lang="en-US" sz="3200" dirty="0" err="1"/>
              <a:t>Cj</a:t>
            </a:r>
            <a:r>
              <a:rPr lang="en-US" sz="3200" dirty="0"/>
              <a:t> – </a:t>
            </a:r>
            <a:r>
              <a:rPr lang="en-US" sz="3200" dirty="0" err="1"/>
              <a:t>Zj</a:t>
            </a:r>
            <a:r>
              <a:rPr lang="en-US" sz="3200" dirty="0"/>
              <a:t> &lt;= 0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761609" y="2872118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15</a:t>
            </a:r>
            <a:endParaRPr lang="en-US" sz="2400" i="1" dirty="0"/>
          </a:p>
        </p:txBody>
      </p:sp>
      <p:sp>
        <p:nvSpPr>
          <p:cNvPr id="39" name="Rectangle 38"/>
          <p:cNvSpPr/>
          <p:nvPr/>
        </p:nvSpPr>
        <p:spPr>
          <a:xfrm>
            <a:off x="9577756" y="3550576"/>
            <a:ext cx="8966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infinite</a:t>
            </a:r>
            <a:endParaRPr lang="en-US" sz="1400" i="1" dirty="0"/>
          </a:p>
        </p:txBody>
      </p:sp>
      <p:sp>
        <p:nvSpPr>
          <p:cNvPr id="30" name="Rectangle 29"/>
          <p:cNvSpPr/>
          <p:nvPr/>
        </p:nvSpPr>
        <p:spPr>
          <a:xfrm>
            <a:off x="6350808" y="5137025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x2 = old values / Key Element </a:t>
            </a:r>
            <a:endParaRPr lang="en-US" sz="2400" i="1" dirty="0"/>
          </a:p>
        </p:txBody>
      </p:sp>
      <p:grpSp>
        <p:nvGrpSpPr>
          <p:cNvPr id="40" name="Group 39"/>
          <p:cNvGrpSpPr/>
          <p:nvPr/>
        </p:nvGrpSpPr>
        <p:grpSpPr>
          <a:xfrm>
            <a:off x="4233633" y="5720922"/>
            <a:ext cx="7351857" cy="973216"/>
            <a:chOff x="4314689" y="5456608"/>
            <a:chExt cx="7848280" cy="1027625"/>
          </a:xfrm>
        </p:grpSpPr>
        <p:sp>
          <p:nvSpPr>
            <p:cNvPr id="41" name="Rectangle 40"/>
            <p:cNvSpPr/>
            <p:nvPr/>
          </p:nvSpPr>
          <p:spPr>
            <a:xfrm>
              <a:off x="4314689" y="5723475"/>
              <a:ext cx="2719655" cy="4874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x1 </a:t>
              </a:r>
              <a:r>
                <a:rPr lang="en-US" sz="1600" i="1" dirty="0"/>
                <a:t>=Old Value -</a:t>
              </a:r>
              <a:endParaRPr lang="en-US" sz="1600" i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07194" y="5456608"/>
              <a:ext cx="53557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Column Value X Corresponding Key Row Value  </a:t>
              </a:r>
              <a:endParaRPr lang="en-US" sz="1600" i="1" dirty="0"/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6894286" y="6041383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7910733" y="6145679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  <a:endParaRPr lang="en-US" sz="16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7" grpId="0"/>
      <p:bldP spid="28" grpId="0"/>
      <p:bldP spid="31" grpId="0"/>
      <p:bldP spid="32" grpId="0"/>
      <p:bldP spid="33" grpId="0"/>
      <p:bldP spid="29" grpId="0" build="p"/>
      <p:bldP spid="38" grpId="0"/>
      <p:bldP spid="39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324" y="204146"/>
            <a:ext cx="9005649" cy="783771"/>
          </a:xfrm>
        </p:spPr>
        <p:txBody>
          <a:bodyPr>
            <a:normAutofit fontScale="90000"/>
          </a:bodyPr>
          <a:lstStyle/>
          <a:p>
            <a:r>
              <a:rPr lang="en-US" dirty="0"/>
              <a:t>Step – Iteration 2 Simplex Table using </a:t>
            </a:r>
            <a:r>
              <a:rPr lang="en-US" dirty="0">
                <a:solidFill>
                  <a:srgbClr val="FF0000"/>
                </a:solidFill>
              </a:rPr>
              <a:t>DUAL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547" y="1425061"/>
          <a:ext cx="9786815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424"/>
                <a:gridCol w="1236302"/>
                <a:gridCol w="938545"/>
                <a:gridCol w="1087424"/>
                <a:gridCol w="1087424"/>
                <a:gridCol w="1087424"/>
                <a:gridCol w="1087424"/>
                <a:gridCol w="1087424"/>
                <a:gridCol w="1087424"/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  <a:endParaRPr lang="en-US" b="1" dirty="0"/>
                    </a:p>
                  </a:txBody>
                  <a:tcPr anchor="ctr"/>
                </a:tc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202749" y="1557688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-40        0         0 </a:t>
            </a:r>
            <a:endParaRPr lang="en-US" sz="2400" i="1" dirty="0"/>
          </a:p>
        </p:txBody>
      </p:sp>
      <p:sp>
        <p:nvSpPr>
          <p:cNvPr id="11" name="Rectangle 10"/>
          <p:cNvSpPr/>
          <p:nvPr/>
        </p:nvSpPr>
        <p:spPr>
          <a:xfrm>
            <a:off x="3202748" y="2232416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x3       s1         s2 </a:t>
            </a:r>
            <a:endParaRPr lang="en-US" sz="2400" i="1" dirty="0"/>
          </a:p>
        </p:txBody>
      </p:sp>
      <p:sp>
        <p:nvSpPr>
          <p:cNvPr id="12" name="Rectangle 11"/>
          <p:cNvSpPr/>
          <p:nvPr/>
        </p:nvSpPr>
        <p:spPr>
          <a:xfrm>
            <a:off x="3202748" y="2864167"/>
            <a:ext cx="6032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0          1          1          1         -1         15</a:t>
            </a:r>
            <a:endParaRPr lang="en-US" sz="2400" i="1" dirty="0"/>
          </a:p>
        </p:txBody>
      </p:sp>
      <p:sp>
        <p:nvSpPr>
          <p:cNvPr id="13" name="Rectangle 12"/>
          <p:cNvSpPr/>
          <p:nvPr/>
        </p:nvSpPr>
        <p:spPr>
          <a:xfrm>
            <a:off x="763190" y="861454"/>
            <a:ext cx="90056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5FCBEF"/>
              </a:buClr>
              <a:buSzPct val="80000"/>
            </a:pPr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Maximize </a:t>
            </a:r>
            <a:r>
              <a:rPr lang="en-US" sz="2800" b="1" i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Z = </a:t>
            </a:r>
            <a:r>
              <a:rPr lang="en-US" sz="2800" b="1" i="1" dirty="0"/>
              <a:t>50 x1 + 20 x2 – 40 x3 + 0 s1 + 0 s2</a:t>
            </a:r>
            <a:endParaRPr lang="en-US" sz="2800" b="1" i="1" dirty="0">
              <a:solidFill>
                <a:prstClr val="black">
                  <a:lumMod val="75000"/>
                  <a:lumOff val="25000"/>
                </a:prstClr>
              </a:solidFill>
              <a:highlight>
                <a:srgbClr val="FFFF00"/>
              </a:highligh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138681" y="197581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974805" y="157080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95371" y="280611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  <a:endParaRPr lang="en-US" sz="2400" i="1" dirty="0"/>
          </a:p>
        </p:txBody>
      </p:sp>
      <p:sp>
        <p:nvSpPr>
          <p:cNvPr id="23" name="Rectangle 22"/>
          <p:cNvSpPr/>
          <p:nvPr/>
        </p:nvSpPr>
        <p:spPr>
          <a:xfrm>
            <a:off x="2174967" y="343416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</a:t>
            </a:r>
            <a:endParaRPr lang="en-US" sz="2400" i="1" dirty="0"/>
          </a:p>
        </p:txBody>
      </p:sp>
      <p:sp>
        <p:nvSpPr>
          <p:cNvPr id="24" name="Rectangle 23"/>
          <p:cNvSpPr/>
          <p:nvPr/>
        </p:nvSpPr>
        <p:spPr>
          <a:xfrm>
            <a:off x="1093649" y="277376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20</a:t>
            </a:r>
            <a:endParaRPr lang="en-US" sz="2400" i="1" dirty="0"/>
          </a:p>
        </p:txBody>
      </p:sp>
      <p:sp>
        <p:nvSpPr>
          <p:cNvPr id="25" name="Rectangle 24"/>
          <p:cNvSpPr/>
          <p:nvPr/>
        </p:nvSpPr>
        <p:spPr>
          <a:xfrm>
            <a:off x="1071874" y="339062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50</a:t>
            </a:r>
            <a:endParaRPr lang="en-US" sz="2400" i="1" dirty="0"/>
          </a:p>
        </p:txBody>
      </p:sp>
      <p:sp>
        <p:nvSpPr>
          <p:cNvPr id="27" name="Rectangle 26"/>
          <p:cNvSpPr/>
          <p:nvPr/>
        </p:nvSpPr>
        <p:spPr>
          <a:xfrm>
            <a:off x="3151946" y="3408450"/>
            <a:ext cx="6235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0         -1         0         1          10 </a:t>
            </a:r>
            <a:endParaRPr lang="en-US" sz="2400" i="1" dirty="0"/>
          </a:p>
        </p:txBody>
      </p:sp>
      <p:sp>
        <p:nvSpPr>
          <p:cNvPr id="28" name="Rectangle 27"/>
          <p:cNvSpPr/>
          <p:nvPr/>
        </p:nvSpPr>
        <p:spPr>
          <a:xfrm>
            <a:off x="2161819" y="396840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1" name="Rectangle 30"/>
          <p:cNvSpPr/>
          <p:nvPr/>
        </p:nvSpPr>
        <p:spPr>
          <a:xfrm>
            <a:off x="3130178" y="3981761"/>
            <a:ext cx="6257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-30        20       30        800</a:t>
            </a:r>
            <a:endParaRPr lang="en-US" sz="2400" i="1" dirty="0"/>
          </a:p>
        </p:txBody>
      </p:sp>
      <p:sp>
        <p:nvSpPr>
          <p:cNvPr id="32" name="Rectangle 31"/>
          <p:cNvSpPr/>
          <p:nvPr/>
        </p:nvSpPr>
        <p:spPr>
          <a:xfrm>
            <a:off x="1899195" y="445704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/>
          <p:cNvSpPr/>
          <p:nvPr/>
        </p:nvSpPr>
        <p:spPr>
          <a:xfrm>
            <a:off x="3130178" y="4471560"/>
            <a:ext cx="6105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0         -10       -20     -30</a:t>
            </a:r>
            <a:endParaRPr lang="en-US" sz="2400" i="1" dirty="0"/>
          </a:p>
        </p:txBody>
      </p:sp>
      <p:sp>
        <p:nvSpPr>
          <p:cNvPr id="29" name="Content Placeholder 2"/>
          <p:cNvSpPr>
            <a:spLocks noGrp="1"/>
          </p:cNvSpPr>
          <p:nvPr>
            <p:ph idx="1"/>
          </p:nvPr>
        </p:nvSpPr>
        <p:spPr>
          <a:xfrm>
            <a:off x="309173" y="5399503"/>
            <a:ext cx="4059019" cy="10660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For Maximization All </a:t>
            </a:r>
            <a:r>
              <a:rPr lang="en-US" sz="3200" dirty="0" err="1"/>
              <a:t>Cj</a:t>
            </a:r>
            <a:r>
              <a:rPr lang="en-US" sz="3200" dirty="0"/>
              <a:t> – </a:t>
            </a:r>
            <a:r>
              <a:rPr lang="en-US" sz="3200" dirty="0" err="1"/>
              <a:t>Zj</a:t>
            </a:r>
            <a:r>
              <a:rPr lang="en-US" sz="3200" dirty="0"/>
              <a:t> &lt;= 0</a:t>
            </a:r>
            <a:endParaRPr lang="en-US" dirty="0"/>
          </a:p>
        </p:txBody>
      </p:sp>
      <p:sp>
        <p:nvSpPr>
          <p:cNvPr id="30" name="Rectangle 29"/>
          <p:cNvSpPr/>
          <p:nvPr/>
        </p:nvSpPr>
        <p:spPr>
          <a:xfrm>
            <a:off x="6350808" y="5137025"/>
            <a:ext cx="56177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New x2 = old values / Key Element </a:t>
            </a:r>
            <a:endParaRPr lang="en-US" sz="2400" i="1" dirty="0"/>
          </a:p>
        </p:txBody>
      </p:sp>
      <p:grpSp>
        <p:nvGrpSpPr>
          <p:cNvPr id="40" name="Group 39"/>
          <p:cNvGrpSpPr/>
          <p:nvPr/>
        </p:nvGrpSpPr>
        <p:grpSpPr>
          <a:xfrm>
            <a:off x="4233633" y="5720922"/>
            <a:ext cx="7351857" cy="973216"/>
            <a:chOff x="4314689" y="5456608"/>
            <a:chExt cx="7848280" cy="1027625"/>
          </a:xfrm>
        </p:grpSpPr>
        <p:sp>
          <p:nvSpPr>
            <p:cNvPr id="41" name="Rectangle 40"/>
            <p:cNvSpPr/>
            <p:nvPr/>
          </p:nvSpPr>
          <p:spPr>
            <a:xfrm>
              <a:off x="4314689" y="5723475"/>
              <a:ext cx="2719655" cy="4874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i="1" dirty="0"/>
                <a:t>New x1 </a:t>
              </a:r>
              <a:r>
                <a:rPr lang="en-US" sz="1600" i="1" dirty="0"/>
                <a:t>=Old Value -</a:t>
              </a:r>
              <a:endParaRPr lang="en-US" sz="1600" i="1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807194" y="5456608"/>
              <a:ext cx="53557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i="1" dirty="0"/>
                <a:t>Corresponding Key Column Value X Corresponding Key Row Value  </a:t>
              </a:r>
              <a:endParaRPr lang="en-US" sz="1600" i="1" dirty="0"/>
            </a:p>
          </p:txBody>
        </p:sp>
        <p:cxnSp>
          <p:nvCxnSpPr>
            <p:cNvPr id="43" name="Straight Connector 42"/>
            <p:cNvCxnSpPr/>
            <p:nvPr/>
          </p:nvCxnSpPr>
          <p:spPr>
            <a:xfrm>
              <a:off x="6894286" y="6041383"/>
              <a:ext cx="4963885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Rectangle 43"/>
            <p:cNvSpPr/>
            <p:nvPr/>
          </p:nvSpPr>
          <p:spPr>
            <a:xfrm>
              <a:off x="7910733" y="6145679"/>
              <a:ext cx="2191207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i="1" dirty="0"/>
                <a:t>Key Element Value</a:t>
              </a:r>
              <a:endParaRPr lang="en-US" sz="1600" i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3" grpId="1"/>
      <p:bldP spid="22" grpId="0"/>
      <p:bldP spid="23" grpId="0"/>
      <p:bldP spid="24" grpId="0"/>
      <p:bldP spid="25" grpId="0"/>
      <p:bldP spid="27" grpId="0"/>
      <p:bldP spid="28" grpId="0"/>
      <p:bldP spid="31" grpId="0"/>
      <p:bldP spid="32" grpId="0"/>
      <p:bldP spid="33" grpId="0"/>
      <p:bldP spid="29" grpId="0" build="p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86043"/>
            <a:ext cx="8596668" cy="853440"/>
          </a:xfrm>
        </p:spPr>
        <p:txBody>
          <a:bodyPr/>
          <a:lstStyle/>
          <a:p>
            <a:r>
              <a:rPr lang="en-US" dirty="0"/>
              <a:t>Final Optimality</a:t>
            </a:r>
            <a:endParaRPr lang="en-US" dirty="0"/>
          </a:p>
        </p:txBody>
      </p:sp>
      <p:sp>
        <p:nvSpPr>
          <p:cNvPr id="72" name="Content Placeholder 2"/>
          <p:cNvSpPr txBox="1"/>
          <p:nvPr/>
        </p:nvSpPr>
        <p:spPr>
          <a:xfrm>
            <a:off x="1344700" y="4773308"/>
            <a:ext cx="7445202" cy="1659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 x1 = 10</a:t>
            </a:r>
            <a:endParaRPr lang="en-US" sz="2800" dirty="0"/>
          </a:p>
          <a:p>
            <a:r>
              <a:rPr lang="en-US" sz="2800" dirty="0"/>
              <a:t> x2 = 15</a:t>
            </a:r>
            <a:endParaRPr lang="en-US" sz="2800" dirty="0"/>
          </a:p>
          <a:p>
            <a:r>
              <a:rPr lang="en-US" sz="2800" i="1" dirty="0"/>
              <a:t> Z = 800</a:t>
            </a:r>
            <a:endParaRPr lang="en-US" sz="2800" i="1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13547" y="998341"/>
          <a:ext cx="9786815" cy="35765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424"/>
                <a:gridCol w="1236302"/>
                <a:gridCol w="938545"/>
                <a:gridCol w="1087424"/>
                <a:gridCol w="1087424"/>
                <a:gridCol w="1087424"/>
                <a:gridCol w="1087424"/>
                <a:gridCol w="1087424"/>
                <a:gridCol w="1087424"/>
              </a:tblGrid>
              <a:tr h="66549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 Bi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 </a:t>
                      </a:r>
                      <a:r>
                        <a:rPr lang="en-US" b="1" dirty="0" err="1"/>
                        <a:t>Cj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Solution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Ratio</a:t>
                      </a:r>
                      <a:endParaRPr lang="en-US" b="1" dirty="0"/>
                    </a:p>
                  </a:txBody>
                  <a:tcPr anchor="ctr"/>
                </a:tc>
              </a:tr>
              <a:tr h="708611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Basic Variables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6204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        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493486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6605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  <a:tr h="522514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3202749" y="1130968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-40        0         0 </a:t>
            </a:r>
            <a:endParaRPr lang="en-US" sz="2400" i="1" dirty="0"/>
          </a:p>
        </p:txBody>
      </p:sp>
      <p:sp>
        <p:nvSpPr>
          <p:cNvPr id="23" name="Rectangle 22"/>
          <p:cNvSpPr/>
          <p:nvPr/>
        </p:nvSpPr>
        <p:spPr>
          <a:xfrm>
            <a:off x="3202748" y="1805696"/>
            <a:ext cx="5104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x1        x2         x3       s1         s2 </a:t>
            </a:r>
            <a:endParaRPr lang="en-US" sz="2400" i="1" dirty="0"/>
          </a:p>
        </p:txBody>
      </p:sp>
      <p:sp>
        <p:nvSpPr>
          <p:cNvPr id="24" name="Rectangle 23"/>
          <p:cNvSpPr/>
          <p:nvPr/>
        </p:nvSpPr>
        <p:spPr>
          <a:xfrm>
            <a:off x="3202748" y="2437447"/>
            <a:ext cx="6032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0          1          1          1         -1         15</a:t>
            </a:r>
            <a:endParaRPr lang="en-US" sz="2400" i="1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138681" y="1549091"/>
            <a:ext cx="68217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974805" y="1144083"/>
            <a:ext cx="0" cy="3048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195371" y="2379390"/>
            <a:ext cx="5687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x2</a:t>
            </a:r>
            <a:endParaRPr lang="en-US" sz="2400" i="1" dirty="0"/>
          </a:p>
        </p:txBody>
      </p:sp>
      <p:sp>
        <p:nvSpPr>
          <p:cNvPr id="28" name="Rectangle 27"/>
          <p:cNvSpPr/>
          <p:nvPr/>
        </p:nvSpPr>
        <p:spPr>
          <a:xfrm>
            <a:off x="2174967" y="3007444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x1</a:t>
            </a:r>
            <a:endParaRPr lang="en-US" sz="2400" i="1" dirty="0"/>
          </a:p>
        </p:txBody>
      </p:sp>
      <p:sp>
        <p:nvSpPr>
          <p:cNvPr id="29" name="Rectangle 28"/>
          <p:cNvSpPr/>
          <p:nvPr/>
        </p:nvSpPr>
        <p:spPr>
          <a:xfrm>
            <a:off x="1093649" y="2347047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20</a:t>
            </a:r>
            <a:endParaRPr lang="en-US" sz="2400" i="1" dirty="0"/>
          </a:p>
        </p:txBody>
      </p:sp>
      <p:sp>
        <p:nvSpPr>
          <p:cNvPr id="30" name="Rectangle 29"/>
          <p:cNvSpPr/>
          <p:nvPr/>
        </p:nvSpPr>
        <p:spPr>
          <a:xfrm>
            <a:off x="1071874" y="2963905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50</a:t>
            </a:r>
            <a:endParaRPr lang="en-US" sz="2400" i="1" dirty="0"/>
          </a:p>
        </p:txBody>
      </p:sp>
      <p:sp>
        <p:nvSpPr>
          <p:cNvPr id="31" name="Rectangle 30"/>
          <p:cNvSpPr/>
          <p:nvPr/>
        </p:nvSpPr>
        <p:spPr>
          <a:xfrm>
            <a:off x="3151946" y="2981730"/>
            <a:ext cx="62358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1          0         -1         0         1          10 </a:t>
            </a:r>
            <a:endParaRPr lang="en-US" sz="2400" i="1" dirty="0"/>
          </a:p>
        </p:txBody>
      </p:sp>
      <p:sp>
        <p:nvSpPr>
          <p:cNvPr id="32" name="Rectangle 31"/>
          <p:cNvSpPr/>
          <p:nvPr/>
        </p:nvSpPr>
        <p:spPr>
          <a:xfrm>
            <a:off x="2161819" y="3541683"/>
            <a:ext cx="545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3" name="Rectangle 32"/>
          <p:cNvSpPr/>
          <p:nvPr/>
        </p:nvSpPr>
        <p:spPr>
          <a:xfrm>
            <a:off x="3130178" y="3555041"/>
            <a:ext cx="62576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50        20        -30        20       30        800</a:t>
            </a:r>
            <a:endParaRPr lang="en-US" sz="2400" i="1" dirty="0"/>
          </a:p>
        </p:txBody>
      </p:sp>
      <p:sp>
        <p:nvSpPr>
          <p:cNvPr id="34" name="Rectangle 33"/>
          <p:cNvSpPr/>
          <p:nvPr/>
        </p:nvSpPr>
        <p:spPr>
          <a:xfrm>
            <a:off x="1899195" y="4030327"/>
            <a:ext cx="1211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Cj</a:t>
            </a:r>
            <a:r>
              <a:rPr lang="en-US" sz="2400" i="1" dirty="0"/>
              <a:t> - </a:t>
            </a:r>
            <a:r>
              <a:rPr lang="en-US" sz="2400" i="1" dirty="0" err="1"/>
              <a:t>Zj</a:t>
            </a:r>
            <a:endParaRPr lang="en-US" sz="2400" i="1" dirty="0"/>
          </a:p>
        </p:txBody>
      </p:sp>
      <p:sp>
        <p:nvSpPr>
          <p:cNvPr id="35" name="Rectangle 34"/>
          <p:cNvSpPr/>
          <p:nvPr/>
        </p:nvSpPr>
        <p:spPr>
          <a:xfrm>
            <a:off x="3130178" y="4044840"/>
            <a:ext cx="61052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/>
              <a:t>  0          0         -10       -20     -30</a:t>
            </a:r>
            <a:endParaRPr lang="en-US" sz="2400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E71CFA69A98247845C383A00253C40" ma:contentTypeVersion="2" ma:contentTypeDescription="Create a new document." ma:contentTypeScope="" ma:versionID="f72964e7bbe5712c818c7fedd9512191">
  <xsd:schema xmlns:xsd="http://www.w3.org/2001/XMLSchema" xmlns:xs="http://www.w3.org/2001/XMLSchema" xmlns:p="http://schemas.microsoft.com/office/2006/metadata/properties" xmlns:ns2="df63d6c3-3097-4dac-9e01-3e35a00a78b2" targetNamespace="http://schemas.microsoft.com/office/2006/metadata/properties" ma:root="true" ma:fieldsID="ddd1b32bd9dd0fd619750b9a6d7097df" ns2:_="">
    <xsd:import namespace="df63d6c3-3097-4dac-9e01-3e35a00a78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3d6c3-3097-4dac-9e01-3e35a00a78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6F2754D-0437-4049-B710-48CB5F6BD1E0}">
  <ds:schemaRefs/>
</ds:datastoreItem>
</file>

<file path=customXml/itemProps2.xml><?xml version="1.0" encoding="utf-8"?>
<ds:datastoreItem xmlns:ds="http://schemas.openxmlformats.org/officeDocument/2006/customXml" ds:itemID="{8817E315-1316-4DC1-A2F9-E71899B03186}">
  <ds:schemaRefs/>
</ds:datastoreItem>
</file>

<file path=customXml/itemProps3.xml><?xml version="1.0" encoding="utf-8"?>
<ds:datastoreItem xmlns:ds="http://schemas.openxmlformats.org/officeDocument/2006/customXml" ds:itemID="{7AF79E7E-EC10-4107-A437-58B919E447E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5331</Words>
  <Application>WPS Presentation</Application>
  <PresentationFormat>Widescreen</PresentationFormat>
  <Paragraphs>416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Wingdings 3</vt:lpstr>
      <vt:lpstr>Arial</vt:lpstr>
      <vt:lpstr>Trebuchet MS</vt:lpstr>
      <vt:lpstr>Microsoft YaHei</vt:lpstr>
      <vt:lpstr>Arial Unicode MS</vt:lpstr>
      <vt:lpstr>Calibri</vt:lpstr>
      <vt:lpstr>Facet</vt:lpstr>
      <vt:lpstr>OPERATIONAL RESEARCH</vt:lpstr>
      <vt:lpstr>Duality</vt:lpstr>
      <vt:lpstr>Points to be NOTED</vt:lpstr>
      <vt:lpstr>Example – Primal to DUAL</vt:lpstr>
      <vt:lpstr>Note</vt:lpstr>
      <vt:lpstr>Example – Solve DUAL using Simplex Method</vt:lpstr>
      <vt:lpstr>Simplex Method</vt:lpstr>
      <vt:lpstr>Step – Develop Simplex Table using DUAL </vt:lpstr>
      <vt:lpstr>Step – Iteration 2 Simplex Table using DUAL </vt:lpstr>
      <vt:lpstr>Step – Iteration 2 Simplex Table using DUAL </vt:lpstr>
      <vt:lpstr>Step – Iteration 2 Simplex Table using DUAL </vt:lpstr>
      <vt:lpstr>Final Optimality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ankit</cp:lastModifiedBy>
  <cp:revision>918</cp:revision>
  <dcterms:created xsi:type="dcterms:W3CDTF">2019-07-10T03:56:00Z</dcterms:created>
  <dcterms:modified xsi:type="dcterms:W3CDTF">2026-07-31T06:31:29Z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0x0101008BE71CFA69A98247845C383A00253C40</vt:lpwstr>
  </property>
  <property fmtid="{D5CDD505-2E9C-101B-9397-08002B2CF9AE}" pid="3" name="Order">
    <vt:r8>1592800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ICV">
    <vt:lpwstr>A2CF8C6C50EC4BC4A5B80356DC72817A_12</vt:lpwstr>
  </property>
  <property fmtid="{D5CDD505-2E9C-101B-9397-08002B2CF9AE}" pid="10" name="KSOProductBuildVer">
    <vt:lpwstr>2057-12.2.0.23206</vt:lpwstr>
  </property>
</Properties>
</file>