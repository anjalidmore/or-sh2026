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 id="2147483650" r:id="rId4"/>
    <p:sldMasterId id="2147483652" r:id="rId5"/>
    <p:sldMasterId id="2147483654" r:id="rId6"/>
    <p:sldMasterId id="2147483656" r:id="rId7"/>
    <p:sldMasterId id="2147483658" r:id="rId8"/>
    <p:sldMasterId id="2147483660" r:id="rId9"/>
    <p:sldMasterId id="2147483662" r:id="rId10"/>
    <p:sldMasterId id="2147483664" r:id="rId11"/>
    <p:sldMasterId id="2147483666"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Lst>
  <p:sldSz cy="5143500" cx="9144000"/>
  <p:notesSz cx="6858000" cy="9144000"/>
  <p:embeddedFontLst>
    <p:embeddedFont>
      <p:font typeface="Robot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4" roundtripDataSignature="AMtx7mhmgG5Dy413ngYBdI4w7iAwsFOn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Roboto-regular.fntdata"/><Relationship Id="rId20" Type="http://schemas.openxmlformats.org/officeDocument/2006/relationships/slide" Target="slides/slide7.xml"/><Relationship Id="rId42" Type="http://schemas.openxmlformats.org/officeDocument/2006/relationships/font" Target="fonts/Roboto-italic.fntdata"/><Relationship Id="rId41" Type="http://schemas.openxmlformats.org/officeDocument/2006/relationships/font" Target="fonts/Roboto-bold.fntdata"/><Relationship Id="rId22" Type="http://schemas.openxmlformats.org/officeDocument/2006/relationships/slide" Target="slides/slide9.xml"/><Relationship Id="rId44" Type="http://customschemas.google.com/relationships/presentationmetadata" Target="metadata"/><Relationship Id="rId21" Type="http://schemas.openxmlformats.org/officeDocument/2006/relationships/slide" Target="slides/slide8.xml"/><Relationship Id="rId43" Type="http://schemas.openxmlformats.org/officeDocument/2006/relationships/font" Target="fonts/Roboto-boldItalic.fntdata"/><Relationship Id="rId24" Type="http://schemas.openxmlformats.org/officeDocument/2006/relationships/slide" Target="slides/slide11.xml"/><Relationship Id="rId23" Type="http://schemas.openxmlformats.org/officeDocument/2006/relationships/slide" Target="slides/slide1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Master" Target="slideMasters/slideMaster7.xml"/><Relationship Id="rId26" Type="http://schemas.openxmlformats.org/officeDocument/2006/relationships/slide" Target="slides/slide13.xml"/><Relationship Id="rId25" Type="http://schemas.openxmlformats.org/officeDocument/2006/relationships/slide" Target="slides/slide12.xml"/><Relationship Id="rId28" Type="http://schemas.openxmlformats.org/officeDocument/2006/relationships/slide" Target="slides/slide15.xml"/><Relationship Id="rId27" Type="http://schemas.openxmlformats.org/officeDocument/2006/relationships/slide" Target="slides/slide14.xml"/><Relationship Id="rId5" Type="http://schemas.openxmlformats.org/officeDocument/2006/relationships/slideMaster" Target="slideMasters/slideMaster3.xml"/><Relationship Id="rId6" Type="http://schemas.openxmlformats.org/officeDocument/2006/relationships/slideMaster" Target="slideMasters/slideMaster4.xml"/><Relationship Id="rId29" Type="http://schemas.openxmlformats.org/officeDocument/2006/relationships/slide" Target="slides/slide16.xml"/><Relationship Id="rId7" Type="http://schemas.openxmlformats.org/officeDocument/2006/relationships/slideMaster" Target="slideMasters/slideMaster5.xml"/><Relationship Id="rId8" Type="http://schemas.openxmlformats.org/officeDocument/2006/relationships/slideMaster" Target="slideMasters/slideMaster6.xml"/><Relationship Id="rId31" Type="http://schemas.openxmlformats.org/officeDocument/2006/relationships/slide" Target="slides/slide18.xml"/><Relationship Id="rId30" Type="http://schemas.openxmlformats.org/officeDocument/2006/relationships/slide" Target="slides/slide17.xml"/><Relationship Id="rId11" Type="http://schemas.openxmlformats.org/officeDocument/2006/relationships/slideMaster" Target="slideMasters/slideMaster9.xml"/><Relationship Id="rId33" Type="http://schemas.openxmlformats.org/officeDocument/2006/relationships/slide" Target="slides/slide20.xml"/><Relationship Id="rId10" Type="http://schemas.openxmlformats.org/officeDocument/2006/relationships/slideMaster" Target="slideMasters/slideMaster8.xml"/><Relationship Id="rId32" Type="http://schemas.openxmlformats.org/officeDocument/2006/relationships/slide" Target="slides/slide19.xml"/><Relationship Id="rId13" Type="http://schemas.openxmlformats.org/officeDocument/2006/relationships/notesMaster" Target="notesMasters/notesMaster1.xml"/><Relationship Id="rId35" Type="http://schemas.openxmlformats.org/officeDocument/2006/relationships/slide" Target="slides/slide22.xml"/><Relationship Id="rId12" Type="http://schemas.openxmlformats.org/officeDocument/2006/relationships/slideMaster" Target="slideMasters/slideMaster10.xml"/><Relationship Id="rId34" Type="http://schemas.openxmlformats.org/officeDocument/2006/relationships/slide" Target="slides/slide21.xml"/><Relationship Id="rId15" Type="http://schemas.openxmlformats.org/officeDocument/2006/relationships/slide" Target="slides/slide2.xml"/><Relationship Id="rId37" Type="http://schemas.openxmlformats.org/officeDocument/2006/relationships/slide" Target="slides/slide24.xml"/><Relationship Id="rId14" Type="http://schemas.openxmlformats.org/officeDocument/2006/relationships/slide" Target="slides/slide1.xml"/><Relationship Id="rId36" Type="http://schemas.openxmlformats.org/officeDocument/2006/relationships/slide" Target="slides/slide23.xml"/><Relationship Id="rId17" Type="http://schemas.openxmlformats.org/officeDocument/2006/relationships/slide" Target="slides/slide4.xml"/><Relationship Id="rId39" Type="http://schemas.openxmlformats.org/officeDocument/2006/relationships/slide" Target="slides/slide26.xml"/><Relationship Id="rId16" Type="http://schemas.openxmlformats.org/officeDocument/2006/relationships/slide" Target="slides/slide3.xml"/><Relationship Id="rId38" Type="http://schemas.openxmlformats.org/officeDocument/2006/relationships/slide" Target="slides/slide25.xml"/><Relationship Id="rId19" Type="http://schemas.openxmlformats.org/officeDocument/2006/relationships/slide" Target="slides/slide6.xml"/><Relationship Id="rId1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spTree>
      <p:nvGrpSpPr>
        <p:cNvPr id="11" name="Shape 11"/>
        <p:cNvGrpSpPr/>
        <p:nvPr/>
      </p:nvGrpSpPr>
      <p:grpSpPr>
        <a:xfrm>
          <a:off x="0" y="0"/>
          <a:ext cx="0" cy="0"/>
          <a:chOff x="0" y="0"/>
          <a:chExt cx="0" cy="0"/>
        </a:xfrm>
      </p:grpSpPr>
      <p:sp>
        <p:nvSpPr>
          <p:cNvPr id="12" name="Google Shape;12;p28"/>
          <p:cNvSpPr txBox="1"/>
          <p:nvPr>
            <p:ph type="title"/>
          </p:nvPr>
        </p:nvSpPr>
        <p:spPr>
          <a:xfrm>
            <a:off x="98280" y="16200"/>
            <a:ext cx="8826120" cy="60228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8"/>
          <p:cNvSpPr txBox="1"/>
          <p:nvPr>
            <p:ph idx="1" type="subTitle"/>
          </p:nvPr>
        </p:nvSpPr>
        <p:spPr>
          <a:xfrm>
            <a:off x="457200" y="1203480"/>
            <a:ext cx="8229240" cy="2982960"/>
          </a:xfrm>
          <a:prstGeom prst="rect">
            <a:avLst/>
          </a:prstGeom>
          <a:noFill/>
          <a:ln>
            <a:noFill/>
          </a:ln>
        </p:spPr>
        <p:txBody>
          <a:bodyPr anchorCtr="0" anchor="ctr" bIns="0" lIns="0" spcFirstLastPara="1" rIns="0" wrap="square" tIns="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p:txBody>
      </p:sp>
      <p:sp>
        <p:nvSpPr>
          <p:cNvPr id="14" name="Google Shape;14;p28"/>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30"/>
          <p:cNvSpPr txBox="1"/>
          <p:nvPr>
            <p:ph type="title"/>
          </p:nvPr>
        </p:nvSpPr>
        <p:spPr>
          <a:xfrm>
            <a:off x="98280" y="16200"/>
            <a:ext cx="8826120" cy="60228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0"/>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32"/>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BODY" type="tx">
  <p:cSld name="TITLE_AND_BODY">
    <p:spTree>
      <p:nvGrpSpPr>
        <p:cNvPr id="34" name="Shape 34"/>
        <p:cNvGrpSpPr/>
        <p:nvPr/>
      </p:nvGrpSpPr>
      <p:grpSpPr>
        <a:xfrm>
          <a:off x="0" y="0"/>
          <a:ext cx="0" cy="0"/>
          <a:chOff x="0" y="0"/>
          <a:chExt cx="0" cy="0"/>
        </a:xfrm>
      </p:grpSpPr>
      <p:sp>
        <p:nvSpPr>
          <p:cNvPr id="35" name="Google Shape;35;p34"/>
          <p:cNvSpPr txBox="1"/>
          <p:nvPr>
            <p:ph type="title"/>
          </p:nvPr>
        </p:nvSpPr>
        <p:spPr>
          <a:xfrm>
            <a:off x="98280" y="16200"/>
            <a:ext cx="8826120" cy="60228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3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34"/>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spTree>
      <p:nvGrpSpPr>
        <p:cNvPr id="45" name="Shape 45"/>
        <p:cNvGrpSpPr/>
        <p:nvPr/>
      </p:nvGrpSpPr>
      <p:grpSpPr>
        <a:xfrm>
          <a:off x="0" y="0"/>
          <a:ext cx="0" cy="0"/>
          <a:chOff x="0" y="0"/>
          <a:chExt cx="0" cy="0"/>
        </a:xfrm>
      </p:grpSpPr>
      <p:sp>
        <p:nvSpPr>
          <p:cNvPr id="46" name="Google Shape;46;p36"/>
          <p:cNvSpPr txBox="1"/>
          <p:nvPr>
            <p:ph type="title"/>
          </p:nvPr>
        </p:nvSpPr>
        <p:spPr>
          <a:xfrm>
            <a:off x="98280" y="16200"/>
            <a:ext cx="8826120" cy="602280"/>
          </a:xfrm>
          <a:prstGeom prst="rect">
            <a:avLst/>
          </a:prstGeom>
          <a:noFill/>
          <a:ln>
            <a:noFill/>
          </a:ln>
        </p:spPr>
        <p:txBody>
          <a:bodyPr anchorCtr="0" anchor="ctr" bIns="0" lIns="0" spcFirstLastPara="1" rIns="0" wrap="square" tIns="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36"/>
          <p:cNvSpPr txBox="1"/>
          <p:nvPr>
            <p:ph idx="1" type="body"/>
          </p:nvPr>
        </p:nvSpPr>
        <p:spPr>
          <a:xfrm>
            <a:off x="457200" y="1203480"/>
            <a:ext cx="4015800" cy="29829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6"/>
          <p:cNvSpPr txBox="1"/>
          <p:nvPr>
            <p:ph idx="2" type="body"/>
          </p:nvPr>
        </p:nvSpPr>
        <p:spPr>
          <a:xfrm>
            <a:off x="4674240" y="1203480"/>
            <a:ext cx="4015800" cy="298296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9" name="Google Shape;49;p36"/>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type="blank">
  <p:cSld name="BLANK">
    <p:spTree>
      <p:nvGrpSpPr>
        <p:cNvPr id="56" name="Shape 56"/>
        <p:cNvGrpSpPr/>
        <p:nvPr/>
      </p:nvGrpSpPr>
      <p:grpSpPr>
        <a:xfrm>
          <a:off x="0" y="0"/>
          <a:ext cx="0" cy="0"/>
          <a:chOff x="0" y="0"/>
          <a:chExt cx="0" cy="0"/>
        </a:xfrm>
      </p:grpSpPr>
      <p:sp>
        <p:nvSpPr>
          <p:cNvPr id="57" name="Google Shape;57;p38"/>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type="blank">
  <p:cSld name="BLANK">
    <p:spTree>
      <p:nvGrpSpPr>
        <p:cNvPr id="61" name="Shape 61"/>
        <p:cNvGrpSpPr/>
        <p:nvPr/>
      </p:nvGrpSpPr>
      <p:grpSpPr>
        <a:xfrm>
          <a:off x="0" y="0"/>
          <a:ext cx="0" cy="0"/>
          <a:chOff x="0" y="0"/>
          <a:chExt cx="0" cy="0"/>
        </a:xfrm>
      </p:grpSpPr>
      <p:sp>
        <p:nvSpPr>
          <p:cNvPr id="62" name="Google Shape;62;p40"/>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1pPr>
            <a:lvl2pPr indent="0" lvl="1"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2pPr>
            <a:lvl3pPr indent="0" lvl="2"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3pPr>
            <a:lvl4pPr indent="0" lvl="3"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4pPr>
            <a:lvl5pPr indent="0" lvl="4"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5pPr>
            <a:lvl6pPr indent="0" lvl="5"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6pPr>
            <a:lvl7pPr indent="0" lvl="6"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7pPr>
            <a:lvl8pPr indent="0" lvl="7"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8pPr>
            <a:lvl9pPr indent="0" lvl="8"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TITLE_AND_DESCRIPTION" type="blank">
  <p:cSld name="BLANK">
    <p:spTree>
      <p:nvGrpSpPr>
        <p:cNvPr id="69" name="Shape 69"/>
        <p:cNvGrpSpPr/>
        <p:nvPr/>
      </p:nvGrpSpPr>
      <p:grpSpPr>
        <a:xfrm>
          <a:off x="0" y="0"/>
          <a:ext cx="0" cy="0"/>
          <a:chOff x="0" y="0"/>
          <a:chExt cx="0" cy="0"/>
        </a:xfrm>
      </p:grpSpPr>
      <p:sp>
        <p:nvSpPr>
          <p:cNvPr id="70" name="Google Shape;70;p42"/>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1pPr>
            <a:lvl2pPr indent="0" lvl="1"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2pPr>
            <a:lvl3pPr indent="0" lvl="2"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3pPr>
            <a:lvl4pPr indent="0" lvl="3"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4pPr>
            <a:lvl5pPr indent="0" lvl="4"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5pPr>
            <a:lvl6pPr indent="0" lvl="5"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6pPr>
            <a:lvl7pPr indent="0" lvl="6"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7pPr>
            <a:lvl8pPr indent="0" lvl="7"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8pPr>
            <a:lvl9pPr indent="0" lvl="8"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_ONLY" type="blank">
  <p:cSld name="BLANK">
    <p:spTree>
      <p:nvGrpSpPr>
        <p:cNvPr id="76" name="Shape 76"/>
        <p:cNvGrpSpPr/>
        <p:nvPr/>
      </p:nvGrpSpPr>
      <p:grpSpPr>
        <a:xfrm>
          <a:off x="0" y="0"/>
          <a:ext cx="0" cy="0"/>
          <a:chOff x="0" y="0"/>
          <a:chExt cx="0" cy="0"/>
        </a:xfrm>
      </p:grpSpPr>
      <p:sp>
        <p:nvSpPr>
          <p:cNvPr id="77" name="Google Shape;77;p44"/>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1pPr>
            <a:lvl2pPr indent="0" lvl="1"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2pPr>
            <a:lvl3pPr indent="0" lvl="2"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3pPr>
            <a:lvl4pPr indent="0" lvl="3"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4pPr>
            <a:lvl5pPr indent="0" lvl="4"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5pPr>
            <a:lvl6pPr indent="0" lvl="5"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6pPr>
            <a:lvl7pPr indent="0" lvl="6"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7pPr>
            <a:lvl8pPr indent="0" lvl="7"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8pPr>
            <a:lvl9pPr indent="0" lvl="8" marL="0" algn="r">
              <a:lnSpc>
                <a:spcPct val="100000"/>
              </a:lnSpc>
              <a:spcBef>
                <a:spcPts val="0"/>
              </a:spcBef>
              <a:buClr>
                <a:schemeClr val="lt1"/>
              </a:buClr>
              <a:buSzPts val="1000"/>
              <a:buFont typeface="Roboto"/>
              <a:buNone/>
              <a:defRPr b="0" sz="1000"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type="blank">
  <p:cSld name="BLANK">
    <p:spTree>
      <p:nvGrpSpPr>
        <p:cNvPr id="82" name="Shape 82"/>
        <p:cNvGrpSpPr/>
        <p:nvPr/>
      </p:nvGrpSpPr>
      <p:grpSpPr>
        <a:xfrm>
          <a:off x="0" y="0"/>
          <a:ext cx="0" cy="0"/>
          <a:chOff x="0" y="0"/>
          <a:chExt cx="0" cy="0"/>
        </a:xfrm>
      </p:grpSpPr>
      <p:sp>
        <p:nvSpPr>
          <p:cNvPr id="83" name="Google Shape;83;p46"/>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1pPr>
            <a:lvl2pPr indent="0" lvl="1"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2pPr>
            <a:lvl3pPr indent="0" lvl="2"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3pPr>
            <a:lvl4pPr indent="0" lvl="3"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4pPr>
            <a:lvl5pPr indent="0" lvl="4"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5pPr>
            <a:lvl6pPr indent="0" lvl="5"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6pPr>
            <a:lvl7pPr indent="0" lvl="6"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7pPr>
            <a:lvl8pPr indent="0" lvl="7"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8pPr>
            <a:lvl9pPr indent="0" lvl="8" marL="0" algn="r">
              <a:lnSpc>
                <a:spcPct val="100000"/>
              </a:lnSpc>
              <a:spcBef>
                <a:spcPts val="0"/>
              </a:spcBef>
              <a:buClr>
                <a:schemeClr val="lt2"/>
              </a:buClr>
              <a:buSzPts val="1000"/>
              <a:buFont typeface="Roboto"/>
              <a:buNone/>
              <a:defRPr b="0" sz="1000"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11.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0.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8.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5.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6.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 name="Shape 5"/>
        <p:cNvGrpSpPr/>
        <p:nvPr/>
      </p:nvGrpSpPr>
      <p:grpSpPr>
        <a:xfrm>
          <a:off x="0" y="0"/>
          <a:ext cx="0" cy="0"/>
          <a:chOff x="0" y="0"/>
          <a:chExt cx="0" cy="0"/>
        </a:xfrm>
      </p:grpSpPr>
      <p:sp>
        <p:nvSpPr>
          <p:cNvPr id="6" name="Google Shape;6;p27"/>
          <p:cNvSpPr/>
          <p:nvPr/>
        </p:nvSpPr>
        <p:spPr>
          <a:xfrm flipH="1">
            <a:off x="8246520" y="4245840"/>
            <a:ext cx="897120" cy="89712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 name="Google Shape;7;p27"/>
          <p:cNvSpPr/>
          <p:nvPr/>
        </p:nvSpPr>
        <p:spPr>
          <a:xfrm flipH="1">
            <a:off x="8246520" y="4245840"/>
            <a:ext cx="897120" cy="89712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 name="Google Shape;8;p27"/>
          <p:cNvSpPr txBox="1"/>
          <p:nvPr>
            <p:ph type="title"/>
          </p:nvPr>
        </p:nvSpPr>
        <p:spPr>
          <a:xfrm>
            <a:off x="390600" y="1819440"/>
            <a:ext cx="8221680" cy="933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 name="Google Shape;9;p27"/>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
        <p:nvSpPr>
          <p:cNvPr id="10" name="Google Shape;10;p27"/>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5" name="Shape 15"/>
        <p:cNvGrpSpPr/>
        <p:nvPr/>
      </p:nvGrpSpPr>
      <p:grpSpPr>
        <a:xfrm>
          <a:off x="0" y="0"/>
          <a:ext cx="0" cy="0"/>
          <a:chOff x="0" y="0"/>
          <a:chExt cx="0" cy="0"/>
        </a:xfrm>
      </p:grpSpPr>
      <p:sp>
        <p:nvSpPr>
          <p:cNvPr id="16" name="Google Shape;16;p29"/>
          <p:cNvSpPr/>
          <p:nvPr/>
        </p:nvSpPr>
        <p:spPr>
          <a:xfrm flipH="1" rot="10800000">
            <a:off x="-360" y="657000"/>
            <a:ext cx="9143640" cy="448668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 name="Google Shape;17;p29"/>
          <p:cNvSpPr/>
          <p:nvPr/>
        </p:nvSpPr>
        <p:spPr>
          <a:xfrm>
            <a:off x="0" y="656280"/>
            <a:ext cx="9143640" cy="108360"/>
          </a:xfrm>
          <a:prstGeom prst="rect">
            <a:avLst/>
          </a:prstGeom>
          <a:gradFill>
            <a:gsLst>
              <a:gs pos="0">
                <a:srgbClr val="F9F9F9"/>
              </a:gs>
              <a:gs pos="36000">
                <a:srgbClr val="F9F9F9"/>
              </a:gs>
              <a:gs pos="80000">
                <a:srgbClr val="DEDEDE"/>
              </a:gs>
              <a:gs pos="100000">
                <a:srgbClr val="999999"/>
              </a:gs>
            </a:gsLst>
            <a:lin ang="16200000" scaled="0"/>
          </a:gradFill>
          <a:ln>
            <a:noFill/>
          </a:ln>
        </p:spPr>
        <p:txBody>
          <a:bodyPr anchorCtr="0" anchor="ctr" bIns="54350" lIns="91425" spcFirstLastPara="1" rIns="91425" wrap="square" tIns="5435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 name="Google Shape;18;p29"/>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9" name="Google Shape;19;p29"/>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
        <p:nvSpPr>
          <p:cNvPr id="20" name="Google Shape;20;p29"/>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24" name="Shape 24"/>
        <p:cNvGrpSpPr/>
        <p:nvPr/>
      </p:nvGrpSpPr>
      <p:grpSpPr>
        <a:xfrm>
          <a:off x="0" y="0"/>
          <a:ext cx="0" cy="0"/>
          <a:chOff x="0" y="0"/>
          <a:chExt cx="0" cy="0"/>
        </a:xfrm>
      </p:grpSpPr>
      <p:sp>
        <p:nvSpPr>
          <p:cNvPr id="25" name="Google Shape;25;p31"/>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8" name="Shape 28"/>
        <p:cNvGrpSpPr/>
        <p:nvPr/>
      </p:nvGrpSpPr>
      <p:grpSpPr>
        <a:xfrm>
          <a:off x="0" y="0"/>
          <a:ext cx="0" cy="0"/>
          <a:chOff x="0" y="0"/>
          <a:chExt cx="0" cy="0"/>
        </a:xfrm>
      </p:grpSpPr>
      <p:sp>
        <p:nvSpPr>
          <p:cNvPr id="29" name="Google Shape;29;p33"/>
          <p:cNvSpPr/>
          <p:nvPr/>
        </p:nvSpPr>
        <p:spPr>
          <a:xfrm flipH="1" rot="10800000">
            <a:off x="-360" y="1686600"/>
            <a:ext cx="9143640" cy="345708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 name="Google Shape;30;p33"/>
          <p:cNvSpPr/>
          <p:nvPr/>
        </p:nvSpPr>
        <p:spPr>
          <a:xfrm>
            <a:off x="0" y="1685880"/>
            <a:ext cx="9143640" cy="108360"/>
          </a:xfrm>
          <a:prstGeom prst="rect">
            <a:avLst/>
          </a:prstGeom>
          <a:gradFill>
            <a:gsLst>
              <a:gs pos="0">
                <a:srgbClr val="F9F9F9"/>
              </a:gs>
              <a:gs pos="36000">
                <a:srgbClr val="F9F9F9"/>
              </a:gs>
              <a:gs pos="80000">
                <a:srgbClr val="DEDEDE"/>
              </a:gs>
              <a:gs pos="100000">
                <a:srgbClr val="999999"/>
              </a:gs>
            </a:gsLst>
            <a:lin ang="16200000" scaled="0"/>
          </a:gradFill>
          <a:ln>
            <a:noFill/>
          </a:ln>
        </p:spPr>
        <p:txBody>
          <a:bodyPr anchorCtr="0" anchor="ctr" bIns="54350" lIns="91425" spcFirstLastPara="1" rIns="91425" wrap="square" tIns="5435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 name="Google Shape;31;p33"/>
          <p:cNvSpPr txBox="1"/>
          <p:nvPr>
            <p:ph type="title"/>
          </p:nvPr>
        </p:nvSpPr>
        <p:spPr>
          <a:xfrm>
            <a:off x="471960" y="738720"/>
            <a:ext cx="8221680" cy="7675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2" name="Google Shape;32;p33"/>
          <p:cNvSpPr txBox="1"/>
          <p:nvPr>
            <p:ph idx="1" type="body"/>
          </p:nvPr>
        </p:nvSpPr>
        <p:spPr>
          <a:xfrm>
            <a:off x="471960" y="1919160"/>
            <a:ext cx="8221680" cy="27097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33" name="Google Shape;33;p33"/>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8" name="Shape 38"/>
        <p:cNvGrpSpPr/>
        <p:nvPr/>
      </p:nvGrpSpPr>
      <p:grpSpPr>
        <a:xfrm>
          <a:off x="0" y="0"/>
          <a:ext cx="0" cy="0"/>
          <a:chOff x="0" y="0"/>
          <a:chExt cx="0" cy="0"/>
        </a:xfrm>
      </p:grpSpPr>
      <p:sp>
        <p:nvSpPr>
          <p:cNvPr id="39" name="Google Shape;39;p35"/>
          <p:cNvSpPr/>
          <p:nvPr/>
        </p:nvSpPr>
        <p:spPr>
          <a:xfrm flipH="1" rot="10800000">
            <a:off x="-360" y="1686600"/>
            <a:ext cx="9143640" cy="345708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 name="Google Shape;40;p35"/>
          <p:cNvSpPr/>
          <p:nvPr/>
        </p:nvSpPr>
        <p:spPr>
          <a:xfrm>
            <a:off x="0" y="1685880"/>
            <a:ext cx="9143640" cy="108360"/>
          </a:xfrm>
          <a:prstGeom prst="rect">
            <a:avLst/>
          </a:prstGeom>
          <a:gradFill>
            <a:gsLst>
              <a:gs pos="0">
                <a:srgbClr val="F9F9F9"/>
              </a:gs>
              <a:gs pos="36000">
                <a:srgbClr val="F9F9F9"/>
              </a:gs>
              <a:gs pos="80000">
                <a:srgbClr val="DEDEDE"/>
              </a:gs>
              <a:gs pos="100000">
                <a:srgbClr val="999999"/>
              </a:gs>
            </a:gsLst>
            <a:lin ang="16200000" scaled="0"/>
          </a:gradFill>
          <a:ln>
            <a:noFill/>
          </a:ln>
        </p:spPr>
        <p:txBody>
          <a:bodyPr anchorCtr="0" anchor="ctr" bIns="54350" lIns="91425" spcFirstLastPara="1" rIns="91425" wrap="square" tIns="5435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 name="Google Shape;41;p35"/>
          <p:cNvSpPr txBox="1"/>
          <p:nvPr>
            <p:ph type="title"/>
          </p:nvPr>
        </p:nvSpPr>
        <p:spPr>
          <a:xfrm>
            <a:off x="471960" y="738720"/>
            <a:ext cx="8221680" cy="7675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42" name="Google Shape;42;p35"/>
          <p:cNvSpPr txBox="1"/>
          <p:nvPr>
            <p:ph idx="1" type="body"/>
          </p:nvPr>
        </p:nvSpPr>
        <p:spPr>
          <a:xfrm>
            <a:off x="471960" y="1919160"/>
            <a:ext cx="3999600" cy="27097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3" name="Google Shape;43;p35"/>
          <p:cNvSpPr txBox="1"/>
          <p:nvPr>
            <p:ph idx="2" type="body"/>
          </p:nvPr>
        </p:nvSpPr>
        <p:spPr>
          <a:xfrm>
            <a:off x="4694400" y="1919160"/>
            <a:ext cx="3999600" cy="27097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44" name="Google Shape;44;p35"/>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0" name="Shape 50"/>
        <p:cNvGrpSpPr/>
        <p:nvPr/>
      </p:nvGrpSpPr>
      <p:grpSpPr>
        <a:xfrm>
          <a:off x="0" y="0"/>
          <a:ext cx="0" cy="0"/>
          <a:chOff x="0" y="0"/>
          <a:chExt cx="0" cy="0"/>
        </a:xfrm>
      </p:grpSpPr>
      <p:sp>
        <p:nvSpPr>
          <p:cNvPr id="51" name="Google Shape;51;p37"/>
          <p:cNvSpPr/>
          <p:nvPr/>
        </p:nvSpPr>
        <p:spPr>
          <a:xfrm flipH="1" rot="10800000">
            <a:off x="3276360" y="360"/>
            <a:ext cx="5866920" cy="514332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 name="Google Shape;52;p37"/>
          <p:cNvSpPr/>
          <p:nvPr/>
        </p:nvSpPr>
        <p:spPr>
          <a:xfrm rot="-5400000">
            <a:off x="759240" y="2517840"/>
            <a:ext cx="5143320" cy="108360"/>
          </a:xfrm>
          <a:prstGeom prst="rect">
            <a:avLst/>
          </a:prstGeom>
          <a:gradFill>
            <a:gsLst>
              <a:gs pos="0">
                <a:srgbClr val="F9F9F9"/>
              </a:gs>
              <a:gs pos="36000">
                <a:srgbClr val="F9F9F9"/>
              </a:gs>
              <a:gs pos="80000">
                <a:srgbClr val="DEDEDE"/>
              </a:gs>
              <a:gs pos="100000">
                <a:srgbClr val="999999"/>
              </a:gs>
            </a:gsLst>
            <a:lin ang="10800000" scaled="0"/>
          </a:gradFill>
          <a:ln>
            <a:noFill/>
          </a:ln>
        </p:spPr>
        <p:txBody>
          <a:bodyPr anchorCtr="0" anchor="ctr" bIns="54350" lIns="91425" spcFirstLastPara="1" rIns="91425" wrap="square" tIns="5435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 name="Google Shape;53;p37"/>
          <p:cNvSpPr txBox="1"/>
          <p:nvPr>
            <p:ph type="title"/>
          </p:nvPr>
        </p:nvSpPr>
        <p:spPr>
          <a:xfrm>
            <a:off x="226080" y="357840"/>
            <a:ext cx="2807640" cy="9529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4" name="Google Shape;54;p37"/>
          <p:cNvSpPr txBox="1"/>
          <p:nvPr>
            <p:ph idx="1" type="body"/>
          </p:nvPr>
        </p:nvSpPr>
        <p:spPr>
          <a:xfrm>
            <a:off x="226080" y="1465920"/>
            <a:ext cx="2807640" cy="31633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5" name="Google Shape;55;p37"/>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8" name="Shape 58"/>
        <p:cNvGrpSpPr/>
        <p:nvPr/>
      </p:nvGrpSpPr>
      <p:grpSpPr>
        <a:xfrm>
          <a:off x="0" y="0"/>
          <a:ext cx="0" cy="0"/>
          <a:chOff x="0" y="0"/>
          <a:chExt cx="0" cy="0"/>
        </a:xfrm>
      </p:grpSpPr>
      <p:sp>
        <p:nvSpPr>
          <p:cNvPr id="59" name="Google Shape;59;p39"/>
          <p:cNvSpPr txBox="1"/>
          <p:nvPr>
            <p:ph type="title"/>
          </p:nvPr>
        </p:nvSpPr>
        <p:spPr>
          <a:xfrm>
            <a:off x="490320" y="488160"/>
            <a:ext cx="6226920" cy="4090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0" name="Google Shape;60;p39"/>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3" name="Shape 63"/>
        <p:cNvGrpSpPr/>
        <p:nvPr/>
      </p:nvGrpSpPr>
      <p:grpSpPr>
        <a:xfrm>
          <a:off x="0" y="0"/>
          <a:ext cx="0" cy="0"/>
          <a:chOff x="0" y="0"/>
          <a:chExt cx="0" cy="0"/>
        </a:xfrm>
      </p:grpSpPr>
      <p:sp>
        <p:nvSpPr>
          <p:cNvPr id="64" name="Google Shape;64;p41"/>
          <p:cNvSpPr/>
          <p:nvPr/>
        </p:nvSpPr>
        <p:spPr>
          <a:xfrm flipH="1">
            <a:off x="-720" y="0"/>
            <a:ext cx="4571640" cy="514332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5" name="Google Shape;65;p41"/>
          <p:cNvSpPr/>
          <p:nvPr/>
        </p:nvSpPr>
        <p:spPr>
          <a:xfrm rot="5400000">
            <a:off x="1946160" y="2517840"/>
            <a:ext cx="5142600" cy="108360"/>
          </a:xfrm>
          <a:prstGeom prst="rect">
            <a:avLst/>
          </a:prstGeom>
          <a:gradFill>
            <a:gsLst>
              <a:gs pos="0">
                <a:srgbClr val="F9F9F9"/>
              </a:gs>
              <a:gs pos="36000">
                <a:srgbClr val="F9F9F9"/>
              </a:gs>
              <a:gs pos="80000">
                <a:srgbClr val="DEDEDE"/>
              </a:gs>
              <a:gs pos="100000">
                <a:srgbClr val="999999"/>
              </a:gs>
            </a:gsLst>
            <a:lin ang="0" scaled="0"/>
          </a:gradFill>
          <a:ln>
            <a:noFill/>
          </a:ln>
        </p:spPr>
        <p:txBody>
          <a:bodyPr anchorCtr="0" anchor="ctr" bIns="54350" lIns="91425" spcFirstLastPara="1" rIns="91425" wrap="square" tIns="5435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6" name="Google Shape;66;p41"/>
          <p:cNvSpPr txBox="1"/>
          <p:nvPr>
            <p:ph type="title"/>
          </p:nvPr>
        </p:nvSpPr>
        <p:spPr>
          <a:xfrm>
            <a:off x="265680" y="1233000"/>
            <a:ext cx="4044960" cy="1482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67" name="Google Shape;67;p41"/>
          <p:cNvSpPr txBox="1"/>
          <p:nvPr>
            <p:ph idx="1" type="body"/>
          </p:nvPr>
        </p:nvSpPr>
        <p:spPr>
          <a:xfrm>
            <a:off x="4939560" y="724320"/>
            <a:ext cx="3836520" cy="3694680"/>
          </a:xfrm>
          <a:prstGeom prst="rect">
            <a:avLst/>
          </a:prstGeom>
          <a:noFill/>
          <a:ln>
            <a:noFill/>
          </a:ln>
        </p:spPr>
        <p:txBody>
          <a:bodyPr anchorCtr="0" anchor="ctr"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68" name="Google Shape;68;p41"/>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1" name="Shape 71"/>
        <p:cNvGrpSpPr/>
        <p:nvPr/>
      </p:nvGrpSpPr>
      <p:grpSpPr>
        <a:xfrm>
          <a:off x="0" y="0"/>
          <a:ext cx="0" cy="0"/>
          <a:chOff x="0" y="0"/>
          <a:chExt cx="0" cy="0"/>
        </a:xfrm>
      </p:grpSpPr>
      <p:sp>
        <p:nvSpPr>
          <p:cNvPr id="72" name="Google Shape;72;p43"/>
          <p:cNvSpPr/>
          <p:nvPr/>
        </p:nvSpPr>
        <p:spPr>
          <a:xfrm flipH="1" rot="10800000">
            <a:off x="-360" y="360"/>
            <a:ext cx="9143640" cy="469548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 name="Google Shape;73;p43"/>
          <p:cNvSpPr/>
          <p:nvPr/>
        </p:nvSpPr>
        <p:spPr>
          <a:xfrm flipH="1" rot="10800000">
            <a:off x="-360" y="4623120"/>
            <a:ext cx="9143640" cy="73800"/>
          </a:xfrm>
          <a:prstGeom prst="rect">
            <a:avLst/>
          </a:prstGeom>
          <a:gradFill>
            <a:gsLst>
              <a:gs pos="0">
                <a:srgbClr val="F9F9F9"/>
              </a:gs>
              <a:gs pos="36000">
                <a:srgbClr val="F9F9F9"/>
              </a:gs>
              <a:gs pos="80000">
                <a:srgbClr val="DEDEDE"/>
              </a:gs>
              <a:gs pos="100000">
                <a:srgbClr val="999999"/>
              </a:gs>
            </a:gsLst>
            <a:lin ang="5394000" scaled="0"/>
          </a:gradFill>
          <a:ln>
            <a:noFill/>
          </a:ln>
        </p:spPr>
        <p:txBody>
          <a:bodyPr anchorCtr="0" anchor="ctr" bIns="37075" lIns="91425" spcFirstLastPara="1" rIns="91425" wrap="square" tIns="3707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 name="Google Shape;74;p43"/>
          <p:cNvSpPr txBox="1"/>
          <p:nvPr>
            <p:ph idx="1" type="body"/>
          </p:nvPr>
        </p:nvSpPr>
        <p:spPr>
          <a:xfrm>
            <a:off x="57240" y="4696920"/>
            <a:ext cx="8381520" cy="446400"/>
          </a:xfrm>
          <a:prstGeom prst="rect">
            <a:avLst/>
          </a:prstGeom>
          <a:noFill/>
          <a:ln>
            <a:noFill/>
          </a:ln>
        </p:spPr>
        <p:txBody>
          <a:bodyPr anchorCtr="0" anchor="ctr"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75" name="Google Shape;75;p43"/>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buClr>
                <a:schemeClr val="lt1"/>
              </a:buClr>
              <a:buSzPts val="1000"/>
              <a:buFont typeface="Roboto"/>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FFFFF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4"/>
        </a:solidFill>
      </p:bgPr>
    </p:bg>
    <p:spTree>
      <p:nvGrpSpPr>
        <p:cNvPr id="78" name="Shape 78"/>
        <p:cNvGrpSpPr/>
        <p:nvPr/>
      </p:nvGrpSpPr>
      <p:grpSpPr>
        <a:xfrm>
          <a:off x="0" y="0"/>
          <a:ext cx="0" cy="0"/>
          <a:chOff x="0" y="0"/>
          <a:chExt cx="0" cy="0"/>
        </a:xfrm>
      </p:grpSpPr>
      <p:sp>
        <p:nvSpPr>
          <p:cNvPr id="79" name="Google Shape;79;p45"/>
          <p:cNvSpPr txBox="1"/>
          <p:nvPr>
            <p:ph type="title"/>
          </p:nvPr>
        </p:nvSpPr>
        <p:spPr>
          <a:xfrm>
            <a:off x="475560" y="1258560"/>
            <a:ext cx="8221680" cy="196308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0" name="Google Shape;80;p45"/>
          <p:cNvSpPr txBox="1"/>
          <p:nvPr>
            <p:ph idx="1" type="body"/>
          </p:nvPr>
        </p:nvSpPr>
        <p:spPr>
          <a:xfrm>
            <a:off x="475560" y="3304800"/>
            <a:ext cx="8221680" cy="1300320"/>
          </a:xfrm>
          <a:prstGeom prst="rect">
            <a:avLst/>
          </a:prstGeom>
          <a:noFill/>
          <a:ln>
            <a:noFill/>
          </a:ln>
        </p:spPr>
        <p:txBody>
          <a:bodyPr anchorCtr="0" anchor="t" bIns="91425" lIns="91425" spcFirstLastPara="1" rIns="91425" wrap="square" tIns="91425">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1" name="Google Shape;81;p45"/>
          <p:cNvSpPr txBox="1"/>
          <p:nvPr>
            <p:ph idx="12" type="sldNum"/>
          </p:nvPr>
        </p:nvSpPr>
        <p:spPr>
          <a:xfrm>
            <a:off x="8523720" y="4695480"/>
            <a:ext cx="548280" cy="39312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buClr>
                <a:schemeClr val="lt2"/>
              </a:buClr>
              <a:buSzPts val="1000"/>
              <a:buFont typeface="Roboto"/>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6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7.png"/><Relationship Id="rId5" Type="http://schemas.openxmlformats.org/officeDocument/2006/relationships/image" Target="../media/image3.png"/><Relationship Id="rId6"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10.png"/><Relationship Id="rId6"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16.png"/><Relationship Id="rId5" Type="http://schemas.openxmlformats.org/officeDocument/2006/relationships/image" Target="../media/image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hyperlink" Target="https://forms.gle/RyXCA682kmZ2KxqNA" TargetMode="External"/><Relationship Id="rId4" Type="http://schemas.openxmlformats.org/officeDocument/2006/relationships/hyperlink" Target="https://forms.gle/DQgXpr2tjddgtbJF7" TargetMode="External"/><Relationship Id="rId9" Type="http://schemas.openxmlformats.org/officeDocument/2006/relationships/hyperlink" Target="https://www.youtube.com/watch?v=a2QgdDk4Xjw&amp;list=PLjc8ejfjpgTf0LaDEHgLB3gCHZYcNtsoX" TargetMode="External"/><Relationship Id="rId5" Type="http://schemas.openxmlformats.org/officeDocument/2006/relationships/hyperlink" Target="https://docs.google.com/document/d/12pArDqY1dIdrl-3KdioyF6IjXBvo7nU7wwyxy3N6-C0/edit" TargetMode="External"/><Relationship Id="rId6" Type="http://schemas.openxmlformats.org/officeDocument/2006/relationships/hyperlink" Target="https://wps.pearsoned.co.uk/wps/media/objects/12987/13299709/rsh_qam11_module04.pdf" TargetMode="External"/><Relationship Id="rId7" Type="http://schemas.openxmlformats.org/officeDocument/2006/relationships/hyperlink" Target="https://www.youtube.com/watch?v=fSuqTgnCVRg" TargetMode="External"/><Relationship Id="rId8" Type="http://schemas.openxmlformats.org/officeDocument/2006/relationships/hyperlink" Target="http://nptel.ac.in/"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390600" y="1475280"/>
            <a:ext cx="8221680" cy="93312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lt1"/>
              </a:buClr>
              <a:buSzPts val="4800"/>
              <a:buFont typeface="Roboto"/>
              <a:buNone/>
            </a:pPr>
            <a:r>
              <a:rPr b="0" lang="en" sz="4800" strike="noStrike">
                <a:solidFill>
                  <a:schemeClr val="lt1"/>
                </a:solidFill>
                <a:latin typeface="Roboto"/>
                <a:ea typeface="Roboto"/>
                <a:cs typeface="Roboto"/>
                <a:sym typeface="Roboto"/>
              </a:rPr>
              <a:t>Module 05: Game Theory</a:t>
            </a:r>
            <a:endParaRPr b="0" sz="4800" strike="noStrike">
              <a:solidFill>
                <a:srgbClr val="000000"/>
              </a:solidFill>
              <a:latin typeface="Arial"/>
              <a:ea typeface="Arial"/>
              <a:cs typeface="Arial"/>
              <a:sym typeface="Arial"/>
            </a:endParaRPr>
          </a:p>
        </p:txBody>
      </p:sp>
      <p:sp>
        <p:nvSpPr>
          <p:cNvPr id="89" name="Google Shape;89;p1"/>
          <p:cNvSpPr txBox="1"/>
          <p:nvPr>
            <p:ph idx="1" type="subTitle"/>
          </p:nvPr>
        </p:nvSpPr>
        <p:spPr>
          <a:xfrm>
            <a:off x="390600" y="2789280"/>
            <a:ext cx="8221680" cy="4327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lt1"/>
              </a:buClr>
              <a:buSzPts val="1800"/>
              <a:buFont typeface="Roboto"/>
              <a:buNone/>
            </a:pPr>
            <a:r>
              <a:rPr b="0" i="0" lang="en" sz="1800" u="none" cap="none" strike="noStrike">
                <a:solidFill>
                  <a:schemeClr val="lt1"/>
                </a:solidFill>
                <a:latin typeface="Roboto"/>
                <a:ea typeface="Roboto"/>
                <a:cs typeface="Roboto"/>
                <a:sym typeface="Roboto"/>
              </a:rPr>
              <a:t>July 17th, 2026</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390600" y="885240"/>
            <a:ext cx="8221680" cy="93312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Clr>
                <a:schemeClr val="lt1"/>
              </a:buClr>
              <a:buSzPts val="4200"/>
              <a:buFont typeface="Roboto"/>
              <a:buNone/>
            </a:pPr>
            <a:r>
              <a:rPr b="0" lang="en" sz="4200" strike="noStrike">
                <a:solidFill>
                  <a:schemeClr val="lt1"/>
                </a:solidFill>
                <a:latin typeface="Roboto"/>
                <a:ea typeface="Roboto"/>
                <a:cs typeface="Roboto"/>
                <a:sym typeface="Roboto"/>
              </a:rPr>
              <a:t>Detailed Contents</a:t>
            </a:r>
            <a:endParaRPr b="0" sz="4200" strike="noStrike">
              <a:solidFill>
                <a:srgbClr val="000000"/>
              </a:solidFill>
              <a:latin typeface="Arial"/>
              <a:ea typeface="Arial"/>
              <a:cs typeface="Arial"/>
              <a:sym typeface="Arial"/>
            </a:endParaRPr>
          </a:p>
        </p:txBody>
      </p:sp>
      <p:sp>
        <p:nvSpPr>
          <p:cNvPr id="95" name="Google Shape;95;p2"/>
          <p:cNvSpPr txBox="1"/>
          <p:nvPr>
            <p:ph idx="1" type="subTitle"/>
          </p:nvPr>
        </p:nvSpPr>
        <p:spPr>
          <a:xfrm>
            <a:off x="418680" y="2322360"/>
            <a:ext cx="8221680" cy="1420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lt1"/>
              </a:buClr>
              <a:buSzPts val="1800"/>
              <a:buFont typeface="Roboto"/>
              <a:buNone/>
            </a:pPr>
            <a:r>
              <a:rPr b="0" i="0" lang="en" sz="1800" u="none" cap="none" strike="noStrike">
                <a:solidFill>
                  <a:schemeClr val="lt1"/>
                </a:solidFill>
                <a:latin typeface="Roboto"/>
                <a:ea typeface="Roboto"/>
                <a:cs typeface="Roboto"/>
                <a:sym typeface="Roboto"/>
              </a:rPr>
              <a:t>Game Theory. Competitive games, rectangular game, saddle point, minimax (maximin) method of optimal strategies, value of the game. Solution of games with saddle points, dominance principle. Rectangular games without saddle point – mixed strategy for 2 X 2 games.</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Clr>
                <a:schemeClr val="lt1"/>
              </a:buClr>
              <a:buSzPts val="1800"/>
              <a:buFont typeface="Roboto"/>
              <a:buNone/>
            </a:pPr>
            <a:r>
              <a:rPr b="0" i="0" lang="en" sz="1800" u="none" cap="none" strike="noStrike">
                <a:solidFill>
                  <a:schemeClr val="lt1"/>
                </a:solidFill>
                <a:latin typeface="Roboto"/>
                <a:ea typeface="Roboto"/>
                <a:cs typeface="Roboto"/>
                <a:sym typeface="Roboto"/>
              </a:rPr>
              <a:t>**05 Hrs.</a:t>
            </a:r>
            <a:endParaRPr b="0" i="0" sz="1800" u="none" cap="none" strike="noStrike">
              <a:solidFill>
                <a:srgbClr val="FFFFF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1" lang="en" sz="1800" strike="noStrike">
                <a:solidFill>
                  <a:schemeClr val="lt1"/>
                </a:solidFill>
                <a:latin typeface="Roboto"/>
                <a:ea typeface="Roboto"/>
                <a:cs typeface="Roboto"/>
                <a:sym typeface="Roboto"/>
              </a:rPr>
              <a:t>The Prisoner's Dilemma</a:t>
            </a:r>
            <a:endParaRPr b="0" sz="1800" strike="noStrike">
              <a:solidFill>
                <a:srgbClr val="000000"/>
              </a:solidFill>
              <a:latin typeface="Arial"/>
              <a:ea typeface="Arial"/>
              <a:cs typeface="Arial"/>
              <a:sym typeface="Arial"/>
            </a:endParaRPr>
          </a:p>
        </p:txBody>
      </p:sp>
      <p:pic>
        <p:nvPicPr>
          <p:cNvPr id="101" name="Google Shape;101;p3"/>
          <p:cNvPicPr preferRelativeResize="0"/>
          <p:nvPr/>
        </p:nvPicPr>
        <p:blipFill rotWithShape="1">
          <a:blip r:embed="rId3">
            <a:alphaModFix/>
          </a:blip>
          <a:srcRect b="0" l="0" r="0" t="0"/>
          <a:stretch/>
        </p:blipFill>
        <p:spPr>
          <a:xfrm>
            <a:off x="4782960" y="847800"/>
            <a:ext cx="4077720" cy="2361600"/>
          </a:xfrm>
          <a:prstGeom prst="rect">
            <a:avLst/>
          </a:prstGeom>
          <a:noFill/>
          <a:ln>
            <a:noFill/>
          </a:ln>
        </p:spPr>
      </p:pic>
      <p:sp>
        <p:nvSpPr>
          <p:cNvPr id="102" name="Google Shape;102;p3"/>
          <p:cNvSpPr/>
          <p:nvPr/>
        </p:nvSpPr>
        <p:spPr>
          <a:xfrm>
            <a:off x="173520" y="846720"/>
            <a:ext cx="4571640" cy="2651400"/>
          </a:xfrm>
          <a:prstGeom prst="rect">
            <a:avLst/>
          </a:prstGeom>
          <a:noFill/>
          <a:ln>
            <a:noFill/>
          </a:ln>
        </p:spPr>
        <p:txBody>
          <a:bodyPr anchorCtr="0" anchor="t" bIns="45000" lIns="90000" spcFirstLastPara="1" rIns="90000" wrap="square" tIns="45000">
            <a:spAutoFit/>
          </a:bodyPr>
          <a:lstStyle/>
          <a:p>
            <a:pPr indent="0" lvl="0" marL="0" marR="0" rtl="0" algn="just">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The </a:t>
            </a:r>
            <a:r>
              <a:rPr b="1" i="0" lang="en" sz="1400" u="none" cap="none" strike="noStrike">
                <a:solidFill>
                  <a:srgbClr val="000000"/>
                </a:solidFill>
                <a:latin typeface="Arial"/>
                <a:ea typeface="Arial"/>
                <a:cs typeface="Arial"/>
                <a:sym typeface="Arial"/>
              </a:rPr>
              <a:t>prisoner's dilemma</a:t>
            </a:r>
            <a:r>
              <a:rPr b="0" i="0" lang="en" sz="1400" u="none" cap="none" strike="noStrike">
                <a:solidFill>
                  <a:srgbClr val="000000"/>
                </a:solidFill>
                <a:latin typeface="Arial"/>
                <a:ea typeface="Arial"/>
                <a:cs typeface="Arial"/>
                <a:sym typeface="Arial"/>
              </a:rPr>
              <a:t> is the story of two criminals who have been arrested for a heinous crime and are being interrogated separately. Each knows that if neither of them talks, the case against them is weak and they will be convicted and punished for lesser charges. If this happens, each will get one year in prison. If both confess, each will get 20 years in prison. If only one confesses and testifies against the other, the one who did not cooperate with the police will get a life sentence and the one who did cooperate will get parole. The table below illustrates the structure of payoffs.</a:t>
            </a:r>
            <a:endParaRPr b="0" i="0" sz="1400" u="none" cap="none" strike="noStrike">
              <a:solidFill>
                <a:srgbClr val="FFFFFF"/>
              </a:solidFill>
              <a:latin typeface="Arial"/>
              <a:ea typeface="Arial"/>
              <a:cs typeface="Arial"/>
              <a:sym typeface="Arial"/>
            </a:endParaRPr>
          </a:p>
        </p:txBody>
      </p:sp>
      <p:sp>
        <p:nvSpPr>
          <p:cNvPr id="103" name="Google Shape;103;p3"/>
          <p:cNvSpPr/>
          <p:nvPr/>
        </p:nvSpPr>
        <p:spPr>
          <a:xfrm>
            <a:off x="320400" y="4464720"/>
            <a:ext cx="7288560" cy="303120"/>
          </a:xfrm>
          <a:prstGeom prst="rect">
            <a:avLst/>
          </a:prstGeom>
          <a:noFill/>
          <a:ln>
            <a:noFill/>
          </a:ln>
        </p:spPr>
        <p:txBody>
          <a:bodyPr anchorCtr="0" anchor="t" bIns="45000" lIns="90000" spcFirstLastPara="1" rIns="90000" wrap="square" tIns="45000">
            <a:sp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Ref: http://ingrimayne.com/econ/IndividualGroup/PrisDilm.html</a:t>
            </a:r>
            <a:endParaRPr b="0" i="0" sz="1400" u="none" cap="none" strike="noStrike">
              <a:solidFill>
                <a:srgbClr val="FFFFFF"/>
              </a:solidFill>
              <a:latin typeface="Arial"/>
              <a:ea typeface="Arial"/>
              <a:cs typeface="Arial"/>
              <a:sym typeface="Arial"/>
            </a:endParaRPr>
          </a:p>
        </p:txBody>
      </p:sp>
      <p:sp>
        <p:nvSpPr>
          <p:cNvPr id="104" name="Google Shape;104;p3"/>
          <p:cNvSpPr/>
          <p:nvPr/>
        </p:nvSpPr>
        <p:spPr>
          <a:xfrm>
            <a:off x="215640" y="3484800"/>
            <a:ext cx="7992720" cy="1157040"/>
          </a:xfrm>
          <a:prstGeom prst="rect">
            <a:avLst/>
          </a:prstGeom>
          <a:noFill/>
          <a:ln>
            <a:noFill/>
          </a:ln>
        </p:spPr>
        <p:txBody>
          <a:bodyPr anchorCtr="0" anchor="t" bIns="45000" lIns="90000" spcFirstLastPara="1" rIns="90000" wrap="square" tIns="45000">
            <a:spAutoFit/>
          </a:bodyPr>
          <a:lstStyle/>
          <a:p>
            <a:pPr indent="0" lvl="0" marL="0" marR="0" rtl="0" algn="just">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Nash equilibrium: (in economics and game theory) a stable state of a system involving the interaction of different participants, in which no participant can gain by a unilateral change of strategy if the strategies of the others remain unchanged.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br>
              <a:rPr b="0" i="0" lang="en" sz="1400" u="none" cap="none" strike="noStrike">
                <a:solidFill>
                  <a:schemeClr val="dk1"/>
                </a:solidFill>
                <a:latin typeface="Arial"/>
                <a:ea typeface="Arial"/>
                <a:cs typeface="Arial"/>
                <a:sym typeface="Arial"/>
              </a:rPr>
            </a:br>
            <a:endParaRPr b="0" i="0" sz="14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500"/>
                                        <p:tgtEl>
                                          <p:spTgt spid="1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02"/>
                                        </p:tgtEl>
                                        <p:attrNameLst>
                                          <p:attrName>style.visibility</p:attrName>
                                        </p:attrNameLst>
                                      </p:cBhvr>
                                      <p:to>
                                        <p:strVal val="visible"/>
                                      </p:to>
                                    </p:set>
                                    <p:anim calcmode="lin" valueType="num">
                                      <p:cBhvr additive="base">
                                        <p:cTn dur="500"/>
                                        <p:tgtEl>
                                          <p:spTgt spid="10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500"/>
                                        <p:tgtEl>
                                          <p:spTgt spid="1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4"/>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Objective</a:t>
            </a:r>
            <a:endParaRPr b="0" sz="1800" strike="noStrike">
              <a:solidFill>
                <a:srgbClr val="000000"/>
              </a:solidFill>
              <a:latin typeface="Arial"/>
              <a:ea typeface="Arial"/>
              <a:cs typeface="Arial"/>
              <a:sym typeface="Arial"/>
            </a:endParaRPr>
          </a:p>
        </p:txBody>
      </p:sp>
      <p:sp>
        <p:nvSpPr>
          <p:cNvPr id="110" name="Google Shape;110;p4"/>
          <p:cNvSpPr txBox="1"/>
          <p:nvPr>
            <p:ph idx="4294967295" type="body"/>
          </p:nvPr>
        </p:nvSpPr>
        <p:spPr>
          <a:xfrm>
            <a:off x="258480" y="1032480"/>
            <a:ext cx="8624160" cy="20142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Roboto"/>
              <a:buNone/>
            </a:pPr>
            <a:r>
              <a:rPr b="0" i="0" lang="en" sz="1800" u="none" cap="none" strike="noStrike">
                <a:solidFill>
                  <a:srgbClr val="000000"/>
                </a:solidFill>
                <a:latin typeface="Roboto"/>
                <a:ea typeface="Roboto"/>
                <a:cs typeface="Roboto"/>
                <a:sym typeface="Roboto"/>
              </a:rPr>
              <a:t>After completing this module, students will be able to:</a:t>
            </a:r>
            <a:endParaRPr b="0" i="0" sz="1800" u="none" cap="none" strike="noStrike">
              <a:solidFill>
                <a:srgbClr val="000000"/>
              </a:solidFill>
              <a:latin typeface="Arial"/>
              <a:ea typeface="Arial"/>
              <a:cs typeface="Arial"/>
              <a:sym typeface="Arial"/>
            </a:endParaRPr>
          </a:p>
          <a:p>
            <a:pPr indent="-343080" lvl="0" marL="457200" marR="0" rtl="0" algn="l">
              <a:lnSpc>
                <a:spcPct val="150000"/>
              </a:lnSpc>
              <a:spcBef>
                <a:spcPts val="1599"/>
              </a:spcBef>
              <a:spcAft>
                <a:spcPts val="0"/>
              </a:spcAft>
              <a:buClr>
                <a:srgbClr val="000000"/>
              </a:buClr>
              <a:buSzPts val="1800"/>
              <a:buFont typeface="Roboto"/>
              <a:buAutoNum type="arabicPeriod"/>
            </a:pPr>
            <a:r>
              <a:rPr b="0" i="0" lang="en" sz="1800" u="none" cap="none" strike="noStrike">
                <a:solidFill>
                  <a:srgbClr val="000000"/>
                </a:solidFill>
                <a:latin typeface="Roboto"/>
                <a:ea typeface="Roboto"/>
                <a:cs typeface="Roboto"/>
                <a:sym typeface="Roboto"/>
              </a:rPr>
              <a:t>Understand the principles of zero-sum, two-person games.</a:t>
            </a:r>
            <a:endParaRPr b="0" i="0" sz="1800" u="none" cap="none" strike="noStrike">
              <a:solidFill>
                <a:srgbClr val="000000"/>
              </a:solidFill>
              <a:latin typeface="Arial"/>
              <a:ea typeface="Arial"/>
              <a:cs typeface="Arial"/>
              <a:sym typeface="Arial"/>
            </a:endParaRPr>
          </a:p>
          <a:p>
            <a:pPr indent="-343080" lvl="0" marL="457200" marR="0" rtl="0" algn="l">
              <a:lnSpc>
                <a:spcPct val="150000"/>
              </a:lnSpc>
              <a:spcBef>
                <a:spcPts val="0"/>
              </a:spcBef>
              <a:spcAft>
                <a:spcPts val="0"/>
              </a:spcAft>
              <a:buClr>
                <a:srgbClr val="000000"/>
              </a:buClr>
              <a:buSzPts val="1800"/>
              <a:buFont typeface="Roboto"/>
              <a:buAutoNum type="arabicPeriod"/>
            </a:pPr>
            <a:r>
              <a:rPr b="0" i="0" lang="en" sz="1800" u="none" cap="none" strike="noStrike">
                <a:solidFill>
                  <a:srgbClr val="000000"/>
                </a:solidFill>
                <a:latin typeface="Roboto"/>
                <a:ea typeface="Roboto"/>
                <a:cs typeface="Roboto"/>
                <a:sym typeface="Roboto"/>
              </a:rPr>
              <a:t>Analyze pure strategy games and use dominance to reduce the size of a game.</a:t>
            </a:r>
            <a:endParaRPr b="0" i="0" sz="1800" u="none" cap="none" strike="noStrike">
              <a:solidFill>
                <a:srgbClr val="000000"/>
              </a:solidFill>
              <a:latin typeface="Arial"/>
              <a:ea typeface="Arial"/>
              <a:cs typeface="Arial"/>
              <a:sym typeface="Arial"/>
            </a:endParaRPr>
          </a:p>
          <a:p>
            <a:pPr indent="-343080" lvl="0" marL="457200" marR="0" rtl="0" algn="l">
              <a:lnSpc>
                <a:spcPct val="150000"/>
              </a:lnSpc>
              <a:spcBef>
                <a:spcPts val="0"/>
              </a:spcBef>
              <a:spcAft>
                <a:spcPts val="0"/>
              </a:spcAft>
              <a:buClr>
                <a:srgbClr val="000000"/>
              </a:buClr>
              <a:buSzPts val="1800"/>
              <a:buFont typeface="Roboto"/>
              <a:buAutoNum type="arabicPeriod"/>
            </a:pPr>
            <a:r>
              <a:rPr b="0" i="0" lang="en" sz="1800" u="none" cap="none" strike="noStrike">
                <a:solidFill>
                  <a:srgbClr val="000000"/>
                </a:solidFill>
                <a:latin typeface="Roboto"/>
                <a:ea typeface="Roboto"/>
                <a:cs typeface="Roboto"/>
                <a:sym typeface="Roboto"/>
              </a:rPr>
              <a:t>Solve mixed strategy games when there is no saddle point.</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
                                        </p:tgtEl>
                                        <p:attrNameLst>
                                          <p:attrName>style.visibility</p:attrName>
                                        </p:attrNameLst>
                                      </p:cBhvr>
                                      <p:to>
                                        <p:strVal val="visible"/>
                                      </p:to>
                                    </p:set>
                                    <p:animEffect filter="fade" transition="in">
                                      <p:cBhvr>
                                        <p:cTn dur="1000"/>
                                        <p:tgtEl>
                                          <p:spTgt spid="1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Introduction</a:t>
            </a:r>
            <a:endParaRPr b="0" sz="1800" strike="noStrike">
              <a:solidFill>
                <a:srgbClr val="000000"/>
              </a:solidFill>
              <a:latin typeface="Arial"/>
              <a:ea typeface="Arial"/>
              <a:cs typeface="Arial"/>
              <a:sym typeface="Arial"/>
            </a:endParaRPr>
          </a:p>
        </p:txBody>
      </p:sp>
      <p:sp>
        <p:nvSpPr>
          <p:cNvPr id="116" name="Google Shape;116;p5"/>
          <p:cNvSpPr/>
          <p:nvPr/>
        </p:nvSpPr>
        <p:spPr>
          <a:xfrm>
            <a:off x="97560" y="696600"/>
            <a:ext cx="8702640" cy="41317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1" i="0" lang="en" sz="1500" u="none" cap="none" strike="noStrike">
                <a:solidFill>
                  <a:srgbClr val="FF0000"/>
                </a:solidFill>
                <a:latin typeface="Arial"/>
                <a:ea typeface="Arial"/>
                <a:cs typeface="Arial"/>
                <a:sym typeface="Arial"/>
              </a:rPr>
              <a:t>Game theory</a:t>
            </a:r>
            <a:r>
              <a:rPr b="0" i="0" lang="en" sz="1500" u="none" cap="none" strike="noStrike">
                <a:solidFill>
                  <a:srgbClr val="000000"/>
                </a:solidFill>
                <a:latin typeface="Arial"/>
                <a:ea typeface="Arial"/>
                <a:cs typeface="Arial"/>
                <a:sym typeface="Arial"/>
              </a:rPr>
              <a:t> is one way to consider the </a:t>
            </a:r>
            <a:r>
              <a:rPr b="1" i="0" lang="en" sz="1500" u="none" cap="none" strike="noStrike">
                <a:solidFill>
                  <a:srgbClr val="FF0000"/>
                </a:solidFill>
                <a:latin typeface="Arial"/>
                <a:ea typeface="Arial"/>
                <a:cs typeface="Arial"/>
                <a:sym typeface="Arial"/>
              </a:rPr>
              <a:t>impact of the strategies of others on our strategies and outcomes.</a:t>
            </a:r>
            <a:r>
              <a:rPr b="0" i="0" lang="en" sz="1500" u="none" cap="none" strike="noStrike">
                <a:solidFill>
                  <a:srgbClr val="000000"/>
                </a:solidFill>
                <a:latin typeface="Arial"/>
                <a:ea typeface="Arial"/>
                <a:cs typeface="Arial"/>
                <a:sym typeface="Arial"/>
              </a:rPr>
              <a:t> A game is a contest involving </a:t>
            </a:r>
            <a:r>
              <a:rPr b="0" i="0" lang="en" sz="1500" u="none" cap="none" strike="noStrike">
                <a:solidFill>
                  <a:srgbClr val="FF0000"/>
                </a:solidFill>
                <a:latin typeface="Arial"/>
                <a:ea typeface="Arial"/>
                <a:cs typeface="Arial"/>
                <a:sym typeface="Arial"/>
              </a:rPr>
              <a:t>two or more decision makers</a:t>
            </a:r>
            <a:r>
              <a:rPr b="0" i="0" lang="en" sz="1500" u="none" cap="none" strike="noStrike">
                <a:solidFill>
                  <a:srgbClr val="000000"/>
                </a:solidFill>
                <a:latin typeface="Arial"/>
                <a:ea typeface="Arial"/>
                <a:cs typeface="Arial"/>
                <a:sym typeface="Arial"/>
              </a:rPr>
              <a:t>, each of whom wants to win. </a:t>
            </a:r>
            <a:r>
              <a:rPr b="1" i="0" lang="en" sz="1500" u="none" cap="none" strike="noStrike">
                <a:solidFill>
                  <a:srgbClr val="FF0000"/>
                </a:solidFill>
                <a:latin typeface="Arial"/>
                <a:ea typeface="Arial"/>
                <a:cs typeface="Arial"/>
                <a:sym typeface="Arial"/>
              </a:rPr>
              <a:t>Game theory is the study of how optimal strategies are formulated in conflict. </a:t>
            </a:r>
            <a:endParaRPr b="0" i="0" sz="15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500" u="none" cap="none" strike="noStrike">
                <a:solidFill>
                  <a:srgbClr val="000000"/>
                </a:solidFill>
                <a:latin typeface="Arial"/>
                <a:ea typeface="Arial"/>
                <a:cs typeface="Arial"/>
                <a:sym typeface="Arial"/>
              </a:rPr>
              <a:t>The study of game theory dates back to 1944, when John von Neumann and Oscar Morgenstern published their classic book, Theory of Games and Economic Behavior. Since then, </a:t>
            </a:r>
            <a:r>
              <a:rPr b="0" i="0" lang="en" sz="1500" u="none" cap="none" strike="noStrike">
                <a:solidFill>
                  <a:srgbClr val="002060"/>
                </a:solidFill>
                <a:latin typeface="Arial"/>
                <a:ea typeface="Arial"/>
                <a:cs typeface="Arial"/>
                <a:sym typeface="Arial"/>
              </a:rPr>
              <a:t>game theory has been used by army generals to plan war strategies, by union negotiators and managers in collective bargaining, and by businesses of all types to determine the best strategies given a competitive business environment.</a:t>
            </a:r>
            <a:endParaRPr b="0" i="0" sz="15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5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500" u="none" cap="none" strike="noStrike">
                <a:solidFill>
                  <a:srgbClr val="000000"/>
                </a:solidFill>
                <a:latin typeface="Arial"/>
                <a:ea typeface="Arial"/>
                <a:cs typeface="Arial"/>
                <a:sym typeface="Arial"/>
              </a:rPr>
              <a:t>Game theory continues to be important today. In 1994, John Harsanui, John Nash, and Reinhard Selten jointly received the Nobel Prize in Economics from the Royal Swedish Academy of Sciences. In their classic work, these individuals developed the notion of noncooperative game theory. After the work of John von Neumann, Nash developed the concepts of the Nash equilibrium and the Nash bargaining problem, which are the cornerstones of modern game theory.</a:t>
            </a:r>
            <a:endParaRPr b="0" i="0" sz="15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500" u="none" cap="none" strike="noStrike">
              <a:solidFill>
                <a:srgbClr val="FFFFF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1" lang="en" sz="1800" strike="noStrike">
                <a:solidFill>
                  <a:schemeClr val="lt1"/>
                </a:solidFill>
                <a:latin typeface="Roboto"/>
                <a:ea typeface="Roboto"/>
                <a:cs typeface="Roboto"/>
                <a:sym typeface="Roboto"/>
              </a:rPr>
              <a:t>Managerial Applications of the Theory of Games</a:t>
            </a:r>
            <a:endParaRPr b="0" sz="1800" strike="noStrike">
              <a:solidFill>
                <a:srgbClr val="000000"/>
              </a:solidFill>
              <a:latin typeface="Arial"/>
              <a:ea typeface="Arial"/>
              <a:cs typeface="Arial"/>
              <a:sym typeface="Arial"/>
            </a:endParaRPr>
          </a:p>
        </p:txBody>
      </p:sp>
      <p:sp>
        <p:nvSpPr>
          <p:cNvPr id="122" name="Google Shape;122;p6"/>
          <p:cNvSpPr/>
          <p:nvPr/>
        </p:nvSpPr>
        <p:spPr>
          <a:xfrm>
            <a:off x="235080" y="822600"/>
            <a:ext cx="8555040" cy="405504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The techniques of game theory can be effectively applied to various managerial problems as detailed below:</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1) Analysis of the market strategies of a business organization in the long run.</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2) Evaluation of the responses of the consumers to a new product.</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3) Resolving the conflict between two groups in a business organization.</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4) Decision making on the techniques to increase market share.</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5) Material procurement process.</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6) Decision making for transportation problem.</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7) Evaluation of the distribution system.</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8) Evaluation of the location of the facilities.</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9) Examination of new business ventures and</a:t>
            </a:r>
            <a:endParaRPr b="0" i="0" sz="20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2000" u="none" cap="none" strike="noStrike">
                <a:solidFill>
                  <a:srgbClr val="000000"/>
                </a:solidFill>
                <a:latin typeface="Arial"/>
                <a:ea typeface="Arial"/>
                <a:cs typeface="Arial"/>
                <a:sym typeface="Arial"/>
              </a:rPr>
              <a:t>10) Competitive economic environment.</a:t>
            </a:r>
            <a:endParaRPr b="0" i="0" sz="2000" u="none" cap="none" strike="noStrike">
              <a:solidFill>
                <a:srgbClr val="FFFFF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7"/>
          <p:cNvPicPr preferRelativeResize="0"/>
          <p:nvPr/>
        </p:nvPicPr>
        <p:blipFill rotWithShape="1">
          <a:blip r:embed="rId3">
            <a:alphaModFix/>
          </a:blip>
          <a:srcRect b="0" l="0" r="0" t="0"/>
          <a:stretch/>
        </p:blipFill>
        <p:spPr>
          <a:xfrm>
            <a:off x="135000" y="112680"/>
            <a:ext cx="8861760" cy="1982880"/>
          </a:xfrm>
          <a:prstGeom prst="rect">
            <a:avLst/>
          </a:prstGeom>
          <a:noFill/>
          <a:ln>
            <a:noFill/>
          </a:ln>
        </p:spPr>
      </p:pic>
      <p:pic>
        <p:nvPicPr>
          <p:cNvPr id="128" name="Google Shape;128;p7"/>
          <p:cNvPicPr preferRelativeResize="0"/>
          <p:nvPr/>
        </p:nvPicPr>
        <p:blipFill rotWithShape="1">
          <a:blip r:embed="rId4">
            <a:alphaModFix/>
          </a:blip>
          <a:srcRect b="0" l="0" r="0" t="0"/>
          <a:stretch/>
        </p:blipFill>
        <p:spPr>
          <a:xfrm>
            <a:off x="219600" y="2129040"/>
            <a:ext cx="3934800" cy="2263680"/>
          </a:xfrm>
          <a:prstGeom prst="rect">
            <a:avLst/>
          </a:prstGeom>
          <a:noFill/>
          <a:ln>
            <a:noFill/>
          </a:ln>
        </p:spPr>
      </p:pic>
      <p:pic>
        <p:nvPicPr>
          <p:cNvPr id="129" name="Google Shape;129;p7"/>
          <p:cNvPicPr preferRelativeResize="0"/>
          <p:nvPr/>
        </p:nvPicPr>
        <p:blipFill rotWithShape="1">
          <a:blip r:embed="rId5">
            <a:alphaModFix/>
          </a:blip>
          <a:srcRect b="0" l="0" r="0" t="0"/>
          <a:stretch/>
        </p:blipFill>
        <p:spPr>
          <a:xfrm>
            <a:off x="4208400" y="2148120"/>
            <a:ext cx="4746240" cy="2225160"/>
          </a:xfrm>
          <a:prstGeom prst="rect">
            <a:avLst/>
          </a:prstGeom>
          <a:noFill/>
          <a:ln>
            <a:noFill/>
          </a:ln>
        </p:spPr>
      </p:pic>
      <p:pic>
        <p:nvPicPr>
          <p:cNvPr id="130" name="Google Shape;130;p7"/>
          <p:cNvPicPr preferRelativeResize="0"/>
          <p:nvPr/>
        </p:nvPicPr>
        <p:blipFill rotWithShape="1">
          <a:blip r:embed="rId6">
            <a:alphaModFix/>
          </a:blip>
          <a:srcRect b="0" l="0" r="0" t="0"/>
          <a:stretch/>
        </p:blipFill>
        <p:spPr>
          <a:xfrm>
            <a:off x="1933920" y="4684680"/>
            <a:ext cx="5454360" cy="3121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5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1" lang="en" sz="1800" strike="noStrike">
                <a:solidFill>
                  <a:schemeClr val="lt1"/>
                </a:solidFill>
                <a:latin typeface="Roboto"/>
                <a:ea typeface="Roboto"/>
                <a:cs typeface="Roboto"/>
                <a:sym typeface="Roboto"/>
              </a:rPr>
              <a:t>Key concepts in the Theory of Games</a:t>
            </a:r>
            <a:endParaRPr b="0" sz="1800" strike="noStrike">
              <a:solidFill>
                <a:srgbClr val="000000"/>
              </a:solidFill>
              <a:latin typeface="Arial"/>
              <a:ea typeface="Arial"/>
              <a:cs typeface="Arial"/>
              <a:sym typeface="Arial"/>
            </a:endParaRPr>
          </a:p>
        </p:txBody>
      </p:sp>
      <p:sp>
        <p:nvSpPr>
          <p:cNvPr id="136" name="Google Shape;136;p8"/>
          <p:cNvSpPr/>
          <p:nvPr/>
        </p:nvSpPr>
        <p:spPr>
          <a:xfrm>
            <a:off x="245880" y="811800"/>
            <a:ext cx="8457840" cy="39315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Players:     The competitors or decision makers in a game are called the players of the game.</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Strategies:    The alternative courses of action available to a player are referred to as his strategies.</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Pay off:    The outcome of playing a game is called the pay off to the concerned player.</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Optimal Strategy:    A strategy by which a player can achieve the best pay off is called the optimal strategy for him.</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Zero-sum game:      A game in which the total payoffs to all the players at the end of the game is zero is referred to as a zero-sum game.</a:t>
            </a:r>
            <a:endParaRPr b="0" i="0" sz="1800" u="none" cap="none" strike="noStrike">
              <a:solidFill>
                <a:srgbClr val="FFFFFF"/>
              </a:solidFill>
              <a:latin typeface="Arial"/>
              <a:ea typeface="Arial"/>
              <a:cs typeface="Arial"/>
              <a:sym typeface="Arial"/>
            </a:endParaRPr>
          </a:p>
        </p:txBody>
      </p:sp>
      <p:pic>
        <p:nvPicPr>
          <p:cNvPr id="137" name="Google Shape;137;p8"/>
          <p:cNvPicPr preferRelativeResize="0"/>
          <p:nvPr/>
        </p:nvPicPr>
        <p:blipFill rotWithShape="1">
          <a:blip r:embed="rId3">
            <a:alphaModFix/>
          </a:blip>
          <a:srcRect b="0" l="0" r="0" t="0"/>
          <a:stretch/>
        </p:blipFill>
        <p:spPr>
          <a:xfrm>
            <a:off x="6537600" y="189360"/>
            <a:ext cx="2374920" cy="136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2000"/>
                                        <p:tgtEl>
                                          <p:spTgt spid="1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sp>
        <p:nvSpPr>
          <p:cNvPr id="143" name="Google Shape;143;p9"/>
          <p:cNvSpPr/>
          <p:nvPr/>
        </p:nvSpPr>
        <p:spPr>
          <a:xfrm>
            <a:off x="224280" y="747360"/>
            <a:ext cx="8705880" cy="420588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Payoff matrix:      The tabular display of the payoffs to players under various alternatives is called the payoff matrix of the game.</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Pure strategy:       If the game is such that each player can identify one and only one strategy as the optimal strategy in each play of the game, then that strategy is referred to as the best strategy for that player and the game is referred to as a game of pure strategy or a pure game.</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Mixed strategy:       If there is no one specific strategy as the ‘best strategy’ for any player in a game, then the game is referred to as a game of mixed strategy or a mixed game. In such a game, each player has to choose different alternative courses of action from time to time.</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N-person game:      A game in which N-players take part is called an N-person game.</a:t>
            </a:r>
            <a:endParaRPr b="0" i="0" sz="1800" u="none" cap="none" strike="noStrike">
              <a:solidFill>
                <a:srgbClr val="FFFFFF"/>
              </a:solidFill>
              <a:latin typeface="Arial"/>
              <a:ea typeface="Arial"/>
              <a:cs typeface="Arial"/>
              <a:sym typeface="Arial"/>
            </a:endParaRPr>
          </a:p>
        </p:txBody>
      </p:sp>
      <p:pic>
        <p:nvPicPr>
          <p:cNvPr id="144" name="Google Shape;144;p9"/>
          <p:cNvPicPr preferRelativeResize="0"/>
          <p:nvPr/>
        </p:nvPicPr>
        <p:blipFill rotWithShape="1">
          <a:blip r:embed="rId3">
            <a:alphaModFix/>
          </a:blip>
          <a:srcRect b="0" l="0" r="0" t="0"/>
          <a:stretch/>
        </p:blipFill>
        <p:spPr>
          <a:xfrm>
            <a:off x="6579360" y="189360"/>
            <a:ext cx="2374920" cy="1366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4"/>
                                        </p:tgtEl>
                                        <p:attrNameLst>
                                          <p:attrName>style.visibility</p:attrName>
                                        </p:attrNameLst>
                                      </p:cBhvr>
                                      <p:to>
                                        <p:strVal val="visible"/>
                                      </p:to>
                                    </p:set>
                                    <p:animEffect filter="fade" transition="in">
                                      <p:cBhvr>
                                        <p:cTn dur="2000"/>
                                        <p:tgtEl>
                                          <p:spTgt spid="1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10"/>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sp>
        <p:nvSpPr>
          <p:cNvPr id="150" name="Google Shape;150;p10"/>
          <p:cNvSpPr/>
          <p:nvPr/>
        </p:nvSpPr>
        <p:spPr>
          <a:xfrm>
            <a:off x="289080" y="1006200"/>
            <a:ext cx="8382240" cy="39315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Maximin-Minimax Principle :       The </a:t>
            </a:r>
            <a:r>
              <a:rPr b="1" i="0" lang="en" sz="1800" u="none" cap="none" strike="noStrike">
                <a:solidFill>
                  <a:srgbClr val="FF0000"/>
                </a:solidFill>
                <a:latin typeface="Arial"/>
                <a:ea typeface="Arial"/>
                <a:cs typeface="Arial"/>
                <a:sym typeface="Arial"/>
              </a:rPr>
              <a:t>maximum of the minimum gains</a:t>
            </a:r>
            <a:r>
              <a:rPr b="0" i="0" lang="en" sz="1800" u="none" cap="none" strike="noStrike">
                <a:solidFill>
                  <a:srgbClr val="000000"/>
                </a:solidFill>
                <a:latin typeface="Arial"/>
                <a:ea typeface="Arial"/>
                <a:cs typeface="Arial"/>
                <a:sym typeface="Arial"/>
              </a:rPr>
              <a:t> is called the maximin value of the game and the corresponding strategy is called the maximin strategy. Similarly the </a:t>
            </a:r>
            <a:r>
              <a:rPr b="1" i="0" lang="en" sz="1800" u="none" cap="none" strike="noStrike">
                <a:solidFill>
                  <a:srgbClr val="FF0000"/>
                </a:solidFill>
                <a:latin typeface="Arial"/>
                <a:ea typeface="Arial"/>
                <a:cs typeface="Arial"/>
                <a:sym typeface="Arial"/>
              </a:rPr>
              <a:t>minimum of the maximum losses</a:t>
            </a:r>
            <a:r>
              <a:rPr b="0" i="0" lang="en" sz="1800" u="none" cap="none" strike="noStrike">
                <a:solidFill>
                  <a:srgbClr val="000000"/>
                </a:solidFill>
                <a:latin typeface="Arial"/>
                <a:ea typeface="Arial"/>
                <a:cs typeface="Arial"/>
                <a:sym typeface="Arial"/>
              </a:rPr>
              <a:t> is called the minimax value of the game and the corresponding strategy is​ called the minimax strategy.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Saddle point:      A saddle point of a game is that place in the payoff matrix </a:t>
            </a:r>
            <a:r>
              <a:rPr b="1" i="0" lang="en" sz="1800" u="none" cap="none" strike="noStrike">
                <a:solidFill>
                  <a:srgbClr val="FF0000"/>
                </a:solidFill>
                <a:latin typeface="Arial"/>
                <a:ea typeface="Arial"/>
                <a:cs typeface="Arial"/>
                <a:sym typeface="Arial"/>
              </a:rPr>
              <a:t>where the maximum of the row minima is equal to the minimum of the column maxima</a:t>
            </a:r>
            <a:r>
              <a:rPr b="0" i="0" lang="en" sz="1800" u="none" cap="none" strike="noStrike">
                <a:solidFill>
                  <a:srgbClr val="000000"/>
                </a:solidFill>
                <a:latin typeface="Arial"/>
                <a:ea typeface="Arial"/>
                <a:cs typeface="Arial"/>
                <a:sym typeface="Arial"/>
              </a:rPr>
              <a:t>. The payoff at the saddle point is called the value of the game and the corresponding strategies are called the pure strategies.</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8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rPr b="0" i="0" lang="en" sz="1800" u="none" cap="none" strike="noStrike">
                <a:solidFill>
                  <a:srgbClr val="000000"/>
                </a:solidFill>
                <a:latin typeface="Arial"/>
                <a:ea typeface="Arial"/>
                <a:cs typeface="Arial"/>
                <a:sym typeface="Arial"/>
              </a:rPr>
              <a:t>Dominance:         One of the strategies of either player may be inferior to at least one of the remaining ones. The superior strategies are said to dominate the inferior ones. </a:t>
            </a:r>
            <a:endParaRPr b="0" i="0" sz="1800" u="none" cap="none" strike="noStrike">
              <a:solidFill>
                <a:srgbClr val="FFFFFF"/>
              </a:solidFill>
              <a:latin typeface="Arial"/>
              <a:ea typeface="Arial"/>
              <a:cs typeface="Arial"/>
              <a:sym typeface="Arial"/>
            </a:endParaRPr>
          </a:p>
        </p:txBody>
      </p:sp>
      <p:pic>
        <p:nvPicPr>
          <p:cNvPr id="151" name="Google Shape;151;p10"/>
          <p:cNvPicPr preferRelativeResize="0"/>
          <p:nvPr/>
        </p:nvPicPr>
        <p:blipFill rotWithShape="1">
          <a:blip r:embed="rId3">
            <a:alphaModFix/>
          </a:blip>
          <a:srcRect b="0" l="0" r="0" t="0"/>
          <a:stretch/>
        </p:blipFill>
        <p:spPr>
          <a:xfrm>
            <a:off x="6742076" y="16199"/>
            <a:ext cx="2182325" cy="1023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1"/>
                                        </p:tgtEl>
                                        <p:attrNameLst>
                                          <p:attrName>style.visibility</p:attrName>
                                        </p:attrNameLst>
                                      </p:cBhvr>
                                      <p:to>
                                        <p:strVal val="visible"/>
                                      </p:to>
                                    </p:set>
                                    <p:animEffect filter="fade" transition="in">
                                      <p:cBhvr>
                                        <p:cTn dur="500"/>
                                        <p:tgtEl>
                                          <p:spTgt spid="1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500"/>
                                        <p:tgtEl>
                                          <p:spTgt spid="151"/>
                                        </p:tgtEl>
                                      </p:cBhvr>
                                    </p:animEffect>
                                    <p:set>
                                      <p:cBhvr>
                                        <p:cTn dur="1" fill="hold">
                                          <p:stCondLst>
                                            <p:cond delay="500"/>
                                          </p:stCondLst>
                                        </p:cTn>
                                        <p:tgtEl>
                                          <p:spTgt spid="15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1"/>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sp>
        <p:nvSpPr>
          <p:cNvPr id="157" name="Google Shape;157;p11"/>
          <p:cNvSpPr/>
          <p:nvPr/>
        </p:nvSpPr>
        <p:spPr>
          <a:xfrm>
            <a:off x="403200" y="905760"/>
            <a:ext cx="8298720" cy="4053600"/>
          </a:xfrm>
          <a:prstGeom prst="rect">
            <a:avLst/>
          </a:prstGeom>
          <a:noFill/>
          <a:ln>
            <a:noFill/>
          </a:ln>
        </p:spPr>
        <p:txBody>
          <a:bodyPr anchorCtr="0" anchor="t" bIns="91425" lIns="91425" spcFirstLastPara="1" rIns="91425" wrap="square" tIns="91425">
            <a:noAutofit/>
          </a:bodyPr>
          <a:lstStyle/>
          <a:p>
            <a:pPr indent="-317520" lvl="0" marL="457200" marR="0" rtl="0" algn="just">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Game models are classified by the number of players, the sum of all payoffs, and the number of strategies employed. </a:t>
            </a:r>
            <a:endParaRPr b="0" i="0" sz="1400" u="none" cap="none" strike="noStrike">
              <a:solidFill>
                <a:srgbClr val="FFFFFF"/>
              </a:solidFill>
              <a:latin typeface="Arial"/>
              <a:ea typeface="Arial"/>
              <a:cs typeface="Arial"/>
              <a:sym typeface="Arial"/>
            </a:endParaRPr>
          </a:p>
          <a:p>
            <a:pPr indent="-317520" lvl="0" marL="457200" marR="0" rtl="0" algn="just">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Due to the mathematical complexity of game theory, we limit the analysis in this module to games that are two person and zero sum. </a:t>
            </a:r>
            <a:endParaRPr b="0" i="0" sz="1400" u="none" cap="none" strike="noStrike">
              <a:solidFill>
                <a:srgbClr val="FFFFFF"/>
              </a:solidFill>
              <a:latin typeface="Arial"/>
              <a:ea typeface="Arial"/>
              <a:cs typeface="Arial"/>
              <a:sym typeface="Arial"/>
            </a:endParaRPr>
          </a:p>
          <a:p>
            <a:pPr indent="-317520" lvl="0" marL="457200" marR="0" rtl="0" algn="just">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two-person game is one in which only two parties can play—as in the case of a union and a company in a bargaining session. For simplicity, X and Y represent the two game players. </a:t>
            </a:r>
            <a:endParaRPr b="0" i="0" sz="1400" u="none" cap="none" strike="noStrike">
              <a:solidFill>
                <a:srgbClr val="FFFFFF"/>
              </a:solidFill>
              <a:latin typeface="Arial"/>
              <a:ea typeface="Arial"/>
              <a:cs typeface="Arial"/>
              <a:sym typeface="Arial"/>
            </a:endParaRPr>
          </a:p>
          <a:p>
            <a:pPr indent="-317520" lvl="0" marL="457200" marR="0" rtl="0" algn="just">
              <a:lnSpc>
                <a:spcPct val="15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Zero sum means that the sum of losses for one player must equal the sum of gains for the other  player. Thus, if X wins 20 points or dollars, Y loses 20 points or dollars. With any zero-sum game, the sum of the gains for one player is always equal to the sum of the losses for the other player. When you sum the gains and losses for both players, the result is zero—hence the name zero-sum games.</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2"/>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pic>
        <p:nvPicPr>
          <p:cNvPr id="163" name="Google Shape;163;p12"/>
          <p:cNvPicPr preferRelativeResize="0"/>
          <p:nvPr/>
        </p:nvPicPr>
        <p:blipFill rotWithShape="1">
          <a:blip r:embed="rId3">
            <a:alphaModFix/>
          </a:blip>
          <a:srcRect b="0" l="0" r="0" t="0"/>
          <a:stretch/>
        </p:blipFill>
        <p:spPr>
          <a:xfrm>
            <a:off x="1684080" y="771480"/>
            <a:ext cx="5226120" cy="1800000"/>
          </a:xfrm>
          <a:prstGeom prst="rect">
            <a:avLst/>
          </a:prstGeom>
          <a:noFill/>
          <a:ln>
            <a:noFill/>
          </a:ln>
        </p:spPr>
      </p:pic>
      <p:sp>
        <p:nvSpPr>
          <p:cNvPr id="164" name="Google Shape;164;p12"/>
          <p:cNvSpPr/>
          <p:nvPr/>
        </p:nvSpPr>
        <p:spPr>
          <a:xfrm>
            <a:off x="580320" y="2999880"/>
            <a:ext cx="7783560" cy="15559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A positive number in Table 1 means that X wins and Y loses. A negative number means that Y wins and X loses. It is obvious from the table that the game favors competitor X, since all values are positive except one. If the game had favored player Y, the values in the table would have been negative. In other words, the game in Table 1 is biased against Y. However, since Y must play the game, he or she will play to minimize total losses.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To do this, Player Y would use the minimax criterion, our next topic.</a:t>
            </a:r>
            <a:endParaRPr b="0" i="0" sz="1400" u="none" cap="none" strike="noStrike">
              <a:solidFill>
                <a:srgbClr val="FFFFFF"/>
              </a:solidFill>
              <a:latin typeface="Arial"/>
              <a:ea typeface="Arial"/>
              <a:cs typeface="Arial"/>
              <a:sym typeface="Arial"/>
            </a:endParaRPr>
          </a:p>
        </p:txBody>
      </p:sp>
      <p:sp>
        <p:nvSpPr>
          <p:cNvPr id="165" name="Google Shape;165;p12"/>
          <p:cNvSpPr/>
          <p:nvPr/>
        </p:nvSpPr>
        <p:spPr>
          <a:xfrm>
            <a:off x="3322080" y="2571840"/>
            <a:ext cx="2999520" cy="33552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Table 1</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3"/>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pic>
        <p:nvPicPr>
          <p:cNvPr id="171" name="Google Shape;171;p13"/>
          <p:cNvPicPr preferRelativeResize="0"/>
          <p:nvPr/>
        </p:nvPicPr>
        <p:blipFill rotWithShape="1">
          <a:blip r:embed="rId3">
            <a:alphaModFix/>
          </a:blip>
          <a:srcRect b="0" l="0" r="0" t="0"/>
          <a:stretch/>
        </p:blipFill>
        <p:spPr>
          <a:xfrm>
            <a:off x="349200" y="792720"/>
            <a:ext cx="8324640" cy="4161960"/>
          </a:xfrm>
          <a:prstGeom prst="rect">
            <a:avLst/>
          </a:prstGeom>
          <a:noFill/>
          <a:ln>
            <a:noFill/>
          </a:ln>
        </p:spPr>
      </p:pic>
      <p:pic>
        <p:nvPicPr>
          <p:cNvPr id="172" name="Google Shape;172;p13"/>
          <p:cNvPicPr preferRelativeResize="0"/>
          <p:nvPr/>
        </p:nvPicPr>
        <p:blipFill rotWithShape="1">
          <a:blip r:embed="rId4">
            <a:alphaModFix/>
          </a:blip>
          <a:srcRect b="0" l="0" r="0" t="0"/>
          <a:stretch/>
        </p:blipFill>
        <p:spPr>
          <a:xfrm>
            <a:off x="4942440" y="140760"/>
            <a:ext cx="3938400" cy="1172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14"/>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The Minimax Criterion</a:t>
            </a:r>
            <a:endParaRPr b="0" sz="1800" strike="noStrike">
              <a:solidFill>
                <a:srgbClr val="000000"/>
              </a:solidFill>
              <a:latin typeface="Arial"/>
              <a:ea typeface="Arial"/>
              <a:cs typeface="Arial"/>
              <a:sym typeface="Arial"/>
            </a:endParaRPr>
          </a:p>
        </p:txBody>
      </p:sp>
      <p:sp>
        <p:nvSpPr>
          <p:cNvPr id="178" name="Google Shape;178;p14"/>
          <p:cNvSpPr/>
          <p:nvPr/>
        </p:nvSpPr>
        <p:spPr>
          <a:xfrm>
            <a:off x="396360" y="700560"/>
            <a:ext cx="7810560" cy="11743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For two-person, zero-sum games, there is a logical approach to finding the solution: In a zero-sum game, each person should choose the strategy that minimizes the maximum loss, called the minimax criterion. This is identical to maximizing one’s minimum gains, so for one player, this could be called the maximin criterion.</a:t>
            </a:r>
            <a:endParaRPr b="0" i="0" sz="1400" u="none" cap="none" strike="noStrike">
              <a:solidFill>
                <a:srgbClr val="FFFFFF"/>
              </a:solidFill>
              <a:latin typeface="Arial"/>
              <a:ea typeface="Arial"/>
              <a:cs typeface="Arial"/>
              <a:sym typeface="Arial"/>
            </a:endParaRPr>
          </a:p>
        </p:txBody>
      </p:sp>
      <p:pic>
        <p:nvPicPr>
          <p:cNvPr id="179" name="Google Shape;179;p14"/>
          <p:cNvPicPr preferRelativeResize="0"/>
          <p:nvPr/>
        </p:nvPicPr>
        <p:blipFill rotWithShape="1">
          <a:blip r:embed="rId3">
            <a:alphaModFix/>
          </a:blip>
          <a:srcRect b="0" l="0" r="0" t="0"/>
          <a:stretch/>
        </p:blipFill>
        <p:spPr>
          <a:xfrm>
            <a:off x="521640" y="1818360"/>
            <a:ext cx="3662640" cy="1261440"/>
          </a:xfrm>
          <a:prstGeom prst="rect">
            <a:avLst/>
          </a:prstGeom>
          <a:noFill/>
          <a:ln>
            <a:noFill/>
          </a:ln>
        </p:spPr>
      </p:pic>
      <p:sp>
        <p:nvSpPr>
          <p:cNvPr id="180" name="Google Shape;180;p14"/>
          <p:cNvSpPr/>
          <p:nvPr/>
        </p:nvSpPr>
        <p:spPr>
          <a:xfrm>
            <a:off x="4414680" y="1818360"/>
            <a:ext cx="4322520" cy="29995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Let us use the example in Table 1 to illustrate the minimax criterion. This is a two-person zero-sum game with the strategies for player Y given as the columns of the table. The values are gains for player X and losses for player Y. Player Y is looking at a maximum loss of 3 if strategy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is selected and a maximum loss of 5 if strategy Y</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is selected. Thus, Player Y should select strategy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which results in a maximum loss of 3 (the minimum of the maximum possible losses). This is called the upper value of the game. Table 2 illustrates this minimax approach.</a:t>
            </a:r>
            <a:endParaRPr b="0" i="0" sz="1400" u="none" cap="none" strike="noStrike">
              <a:solidFill>
                <a:srgbClr val="FFFFFF"/>
              </a:solidFill>
              <a:latin typeface="Arial"/>
              <a:ea typeface="Arial"/>
              <a:cs typeface="Arial"/>
              <a:sym typeface="Arial"/>
            </a:endParaRPr>
          </a:p>
        </p:txBody>
      </p:sp>
      <p:pic>
        <p:nvPicPr>
          <p:cNvPr id="181" name="Google Shape;181;p14"/>
          <p:cNvPicPr preferRelativeResize="0"/>
          <p:nvPr/>
        </p:nvPicPr>
        <p:blipFill rotWithShape="1">
          <a:blip r:embed="rId4">
            <a:alphaModFix/>
          </a:blip>
          <a:srcRect b="0" l="0" r="0" t="0"/>
          <a:stretch/>
        </p:blipFill>
        <p:spPr>
          <a:xfrm>
            <a:off x="521640" y="3332160"/>
            <a:ext cx="3552840" cy="1591560"/>
          </a:xfrm>
          <a:prstGeom prst="rect">
            <a:avLst/>
          </a:prstGeom>
          <a:noFill/>
          <a:ln>
            <a:noFill/>
          </a:ln>
        </p:spPr>
      </p:pic>
      <p:sp>
        <p:nvSpPr>
          <p:cNvPr id="182" name="Google Shape;182;p14"/>
          <p:cNvSpPr/>
          <p:nvPr/>
        </p:nvSpPr>
        <p:spPr>
          <a:xfrm>
            <a:off x="2033640" y="3080160"/>
            <a:ext cx="748800" cy="252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Table 1</a:t>
            </a:r>
            <a:endParaRPr b="0" i="0" sz="1100" u="none" cap="none" strike="noStrike">
              <a:solidFill>
                <a:srgbClr val="FFFFFF"/>
              </a:solidFill>
              <a:latin typeface="Arial"/>
              <a:ea typeface="Arial"/>
              <a:cs typeface="Arial"/>
              <a:sym typeface="Arial"/>
            </a:endParaRPr>
          </a:p>
        </p:txBody>
      </p:sp>
      <p:sp>
        <p:nvSpPr>
          <p:cNvPr id="183" name="Google Shape;183;p14"/>
          <p:cNvSpPr/>
          <p:nvPr/>
        </p:nvSpPr>
        <p:spPr>
          <a:xfrm>
            <a:off x="2033640" y="4761720"/>
            <a:ext cx="748800" cy="2520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b="0" i="0" lang="en" sz="1100" u="none" cap="none" strike="noStrike">
                <a:solidFill>
                  <a:srgbClr val="000000"/>
                </a:solidFill>
                <a:latin typeface="Arial"/>
                <a:ea typeface="Arial"/>
                <a:cs typeface="Arial"/>
                <a:sym typeface="Arial"/>
              </a:rPr>
              <a:t>Table 2</a:t>
            </a:r>
            <a:endParaRPr b="0" i="0" sz="11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81"/>
                                        </p:tgtEl>
                                        <p:attrNameLst>
                                          <p:attrName>style.visibility</p:attrName>
                                        </p:attrNameLst>
                                      </p:cBhvr>
                                      <p:to>
                                        <p:strVal val="visible"/>
                                      </p:to>
                                    </p:set>
                                    <p:anim calcmode="lin" valueType="num">
                                      <p:cBhvr additive="base">
                                        <p:cTn dur="1000"/>
                                        <p:tgtEl>
                                          <p:spTgt spid="181"/>
                                        </p:tgtEl>
                                        <p:attrNameLst>
                                          <p:attrName>ppt_w</p:attrName>
                                        </p:attrNameLst>
                                      </p:cBhvr>
                                      <p:tavLst>
                                        <p:tav fmla="" tm="0">
                                          <p:val>
                                            <p:strVal val="0"/>
                                          </p:val>
                                        </p:tav>
                                        <p:tav fmla="" tm="100000">
                                          <p:val>
                                            <p:strVal val="#ppt_w"/>
                                          </p:val>
                                        </p:tav>
                                      </p:tavLst>
                                    </p:anim>
                                    <p:anim calcmode="lin" valueType="num">
                                      <p:cBhvr additive="base">
                                        <p:cTn dur="1000"/>
                                        <p:tgtEl>
                                          <p:spTgt spid="18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5"/>
          <p:cNvSpPr/>
          <p:nvPr/>
        </p:nvSpPr>
        <p:spPr>
          <a:xfrm>
            <a:off x="367920" y="757080"/>
            <a:ext cx="8411760" cy="418788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In considering the maximin strategy for player X (whose strategies correspond to the rows of the table), let us look at the minimum payoff for each row. The payoffs are +3 for strategy and for strategy X</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and -2 for strategy X</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The maximum of these minimums is +3, which means strategy X</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will be selected. This value (+3) is called the lower value of the game.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If the upper and lower values of a game are the same, this number is called the value of the game, and an equilibrium or saddle point condition exists. For the game presented in Table 2, the value of the game is 3 because this is the value for both the upper and lower values. The value of the game is the average or expected game outcome if the game is played an infinite number of times.</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0" i="0" lang="en" sz="1400" u="none" cap="none" strike="noStrike">
                <a:solidFill>
                  <a:srgbClr val="000000"/>
                </a:solidFill>
                <a:latin typeface="Arial"/>
                <a:ea typeface="Arial"/>
                <a:cs typeface="Arial"/>
                <a:sym typeface="Arial"/>
              </a:rPr>
              <a:t>In implementing the </a:t>
            </a:r>
            <a:r>
              <a:rPr b="0" i="0" lang="en" sz="1400" u="none" cap="none" strike="noStrike">
                <a:solidFill>
                  <a:srgbClr val="FF0000"/>
                </a:solidFill>
                <a:latin typeface="Arial"/>
                <a:ea typeface="Arial"/>
                <a:cs typeface="Arial"/>
                <a:sym typeface="Arial"/>
              </a:rPr>
              <a:t>minimax strategy</a:t>
            </a:r>
            <a:r>
              <a:rPr b="0" i="0" lang="en" sz="1400" u="none" cap="none" strike="noStrike">
                <a:solidFill>
                  <a:srgbClr val="000000"/>
                </a:solidFill>
                <a:latin typeface="Arial"/>
                <a:ea typeface="Arial"/>
                <a:cs typeface="Arial"/>
                <a:sym typeface="Arial"/>
              </a:rPr>
              <a:t>, player </a:t>
            </a:r>
            <a:r>
              <a:rPr b="0" i="0" lang="en" sz="1400" u="none" cap="none" strike="noStrike">
                <a:solidFill>
                  <a:srgbClr val="FF0000"/>
                </a:solidFill>
                <a:latin typeface="Arial"/>
                <a:ea typeface="Arial"/>
                <a:cs typeface="Arial"/>
                <a:sym typeface="Arial"/>
              </a:rPr>
              <a:t>Y will find the maximum value in each column and select the minimum of these maximums</a:t>
            </a:r>
            <a:r>
              <a:rPr b="0" i="0" lang="en" sz="1400" u="none" cap="none" strike="noStrike">
                <a:solidFill>
                  <a:srgbClr val="000000"/>
                </a:solidFill>
                <a:latin typeface="Arial"/>
                <a:ea typeface="Arial"/>
                <a:cs typeface="Arial"/>
                <a:sym typeface="Arial"/>
              </a:rPr>
              <a:t>. In implementing the </a:t>
            </a:r>
            <a:r>
              <a:rPr b="0" i="0" lang="en" sz="1400" u="none" cap="none" strike="noStrike">
                <a:solidFill>
                  <a:srgbClr val="FF0000"/>
                </a:solidFill>
                <a:latin typeface="Arial"/>
                <a:ea typeface="Arial"/>
                <a:cs typeface="Arial"/>
                <a:sym typeface="Arial"/>
              </a:rPr>
              <a:t>maximin strategy</a:t>
            </a:r>
            <a:r>
              <a:rPr b="0" i="0" lang="en" sz="1400" u="none" cap="none" strike="noStrike">
                <a:solidFill>
                  <a:srgbClr val="000000"/>
                </a:solidFill>
                <a:latin typeface="Arial"/>
                <a:ea typeface="Arial"/>
                <a:cs typeface="Arial"/>
                <a:sym typeface="Arial"/>
              </a:rPr>
              <a:t>, player </a:t>
            </a:r>
            <a:r>
              <a:rPr b="0" i="0" lang="en" sz="1400" u="none" cap="none" strike="noStrike">
                <a:solidFill>
                  <a:srgbClr val="FF0000"/>
                </a:solidFill>
                <a:latin typeface="Arial"/>
                <a:ea typeface="Arial"/>
                <a:cs typeface="Arial"/>
                <a:sym typeface="Arial"/>
              </a:rPr>
              <a:t>X will find the minimum value in each row and select the maximum of these minimums</a:t>
            </a:r>
            <a:r>
              <a:rPr b="0" i="0" lang="en" sz="1400" u="none" cap="none" strike="noStrike">
                <a:solidFill>
                  <a:srgbClr val="000000"/>
                </a:solidFill>
                <a:latin typeface="Arial"/>
                <a:ea typeface="Arial"/>
                <a:cs typeface="Arial"/>
                <a:sym typeface="Arial"/>
              </a:rPr>
              <a:t>. When a saddle point is present, this approach will result in pure strategies for each player. Otherwise, the solution to the game will involve mixed strategies. These concepts are discussed in the following sections.</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6"/>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Pure Strategy Games</a:t>
            </a:r>
            <a:endParaRPr b="0" sz="1800" strike="noStrike">
              <a:solidFill>
                <a:srgbClr val="000000"/>
              </a:solidFill>
              <a:latin typeface="Arial"/>
              <a:ea typeface="Arial"/>
              <a:cs typeface="Arial"/>
              <a:sym typeface="Arial"/>
            </a:endParaRPr>
          </a:p>
        </p:txBody>
      </p:sp>
      <p:sp>
        <p:nvSpPr>
          <p:cNvPr id="194" name="Google Shape;194;p16"/>
          <p:cNvSpPr/>
          <p:nvPr/>
        </p:nvSpPr>
        <p:spPr>
          <a:xfrm>
            <a:off x="1095120" y="870120"/>
            <a:ext cx="6234120" cy="132264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When a saddle point is present, the strategy each player should follow will always be the same regardless of the other player’s strategy. This is called a pure strategy.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A saddle point is a situation in which both players are facing pure strategies.</a:t>
            </a:r>
            <a:endParaRPr b="0" i="0" sz="1400" u="none" cap="none" strike="noStrike">
              <a:solidFill>
                <a:srgbClr val="FFFFFF"/>
              </a:solidFill>
              <a:latin typeface="Arial"/>
              <a:ea typeface="Arial"/>
              <a:cs typeface="Arial"/>
              <a:sym typeface="Arial"/>
            </a:endParaRPr>
          </a:p>
        </p:txBody>
      </p:sp>
      <p:pic>
        <p:nvPicPr>
          <p:cNvPr id="195" name="Google Shape;195;p16"/>
          <p:cNvPicPr preferRelativeResize="0"/>
          <p:nvPr/>
        </p:nvPicPr>
        <p:blipFill rotWithShape="1">
          <a:blip r:embed="rId3">
            <a:alphaModFix/>
          </a:blip>
          <a:srcRect b="0" l="0" r="0" t="0"/>
          <a:stretch/>
        </p:blipFill>
        <p:spPr>
          <a:xfrm>
            <a:off x="1116360" y="2072880"/>
            <a:ext cx="6191640" cy="272988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7"/>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Mixed Strategy Games</a:t>
            </a:r>
            <a:endParaRPr b="0" sz="1800" strike="noStrike">
              <a:solidFill>
                <a:srgbClr val="000000"/>
              </a:solidFill>
              <a:latin typeface="Arial"/>
              <a:ea typeface="Arial"/>
              <a:cs typeface="Arial"/>
              <a:sym typeface="Arial"/>
            </a:endParaRPr>
          </a:p>
        </p:txBody>
      </p:sp>
      <p:sp>
        <p:nvSpPr>
          <p:cNvPr id="201" name="Google Shape;201;p17"/>
          <p:cNvSpPr/>
          <p:nvPr/>
        </p:nvSpPr>
        <p:spPr>
          <a:xfrm>
            <a:off x="431640" y="749880"/>
            <a:ext cx="7753680" cy="29995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When there is no saddle point, players will play each strategy for a certain percentage of the time. This is called a mixed strategy game. The most common way to solve a mixed strategy game is to use the expected gain or loss approach. The goal of this approach is for a player to play each strategy a particular percentage of the time so that the expected value of the game does not depend upon what the opponent does. This will only occur if the expected value of each strategy is the same.</a:t>
            </a:r>
            <a:endParaRPr b="0" i="0" sz="1400" u="none" cap="none" strike="noStrike">
              <a:solidFill>
                <a:srgbClr val="FFFFFF"/>
              </a:solidFill>
              <a:latin typeface="Arial"/>
              <a:ea typeface="Arial"/>
              <a:cs typeface="Arial"/>
              <a:sym typeface="Arial"/>
            </a:endParaRPr>
          </a:p>
        </p:txBody>
      </p:sp>
      <p:pic>
        <p:nvPicPr>
          <p:cNvPr id="202" name="Google Shape;202;p17"/>
          <p:cNvPicPr preferRelativeResize="0"/>
          <p:nvPr/>
        </p:nvPicPr>
        <p:blipFill rotWithShape="1">
          <a:blip r:embed="rId3">
            <a:alphaModFix/>
          </a:blip>
          <a:srcRect b="0" l="0" r="0" t="0"/>
          <a:stretch/>
        </p:blipFill>
        <p:spPr>
          <a:xfrm>
            <a:off x="1789200" y="2421360"/>
            <a:ext cx="5038200" cy="21618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8"/>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pic>
        <p:nvPicPr>
          <p:cNvPr id="208" name="Google Shape;208;p18"/>
          <p:cNvPicPr preferRelativeResize="0"/>
          <p:nvPr/>
        </p:nvPicPr>
        <p:blipFill rotWithShape="1">
          <a:blip r:embed="rId3">
            <a:alphaModFix/>
          </a:blip>
          <a:srcRect b="0" l="0" r="0" t="0"/>
          <a:stretch/>
        </p:blipFill>
        <p:spPr>
          <a:xfrm>
            <a:off x="506160" y="806760"/>
            <a:ext cx="8210160" cy="2352240"/>
          </a:xfrm>
          <a:prstGeom prst="rect">
            <a:avLst/>
          </a:prstGeom>
          <a:noFill/>
          <a:ln>
            <a:noFill/>
          </a:ln>
        </p:spPr>
      </p:pic>
      <p:sp>
        <p:nvSpPr>
          <p:cNvPr id="209" name="Google Shape;209;p18"/>
          <p:cNvSpPr/>
          <p:nvPr/>
        </p:nvSpPr>
        <p:spPr>
          <a:xfrm>
            <a:off x="1427760" y="3205080"/>
            <a:ext cx="6367320" cy="93348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     Game Table for Mixed Strategy Game with Percentages (P, Q) Shown</a:t>
            </a:r>
            <a:endParaRPr b="0" i="0" sz="1400" u="none" cap="none" strike="noStrike">
              <a:solidFill>
                <a:srgbClr val="FFFFFF"/>
              </a:solidFill>
              <a:latin typeface="Arial"/>
              <a:ea typeface="Arial"/>
              <a:cs typeface="Arial"/>
              <a:sym typeface="Arial"/>
            </a:endParaRPr>
          </a:p>
        </p:txBody>
      </p:sp>
      <p:sp>
        <p:nvSpPr>
          <p:cNvPr id="210" name="Google Shape;210;p18"/>
          <p:cNvSpPr/>
          <p:nvPr/>
        </p:nvSpPr>
        <p:spPr>
          <a:xfrm>
            <a:off x="1514160" y="3247560"/>
            <a:ext cx="176760" cy="254520"/>
          </a:xfrm>
          <a:prstGeom prst="upArrow">
            <a:avLst>
              <a:gd fmla="val 50000" name="adj1"/>
              <a:gd fmla="val 50000" name="adj2"/>
            </a:avLst>
          </a:prstGeom>
          <a:solidFill>
            <a:schemeClr val="lt2"/>
          </a:solidFill>
          <a:ln cap="flat" cmpd="sng" w="9525">
            <a:solidFill>
              <a:srgbClr val="42424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19"/>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sp>
        <p:nvSpPr>
          <p:cNvPr id="216" name="Google Shape;216;p19"/>
          <p:cNvSpPr/>
          <p:nvPr/>
        </p:nvSpPr>
        <p:spPr>
          <a:xfrm>
            <a:off x="537840" y="1018800"/>
            <a:ext cx="8065080" cy="331092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Therefore, to solve this, we set these two expected values equal, as follows:</a:t>
            </a:r>
            <a:endParaRPr b="0" i="0" sz="1400" u="none" cap="none" strike="noStrike">
              <a:solidFill>
                <a:srgbClr val="FFFFFF"/>
              </a:solidFill>
              <a:latin typeface="Arial"/>
              <a:ea typeface="Arial"/>
              <a:cs typeface="Arial"/>
              <a:sym typeface="Arial"/>
            </a:endParaRPr>
          </a:p>
          <a:p>
            <a:pPr indent="0" lvl="0" marL="0" marR="0" rtl="0" algn="just">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i="1" lang="en" sz="1400" u="none" cap="none" strike="noStrike">
                <a:solidFill>
                  <a:srgbClr val="000000"/>
                </a:solidFill>
                <a:latin typeface="Arial"/>
                <a:ea typeface="Arial"/>
                <a:cs typeface="Arial"/>
                <a:sym typeface="Arial"/>
              </a:rPr>
              <a:t>4P + 2(1 - P) = 1P + 10(1 - P)</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Solving this for P, we have</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i="1" lang="en" sz="1400" u="none" cap="none" strike="noStrike">
                <a:solidFill>
                  <a:srgbClr val="000000"/>
                </a:solidFill>
                <a:latin typeface="Arial"/>
                <a:ea typeface="Arial"/>
                <a:cs typeface="Arial"/>
                <a:sym typeface="Arial"/>
              </a:rPr>
              <a:t>P = 8/11</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and</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rPr b="0" i="1" lang="en" sz="1400" u="none" cap="none" strike="noStrike">
                <a:solidFill>
                  <a:srgbClr val="000000"/>
                </a:solidFill>
                <a:latin typeface="Arial"/>
                <a:ea typeface="Arial"/>
                <a:cs typeface="Arial"/>
                <a:sym typeface="Arial"/>
              </a:rPr>
              <a:t>1 - P = 1 - 8/11 = 3/11</a:t>
            </a:r>
            <a:endParaRPr b="0" i="0" sz="1400" u="none" cap="none" strike="noStrike">
              <a:solidFill>
                <a:srgbClr val="FFFFFF"/>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Thus, 8/11 and 3/11 indicate how often player Y will choose strategies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and Y</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respectively. The expected value computed with these percentages is</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rPr b="0" i="1" lang="en" sz="1400" u="none" cap="none" strike="noStrike">
                <a:solidFill>
                  <a:srgbClr val="000000"/>
                </a:solidFill>
                <a:latin typeface="Arial"/>
                <a:ea typeface="Arial"/>
                <a:cs typeface="Arial"/>
                <a:sym typeface="Arial"/>
              </a:rPr>
              <a:t>1P + 10(1 - P) = 1(8/11) + 10(3/11) = 38/11 = 3.46</a:t>
            </a:r>
            <a:endParaRPr b="0" i="0" sz="14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0"/>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sp>
        <p:nvSpPr>
          <p:cNvPr id="222" name="Google Shape;222;p20"/>
          <p:cNvSpPr/>
          <p:nvPr/>
        </p:nvSpPr>
        <p:spPr>
          <a:xfrm>
            <a:off x="502200" y="933840"/>
            <a:ext cx="7831440" cy="393336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None/>
            </a:pPr>
            <a:r>
              <a:rPr b="0" i="0" lang="en" sz="1400" u="none" cap="none" strike="noStrike">
                <a:solidFill>
                  <a:srgbClr val="000000"/>
                </a:solidFill>
                <a:latin typeface="Arial"/>
                <a:ea typeface="Arial"/>
                <a:cs typeface="Arial"/>
                <a:sym typeface="Arial"/>
              </a:rPr>
              <a:t>Performing a similar analysis for player X, we let Q be the percentage of the time that strategy is played and be the percentage of the time that strategy is played. Using these, we compute the expected gain shown in Table. We set these equal, as follows:</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rPr b="0" i="1" lang="en" sz="1400" u="none" cap="none" strike="noStrike">
                <a:solidFill>
                  <a:srgbClr val="000000"/>
                </a:solidFill>
                <a:latin typeface="Arial"/>
                <a:ea typeface="Arial"/>
                <a:cs typeface="Arial"/>
                <a:sym typeface="Arial"/>
              </a:rPr>
              <a:t>4Q + 1(1 - Q) = 2Q + 10(1 - Q)</a:t>
            </a:r>
            <a:endParaRPr b="0" i="0" sz="14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Solving for Q, we get</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rPr b="0" i="1" lang="en" sz="1400" u="none" cap="none" strike="noStrike">
                <a:solidFill>
                  <a:srgbClr val="000000"/>
                </a:solidFill>
                <a:latin typeface="Arial"/>
                <a:ea typeface="Arial"/>
                <a:cs typeface="Arial"/>
                <a:sym typeface="Arial"/>
              </a:rPr>
              <a:t>Q = 9/11</a:t>
            </a:r>
            <a:endParaRPr b="0" i="0" sz="14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and</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rPr b="0" i="1" lang="en" sz="1400" u="none" cap="none" strike="noStrike">
                <a:solidFill>
                  <a:srgbClr val="000000"/>
                </a:solidFill>
                <a:latin typeface="Arial"/>
                <a:ea typeface="Arial"/>
                <a:cs typeface="Arial"/>
                <a:sym typeface="Arial"/>
              </a:rPr>
              <a:t>1 - Q = 2/11</a:t>
            </a:r>
            <a:endParaRPr b="0" i="0" sz="1400" u="none" cap="none" strike="noStrike">
              <a:solidFill>
                <a:srgbClr val="FFFFFF"/>
              </a:solidFill>
              <a:latin typeface="Arial"/>
              <a:ea typeface="Arial"/>
              <a:cs typeface="Arial"/>
              <a:sym typeface="Arial"/>
            </a:endParaRPr>
          </a:p>
          <a:p>
            <a:pPr indent="0" lvl="0" marL="0" marR="0" rtl="0" algn="ctr">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0" i="0" lang="en" sz="1400" u="none" cap="none" strike="noStrike">
                <a:solidFill>
                  <a:srgbClr val="000000"/>
                </a:solidFill>
                <a:latin typeface="Arial"/>
                <a:ea typeface="Arial"/>
                <a:cs typeface="Arial"/>
                <a:sym typeface="Arial"/>
              </a:rPr>
              <a:t>Thus, 9/11 and  2/11 indicate how often player X will choose strategies X1 and X2 respectively. The expected gains with these probabilities will also be 38/11, or 3.46.</a:t>
            </a:r>
            <a:endParaRPr b="0" i="0" sz="14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1"/>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Dominance</a:t>
            </a:r>
            <a:endParaRPr b="0" sz="1800" strike="noStrike">
              <a:solidFill>
                <a:srgbClr val="000000"/>
              </a:solidFill>
              <a:latin typeface="Arial"/>
              <a:ea typeface="Arial"/>
              <a:cs typeface="Arial"/>
              <a:sym typeface="Arial"/>
            </a:endParaRPr>
          </a:p>
        </p:txBody>
      </p:sp>
      <p:sp>
        <p:nvSpPr>
          <p:cNvPr id="228" name="Google Shape;228;p21"/>
          <p:cNvSpPr/>
          <p:nvPr/>
        </p:nvSpPr>
        <p:spPr>
          <a:xfrm>
            <a:off x="410400" y="702360"/>
            <a:ext cx="7895520" cy="26881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The principle of dominance can be used to reduce the size of games by eliminating strategies that would never be played. A strategy for a player is said to be dominated if the player can always do as well or better playing another strategy. Any dominated strategy can be eliminated from the game. In other words, a strategy can be eliminated if all its game’s outcomes are the same or worse than the corresponding game outcomes of another strategy.</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Using the principle of dominance, we reduce the size of the following game:</a:t>
            </a:r>
            <a:endParaRPr b="0" i="0" sz="1400" u="none" cap="none" strike="noStrike">
              <a:solidFill>
                <a:srgbClr val="FFFFFF"/>
              </a:solidFill>
              <a:latin typeface="Arial"/>
              <a:ea typeface="Arial"/>
              <a:cs typeface="Arial"/>
              <a:sym typeface="Arial"/>
            </a:endParaRPr>
          </a:p>
        </p:txBody>
      </p:sp>
      <p:pic>
        <p:nvPicPr>
          <p:cNvPr id="229" name="Google Shape;229;p21"/>
          <p:cNvPicPr preferRelativeResize="0"/>
          <p:nvPr/>
        </p:nvPicPr>
        <p:blipFill rotWithShape="1">
          <a:blip r:embed="rId3">
            <a:alphaModFix/>
          </a:blip>
          <a:srcRect b="0" l="0" r="0" t="0"/>
          <a:stretch/>
        </p:blipFill>
        <p:spPr>
          <a:xfrm>
            <a:off x="482760" y="2377440"/>
            <a:ext cx="1427040" cy="1097640"/>
          </a:xfrm>
          <a:prstGeom prst="rect">
            <a:avLst/>
          </a:prstGeom>
          <a:noFill/>
          <a:ln>
            <a:noFill/>
          </a:ln>
        </p:spPr>
      </p:pic>
      <p:pic>
        <p:nvPicPr>
          <p:cNvPr id="230" name="Google Shape;230;p21"/>
          <p:cNvPicPr preferRelativeResize="0"/>
          <p:nvPr/>
        </p:nvPicPr>
        <p:blipFill rotWithShape="1">
          <a:blip r:embed="rId4">
            <a:alphaModFix/>
          </a:blip>
          <a:srcRect b="0" l="0" r="0" t="0"/>
          <a:stretch/>
        </p:blipFill>
        <p:spPr>
          <a:xfrm>
            <a:off x="6806160" y="2377440"/>
            <a:ext cx="1566360" cy="929160"/>
          </a:xfrm>
          <a:prstGeom prst="rect">
            <a:avLst/>
          </a:prstGeom>
          <a:noFill/>
          <a:ln>
            <a:noFill/>
          </a:ln>
        </p:spPr>
      </p:pic>
      <p:pic>
        <p:nvPicPr>
          <p:cNvPr id="231" name="Google Shape;231;p21"/>
          <p:cNvPicPr preferRelativeResize="0"/>
          <p:nvPr/>
        </p:nvPicPr>
        <p:blipFill rotWithShape="1">
          <a:blip r:embed="rId5">
            <a:alphaModFix/>
          </a:blip>
          <a:srcRect b="0" l="0" r="0" t="0"/>
          <a:stretch/>
        </p:blipFill>
        <p:spPr>
          <a:xfrm>
            <a:off x="482760" y="3869640"/>
            <a:ext cx="3379680" cy="1174680"/>
          </a:xfrm>
          <a:prstGeom prst="rect">
            <a:avLst/>
          </a:prstGeom>
          <a:noFill/>
          <a:ln>
            <a:noFill/>
          </a:ln>
        </p:spPr>
      </p:pic>
      <p:pic>
        <p:nvPicPr>
          <p:cNvPr id="232" name="Google Shape;232;p21"/>
          <p:cNvPicPr preferRelativeResize="0"/>
          <p:nvPr/>
        </p:nvPicPr>
        <p:blipFill rotWithShape="1">
          <a:blip r:embed="rId6">
            <a:alphaModFix/>
          </a:blip>
          <a:srcRect b="0" l="0" r="0" t="0"/>
          <a:stretch/>
        </p:blipFill>
        <p:spPr>
          <a:xfrm>
            <a:off x="6643440" y="3869640"/>
            <a:ext cx="2040480" cy="1097640"/>
          </a:xfrm>
          <a:prstGeom prst="rect">
            <a:avLst/>
          </a:prstGeom>
          <a:noFill/>
          <a:ln>
            <a:noFill/>
          </a:ln>
        </p:spPr>
      </p:pic>
      <p:sp>
        <p:nvSpPr>
          <p:cNvPr id="233" name="Google Shape;233;p21"/>
          <p:cNvSpPr/>
          <p:nvPr/>
        </p:nvSpPr>
        <p:spPr>
          <a:xfrm>
            <a:off x="2012760" y="2508840"/>
            <a:ext cx="4690440" cy="8352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In this game, X</a:t>
            </a:r>
            <a:r>
              <a:rPr b="0" baseline="-25000" i="0" lang="en" sz="1400" u="none" cap="none" strike="noStrike">
                <a:solidFill>
                  <a:srgbClr val="000000"/>
                </a:solidFill>
                <a:latin typeface="Arial"/>
                <a:ea typeface="Arial"/>
                <a:cs typeface="Arial"/>
                <a:sym typeface="Arial"/>
              </a:rPr>
              <a:t>3</a:t>
            </a:r>
            <a:r>
              <a:rPr b="0" i="0" lang="en" sz="1400" u="none" cap="none" strike="noStrike">
                <a:solidFill>
                  <a:srgbClr val="000000"/>
                </a:solidFill>
                <a:latin typeface="Arial"/>
                <a:ea typeface="Arial"/>
                <a:cs typeface="Arial"/>
                <a:sym typeface="Arial"/>
              </a:rPr>
              <a:t> will never be played because X can always do better by playing X</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or  X</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The new game is </a:t>
            </a:r>
            <a:endParaRPr b="0" i="0" sz="1400" u="none" cap="none" strike="noStrike">
              <a:solidFill>
                <a:srgbClr val="FFFFFF"/>
              </a:solidFill>
              <a:latin typeface="Arial"/>
              <a:ea typeface="Arial"/>
              <a:cs typeface="Arial"/>
              <a:sym typeface="Arial"/>
            </a:endParaRPr>
          </a:p>
        </p:txBody>
      </p:sp>
      <p:sp>
        <p:nvSpPr>
          <p:cNvPr id="234" name="Google Shape;234;p21"/>
          <p:cNvSpPr/>
          <p:nvPr/>
        </p:nvSpPr>
        <p:spPr>
          <a:xfrm>
            <a:off x="6449760" y="2866320"/>
            <a:ext cx="263880" cy="119880"/>
          </a:xfrm>
          <a:prstGeom prst="rightArrow">
            <a:avLst>
              <a:gd fmla="val 50000" name="adj1"/>
              <a:gd fmla="val 50000" name="adj2"/>
            </a:avLst>
          </a:prstGeom>
          <a:solidFill>
            <a:schemeClr val="lt2"/>
          </a:solidFill>
          <a:ln cap="flat" cmpd="sng" w="9525">
            <a:solidFill>
              <a:srgbClr val="424242"/>
            </a:solidFill>
            <a:prstDash val="solid"/>
            <a:round/>
            <a:headEnd len="sm" w="sm" type="none"/>
            <a:tailEnd len="sm" w="sm" type="none"/>
          </a:ln>
        </p:spPr>
        <p:txBody>
          <a:bodyPr anchorCtr="0" anchor="ctr" bIns="29875" lIns="91425" spcFirstLastPara="1" rIns="91425" wrap="square" tIns="2987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35" name="Google Shape;235;p21"/>
          <p:cNvSpPr/>
          <p:nvPr/>
        </p:nvSpPr>
        <p:spPr>
          <a:xfrm>
            <a:off x="525240" y="3522960"/>
            <a:ext cx="2270520" cy="34632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1400" u="none" cap="none" strike="noStrike">
                <a:solidFill>
                  <a:srgbClr val="000000"/>
                </a:solidFill>
                <a:latin typeface="Arial"/>
                <a:ea typeface="Arial"/>
                <a:cs typeface="Arial"/>
                <a:sym typeface="Arial"/>
              </a:rPr>
              <a:t>Here is another example:</a:t>
            </a:r>
            <a:endParaRPr b="0" i="0" sz="1400" u="none" cap="none" strike="noStrike">
              <a:solidFill>
                <a:srgbClr val="FFFFFF"/>
              </a:solidFill>
              <a:latin typeface="Arial"/>
              <a:ea typeface="Arial"/>
              <a:cs typeface="Arial"/>
              <a:sym typeface="Arial"/>
            </a:endParaRPr>
          </a:p>
        </p:txBody>
      </p:sp>
      <p:sp>
        <p:nvSpPr>
          <p:cNvPr id="236" name="Google Shape;236;p21"/>
          <p:cNvSpPr/>
          <p:nvPr/>
        </p:nvSpPr>
        <p:spPr>
          <a:xfrm>
            <a:off x="3862800" y="3847680"/>
            <a:ext cx="2840400" cy="106092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In this game, Y would never play Y</a:t>
            </a:r>
            <a:r>
              <a:rPr b="0" baseline="-25000" i="0" lang="en" sz="1400" u="none" cap="none" strike="noStrike">
                <a:solidFill>
                  <a:srgbClr val="000000"/>
                </a:solidFill>
                <a:latin typeface="Arial"/>
                <a:ea typeface="Arial"/>
                <a:cs typeface="Arial"/>
                <a:sym typeface="Arial"/>
              </a:rPr>
              <a:t>2</a:t>
            </a:r>
            <a:r>
              <a:rPr b="0" i="0" lang="en" sz="1400" u="none" cap="none" strike="noStrike">
                <a:solidFill>
                  <a:srgbClr val="000000"/>
                </a:solidFill>
                <a:latin typeface="Arial"/>
                <a:ea typeface="Arial"/>
                <a:cs typeface="Arial"/>
                <a:sym typeface="Arial"/>
              </a:rPr>
              <a:t> and Y</a:t>
            </a:r>
            <a:r>
              <a:rPr b="0" baseline="-25000" i="0" lang="en" sz="1400" u="none" cap="none" strike="noStrike">
                <a:solidFill>
                  <a:srgbClr val="000000"/>
                </a:solidFill>
                <a:latin typeface="Arial"/>
                <a:ea typeface="Arial"/>
                <a:cs typeface="Arial"/>
                <a:sym typeface="Arial"/>
              </a:rPr>
              <a:t>3</a:t>
            </a:r>
            <a:r>
              <a:rPr b="0" i="0" lang="en" sz="1400" u="none" cap="none" strike="noStrike">
                <a:solidFill>
                  <a:srgbClr val="000000"/>
                </a:solidFill>
                <a:latin typeface="Arial"/>
                <a:ea typeface="Arial"/>
                <a:cs typeface="Arial"/>
                <a:sym typeface="Arial"/>
              </a:rPr>
              <a:t> because Y could always do better playing Y</a:t>
            </a:r>
            <a:r>
              <a:rPr b="0" baseline="-25000" i="0" lang="en" sz="1400" u="none" cap="none" strike="noStrike">
                <a:solidFill>
                  <a:srgbClr val="000000"/>
                </a:solidFill>
                <a:latin typeface="Arial"/>
                <a:ea typeface="Arial"/>
                <a:cs typeface="Arial"/>
                <a:sym typeface="Arial"/>
              </a:rPr>
              <a:t>1</a:t>
            </a:r>
            <a:r>
              <a:rPr b="0" i="0" lang="en" sz="1400" u="none" cap="none" strike="noStrike">
                <a:solidFill>
                  <a:srgbClr val="000000"/>
                </a:solidFill>
                <a:latin typeface="Arial"/>
                <a:ea typeface="Arial"/>
                <a:cs typeface="Arial"/>
                <a:sym typeface="Arial"/>
              </a:rPr>
              <a:t> or Y</a:t>
            </a:r>
            <a:r>
              <a:rPr b="0" baseline="-25000" i="0" lang="en" sz="1400" u="none" cap="none" strike="noStrike">
                <a:solidFill>
                  <a:srgbClr val="000000"/>
                </a:solidFill>
                <a:latin typeface="Arial"/>
                <a:ea typeface="Arial"/>
                <a:cs typeface="Arial"/>
                <a:sym typeface="Arial"/>
              </a:rPr>
              <a:t>4</a:t>
            </a:r>
            <a:endParaRPr b="0" i="0" sz="1400" u="none" cap="none" strike="noStrike">
              <a:solidFill>
                <a:srgbClr val="FFFFFF"/>
              </a:solidFill>
              <a:latin typeface="Arial"/>
              <a:ea typeface="Arial"/>
              <a:cs typeface="Arial"/>
              <a:sym typeface="Arial"/>
            </a:endParaRPr>
          </a:p>
          <a:p>
            <a:pPr indent="0" lvl="0" marL="0" marR="0" rtl="0" algn="just">
              <a:lnSpc>
                <a:spcPct val="115000"/>
              </a:lnSpc>
              <a:spcBef>
                <a:spcPts val="0"/>
              </a:spcBef>
              <a:spcAft>
                <a:spcPts val="0"/>
              </a:spcAft>
              <a:buNone/>
            </a:pPr>
            <a:r>
              <a:rPr b="0" i="0" lang="en" sz="1400" u="none" cap="none" strike="noStrike">
                <a:solidFill>
                  <a:srgbClr val="000000"/>
                </a:solidFill>
                <a:latin typeface="Arial"/>
                <a:ea typeface="Arial"/>
                <a:cs typeface="Arial"/>
                <a:sym typeface="Arial"/>
              </a:rPr>
              <a:t>The new game is</a:t>
            </a:r>
            <a:endParaRPr b="0" i="0" sz="1400" u="none" cap="none" strike="noStrike">
              <a:solidFill>
                <a:srgbClr val="FFFFFF"/>
              </a:solidFill>
              <a:latin typeface="Arial"/>
              <a:ea typeface="Arial"/>
              <a:cs typeface="Arial"/>
              <a:sym typeface="Arial"/>
            </a:endParaRPr>
          </a:p>
        </p:txBody>
      </p:sp>
      <p:sp>
        <p:nvSpPr>
          <p:cNvPr id="237" name="Google Shape;237;p21"/>
          <p:cNvSpPr/>
          <p:nvPr/>
        </p:nvSpPr>
        <p:spPr>
          <a:xfrm>
            <a:off x="6185520" y="4744440"/>
            <a:ext cx="263880" cy="119880"/>
          </a:xfrm>
          <a:prstGeom prst="rightArrow">
            <a:avLst>
              <a:gd fmla="val 50000" name="adj1"/>
              <a:gd fmla="val 50000" name="adj2"/>
            </a:avLst>
          </a:prstGeom>
          <a:solidFill>
            <a:schemeClr val="lt2"/>
          </a:solidFill>
          <a:ln cap="flat" cmpd="sng" w="9525">
            <a:solidFill>
              <a:srgbClr val="424242"/>
            </a:solidFill>
            <a:prstDash val="solid"/>
            <a:round/>
            <a:headEnd len="sm" w="sm" type="none"/>
            <a:tailEnd len="sm" w="sm" type="none"/>
          </a:ln>
        </p:spPr>
        <p:txBody>
          <a:bodyPr anchorCtr="0" anchor="ctr" bIns="29875" lIns="91425" spcFirstLastPara="1" rIns="91425" wrap="square" tIns="29875">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22"/>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Summary</a:t>
            </a:r>
            <a:endParaRPr b="0" sz="1800" strike="noStrike">
              <a:solidFill>
                <a:srgbClr val="000000"/>
              </a:solidFill>
              <a:latin typeface="Arial"/>
              <a:ea typeface="Arial"/>
              <a:cs typeface="Arial"/>
              <a:sym typeface="Arial"/>
            </a:endParaRPr>
          </a:p>
        </p:txBody>
      </p:sp>
      <p:sp>
        <p:nvSpPr>
          <p:cNvPr id="243" name="Google Shape;243;p22"/>
          <p:cNvSpPr/>
          <p:nvPr/>
        </p:nvSpPr>
        <p:spPr>
          <a:xfrm>
            <a:off x="438480" y="962280"/>
            <a:ext cx="8178120" cy="3657240"/>
          </a:xfrm>
          <a:prstGeom prst="rect">
            <a:avLst/>
          </a:prstGeom>
          <a:noFill/>
          <a:ln>
            <a:noFill/>
          </a:ln>
        </p:spPr>
        <p:txBody>
          <a:bodyPr anchorCtr="0" anchor="t" bIns="91425" lIns="91425" spcFirstLastPara="1" rIns="91425" wrap="square" tIns="91425">
            <a:noAutofit/>
          </a:bodyPr>
          <a:lstStyle/>
          <a:p>
            <a:pPr indent="-317520" lvl="0" marL="457200" marR="0" rtl="0" algn="just">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Game theory is the study of how optimal strategies are formulated in conflict. Because of the mathematical complexities of game theory, this module is limited to two-person and zero-sum games. </a:t>
            </a:r>
            <a:endParaRPr b="0" i="0" sz="1400" u="none" cap="none" strike="noStrike">
              <a:solidFill>
                <a:srgbClr val="FFFFFF"/>
              </a:solidFill>
              <a:latin typeface="Arial"/>
              <a:ea typeface="Arial"/>
              <a:cs typeface="Arial"/>
              <a:sym typeface="Arial"/>
            </a:endParaRPr>
          </a:p>
          <a:p>
            <a:pPr indent="-317520" lvl="0" marL="457200" marR="0" rtl="0" algn="just">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A two-person game allows only two people or two groups to be involved in the game. Zero sum means that the sum of the losses for one player must equal the sum of the gains for the other player. The overall sum of the losses and gains for both players, in other words, must be zero.  </a:t>
            </a:r>
            <a:endParaRPr b="0" i="0" sz="1400" u="none" cap="none" strike="noStrike">
              <a:solidFill>
                <a:srgbClr val="FFFFFF"/>
              </a:solidFill>
              <a:latin typeface="Arial"/>
              <a:ea typeface="Arial"/>
              <a:cs typeface="Arial"/>
              <a:sym typeface="Arial"/>
            </a:endParaRPr>
          </a:p>
          <a:p>
            <a:pPr indent="-317520" lvl="0" marL="457200" marR="0" rtl="0" algn="just">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Depending on the actual payoffs in the game and the size of the game, a number of solution techniques can be used. </a:t>
            </a:r>
            <a:endParaRPr b="0" i="0" sz="1400" u="none" cap="none" strike="noStrike">
              <a:solidFill>
                <a:srgbClr val="FFFFFF"/>
              </a:solidFill>
              <a:latin typeface="Arial"/>
              <a:ea typeface="Arial"/>
              <a:cs typeface="Arial"/>
              <a:sym typeface="Arial"/>
            </a:endParaRPr>
          </a:p>
          <a:p>
            <a:pPr indent="-317520" lvl="0" marL="457200" marR="0" rtl="0" algn="just">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In a pure strategy game, strategies for the players can be obtained without making any calculations. </a:t>
            </a:r>
            <a:endParaRPr b="0" i="0" sz="1400" u="none" cap="none" strike="noStrike">
              <a:solidFill>
                <a:srgbClr val="FFFFFF"/>
              </a:solidFill>
              <a:latin typeface="Arial"/>
              <a:ea typeface="Arial"/>
              <a:cs typeface="Arial"/>
              <a:sym typeface="Arial"/>
            </a:endParaRPr>
          </a:p>
          <a:p>
            <a:pPr indent="-317520" lvl="0" marL="457200" marR="0" rtl="0" algn="just">
              <a:lnSpc>
                <a:spcPct val="115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When there is not a pure strategy, also called a saddle point, for both players, it is necessary to use other techniques, such as the mixed strategy approach, dominance, and a computer solution for games larger than 2 X 2.</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Glossary</a:t>
            </a:r>
            <a:endParaRPr b="0" sz="1800" strike="noStrike">
              <a:solidFill>
                <a:srgbClr val="000000"/>
              </a:solidFill>
              <a:latin typeface="Arial"/>
              <a:ea typeface="Arial"/>
              <a:cs typeface="Arial"/>
              <a:sym typeface="Arial"/>
            </a:endParaRPr>
          </a:p>
        </p:txBody>
      </p:sp>
      <p:sp>
        <p:nvSpPr>
          <p:cNvPr id="249" name="Google Shape;249;p23"/>
          <p:cNvSpPr/>
          <p:nvPr/>
        </p:nvSpPr>
        <p:spPr>
          <a:xfrm>
            <a:off x="389160" y="792360"/>
            <a:ext cx="8383320" cy="3975840"/>
          </a:xfrm>
          <a:prstGeom prst="rect">
            <a:avLst/>
          </a:prstGeom>
          <a:noFill/>
          <a:ln>
            <a:noFill/>
          </a:ln>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Dominance</a:t>
            </a:r>
            <a:r>
              <a:rPr b="0" i="0" lang="en" sz="1400" u="none" cap="none" strike="noStrike">
                <a:solidFill>
                  <a:srgbClr val="000000"/>
                </a:solidFill>
                <a:latin typeface="Arial"/>
                <a:ea typeface="Arial"/>
                <a:cs typeface="Arial"/>
                <a:sym typeface="Arial"/>
              </a:rPr>
              <a:t> 	A procedure that is used to reduce the size of the game.</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Minimax Criterion	</a:t>
            </a:r>
            <a:r>
              <a:rPr b="0" i="0" lang="en" sz="1400" u="none" cap="none" strike="noStrike">
                <a:solidFill>
                  <a:srgbClr val="000000"/>
                </a:solidFill>
                <a:latin typeface="Arial"/>
                <a:ea typeface="Arial"/>
                <a:cs typeface="Arial"/>
                <a:sym typeface="Arial"/>
              </a:rPr>
              <a:t> A criterion that minimizes one’s maximum losses. This is another way of solving a pure strategy game.</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Mixed Strategy Game	</a:t>
            </a:r>
            <a:r>
              <a:rPr b="0" i="0" lang="en" sz="1400" u="none" cap="none" strike="noStrike">
                <a:solidFill>
                  <a:srgbClr val="000000"/>
                </a:solidFill>
                <a:latin typeface="Arial"/>
                <a:ea typeface="Arial"/>
                <a:cs typeface="Arial"/>
                <a:sym typeface="Arial"/>
              </a:rPr>
              <a:t> A game in which the optimal strategy for both players involves playing more than one strategy over time. Each strategy is played a given percentage of the time.</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Pure Strategy</a:t>
            </a:r>
            <a:r>
              <a:rPr b="0" i="0" lang="en" sz="1400" u="none" cap="none" strike="noStrike">
                <a:solidFill>
                  <a:srgbClr val="000000"/>
                </a:solidFill>
                <a:latin typeface="Arial"/>
                <a:ea typeface="Arial"/>
                <a:cs typeface="Arial"/>
                <a:sym typeface="Arial"/>
              </a:rPr>
              <a:t> 	A game in which both players will always play just one strategy.</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Saddle Point	</a:t>
            </a:r>
            <a:r>
              <a:rPr b="0" i="0" lang="en" sz="1400" u="none" cap="none" strike="noStrike">
                <a:solidFill>
                  <a:srgbClr val="000000"/>
                </a:solidFill>
                <a:latin typeface="Arial"/>
                <a:ea typeface="Arial"/>
                <a:cs typeface="Arial"/>
                <a:sym typeface="Arial"/>
              </a:rPr>
              <a:t> Game A game that has a pure strategy.</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Two-Person Game	</a:t>
            </a:r>
            <a:r>
              <a:rPr b="0" i="0" lang="en" sz="1400" u="none" cap="none" strike="noStrike">
                <a:solidFill>
                  <a:srgbClr val="000000"/>
                </a:solidFill>
                <a:latin typeface="Arial"/>
                <a:ea typeface="Arial"/>
                <a:cs typeface="Arial"/>
                <a:sym typeface="Arial"/>
              </a:rPr>
              <a:t> A game that has only two players.</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Value of the Game	</a:t>
            </a:r>
            <a:r>
              <a:rPr b="0" i="0" lang="en" sz="1400" u="none" cap="none" strike="noStrike">
                <a:solidFill>
                  <a:srgbClr val="000000"/>
                </a:solidFill>
                <a:latin typeface="Arial"/>
                <a:ea typeface="Arial"/>
                <a:cs typeface="Arial"/>
                <a:sym typeface="Arial"/>
              </a:rPr>
              <a:t> The expected winnings of the game if the game is played a large number of times.</a:t>
            </a:r>
            <a:endParaRPr b="0" i="0" sz="1400" u="none" cap="none" strike="noStrike">
              <a:solidFill>
                <a:srgbClr val="FFFFFF"/>
              </a:solidFill>
              <a:latin typeface="Arial"/>
              <a:ea typeface="Arial"/>
              <a:cs typeface="Arial"/>
              <a:sym typeface="Arial"/>
            </a:endParaRPr>
          </a:p>
          <a:p>
            <a:pPr indent="0" lvl="0" marL="0" marR="0" rtl="0" algn="just">
              <a:lnSpc>
                <a:spcPct val="150000"/>
              </a:lnSpc>
              <a:spcBef>
                <a:spcPts val="0"/>
              </a:spcBef>
              <a:spcAft>
                <a:spcPts val="0"/>
              </a:spcAft>
              <a:buNone/>
            </a:pPr>
            <a:r>
              <a:rPr b="1" i="0" lang="en" sz="1400" u="none" cap="none" strike="noStrike">
                <a:solidFill>
                  <a:srgbClr val="000000"/>
                </a:solidFill>
                <a:latin typeface="Arial"/>
                <a:ea typeface="Arial"/>
                <a:cs typeface="Arial"/>
                <a:sym typeface="Arial"/>
              </a:rPr>
              <a:t>Zero-Sum Game	</a:t>
            </a:r>
            <a:r>
              <a:rPr b="0" i="0" lang="en" sz="1400" u="none" cap="none" strike="noStrike">
                <a:solidFill>
                  <a:srgbClr val="000000"/>
                </a:solidFill>
                <a:latin typeface="Arial"/>
                <a:ea typeface="Arial"/>
                <a:cs typeface="Arial"/>
                <a:sym typeface="Arial"/>
              </a:rPr>
              <a:t> A game in which the losses for one player equal the gains for the other player.</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4"/>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90000"/>
              </a:lnSpc>
              <a:spcBef>
                <a:spcPts val="0"/>
              </a:spcBef>
              <a:spcAft>
                <a:spcPts val="0"/>
              </a:spcAft>
              <a:buClr>
                <a:schemeClr val="dk1"/>
              </a:buClr>
              <a:buSzPts val="1800"/>
              <a:buFont typeface="Arial"/>
              <a:buNone/>
            </a:pPr>
            <a:r>
              <a:t/>
            </a:r>
            <a:endParaRPr b="0" sz="1800" strike="noStrike">
              <a:solidFill>
                <a:schemeClr val="lt1"/>
              </a:solidFill>
              <a:latin typeface="Roboto"/>
              <a:ea typeface="Roboto"/>
              <a:cs typeface="Roboto"/>
              <a:sym typeface="Roboto"/>
            </a:endParaRPr>
          </a:p>
        </p:txBody>
      </p:sp>
      <p:pic>
        <p:nvPicPr>
          <p:cNvPr id="255" name="Google Shape;255;p24"/>
          <p:cNvPicPr preferRelativeResize="0"/>
          <p:nvPr/>
        </p:nvPicPr>
        <p:blipFill rotWithShape="1">
          <a:blip r:embed="rId3">
            <a:alphaModFix/>
          </a:blip>
          <a:srcRect b="0" l="0" r="0" t="0"/>
          <a:stretch/>
        </p:blipFill>
        <p:spPr>
          <a:xfrm>
            <a:off x="385920" y="732600"/>
            <a:ext cx="7657920" cy="1980720"/>
          </a:xfrm>
          <a:prstGeom prst="rect">
            <a:avLst/>
          </a:prstGeom>
          <a:noFill/>
          <a:ln>
            <a:noFill/>
          </a:ln>
        </p:spPr>
      </p:pic>
      <p:pic>
        <p:nvPicPr>
          <p:cNvPr id="256" name="Google Shape;256;p24"/>
          <p:cNvPicPr preferRelativeResize="0"/>
          <p:nvPr/>
        </p:nvPicPr>
        <p:blipFill rotWithShape="1">
          <a:blip r:embed="rId4">
            <a:alphaModFix/>
          </a:blip>
          <a:srcRect b="0" l="0" r="0" t="0"/>
          <a:stretch/>
        </p:blipFill>
        <p:spPr>
          <a:xfrm>
            <a:off x="-17640" y="2829240"/>
            <a:ext cx="5761800" cy="1776240"/>
          </a:xfrm>
          <a:prstGeom prst="rect">
            <a:avLst/>
          </a:prstGeom>
          <a:noFill/>
          <a:ln>
            <a:noFill/>
          </a:ln>
        </p:spPr>
      </p:pic>
      <p:pic>
        <p:nvPicPr>
          <p:cNvPr id="257" name="Google Shape;257;p24"/>
          <p:cNvPicPr preferRelativeResize="0"/>
          <p:nvPr/>
        </p:nvPicPr>
        <p:blipFill rotWithShape="1">
          <a:blip r:embed="rId5">
            <a:alphaModFix/>
          </a:blip>
          <a:srcRect b="0" l="0" r="0" t="0"/>
          <a:stretch/>
        </p:blipFill>
        <p:spPr>
          <a:xfrm>
            <a:off x="5744880" y="2995200"/>
            <a:ext cx="3399120" cy="174312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6"/>
                                        </p:tgtEl>
                                        <p:attrNameLst>
                                          <p:attrName>style.visibility</p:attrName>
                                        </p:attrNameLst>
                                      </p:cBhvr>
                                      <p:to>
                                        <p:strVal val="visible"/>
                                      </p:to>
                                    </p:set>
                                    <p:anim calcmode="lin" valueType="num">
                                      <p:cBhvr additive="base">
                                        <p:cTn dur="1000"/>
                                        <p:tgtEl>
                                          <p:spTgt spid="256"/>
                                        </p:tgtEl>
                                        <p:attrNameLst>
                                          <p:attrName>ppt_w</p:attrName>
                                        </p:attrNameLst>
                                      </p:cBhvr>
                                      <p:tavLst>
                                        <p:tav fmla="" tm="0">
                                          <p:val>
                                            <p:strVal val="0"/>
                                          </p:val>
                                        </p:tav>
                                        <p:tav fmla="" tm="100000">
                                          <p:val>
                                            <p:strVal val="#ppt_w"/>
                                          </p:val>
                                        </p:tav>
                                      </p:tavLst>
                                    </p:anim>
                                    <p:anim calcmode="lin" valueType="num">
                                      <p:cBhvr additive="base">
                                        <p:cTn dur="1000"/>
                                        <p:tgtEl>
                                          <p:spTgt spid="25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7"/>
                                        </p:tgtEl>
                                        <p:attrNameLst>
                                          <p:attrName>style.visibility</p:attrName>
                                        </p:attrNameLst>
                                      </p:cBhvr>
                                      <p:to>
                                        <p:strVal val="visible"/>
                                      </p:to>
                                    </p:set>
                                    <p:anim calcmode="lin" valueType="num">
                                      <p:cBhvr additive="base">
                                        <p:cTn dur="1000"/>
                                        <p:tgtEl>
                                          <p:spTgt spid="257"/>
                                        </p:tgtEl>
                                        <p:attrNameLst>
                                          <p:attrName>ppt_w</p:attrName>
                                        </p:attrNameLst>
                                      </p:cBhvr>
                                      <p:tavLst>
                                        <p:tav fmla="" tm="0">
                                          <p:val>
                                            <p:strVal val="0"/>
                                          </p:val>
                                        </p:tav>
                                        <p:tav fmla="" tm="100000">
                                          <p:val>
                                            <p:strVal val="#ppt_w"/>
                                          </p:val>
                                        </p:tav>
                                      </p:tavLst>
                                    </p:anim>
                                    <p:anim calcmode="lin" valueType="num">
                                      <p:cBhvr additive="base">
                                        <p:cTn dur="1000"/>
                                        <p:tgtEl>
                                          <p:spTgt spid="257"/>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5"/>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By Using Oddments</a:t>
            </a:r>
            <a:endParaRPr b="0" sz="1800" strike="noStrike">
              <a:solidFill>
                <a:srgbClr val="000000"/>
              </a:solidFill>
              <a:latin typeface="Arial"/>
              <a:ea typeface="Arial"/>
              <a:cs typeface="Arial"/>
              <a:sym typeface="Arial"/>
            </a:endParaRPr>
          </a:p>
        </p:txBody>
      </p:sp>
      <p:pic>
        <p:nvPicPr>
          <p:cNvPr id="263" name="Google Shape;263;p25"/>
          <p:cNvPicPr preferRelativeResize="0"/>
          <p:nvPr/>
        </p:nvPicPr>
        <p:blipFill rotWithShape="1">
          <a:blip r:embed="rId3">
            <a:alphaModFix/>
          </a:blip>
          <a:srcRect b="0" l="0" r="0" t="0"/>
          <a:stretch/>
        </p:blipFill>
        <p:spPr>
          <a:xfrm>
            <a:off x="385920" y="657720"/>
            <a:ext cx="7657920" cy="19807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6"/>
          <p:cNvSpPr txBox="1"/>
          <p:nvPr>
            <p:ph type="title"/>
          </p:nvPr>
        </p:nvSpPr>
        <p:spPr>
          <a:xfrm>
            <a:off x="98280" y="16200"/>
            <a:ext cx="8826120" cy="60228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Clr>
                <a:schemeClr val="lt1"/>
              </a:buClr>
              <a:buSzPts val="1800"/>
              <a:buFont typeface="Roboto"/>
              <a:buNone/>
            </a:pPr>
            <a:r>
              <a:rPr b="0" lang="en" sz="1800" strike="noStrike">
                <a:solidFill>
                  <a:schemeClr val="lt1"/>
                </a:solidFill>
                <a:latin typeface="Roboto"/>
                <a:ea typeface="Roboto"/>
                <a:cs typeface="Roboto"/>
                <a:sym typeface="Roboto"/>
              </a:rPr>
              <a:t>    Practice work</a:t>
            </a:r>
            <a:endParaRPr b="0" sz="1800" strike="noStrike">
              <a:solidFill>
                <a:srgbClr val="000000"/>
              </a:solidFill>
              <a:latin typeface="Arial"/>
              <a:ea typeface="Arial"/>
              <a:cs typeface="Arial"/>
              <a:sym typeface="Arial"/>
            </a:endParaRPr>
          </a:p>
        </p:txBody>
      </p:sp>
      <p:sp>
        <p:nvSpPr>
          <p:cNvPr id="269" name="Google Shape;269;p26"/>
          <p:cNvSpPr txBox="1"/>
          <p:nvPr>
            <p:ph idx="4294967295" type="body"/>
          </p:nvPr>
        </p:nvSpPr>
        <p:spPr>
          <a:xfrm>
            <a:off x="323280" y="693000"/>
            <a:ext cx="4458960" cy="75492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7682CC"/>
              </a:buClr>
              <a:buSzPts val="1350"/>
              <a:buFont typeface="Verdana"/>
              <a:buNone/>
            </a:pPr>
            <a:r>
              <a:rPr b="1" i="0" lang="en" sz="1350" u="none" cap="none" strike="noStrike">
                <a:solidFill>
                  <a:srgbClr val="7682CC"/>
                </a:solidFill>
                <a:highlight>
                  <a:srgbClr val="FFFFFF"/>
                </a:highlight>
                <a:latin typeface="Verdana"/>
                <a:ea typeface="Verdana"/>
                <a:cs typeface="Verdana"/>
                <a:sym typeface="Verdana"/>
              </a:rPr>
              <a:t>Multiple Choice</a:t>
            </a:r>
            <a:endParaRPr b="0" i="0" sz="13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hlink"/>
              </a:buClr>
              <a:buSzPts val="1800"/>
              <a:buFont typeface="Roboto"/>
              <a:buNone/>
            </a:pPr>
            <a:r>
              <a:rPr b="0" i="0" lang="en" sz="1800" u="sng" cap="none" strike="noStrike">
                <a:solidFill>
                  <a:schemeClr val="hlink"/>
                </a:solidFill>
                <a:latin typeface="Roboto"/>
                <a:ea typeface="Roboto"/>
                <a:cs typeface="Roboto"/>
                <a:sym typeface="Roboto"/>
                <a:hlinkClick r:id="rId3"/>
              </a:rPr>
              <a:t>https://forms.gle/RyXCA682kmZ2KxqNA</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26"/>
          <p:cNvSpPr txBox="1"/>
          <p:nvPr>
            <p:ph idx="4294967295" type="body"/>
          </p:nvPr>
        </p:nvSpPr>
        <p:spPr>
          <a:xfrm>
            <a:off x="4774320" y="689400"/>
            <a:ext cx="4139640" cy="113724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7682CC"/>
              </a:buClr>
              <a:buSzPts val="1350"/>
              <a:buFont typeface="Verdana"/>
              <a:buNone/>
            </a:pPr>
            <a:r>
              <a:rPr b="1" i="0" lang="en" sz="1350" u="none" cap="none" strike="noStrike">
                <a:solidFill>
                  <a:srgbClr val="7682CC"/>
                </a:solidFill>
                <a:highlight>
                  <a:srgbClr val="FFFFFF"/>
                </a:highlight>
                <a:latin typeface="Verdana"/>
                <a:ea typeface="Verdana"/>
                <a:cs typeface="Verdana"/>
                <a:sym typeface="Verdana"/>
              </a:rPr>
              <a:t>True or False</a:t>
            </a:r>
            <a:endParaRPr b="0" i="0" sz="135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chemeClr val="hlink"/>
              </a:buClr>
              <a:buSzPts val="1800"/>
              <a:buFont typeface="Roboto"/>
              <a:buNone/>
            </a:pPr>
            <a:r>
              <a:rPr b="0" i="0" lang="en" sz="1800" u="sng" cap="none" strike="noStrike">
                <a:solidFill>
                  <a:schemeClr val="hlink"/>
                </a:solidFill>
                <a:latin typeface="Roboto"/>
                <a:ea typeface="Roboto"/>
                <a:cs typeface="Roboto"/>
                <a:sym typeface="Roboto"/>
                <a:hlinkClick r:id="rId4"/>
              </a:rPr>
              <a:t>https://forms.gle/DQgXpr2tjddgtbJF7</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a:p>
            <a:pPr indent="0" lvl="0" marL="0" marR="0" rtl="0" algn="l">
              <a:lnSpc>
                <a:spcPct val="115000"/>
              </a:lnSpc>
              <a:spcBef>
                <a:spcPts val="1599"/>
              </a:spcBef>
              <a:spcAft>
                <a:spcPts val="0"/>
              </a:spcAft>
              <a:buClr>
                <a:schemeClr val="dk1"/>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26"/>
          <p:cNvSpPr/>
          <p:nvPr/>
        </p:nvSpPr>
        <p:spPr>
          <a:xfrm>
            <a:off x="4121640" y="1524960"/>
            <a:ext cx="1435680" cy="41004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None/>
            </a:pPr>
            <a:r>
              <a:rPr b="0" i="0" lang="en" sz="1800" u="sng" cap="none" strike="noStrike">
                <a:solidFill>
                  <a:schemeClr val="accent5"/>
                </a:solidFill>
                <a:latin typeface="Roboto"/>
                <a:ea typeface="Roboto"/>
                <a:cs typeface="Roboto"/>
                <a:sym typeface="Roboto"/>
                <a:hlinkClick r:id="rId5">
                  <a:extLst>
                    <a:ext uri="{A12FA001-AC4F-418D-AE19-62706E023703}">
                      <ahyp:hlinkClr val="tx"/>
                    </a:ext>
                  </a:extLst>
                </a:hlinkClick>
              </a:rPr>
              <a:t>Problems</a:t>
            </a:r>
            <a:endParaRPr b="0" i="0" sz="1800" u="none" cap="none" strike="noStrike">
              <a:solidFill>
                <a:srgbClr val="FFFFFF"/>
              </a:solidFill>
              <a:latin typeface="Arial"/>
              <a:ea typeface="Arial"/>
              <a:cs typeface="Arial"/>
              <a:sym typeface="Arial"/>
            </a:endParaRPr>
          </a:p>
        </p:txBody>
      </p:sp>
      <p:sp>
        <p:nvSpPr>
          <p:cNvPr id="272" name="Google Shape;272;p26"/>
          <p:cNvSpPr/>
          <p:nvPr/>
        </p:nvSpPr>
        <p:spPr>
          <a:xfrm>
            <a:off x="524520" y="1956240"/>
            <a:ext cx="8103960" cy="27309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 sz="2500" u="none" cap="none" strike="noStrike">
                <a:solidFill>
                  <a:srgbClr val="000000"/>
                </a:solidFill>
                <a:latin typeface="Roboto"/>
                <a:ea typeface="Roboto"/>
                <a:cs typeface="Roboto"/>
                <a:sym typeface="Roboto"/>
              </a:rPr>
              <a:t>Reference:</a:t>
            </a:r>
            <a:endParaRPr b="0" i="0" sz="25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rPr b="0" i="0" lang="en" sz="1300" u="sng" cap="none" strike="noStrike">
                <a:solidFill>
                  <a:schemeClr val="dk1"/>
                </a:solidFill>
                <a:latin typeface="Arial"/>
                <a:ea typeface="Arial"/>
                <a:cs typeface="Arial"/>
                <a:sym typeface="Arial"/>
                <a:hlinkClick r:id="rId6">
                  <a:extLst>
                    <a:ext uri="{A12FA001-AC4F-418D-AE19-62706E023703}">
                      <ahyp:hlinkClr val="tx"/>
                    </a:ext>
                  </a:extLst>
                </a:hlinkClick>
              </a:rPr>
              <a:t>https://wps.pearsoned.co.uk/wps/media/objects/12987/13299709/rsh_qam11_module04.pdf</a:t>
            </a:r>
            <a:endParaRPr b="0" i="0" sz="13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6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rPr b="0" i="0" lang="en" sz="1300" u="none" cap="none" strike="noStrike">
                <a:solidFill>
                  <a:schemeClr val="dk1"/>
                </a:solidFill>
                <a:latin typeface="Arial"/>
                <a:ea typeface="Arial"/>
                <a:cs typeface="Arial"/>
                <a:sym typeface="Arial"/>
              </a:rPr>
              <a:t>Game theory #1||Pure &amp; Mixed Strategy||in Operations research||Solved problem||By:- Kauserwise    </a:t>
            </a:r>
            <a:r>
              <a:rPr b="0" i="0" lang="en" sz="1300" u="sng" cap="none" strike="noStrike">
                <a:solidFill>
                  <a:schemeClr val="dk1"/>
                </a:solidFill>
                <a:latin typeface="Arial"/>
                <a:ea typeface="Arial"/>
                <a:cs typeface="Arial"/>
                <a:sym typeface="Arial"/>
                <a:hlinkClick r:id="rId7">
                  <a:extLst>
                    <a:ext uri="{A12FA001-AC4F-418D-AE19-62706E023703}">
                      <ahyp:hlinkClr val="tx"/>
                    </a:ext>
                  </a:extLst>
                </a:hlinkClick>
              </a:rPr>
              <a:t>https://www.youtube.com/watch?v=fSuqTgnCVRg</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rPr b="0" i="0" lang="en" sz="1200" u="none" cap="none" strike="noStrike">
                <a:solidFill>
                  <a:srgbClr val="000000"/>
                </a:solidFill>
                <a:latin typeface="Arial"/>
                <a:ea typeface="Arial"/>
                <a:cs typeface="Arial"/>
                <a:sym typeface="Arial"/>
              </a:rPr>
              <a:t>Lecture Series on Fundamentals of Operations Research by Prof. G. Srinivasan, Department of Management Studies, IIT Madras. For more details on NPTEL visit </a:t>
            </a:r>
            <a:r>
              <a:rPr b="0" i="0" lang="en" sz="1200" u="sng" cap="none" strike="noStrike">
                <a:solidFill>
                  <a:srgbClr val="4FC3F7"/>
                </a:solidFill>
                <a:latin typeface="Arial"/>
                <a:ea typeface="Arial"/>
                <a:cs typeface="Arial"/>
                <a:sym typeface="Arial"/>
                <a:hlinkClick r:id="rId8">
                  <a:extLst>
                    <a:ext uri="{A12FA001-AC4F-418D-AE19-62706E023703}">
                      <ahyp:hlinkClr val="tx"/>
                    </a:ext>
                  </a:extLst>
                </a:hlinkClick>
              </a:rPr>
              <a:t>http://nptel.ac.in</a:t>
            </a:r>
            <a:endParaRPr b="0" i="0" sz="12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rPr b="0" i="0" lang="en" sz="1200" u="sng" cap="none" strike="noStrike">
                <a:solidFill>
                  <a:srgbClr val="4FC3F7"/>
                </a:solidFill>
                <a:latin typeface="Arial"/>
                <a:ea typeface="Arial"/>
                <a:cs typeface="Arial"/>
                <a:sym typeface="Arial"/>
                <a:hlinkClick r:id="rId9">
                  <a:extLst>
                    <a:ext uri="{A12FA001-AC4F-418D-AE19-62706E023703}">
                      <ahyp:hlinkClr val="tx"/>
                    </a:ext>
                  </a:extLst>
                </a:hlinkClick>
              </a:rPr>
              <a:t>https://www.youtube.com/watch?v=a2QgdDk4Xjw&amp;list=PLjc8ejfjpgTf0LaDEHgLB3gCHZYcNtsoX</a:t>
            </a:r>
            <a:endParaRPr b="0" i="0" sz="12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3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None/>
            </a:pPr>
            <a:r>
              <a:t/>
            </a:r>
            <a:endParaRPr b="0" i="0" sz="11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None/>
            </a:pPr>
            <a:r>
              <a:t/>
            </a:r>
            <a:endParaRPr b="0" i="0" sz="1400" u="none" cap="none" strike="noStrike">
              <a:solidFill>
                <a:srgbClr val="FFFFFF"/>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Notes">
    <vt:i4>19</vt:i4>
  </property>
  <property fmtid="{D5CDD505-2E9C-101B-9397-08002B2CF9AE}" pid="3" name="PresentationFormat">
    <vt:lpwstr>On-screen Show (16:9)</vt:lpwstr>
  </property>
  <property fmtid="{D5CDD505-2E9C-101B-9397-08002B2CF9AE}" pid="4" name="Slides">
    <vt:i4>26</vt:i4>
  </property>
</Properties>
</file>