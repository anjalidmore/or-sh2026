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31A3EF-3A85-7101-EBE4-B0DE485A0E30}" v="10" dt="2020-06-03T14:31:53.943"/>
    <p1510:client id="{F8C176C0-FE13-6C3C-17AD-0B9ECA4896D3}" v="68" dt="2020-06-02T12:34:14.448"/>
  </p1510:revLst>
</p1510:revInfo>
</file>

<file path=ppt/tableStyles.xml><?xml version="1.0" encoding="utf-8"?>
<a:tblStyleLst xmlns:a="http://schemas.openxmlformats.org/drawingml/2006/main" def="{A3631BE9-B343-4114-BC85-591B09A4B69F}">
  <a:tblStyle styleId="{A3631BE9-B343-4114-BC85-591B09A4B6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pardeshi" userId="S::anand.pardeshi@fcrit.ac.in::4de9f4fb-1776-4d2c-ac4d-7159c8faa6e6" providerId="AD" clId="Web-{AA31A3EF-3A85-7101-EBE4-B0DE485A0E30}"/>
    <pc:docChg chg="delSld modSld">
      <pc:chgData name="anand pardeshi" userId="S::anand.pardeshi@fcrit.ac.in::4de9f4fb-1776-4d2c-ac4d-7159c8faa6e6" providerId="AD" clId="Web-{AA31A3EF-3A85-7101-EBE4-B0DE485A0E30}" dt="2020-06-03T14:31:53.927" v="9"/>
      <pc:docMkLst>
        <pc:docMk/>
      </pc:docMkLst>
      <pc:sldChg chg="addSp delSp modSp del">
        <pc:chgData name="anand pardeshi" userId="S::anand.pardeshi@fcrit.ac.in::4de9f4fb-1776-4d2c-ac4d-7159c8faa6e6" providerId="AD" clId="Web-{AA31A3EF-3A85-7101-EBE4-B0DE485A0E30}" dt="2020-06-03T14:31:53.927" v="9"/>
        <pc:sldMkLst>
          <pc:docMk/>
          <pc:sldMk cId="0" sldId="260"/>
        </pc:sldMkLst>
        <pc:spChg chg="add del mod">
          <ac:chgData name="anand pardeshi" userId="S::anand.pardeshi@fcrit.ac.in::4de9f4fb-1776-4d2c-ac4d-7159c8faa6e6" providerId="AD" clId="Web-{AA31A3EF-3A85-7101-EBE4-B0DE485A0E30}" dt="2020-06-03T14:31:49.724" v="8"/>
          <ac:spMkLst>
            <pc:docMk/>
            <pc:sldMk cId="0" sldId="260"/>
            <ac:spMk id="2" creationId="{3693F392-A6AB-420B-8A3A-040AA788A97A}"/>
          </ac:spMkLst>
        </pc:spChg>
      </pc:sldChg>
      <pc:sldChg chg="del">
        <pc:chgData name="anand pardeshi" userId="S::anand.pardeshi@fcrit.ac.in::4de9f4fb-1776-4d2c-ac4d-7159c8faa6e6" providerId="AD" clId="Web-{AA31A3EF-3A85-7101-EBE4-B0DE485A0E30}" dt="2020-06-03T14:07:55.585" v="0"/>
        <pc:sldMkLst>
          <pc:docMk/>
          <pc:sldMk cId="0" sldId="261"/>
        </pc:sldMkLst>
      </pc:sldChg>
      <pc:sldChg chg="del">
        <pc:chgData name="anand pardeshi" userId="S::anand.pardeshi@fcrit.ac.in::4de9f4fb-1776-4d2c-ac4d-7159c8faa6e6" providerId="AD" clId="Web-{AA31A3EF-3A85-7101-EBE4-B0DE485A0E30}" dt="2020-06-03T14:07:57.616" v="1"/>
        <pc:sldMkLst>
          <pc:docMk/>
          <pc:sldMk cId="0" sldId="262"/>
        </pc:sldMkLst>
      </pc:sldChg>
      <pc:sldChg chg="del">
        <pc:chgData name="anand pardeshi" userId="S::anand.pardeshi@fcrit.ac.in::4de9f4fb-1776-4d2c-ac4d-7159c8faa6e6" providerId="AD" clId="Web-{AA31A3EF-3A85-7101-EBE4-B0DE485A0E30}" dt="2020-06-03T14:07:57.616" v="2"/>
        <pc:sldMkLst>
          <pc:docMk/>
          <pc:sldMk cId="0" sldId="263"/>
        </pc:sldMkLst>
      </pc:sldChg>
      <pc:sldChg chg="del">
        <pc:chgData name="anand pardeshi" userId="S::anand.pardeshi@fcrit.ac.in::4de9f4fb-1776-4d2c-ac4d-7159c8faa6e6" providerId="AD" clId="Web-{AA31A3EF-3A85-7101-EBE4-B0DE485A0E30}" dt="2020-06-03T14:07:58.022" v="3"/>
        <pc:sldMkLst>
          <pc:docMk/>
          <pc:sldMk cId="0" sldId="264"/>
        </pc:sldMkLst>
      </pc:sldChg>
      <pc:sldChg chg="del">
        <pc:chgData name="anand pardeshi" userId="S::anand.pardeshi@fcrit.ac.in::4de9f4fb-1776-4d2c-ac4d-7159c8faa6e6" providerId="AD" clId="Web-{AA31A3EF-3A85-7101-EBE4-B0DE485A0E30}" dt="2020-06-03T14:07:58.038" v="4"/>
        <pc:sldMkLst>
          <pc:docMk/>
          <pc:sldMk cId="0" sldId="265"/>
        </pc:sldMkLst>
      </pc:sldChg>
      <pc:sldChg chg="del">
        <pc:chgData name="anand pardeshi" userId="S::anand.pardeshi@fcrit.ac.in::4de9f4fb-1776-4d2c-ac4d-7159c8faa6e6" providerId="AD" clId="Web-{AA31A3EF-3A85-7101-EBE4-B0DE485A0E30}" dt="2020-06-03T14:30:45.020" v="5"/>
        <pc:sldMkLst>
          <pc:docMk/>
          <pc:sldMk cId="0" sldId="266"/>
        </pc:sldMkLst>
      </pc:sldChg>
    </pc:docChg>
  </pc:docChgLst>
  <pc:docChgLst>
    <pc:chgData name="anand pardeshi" userId="S::anand.pardeshi@fcrit.ac.in::4de9f4fb-1776-4d2c-ac4d-7159c8faa6e6" providerId="AD" clId="Web-{F8C176C0-FE13-6C3C-17AD-0B9ECA4896D3}"/>
    <pc:docChg chg="modSld">
      <pc:chgData name="anand pardeshi" userId="S::anand.pardeshi@fcrit.ac.in::4de9f4fb-1776-4d2c-ac4d-7159c8faa6e6" providerId="AD" clId="Web-{F8C176C0-FE13-6C3C-17AD-0B9ECA4896D3}" dt="2020-06-02T12:34:14.385" v="67"/>
      <pc:docMkLst>
        <pc:docMk/>
      </pc:docMkLst>
      <pc:sldChg chg="mod setBg">
        <pc:chgData name="anand pardeshi" userId="S::anand.pardeshi@fcrit.ac.in::4de9f4fb-1776-4d2c-ac4d-7159c8faa6e6" providerId="AD" clId="Web-{F8C176C0-FE13-6C3C-17AD-0B9ECA4896D3}" dt="2020-06-02T12:34:14.135" v="57"/>
        <pc:sldMkLst>
          <pc:docMk/>
          <pc:sldMk cId="0" sldId="256"/>
        </pc:sldMkLst>
      </pc:sldChg>
      <pc:sldChg chg="mod setBg">
        <pc:chgData name="anand pardeshi" userId="S::anand.pardeshi@fcrit.ac.in::4de9f4fb-1776-4d2c-ac4d-7159c8faa6e6" providerId="AD" clId="Web-{F8C176C0-FE13-6C3C-17AD-0B9ECA4896D3}" dt="2020-06-02T12:34:14.245" v="59"/>
        <pc:sldMkLst>
          <pc:docMk/>
          <pc:sldMk cId="0" sldId="257"/>
        </pc:sldMkLst>
      </pc:sldChg>
      <pc:sldChg chg="mod setBg">
        <pc:chgData name="anand pardeshi" userId="S::anand.pardeshi@fcrit.ac.in::4de9f4fb-1776-4d2c-ac4d-7159c8faa6e6" providerId="AD" clId="Web-{F8C176C0-FE13-6C3C-17AD-0B9ECA4896D3}" dt="2020-06-02T12:34:14.151" v="58"/>
        <pc:sldMkLst>
          <pc:docMk/>
          <pc:sldMk cId="0" sldId="258"/>
        </pc:sldMkLst>
      </pc:sldChg>
      <pc:sldChg chg="mod setBg">
        <pc:chgData name="anand pardeshi" userId="S::anand.pardeshi@fcrit.ac.in::4de9f4fb-1776-4d2c-ac4d-7159c8faa6e6" providerId="AD" clId="Web-{F8C176C0-FE13-6C3C-17AD-0B9ECA4896D3}" dt="2020-06-02T12:34:14.385" v="67"/>
        <pc:sldMkLst>
          <pc:docMk/>
          <pc:sldMk cId="0" sldId="259"/>
        </pc:sldMkLst>
      </pc:sldChg>
      <pc:sldChg chg="mod setBg">
        <pc:chgData name="anand pardeshi" userId="S::anand.pardeshi@fcrit.ac.in::4de9f4fb-1776-4d2c-ac4d-7159c8faa6e6" providerId="AD" clId="Web-{F8C176C0-FE13-6C3C-17AD-0B9ECA4896D3}" dt="2020-06-02T12:34:14.385" v="66"/>
        <pc:sldMkLst>
          <pc:docMk/>
          <pc:sldMk cId="0" sldId="260"/>
        </pc:sldMkLst>
      </pc:sldChg>
      <pc:sldChg chg="mod setBg">
        <pc:chgData name="anand pardeshi" userId="S::anand.pardeshi@fcrit.ac.in::4de9f4fb-1776-4d2c-ac4d-7159c8faa6e6" providerId="AD" clId="Web-{F8C176C0-FE13-6C3C-17AD-0B9ECA4896D3}" dt="2020-06-02T12:34:14.323" v="60"/>
        <pc:sldMkLst>
          <pc:docMk/>
          <pc:sldMk cId="0" sldId="261"/>
        </pc:sldMkLst>
      </pc:sldChg>
      <pc:sldChg chg="mod setBg">
        <pc:chgData name="anand pardeshi" userId="S::anand.pardeshi@fcrit.ac.in::4de9f4fb-1776-4d2c-ac4d-7159c8faa6e6" providerId="AD" clId="Web-{F8C176C0-FE13-6C3C-17AD-0B9ECA4896D3}" dt="2020-06-02T12:34:14.370" v="65"/>
        <pc:sldMkLst>
          <pc:docMk/>
          <pc:sldMk cId="0" sldId="262"/>
        </pc:sldMkLst>
      </pc:sldChg>
      <pc:sldChg chg="mod setBg">
        <pc:chgData name="anand pardeshi" userId="S::anand.pardeshi@fcrit.ac.in::4de9f4fb-1776-4d2c-ac4d-7159c8faa6e6" providerId="AD" clId="Web-{F8C176C0-FE13-6C3C-17AD-0B9ECA4896D3}" dt="2020-06-02T12:34:14.354" v="64"/>
        <pc:sldMkLst>
          <pc:docMk/>
          <pc:sldMk cId="0" sldId="263"/>
        </pc:sldMkLst>
      </pc:sldChg>
      <pc:sldChg chg="mod setBg">
        <pc:chgData name="anand pardeshi" userId="S::anand.pardeshi@fcrit.ac.in::4de9f4fb-1776-4d2c-ac4d-7159c8faa6e6" providerId="AD" clId="Web-{F8C176C0-FE13-6C3C-17AD-0B9ECA4896D3}" dt="2020-06-02T12:34:14.354" v="63"/>
        <pc:sldMkLst>
          <pc:docMk/>
          <pc:sldMk cId="0" sldId="264"/>
        </pc:sldMkLst>
      </pc:sldChg>
      <pc:sldChg chg="mod setBg">
        <pc:chgData name="anand pardeshi" userId="S::anand.pardeshi@fcrit.ac.in::4de9f4fb-1776-4d2c-ac4d-7159c8faa6e6" providerId="AD" clId="Web-{F8C176C0-FE13-6C3C-17AD-0B9ECA4896D3}" dt="2020-06-02T12:34:14.339" v="62"/>
        <pc:sldMkLst>
          <pc:docMk/>
          <pc:sldMk cId="0" sldId="265"/>
        </pc:sldMkLst>
      </pc:sldChg>
      <pc:sldChg chg="mod setBg">
        <pc:chgData name="anand pardeshi" userId="S::anand.pardeshi@fcrit.ac.in::4de9f4fb-1776-4d2c-ac4d-7159c8faa6e6" providerId="AD" clId="Web-{F8C176C0-FE13-6C3C-17AD-0B9ECA4896D3}" dt="2020-06-02T12:34:14.323" v="61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8616dfefff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8616dfefff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8616dfefff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8616dfefff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8616dfefff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8616dfefff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cbom.atozmath.com/example/CBOM/GameTheory.aspx?he=e&amp;q=saddle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650" y="1858625"/>
            <a:ext cx="9080700" cy="89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Saddle point exampl</a:t>
            </a:r>
            <a:r>
              <a:rPr lang="en-GB" sz="3600" b="1">
                <a:solidFill>
                  <a:srgbClr val="000000"/>
                </a:solidFill>
                <a:highlight>
                  <a:srgbClr val="FFFFFF"/>
                </a:highlight>
              </a:rPr>
              <a:t>e</a:t>
            </a:r>
            <a:endParaRPr sz="3600" b="1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88300" y="144150"/>
            <a:ext cx="82236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>
                <a:highlight>
                  <a:srgbClr val="FFFFFF"/>
                </a:highlight>
              </a:rPr>
              <a:t>1. Find Solution of game theory problem using saddle point. </a:t>
            </a:r>
            <a:endParaRPr sz="1600">
              <a:highlight>
                <a:srgbClr val="FFFFFF"/>
              </a:highlight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t="3157"/>
          <a:stretch/>
        </p:blipFill>
        <p:spPr>
          <a:xfrm>
            <a:off x="477925" y="713075"/>
            <a:ext cx="2523450" cy="15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3641375" y="523425"/>
            <a:ext cx="30000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>
                <a:highlight>
                  <a:srgbClr val="FFFFFF"/>
                </a:highlight>
              </a:rPr>
              <a:t>Solution:</a:t>
            </a:r>
            <a:endParaRPr sz="1250" b="1">
              <a:highlight>
                <a:srgbClr val="FFFFFF"/>
              </a:highlight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686875" y="864938"/>
            <a:ext cx="52269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>
                <a:highlight>
                  <a:srgbClr val="FFFFFF"/>
                </a:highlight>
              </a:rPr>
              <a:t>We apply the maximin (minimax) principle to analyze the game.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1688" y="1218138"/>
            <a:ext cx="2555935" cy="161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8300" y="1472063"/>
            <a:ext cx="591100" cy="136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7175" y="2882150"/>
            <a:ext cx="2160450" cy="3513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584125" y="3233450"/>
            <a:ext cx="7707600" cy="18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>
                <a:highlight>
                  <a:srgbClr val="FFFFFF"/>
                </a:highlight>
              </a:rPr>
              <a:t>Select minimum from the maximum of columns Column MiniMax = (12)</a:t>
            </a:r>
            <a:endParaRPr sz="1250" b="1">
              <a:highlight>
                <a:srgbClr val="FFFFFF"/>
              </a:highlight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50" b="1">
              <a:highlight>
                <a:srgbClr val="FFFFFF"/>
              </a:highlight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>
                <a:highlight>
                  <a:srgbClr val="FFFFFF"/>
                </a:highlight>
              </a:rPr>
              <a:t>Select maximum from the minimum of rows Row MaxiMin = [12]</a:t>
            </a:r>
            <a:endParaRPr sz="1250" b="1">
              <a:highlight>
                <a:srgbClr val="FFFFFF"/>
              </a:highlight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50" b="1">
              <a:highlight>
                <a:srgbClr val="FFFFFF"/>
              </a:highlight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>
                <a:highlight>
                  <a:srgbClr val="FFFFFF"/>
                </a:highlight>
              </a:rPr>
              <a:t>Here, Column MiniMax = Row MaxiMin = 12</a:t>
            </a:r>
            <a:endParaRPr sz="1250" b="1">
              <a:highlight>
                <a:srgbClr val="FFFFFF"/>
              </a:highlight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>
                <a:highlight>
                  <a:srgbClr val="FFFFFF"/>
                </a:highlight>
              </a:rPr>
              <a:t>∴ This game has a saddle point and value of the game is 12</a:t>
            </a:r>
            <a:endParaRPr sz="1250" b="1">
              <a:highlight>
                <a:srgbClr val="FFFFFF"/>
              </a:highlight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>
                <a:highlight>
                  <a:srgbClr val="FFFFFF"/>
                </a:highlight>
              </a:rPr>
              <a:t>The optimal strategies for both players are</a:t>
            </a:r>
            <a:endParaRPr sz="1250" b="1">
              <a:highlight>
                <a:srgbClr val="FFFFFF"/>
              </a:highlight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>
                <a:highlight>
                  <a:srgbClr val="FFFFFF"/>
                </a:highlight>
              </a:rPr>
              <a:t>The player A will always adopt strategy 1</a:t>
            </a:r>
            <a:endParaRPr sz="1250" b="1">
              <a:highlight>
                <a:srgbClr val="FFFFFF"/>
              </a:highlight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>
                <a:highlight>
                  <a:srgbClr val="FFFFFF"/>
                </a:highlight>
              </a:rPr>
              <a:t>The player B will always adopt strategy 3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5788325" y="4407625"/>
            <a:ext cx="30000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hlinkClick r:id="rId7"/>
              </a:rPr>
              <a:t>https://cbom.atozmath.com/example/CBOM/GameTheory.aspx?he=e&amp;q=saddlepoint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98625" y="652425"/>
            <a:ext cx="8921400" cy="9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highlight>
                  <a:srgbClr val="FFFFFF"/>
                </a:highlight>
              </a:rPr>
              <a:t>Dominance method example</a:t>
            </a:r>
            <a:endParaRPr sz="3600" b="1">
              <a:highlight>
                <a:srgbClr val="FFFFFF"/>
              </a:highlight>
            </a:endParaRPr>
          </a:p>
        </p:txBody>
      </p:sp>
      <p:graphicFrame>
        <p:nvGraphicFramePr>
          <p:cNvPr id="74" name="Google Shape;74;p15"/>
          <p:cNvGraphicFramePr/>
          <p:nvPr/>
        </p:nvGraphicFramePr>
        <p:xfrm>
          <a:off x="229475" y="1563425"/>
          <a:ext cx="8685050" cy="2667000"/>
        </p:xfrm>
        <a:graphic>
          <a:graphicData uri="http://schemas.openxmlformats.org/drawingml/2006/table">
            <a:tbl>
              <a:tblPr>
                <a:solidFill>
                  <a:srgbClr val="E1EFFD"/>
                </a:solidFill>
                <a:tableStyleId>{A3631BE9-B343-4114-BC85-591B09A4B69F}</a:tableStyleId>
              </a:tblPr>
              <a:tblGrid>
                <a:gridCol w="78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275">
                <a:tc gridSpan="2"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highlight>
                            <a:srgbClr val="E1EFFD"/>
                          </a:highlight>
                        </a:rPr>
                        <a:t>dominance method Steps (Rule)</a:t>
                      </a:r>
                      <a:endParaRPr sz="1500" b="1">
                        <a:highlight>
                          <a:srgbClr val="E1EFFD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775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highlight>
                            <a:srgbClr val="E1EFFD"/>
                          </a:highlight>
                        </a:rPr>
                        <a:t>Step-1:</a:t>
                      </a:r>
                      <a:endParaRPr sz="1500" b="1">
                        <a:highlight>
                          <a:srgbClr val="E1EFFD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highlight>
                            <a:srgbClr val="E1EFFD"/>
                          </a:highlight>
                        </a:rPr>
                        <a:t>1. If all the elements of Column-i are greater than or equal to the corresponding elements of any other Column-j, then the Column-i is dominated by the Column-j and it is removed from the matrix.</a:t>
                      </a:r>
                      <a:endParaRPr sz="1500">
                        <a:highlight>
                          <a:srgbClr val="E1EFFD"/>
                        </a:highlight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highlight>
                            <a:srgbClr val="E1EFFD"/>
                          </a:highlight>
                        </a:rPr>
                        <a:t>eg. If Column-2 </a:t>
                      </a:r>
                      <a:r>
                        <a:rPr lang="en-GB" sz="1500">
                          <a:highlight>
                            <a:srgbClr val="E1EFFD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≥</a:t>
                      </a:r>
                      <a:r>
                        <a:rPr lang="en-GB" sz="1500">
                          <a:highlight>
                            <a:srgbClr val="E1EFFD"/>
                          </a:highlight>
                        </a:rPr>
                        <a:t> Column-4, then remove Column-2</a:t>
                      </a:r>
                      <a:endParaRPr sz="1500">
                        <a:highlight>
                          <a:srgbClr val="E1EFFD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725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highlight>
                            <a:srgbClr val="E1EFFD"/>
                          </a:highlight>
                        </a:rPr>
                        <a:t>Step-2:</a:t>
                      </a:r>
                      <a:endParaRPr sz="1500" b="1">
                        <a:highlight>
                          <a:srgbClr val="E1EFFD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highlight>
                            <a:srgbClr val="E1EFFD"/>
                          </a:highlight>
                        </a:rPr>
                        <a:t>1. If all the elements of a Row-i are less than or equal to the corresponding elements of any other Row-j, then the Row-i is dominated by the Row-j and it is removed from the matrix.</a:t>
                      </a:r>
                      <a:endParaRPr sz="1500">
                        <a:highlight>
                          <a:srgbClr val="E1EFFD"/>
                        </a:highlight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highlight>
                            <a:srgbClr val="E1EFFD"/>
                          </a:highlight>
                        </a:rPr>
                        <a:t>eg. If Row-3 </a:t>
                      </a:r>
                      <a:r>
                        <a:rPr lang="en-GB" sz="1500">
                          <a:highlight>
                            <a:srgbClr val="E1EFFD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≤</a:t>
                      </a:r>
                      <a:r>
                        <a:rPr lang="en-GB" sz="1500">
                          <a:highlight>
                            <a:srgbClr val="E1EFFD"/>
                          </a:highlight>
                        </a:rPr>
                        <a:t> Row-4, then remove Row-3</a:t>
                      </a:r>
                      <a:endParaRPr sz="1500">
                        <a:highlight>
                          <a:srgbClr val="E1EFFD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350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highlight>
                            <a:srgbClr val="E1EFFD"/>
                          </a:highlight>
                        </a:rPr>
                        <a:t>Step-3:</a:t>
                      </a:r>
                      <a:endParaRPr sz="1500" b="1">
                        <a:highlight>
                          <a:srgbClr val="E1EFFD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highlight>
                            <a:srgbClr val="E1EFFD"/>
                          </a:highlight>
                        </a:rPr>
                        <a:t>Again repeat Step-1 &amp; Step-2, if any Row or Column is dominated, otherwise stop the procedure.</a:t>
                      </a:r>
                      <a:endParaRPr sz="1500">
                        <a:highlight>
                          <a:srgbClr val="E1EFFD"/>
                        </a:highlight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174475" y="144125"/>
            <a:ext cx="86484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>
                <a:highlight>
                  <a:srgbClr val="FFFFFF"/>
                </a:highlight>
              </a:rPr>
              <a:t>1. Find Solution of game theory problem using dominance method</a:t>
            </a:r>
            <a:endParaRPr sz="1250" b="1">
              <a:highlight>
                <a:srgbClr val="FFFFFF"/>
              </a:highlight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t="2629"/>
          <a:stretch/>
        </p:blipFill>
        <p:spPr>
          <a:xfrm>
            <a:off x="334475" y="546200"/>
            <a:ext cx="2383575" cy="14869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2897950" y="515850"/>
            <a:ext cx="59250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>
                <a:highlight>
                  <a:srgbClr val="FFFFFF"/>
                </a:highlight>
              </a:rPr>
              <a:t>Solution:</a:t>
            </a:r>
            <a:endParaRPr sz="1250" b="1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" b="1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>
                <a:highlight>
                  <a:srgbClr val="FFFFFF"/>
                </a:highlight>
              </a:rPr>
              <a:t>Dominance rule to reduce the size of the payoff matrix Using dominance property</a:t>
            </a:r>
            <a:endParaRPr sz="1150" b="1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highlight>
                <a:srgbClr val="FFFFFF"/>
              </a:highlight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2897950" y="1274550"/>
            <a:ext cx="526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>
                <a:solidFill>
                  <a:schemeClr val="dk1"/>
                </a:solidFill>
                <a:highlight>
                  <a:srgbClr val="FFFFFF"/>
                </a:highlight>
              </a:rPr>
              <a:t>Row-3 ≤ Row-4, so remove Row-3</a:t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8325" y="1274550"/>
            <a:ext cx="2124075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2897950" y="2803000"/>
            <a:ext cx="48174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>
                <a:solidFill>
                  <a:schemeClr val="dk1"/>
                </a:solidFill>
                <a:highlight>
                  <a:srgbClr val="FFFFFF"/>
                </a:highlight>
              </a:rPr>
              <a:t>Column-2 ≥ Column-4, so remove Column-2</a:t>
            </a:r>
            <a:endParaRPr sz="1150" b="1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6625" y="2894875"/>
            <a:ext cx="2055775" cy="154444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2891700" y="3140750"/>
            <a:ext cx="3360600" cy="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>
                <a:solidFill>
                  <a:schemeClr val="dk1"/>
                </a:solidFill>
                <a:highlight>
                  <a:srgbClr val="FFFFFF"/>
                </a:highlight>
              </a:rPr>
              <a:t>Column-1 ≥ Column-3, so remove Column-1</a:t>
            </a:r>
            <a:endParaRPr sz="1150" b="1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0375" y="3498025"/>
            <a:ext cx="1810601" cy="1486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1244150" y="3498025"/>
            <a:ext cx="3000000" cy="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>
                <a:solidFill>
                  <a:schemeClr val="dk1"/>
                </a:solidFill>
                <a:highlight>
                  <a:srgbClr val="FFFFFF"/>
                </a:highlight>
              </a:rPr>
              <a:t>Row-1 ≤ Row-3, so remove Row-1</a:t>
            </a:r>
            <a:endParaRPr sz="1150" b="1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21400" y="3831875"/>
            <a:ext cx="1604423" cy="106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Simple Light</vt:lpstr>
      <vt:lpstr>Saddle point example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Saddle point example</dc:title>
  <cp:revision>14</cp:revision>
  <dcterms:modified xsi:type="dcterms:W3CDTF">2020-06-03T14:31:53Z</dcterms:modified>
</cp:coreProperties>
</file>