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4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2.xml"/><Relationship Id="rId58" Type="http://schemas.openxmlformats.org/officeDocument/2006/relationships/slide" Target="slides/slide41.xml"/><Relationship Id="rId57" Type="http://schemas.openxmlformats.org/officeDocument/2006/relationships/slide" Target="slides/slide40.xml"/><Relationship Id="rId56" Type="http://schemas.openxmlformats.org/officeDocument/2006/relationships/slide" Target="slides/slide39.xml"/><Relationship Id="rId55" Type="http://schemas.openxmlformats.org/officeDocument/2006/relationships/slide" Target="slides/slide38.xml"/><Relationship Id="rId54" Type="http://schemas.openxmlformats.org/officeDocument/2006/relationships/slide" Target="slides/slide37.xml"/><Relationship Id="rId53" Type="http://schemas.openxmlformats.org/officeDocument/2006/relationships/slide" Target="slides/slide36.xml"/><Relationship Id="rId52" Type="http://schemas.openxmlformats.org/officeDocument/2006/relationships/slide" Target="slides/slide35.xml"/><Relationship Id="rId51" Type="http://schemas.openxmlformats.org/officeDocument/2006/relationships/slide" Target="slides/slide34.xml"/><Relationship Id="rId50" Type="http://schemas.openxmlformats.org/officeDocument/2006/relationships/slide" Target="slides/slide3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2.xml"/><Relationship Id="rId48" Type="http://schemas.openxmlformats.org/officeDocument/2006/relationships/slide" Target="slides/slide31.xml"/><Relationship Id="rId47" Type="http://schemas.openxmlformats.org/officeDocument/2006/relationships/slide" Target="slides/slide30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40" Type="http://schemas.openxmlformats.org/officeDocument/2006/relationships/slide" Target="slides/slide2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0" Type="http://schemas.openxmlformats.org/officeDocument/2006/relationships/slide" Target="slides/slide3.xml"/><Relationship Id="rId2" Type="http://schemas.openxmlformats.org/officeDocument/2006/relationships/theme" Target="theme/theme1.xml"/><Relationship Id="rId19" Type="http://schemas.openxmlformats.org/officeDocument/2006/relationships/slide" Target="slides/slide2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1C60AD-B6EE-44C3-B749-EC281C2E09F1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BE3935-25D3-44F9-A645-8A2C266D932E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FE3868B-88FC-4DDC-8A0F-C2A9BBF411D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8FD6A11-5BBD-4B48-B530-EE3CCAF1500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64F9010-CA40-43E1-99EC-78CE72E20A07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AB97643-6849-4959-9191-DBC6A2E21674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BEAD0B5-4528-4417-A3E7-59A6B9D878F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4C213AF-B9E0-40A3-9134-9A7F8E3ED08D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FE12A3A-1EA4-414E-A296-D459E45E330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63A0499-B76F-4628-B3FC-22DC8D548DAF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A0CA0C7-3D7F-43D0-B8C5-7CE3A1ABD11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6761D30-DCBA-4B24-84B6-DBD63FCFA85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9516D66-019A-42EA-82CC-EBCA0FCBE7D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C90DCF89-EAB3-45E3-86AB-BCE479ADBDA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CF29B562-4174-4BCD-905E-B8ABC48E261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3FD467C-8F96-4012-BF6D-70FEA550C79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sp>
          <p:nvSpPr>
            <p:cNvPr id="13" name="Freeform 14"/>
            <p:cNvSpPr/>
            <p:nvPr/>
          </p:nvSpPr>
          <p:spPr>
            <a:xfrm>
              <a:off x="0" y="-7920"/>
              <a:ext cx="862920" cy="5697360"/>
            </a:xfrm>
            <a:custGeom>
              <a:avLst/>
              <a:gdLst>
                <a:gd name="textAreaLeft" fmla="*/ 0 w 862920"/>
                <a:gd name="textAreaRight" fmla="*/ 863640 w 862920"/>
                <a:gd name="textAreaTop" fmla="*/ 0 h 5697360"/>
                <a:gd name="textAreaBottom" fmla="*/ 5698080 h 569736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14" name="Straight Connector 18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5" name="Straight Connector 19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8" name="Isosceles Triangle 22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" name="Isosceles Triangle 26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EE3A86-8CA6-49B4-A12B-EDCE3E4C8471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3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3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8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0444F7-FB67-479E-A57D-41AE6AF8F183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4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53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7F88A7-5577-4CAC-A1AB-66109319FE60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5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8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69" name="PlaceHolder 1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7E5B01-D7C7-4279-B4DF-2BF281EFFF05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7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7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7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2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83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“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EDA9E4A-E981-4A4B-AF65-B81276348FD8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8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9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9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9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9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8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6A5803F-0E3C-4A9E-89FB-372DEAA20675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0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0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0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0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0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2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CFAC805-D58B-416A-9A4E-A3CE98E8351B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6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EDBF7D-3599-4B41-9127-5758D18991DE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3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3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3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40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CD64D1-C61B-4CE9-9B2A-DC48F9E822B0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8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10C812-F4EB-45D4-9CF5-5D97BE89C54A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6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6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6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6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6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7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7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72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3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3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6CEBA97-1E2D-47D8-B295-AB24B1232C4D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92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ftr" idx="3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ldNum" idx="3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C74B95-CAF7-4633-8DC2-A44172E7C383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9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9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9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6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ftr" idx="3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BF8284-8762-4732-AA8F-930859DCA966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3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1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1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1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3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24" name="PlaceHolder 1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55C7B03-C6E1-4DC1-877A-C6460EB69E64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2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2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3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37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38" name="PlaceHolder 1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0A8580-CDDE-4607-8056-BFCEAE028C5F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43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4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4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w="9525" cap="rnd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24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4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4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1" name="Isosceles Triangle 1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accent1"/>
                </a:solidFill>
                <a:latin typeface="Trebuchet MS" panose="020B060302020202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022B18-A09B-4009-AA0F-F6A415FF1E1F}" type="slidenum">
              <a:rPr lang="en-US" sz="900" b="0" strike="noStrike" spc="-1">
                <a:solidFill>
                  <a:schemeClr val="accent1"/>
                </a:solidFill>
                <a:latin typeface="Trebuchet MS" panose="020B0603020202020204"/>
              </a:rPr>
            </a:fld>
            <a:endParaRPr lang="en-US" sz="9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183680" y="1877040"/>
            <a:ext cx="8596080" cy="31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0" b="0" strike="noStrike" spc="-1">
                <a:solidFill>
                  <a:schemeClr val="accent1"/>
                </a:solidFill>
                <a:latin typeface="Trebuchet MS" panose="020B0603020202020204"/>
              </a:rPr>
              <a:t>OPERATIONAL RESEARCH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846000" y="2629440"/>
            <a:ext cx="8596080" cy="30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Optimization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Overview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578880" y="1499400"/>
            <a:ext cx="83674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value you are trying to Optimize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Try to make a square as big as possible, What will be objective Function ? 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1296000" y="2381760"/>
            <a:ext cx="2514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chemeClr val="dk1"/>
                </a:solidFill>
                <a:latin typeface="Trebuchet MS" panose="020B0603020202020204"/>
              </a:rPr>
              <a:t>Area =  a x b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60" name="Group 7"/>
          <p:cNvGrpSpPr/>
          <p:nvPr/>
        </p:nvGrpSpPr>
        <p:grpSpPr>
          <a:xfrm>
            <a:off x="8380800" y="1892160"/>
            <a:ext cx="2225880" cy="1904400"/>
            <a:chOff x="8380800" y="1892160"/>
            <a:chExt cx="2225880" cy="1904400"/>
          </a:xfrm>
        </p:grpSpPr>
        <p:sp>
          <p:nvSpPr>
            <p:cNvPr id="261" name="Rectangle 4"/>
            <p:cNvSpPr/>
            <p:nvPr/>
          </p:nvSpPr>
          <p:spPr>
            <a:xfrm>
              <a:off x="8380800" y="1892160"/>
              <a:ext cx="1785960" cy="1532520"/>
            </a:xfrm>
            <a:prstGeom prst="rect">
              <a:avLst/>
            </a:prstGeom>
            <a:gradFill rotWithShape="0">
              <a:gsLst>
                <a:gs pos="0">
                  <a:srgbClr val="53CFF9"/>
                </a:gs>
                <a:gs pos="50000">
                  <a:srgbClr val="47B0D2"/>
                </a:gs>
                <a:gs pos="100000">
                  <a:srgbClr val="327B93"/>
                </a:gs>
              </a:gsLst>
              <a:lin ang="8100000"/>
            </a:gra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262" name="TextBox 5"/>
            <p:cNvSpPr/>
            <p:nvPr/>
          </p:nvSpPr>
          <p:spPr>
            <a:xfrm>
              <a:off x="10167480" y="2474280"/>
              <a:ext cx="439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strike="noStrike" spc="-1">
                  <a:solidFill>
                    <a:schemeClr val="dk1"/>
                  </a:solidFill>
                  <a:latin typeface="Trebuchet MS" panose="020B0603020202020204"/>
                </a:rPr>
                <a:t>a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63" name="TextBox 6"/>
            <p:cNvSpPr/>
            <p:nvPr/>
          </p:nvSpPr>
          <p:spPr>
            <a:xfrm>
              <a:off x="9113040" y="34326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strike="noStrike" spc="-1">
                  <a:solidFill>
                    <a:schemeClr val="dk1"/>
                  </a:solidFill>
                  <a:latin typeface="Trebuchet MS" panose="020B0603020202020204"/>
                </a:rPr>
                <a:t>b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64" name="Group 12"/>
          <p:cNvGrpSpPr/>
          <p:nvPr/>
        </p:nvGrpSpPr>
        <p:grpSpPr>
          <a:xfrm>
            <a:off x="8380800" y="1888560"/>
            <a:ext cx="2225880" cy="1904400"/>
            <a:chOff x="8380800" y="1888560"/>
            <a:chExt cx="2225880" cy="1904400"/>
          </a:xfrm>
        </p:grpSpPr>
        <p:sp>
          <p:nvSpPr>
            <p:cNvPr id="265" name="Rectangle 9"/>
            <p:cNvSpPr/>
            <p:nvPr/>
          </p:nvSpPr>
          <p:spPr>
            <a:xfrm>
              <a:off x="8380800" y="1888560"/>
              <a:ext cx="1785960" cy="1532520"/>
            </a:xfrm>
            <a:prstGeom prst="rect">
              <a:avLst/>
            </a:prstGeom>
            <a:pattFill prst="wdUpDiag">
              <a:fgClr>
                <a:srgbClr val="5FCBEF"/>
              </a:fgClr>
              <a:bgClr>
                <a:srgbClr val="FFFFFF"/>
              </a:bgClr>
            </a:patt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266" name="TextBox 10"/>
            <p:cNvSpPr/>
            <p:nvPr/>
          </p:nvSpPr>
          <p:spPr>
            <a:xfrm>
              <a:off x="10167480" y="2470680"/>
              <a:ext cx="439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strike="noStrike" spc="-1">
                  <a:solidFill>
                    <a:schemeClr val="dk1"/>
                  </a:solidFill>
                  <a:latin typeface="Trebuchet MS" panose="020B0603020202020204"/>
                </a:rPr>
                <a:t>a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67" name="TextBox 11"/>
            <p:cNvSpPr/>
            <p:nvPr/>
          </p:nvSpPr>
          <p:spPr>
            <a:xfrm>
              <a:off x="9113040" y="34290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strike="noStrike" spc="-1">
                  <a:solidFill>
                    <a:schemeClr val="dk1"/>
                  </a:solidFill>
                  <a:latin typeface="Trebuchet MS" panose="020B0603020202020204"/>
                </a:rPr>
                <a:t>b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68" name="Content Placeholder 2"/>
          <p:cNvSpPr/>
          <p:nvPr/>
        </p:nvSpPr>
        <p:spPr>
          <a:xfrm>
            <a:off x="578880" y="2939040"/>
            <a:ext cx="5413320" cy="993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Goals of Optimization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To Improve the value of the Objective Function 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69" name="Group 19"/>
          <p:cNvGrpSpPr/>
          <p:nvPr/>
        </p:nvGrpSpPr>
        <p:grpSpPr>
          <a:xfrm>
            <a:off x="5868720" y="3013560"/>
            <a:ext cx="1728360" cy="1765800"/>
            <a:chOff x="5868720" y="3013560"/>
            <a:chExt cx="1728360" cy="1765800"/>
          </a:xfrm>
        </p:grpSpPr>
        <p:sp>
          <p:nvSpPr>
            <p:cNvPr id="270" name="Arrow: Down 16"/>
            <p:cNvSpPr/>
            <p:nvPr/>
          </p:nvSpPr>
          <p:spPr>
            <a:xfrm rot="10800000">
              <a:off x="6262560" y="3013560"/>
              <a:ext cx="941760" cy="1119960"/>
            </a:xfrm>
            <a:prstGeom prst="down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327B93"/>
                </a:gs>
                <a:gs pos="50000">
                  <a:srgbClr val="47B0D2"/>
                </a:gs>
                <a:gs pos="100000">
                  <a:srgbClr val="53CFF9"/>
                </a:gs>
              </a:gsLst>
              <a:lin ang="16200000"/>
            </a:gra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271" name="TextBox 17"/>
            <p:cNvSpPr/>
            <p:nvPr/>
          </p:nvSpPr>
          <p:spPr>
            <a:xfrm>
              <a:off x="5868720" y="4323960"/>
              <a:ext cx="17283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2400" b="1" strike="noStrike" spc="-1">
                  <a:solidFill>
                    <a:schemeClr val="dk1"/>
                  </a:solidFill>
                  <a:latin typeface="Trebuchet MS" panose="020B0603020202020204"/>
                </a:rPr>
                <a:t>Maximize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72" name="Group 20"/>
          <p:cNvGrpSpPr/>
          <p:nvPr/>
        </p:nvGrpSpPr>
        <p:grpSpPr>
          <a:xfrm>
            <a:off x="7719840" y="3012840"/>
            <a:ext cx="1728360" cy="1740240"/>
            <a:chOff x="7719840" y="3012840"/>
            <a:chExt cx="1728360" cy="1740240"/>
          </a:xfrm>
        </p:grpSpPr>
        <p:sp>
          <p:nvSpPr>
            <p:cNvPr id="273" name="Arrow: Down 14"/>
            <p:cNvSpPr/>
            <p:nvPr/>
          </p:nvSpPr>
          <p:spPr>
            <a:xfrm>
              <a:off x="8007840" y="3012840"/>
              <a:ext cx="941760" cy="1119960"/>
            </a:xfrm>
            <a:prstGeom prst="down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327B93"/>
                </a:gs>
                <a:gs pos="50000">
                  <a:srgbClr val="47B0D2"/>
                </a:gs>
                <a:gs pos="100000">
                  <a:srgbClr val="53CFF9"/>
                </a:gs>
              </a:gsLst>
              <a:lin ang="16200000"/>
            </a:gra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274" name="TextBox 18"/>
            <p:cNvSpPr/>
            <p:nvPr/>
          </p:nvSpPr>
          <p:spPr>
            <a:xfrm>
              <a:off x="7719840" y="4297680"/>
              <a:ext cx="17283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2400" b="1" strike="noStrike" spc="-1">
                  <a:solidFill>
                    <a:schemeClr val="dk1"/>
                  </a:solidFill>
                  <a:latin typeface="Trebuchet MS" panose="020B0603020202020204"/>
                </a:rPr>
                <a:t>Minimize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75" name="Content Placeholder 2"/>
          <p:cNvSpPr/>
          <p:nvPr/>
        </p:nvSpPr>
        <p:spPr>
          <a:xfrm>
            <a:off x="590400" y="3910320"/>
            <a:ext cx="5008320" cy="993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Decision Variables / Design Variables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Values the Optimizer can Change  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4925880" y="4297680"/>
            <a:ext cx="27612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strike="noStrike" spc="-1">
                <a:solidFill>
                  <a:schemeClr val="dk1"/>
                </a:solidFill>
                <a:latin typeface="Trebuchet MS" panose="020B0603020202020204"/>
              </a:rPr>
              <a:t>Length of Square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846000" y="1911960"/>
            <a:ext cx="8596080" cy="30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LPP Using </a:t>
            </a:r>
            <a:br>
              <a:rPr sz="6000"/>
            </a:b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Simplex Method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Overview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578880" y="1499400"/>
            <a:ext cx="8596080" cy="402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Slack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Variable added to a &lt;= Constraint to convert it to an Equation (=)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Slack Variable indicates unused resources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 Slack Variable contributes nothing to objective function values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Surplus/Artificial Variables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Variable subtracted from a &gt;= constraint to convert it to an Equation (=)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Surplus Variable represents an excess above  a constraint requirement level 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Surplus variables contribute nothing to  the calculated value of the objective function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Example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77160" y="164916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12 x1 + 16 x2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10 x1 + 20 x2 &lt;= 120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8 x1 + 8 x2 &lt;= 80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2" name="Arrow: Left 3"/>
          <p:cNvSpPr/>
          <p:nvPr/>
        </p:nvSpPr>
        <p:spPr>
          <a:xfrm>
            <a:off x="5670720" y="1395720"/>
            <a:ext cx="3922920" cy="9979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3" name="Arrow: Left 4"/>
          <p:cNvSpPr/>
          <p:nvPr/>
        </p:nvSpPr>
        <p:spPr>
          <a:xfrm>
            <a:off x="5670720" y="3387240"/>
            <a:ext cx="3922920" cy="9979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Constraints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77160" y="156240"/>
            <a:ext cx="1002744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Convert all inequality constraints </a:t>
            </a:r>
            <a:br>
              <a:rPr sz="3600"/>
            </a:b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into equality (use slack variables)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677160" y="1499400"/>
            <a:ext cx="8596080" cy="62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Let’s add Slack Variables to Constraints (How many Slack Variables)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811080" y="2053080"/>
            <a:ext cx="60951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x1 + 20 x2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120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x1 + 8 x2 </a:t>
            </a:r>
            <a:r>
              <a:rPr lang="en-US" sz="1800" b="0" i="1" strike="noStrike" spc="-1">
                <a:solidFill>
                  <a:schemeClr val="dk1"/>
                </a:solidFill>
                <a:latin typeface="Trebuchet MS" panose="020B0603020202020204"/>
              </a:rPr>
              <a:t>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= 80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7" name="Content Placeholder 2"/>
          <p:cNvSpPr/>
          <p:nvPr/>
        </p:nvSpPr>
        <p:spPr>
          <a:xfrm>
            <a:off x="677160" y="3502800"/>
            <a:ext cx="8596080" cy="624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We need to Add these Slack variables to the </a:t>
            </a: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Objective Function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too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8" name="Rectangle 5"/>
          <p:cNvSpPr/>
          <p:nvPr/>
        </p:nvSpPr>
        <p:spPr>
          <a:xfrm>
            <a:off x="677160" y="4127760"/>
            <a:ext cx="7650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12 x1 + 16 x2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12360" y="29556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Develop Initial Simplex Table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290" name="Table 3"/>
          <p:cNvGraphicFramePr/>
          <p:nvPr/>
        </p:nvGraphicFramePr>
        <p:xfrm>
          <a:off x="911520" y="1851840"/>
          <a:ext cx="8812440" cy="36295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1" name="Speech Bubble: Oval 4"/>
          <p:cNvSpPr/>
          <p:nvPr/>
        </p:nvSpPr>
        <p:spPr>
          <a:xfrm>
            <a:off x="5042160" y="198000"/>
            <a:ext cx="3671280" cy="928080"/>
          </a:xfrm>
          <a:prstGeom prst="wedgeEllipseCallout">
            <a:avLst>
              <a:gd name="adj1" fmla="val -103441"/>
              <a:gd name="adj2" fmla="val 14843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Co-efficient of 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2" name="Speech Bubble: Oval 5"/>
          <p:cNvSpPr/>
          <p:nvPr/>
        </p:nvSpPr>
        <p:spPr>
          <a:xfrm>
            <a:off x="999000" y="156600"/>
            <a:ext cx="3482640" cy="928080"/>
          </a:xfrm>
          <a:prstGeom prst="wedgeEllipseCallout">
            <a:avLst>
              <a:gd name="adj1" fmla="val -26524"/>
              <a:gd name="adj2" fmla="val 170313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Co-efficient of Basic Variables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3" name="Rectangle 6"/>
          <p:cNvSpPr/>
          <p:nvPr/>
        </p:nvSpPr>
        <p:spPr>
          <a:xfrm>
            <a:off x="8009280" y="869040"/>
            <a:ext cx="3578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x1 + 20 x2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120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4" name="Rectangle 8"/>
          <p:cNvSpPr/>
          <p:nvPr/>
        </p:nvSpPr>
        <p:spPr>
          <a:xfrm>
            <a:off x="3400920" y="198432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5" name="Rectangle 10"/>
          <p:cNvSpPr/>
          <p:nvPr/>
        </p:nvSpPr>
        <p:spPr>
          <a:xfrm>
            <a:off x="3400920" y="26589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6" name="Rectangle 11"/>
          <p:cNvSpPr/>
          <p:nvPr/>
        </p:nvSpPr>
        <p:spPr>
          <a:xfrm>
            <a:off x="3400920" y="329076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10        20         1          0         120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7" name="Rectangle 12"/>
          <p:cNvSpPr/>
          <p:nvPr/>
        </p:nvSpPr>
        <p:spPr>
          <a:xfrm>
            <a:off x="854640" y="1166400"/>
            <a:ext cx="7650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12 x1 + 16 x2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298" name="Straight Arrow Connector 14"/>
          <p:cNvCxnSpPr/>
          <p:nvPr/>
        </p:nvCxnSpPr>
        <p:spPr>
          <a:xfrm>
            <a:off x="2336760" y="24022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299" name="Straight Arrow Connector 16"/>
          <p:cNvCxnSpPr/>
          <p:nvPr/>
        </p:nvCxnSpPr>
        <p:spPr>
          <a:xfrm>
            <a:off x="1172880" y="199728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300" name="Rectangle 21"/>
          <p:cNvSpPr/>
          <p:nvPr/>
        </p:nvSpPr>
        <p:spPr>
          <a:xfrm>
            <a:off x="2393640" y="323280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1" name="Rectangle 22"/>
          <p:cNvSpPr/>
          <p:nvPr/>
        </p:nvSpPr>
        <p:spPr>
          <a:xfrm>
            <a:off x="2373120" y="3861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2" name="Rectangle 23"/>
          <p:cNvSpPr/>
          <p:nvPr/>
        </p:nvSpPr>
        <p:spPr>
          <a:xfrm>
            <a:off x="1291680" y="3200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3" name="Rectangle 24"/>
          <p:cNvSpPr/>
          <p:nvPr/>
        </p:nvSpPr>
        <p:spPr>
          <a:xfrm>
            <a:off x="1270080" y="38174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4" name="Rectangle 25"/>
          <p:cNvSpPr/>
          <p:nvPr/>
        </p:nvSpPr>
        <p:spPr>
          <a:xfrm>
            <a:off x="8023680" y="1329120"/>
            <a:ext cx="3578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x1 + 8 x2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80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5" name="Rectangle 26"/>
          <p:cNvSpPr/>
          <p:nvPr/>
        </p:nvSpPr>
        <p:spPr>
          <a:xfrm>
            <a:off x="3350160" y="383508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8          8          0          1         80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6" name="Rectangle 27"/>
          <p:cNvSpPr/>
          <p:nvPr/>
        </p:nvSpPr>
        <p:spPr>
          <a:xfrm>
            <a:off x="2359800" y="43952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7" name="Rectangle 29"/>
          <p:cNvSpPr/>
          <p:nvPr/>
        </p:nvSpPr>
        <p:spPr>
          <a:xfrm>
            <a:off x="1971000" y="5541480"/>
            <a:ext cx="46382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 = a1x1 + a2x2 + a3x3 + ..anxn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.. 0</a:t>
            </a:r>
            <a:r>
              <a:rPr lang="en-US" sz="2400" b="0" strike="noStrike" spc="-1">
                <a:solidFill>
                  <a:schemeClr val="dk1"/>
                </a:solidFill>
                <a:latin typeface="Trebuchet MS" panose="020B0603020202020204"/>
              </a:rPr>
              <a:t>x10 + 0x20 …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8" name="Rectangle 30"/>
          <p:cNvSpPr/>
          <p:nvPr/>
        </p:nvSpPr>
        <p:spPr>
          <a:xfrm>
            <a:off x="3328200" y="440856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0          0          0          0          0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9" name="Rectangle 31"/>
          <p:cNvSpPr/>
          <p:nvPr/>
        </p:nvSpPr>
        <p:spPr>
          <a:xfrm>
            <a:off x="2097360" y="4883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0" name="Rectangle 32"/>
          <p:cNvSpPr/>
          <p:nvPr/>
        </p:nvSpPr>
        <p:spPr>
          <a:xfrm>
            <a:off x="3328200" y="48981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Is it a Optimal Solution ?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677160" y="1746000"/>
            <a:ext cx="8596080" cy="30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For Maximization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All Cj – Zj &lt;= 0 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For Minimization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All Cj – Zj &gt;= 0 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31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4064040" y="1553760"/>
            <a:ext cx="7693200" cy="4010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Reach Optimality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5" name="Content Placeholder 2"/>
          <p:cNvSpPr/>
          <p:nvPr/>
        </p:nvSpPr>
        <p:spPr>
          <a:xfrm>
            <a:off x="677160" y="1414440"/>
            <a:ext cx="8596080" cy="4028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Select the 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Maximum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Value of Cj – Zj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column of Maximum Cj – Zj value becomes the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Column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Find the </a:t>
            </a:r>
            <a:r>
              <a:rPr lang="en-US" sz="28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Ratio = Solution / Key Column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Row with Minimum Value of Ratio is called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Row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intersection Point is called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Element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: Rounded Corners 2"/>
          <p:cNvSpPr/>
          <p:nvPr/>
        </p:nvSpPr>
        <p:spPr>
          <a:xfrm>
            <a:off x="4368960" y="171252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317" name="Rectangle: Rounded Corners 34"/>
          <p:cNvSpPr/>
          <p:nvPr/>
        </p:nvSpPr>
        <p:spPr>
          <a:xfrm>
            <a:off x="2018880" y="3135600"/>
            <a:ext cx="8153640" cy="7966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318" name="Oval 7"/>
          <p:cNvSpPr/>
          <p:nvPr/>
        </p:nvSpPr>
        <p:spPr>
          <a:xfrm>
            <a:off x="4368960" y="3232800"/>
            <a:ext cx="806040" cy="627480"/>
          </a:xfrm>
          <a:prstGeom prst="ellipse">
            <a:avLst/>
          </a:prstGeom>
          <a:solidFill>
            <a:srgbClr val="FFFFFF"/>
          </a:solidFill>
          <a:ln w="28575" cap="rnd">
            <a:solidFill>
              <a:srgbClr val="FF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Trebuchet MS" panose="020B0603020202020204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ep 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– 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Ex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a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m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pl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320" name="Table 3"/>
          <p:cNvGraphicFramePr/>
          <p:nvPr/>
        </p:nvGraphicFramePr>
        <p:xfrm>
          <a:off x="911520" y="1851840"/>
          <a:ext cx="8812440" cy="40399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0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1" name="Rectangle 8"/>
          <p:cNvSpPr/>
          <p:nvPr/>
        </p:nvSpPr>
        <p:spPr>
          <a:xfrm>
            <a:off x="3400920" y="198432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2" name="Rectangle 10"/>
          <p:cNvSpPr/>
          <p:nvPr/>
        </p:nvSpPr>
        <p:spPr>
          <a:xfrm>
            <a:off x="3400920" y="26589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3" name="Rectangle 11"/>
          <p:cNvSpPr/>
          <p:nvPr/>
        </p:nvSpPr>
        <p:spPr>
          <a:xfrm>
            <a:off x="3400920" y="329076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10        20         1          0         120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324" name="Straight Arrow Connector 14"/>
          <p:cNvCxnSpPr/>
          <p:nvPr/>
        </p:nvCxnSpPr>
        <p:spPr>
          <a:xfrm>
            <a:off x="2336760" y="24022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325" name="Straight Arrow Connector 16"/>
          <p:cNvCxnSpPr/>
          <p:nvPr/>
        </p:nvCxnSpPr>
        <p:spPr>
          <a:xfrm>
            <a:off x="1172880" y="199728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326" name="Rectangle 21"/>
          <p:cNvSpPr/>
          <p:nvPr/>
        </p:nvSpPr>
        <p:spPr>
          <a:xfrm>
            <a:off x="2393640" y="323280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7" name="Rectangle 22"/>
          <p:cNvSpPr/>
          <p:nvPr/>
        </p:nvSpPr>
        <p:spPr>
          <a:xfrm>
            <a:off x="2373120" y="3861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8" name="Rectangle 23"/>
          <p:cNvSpPr/>
          <p:nvPr/>
        </p:nvSpPr>
        <p:spPr>
          <a:xfrm>
            <a:off x="1291680" y="3200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9" name="Rectangle 24"/>
          <p:cNvSpPr/>
          <p:nvPr/>
        </p:nvSpPr>
        <p:spPr>
          <a:xfrm>
            <a:off x="1270080" y="38174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0" name="Rectangle 26"/>
          <p:cNvSpPr/>
          <p:nvPr/>
        </p:nvSpPr>
        <p:spPr>
          <a:xfrm>
            <a:off x="3350160" y="383508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8          8          0          1         80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1" name="Rectangle 27"/>
          <p:cNvSpPr/>
          <p:nvPr/>
        </p:nvSpPr>
        <p:spPr>
          <a:xfrm>
            <a:off x="2359800" y="43952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2" name="Rectangle 30"/>
          <p:cNvSpPr/>
          <p:nvPr/>
        </p:nvSpPr>
        <p:spPr>
          <a:xfrm>
            <a:off x="3328200" y="440856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0          0          0          0          0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3" name="Rectangle 31"/>
          <p:cNvSpPr/>
          <p:nvPr/>
        </p:nvSpPr>
        <p:spPr>
          <a:xfrm>
            <a:off x="2097360" y="4883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4" name="Rectangle 32"/>
          <p:cNvSpPr/>
          <p:nvPr/>
        </p:nvSpPr>
        <p:spPr>
          <a:xfrm>
            <a:off x="3328200" y="48981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5" name="Rectangle 28"/>
          <p:cNvSpPr/>
          <p:nvPr/>
        </p:nvSpPr>
        <p:spPr>
          <a:xfrm>
            <a:off x="8935560" y="3313440"/>
            <a:ext cx="497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6" name="Rectangle 33"/>
          <p:cNvSpPr/>
          <p:nvPr/>
        </p:nvSpPr>
        <p:spPr>
          <a:xfrm>
            <a:off x="8863200" y="3861000"/>
            <a:ext cx="71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7" name="Speech Bubble: Oval 35"/>
          <p:cNvSpPr/>
          <p:nvPr/>
        </p:nvSpPr>
        <p:spPr>
          <a:xfrm>
            <a:off x="2678040" y="671760"/>
            <a:ext cx="2066040" cy="928080"/>
          </a:xfrm>
          <a:prstGeom prst="wedgeEllipseCallout">
            <a:avLst>
              <a:gd name="adj1" fmla="val 44189"/>
              <a:gd name="adj2" fmla="val 57812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Column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8" name="Speech Bubble: Oval 36"/>
          <p:cNvSpPr/>
          <p:nvPr/>
        </p:nvSpPr>
        <p:spPr>
          <a:xfrm>
            <a:off x="9294120" y="766800"/>
            <a:ext cx="2066040" cy="928080"/>
          </a:xfrm>
          <a:prstGeom prst="wedgeEllipseCallout">
            <a:avLst>
              <a:gd name="adj1" fmla="val -56930"/>
              <a:gd name="adj2" fmla="val 201562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Row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9" name="Speech Bubble: Oval 37"/>
          <p:cNvSpPr/>
          <p:nvPr/>
        </p:nvSpPr>
        <p:spPr>
          <a:xfrm>
            <a:off x="9160920" y="4952880"/>
            <a:ext cx="2233080" cy="928080"/>
          </a:xfrm>
          <a:prstGeom prst="wedgeEllipseCallout">
            <a:avLst>
              <a:gd name="adj1" fmla="val -236294"/>
              <a:gd name="adj2" fmla="val -19062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Element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40" name="Group 48"/>
          <p:cNvGrpSpPr/>
          <p:nvPr/>
        </p:nvGrpSpPr>
        <p:grpSpPr>
          <a:xfrm>
            <a:off x="4857480" y="1451160"/>
            <a:ext cx="3227040" cy="1920240"/>
            <a:chOff x="4857480" y="1451160"/>
            <a:chExt cx="3227040" cy="1920240"/>
          </a:xfrm>
        </p:grpSpPr>
        <p:cxnSp>
          <p:nvCxnSpPr>
            <p:cNvPr id="341" name="Straight Arrow Connector 42"/>
            <p:cNvCxnSpPr/>
            <p:nvPr/>
          </p:nvCxnSpPr>
          <p:spPr>
            <a:xfrm>
              <a:off x="8084160" y="1463040"/>
              <a:ext cx="720" cy="190872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  <p:cxnSp>
          <p:nvCxnSpPr>
            <p:cNvPr id="342" name="Straight Connector 40"/>
            <p:cNvCxnSpPr/>
            <p:nvPr/>
          </p:nvCxnSpPr>
          <p:spPr>
            <a:xfrm>
              <a:off x="4878720" y="1451160"/>
              <a:ext cx="3206160" cy="72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</a:ln>
          </p:spPr>
        </p:cxnSp>
        <p:cxnSp>
          <p:nvCxnSpPr>
            <p:cNvPr id="343" name="Straight Arrow Connector 43"/>
            <p:cNvCxnSpPr/>
            <p:nvPr/>
          </p:nvCxnSpPr>
          <p:spPr>
            <a:xfrm>
              <a:off x="4857480" y="1451160"/>
              <a:ext cx="720" cy="190080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</p:grpSp>
      <p:sp>
        <p:nvSpPr>
          <p:cNvPr id="344" name="Rectangle 49"/>
          <p:cNvSpPr/>
          <p:nvPr/>
        </p:nvSpPr>
        <p:spPr>
          <a:xfrm>
            <a:off x="5798520" y="1064160"/>
            <a:ext cx="16902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120 / 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5" name="Oval 50"/>
          <p:cNvSpPr/>
          <p:nvPr/>
        </p:nvSpPr>
        <p:spPr>
          <a:xfrm>
            <a:off x="4429800" y="2553840"/>
            <a:ext cx="658440" cy="620280"/>
          </a:xfrm>
          <a:prstGeom prst="ellipse">
            <a:avLst/>
          </a:prstGeom>
          <a:noFill/>
          <a:ln w="28575" cap="rnd"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346" name="Oval 51"/>
          <p:cNvSpPr/>
          <p:nvPr/>
        </p:nvSpPr>
        <p:spPr>
          <a:xfrm>
            <a:off x="2259720" y="3199680"/>
            <a:ext cx="658440" cy="620280"/>
          </a:xfrm>
          <a:prstGeom prst="ellipse">
            <a:avLst/>
          </a:prstGeom>
          <a:noFill/>
          <a:ln w="28575" cap="rnd"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347" name="Speech Bubble: Oval 52"/>
          <p:cNvSpPr/>
          <p:nvPr/>
        </p:nvSpPr>
        <p:spPr>
          <a:xfrm>
            <a:off x="9579600" y="2069640"/>
            <a:ext cx="2233080" cy="928080"/>
          </a:xfrm>
          <a:prstGeom prst="wedgeEllipseCallout">
            <a:avLst>
              <a:gd name="adj1" fmla="val -253837"/>
              <a:gd name="adj2" fmla="val 2968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Entering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8" name="Speech Bubble: Oval 53"/>
          <p:cNvSpPr/>
          <p:nvPr/>
        </p:nvSpPr>
        <p:spPr>
          <a:xfrm>
            <a:off x="960120" y="5559480"/>
            <a:ext cx="2233080" cy="928080"/>
          </a:xfrm>
          <a:prstGeom prst="wedgeEllipseCallout">
            <a:avLst>
              <a:gd name="adj1" fmla="val 24255"/>
              <a:gd name="adj2" fmla="val -250001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Leaving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9" name="Speech Bubble: Oval 38"/>
          <p:cNvSpPr/>
          <p:nvPr/>
        </p:nvSpPr>
        <p:spPr>
          <a:xfrm>
            <a:off x="4429800" y="5986080"/>
            <a:ext cx="2066040" cy="656640"/>
          </a:xfrm>
          <a:prstGeom prst="wedgeEllipseCallout">
            <a:avLst>
              <a:gd name="adj1" fmla="val -31359"/>
              <a:gd name="adj2" fmla="val -15832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0" name="Speech Bubble: Oval 39"/>
          <p:cNvSpPr/>
          <p:nvPr/>
        </p:nvSpPr>
        <p:spPr>
          <a:xfrm>
            <a:off x="9839160" y="3922560"/>
            <a:ext cx="2066040" cy="656640"/>
          </a:xfrm>
          <a:prstGeom prst="wedgeEllipseCallout">
            <a:avLst>
              <a:gd name="adj1" fmla="val -70835"/>
              <a:gd name="adj2" fmla="val -9840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: Rounded Corners 27"/>
          <p:cNvSpPr/>
          <p:nvPr/>
        </p:nvSpPr>
        <p:spPr>
          <a:xfrm>
            <a:off x="3007080" y="2394720"/>
            <a:ext cx="7642440" cy="7966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First Iteration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353" name="Table 3"/>
          <p:cNvGraphicFramePr/>
          <p:nvPr/>
        </p:nvGraphicFramePr>
        <p:xfrm>
          <a:off x="911520" y="1096920"/>
          <a:ext cx="8812440" cy="36295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4" name="Rectangle 4"/>
          <p:cNvSpPr/>
          <p:nvPr/>
        </p:nvSpPr>
        <p:spPr>
          <a:xfrm>
            <a:off x="3400920" y="12297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5" name="Rectangle 5"/>
          <p:cNvSpPr/>
          <p:nvPr/>
        </p:nvSpPr>
        <p:spPr>
          <a:xfrm>
            <a:off x="3400920" y="190440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6" name="Rectangle 6"/>
          <p:cNvSpPr/>
          <p:nvPr/>
        </p:nvSpPr>
        <p:spPr>
          <a:xfrm>
            <a:off x="3400920" y="2536200"/>
            <a:ext cx="686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1/2       1        1/20       0          6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357" name="Straight Arrow Connector 7"/>
          <p:cNvCxnSpPr/>
          <p:nvPr/>
        </p:nvCxnSpPr>
        <p:spPr>
          <a:xfrm>
            <a:off x="2336760" y="164772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358" name="Straight Arrow Connector 8"/>
          <p:cNvCxnSpPr/>
          <p:nvPr/>
        </p:nvCxnSpPr>
        <p:spPr>
          <a:xfrm>
            <a:off x="1172880" y="124272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359" name="Rectangle 9"/>
          <p:cNvSpPr/>
          <p:nvPr/>
        </p:nvSpPr>
        <p:spPr>
          <a:xfrm>
            <a:off x="2393640" y="247824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0" name="Rectangle 10"/>
          <p:cNvSpPr/>
          <p:nvPr/>
        </p:nvSpPr>
        <p:spPr>
          <a:xfrm>
            <a:off x="2373120" y="31060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1" name="Rectangle 11"/>
          <p:cNvSpPr/>
          <p:nvPr/>
        </p:nvSpPr>
        <p:spPr>
          <a:xfrm>
            <a:off x="1291680" y="2445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2" name="Rectangle 12"/>
          <p:cNvSpPr/>
          <p:nvPr/>
        </p:nvSpPr>
        <p:spPr>
          <a:xfrm>
            <a:off x="1270080" y="3062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3" name="Rectangle 13"/>
          <p:cNvSpPr/>
          <p:nvPr/>
        </p:nvSpPr>
        <p:spPr>
          <a:xfrm>
            <a:off x="3350160" y="308052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          0        -2/5       1         32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4" name="Rectangle 14"/>
          <p:cNvSpPr/>
          <p:nvPr/>
        </p:nvSpPr>
        <p:spPr>
          <a:xfrm>
            <a:off x="2359800" y="36403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5" name="Rectangle 15"/>
          <p:cNvSpPr/>
          <p:nvPr/>
        </p:nvSpPr>
        <p:spPr>
          <a:xfrm>
            <a:off x="3328200" y="365364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         16       4/5        0        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6" name="Rectangle 16"/>
          <p:cNvSpPr/>
          <p:nvPr/>
        </p:nvSpPr>
        <p:spPr>
          <a:xfrm>
            <a:off x="2097360" y="412920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7" name="Rectangle 17"/>
          <p:cNvSpPr/>
          <p:nvPr/>
        </p:nvSpPr>
        <p:spPr>
          <a:xfrm>
            <a:off x="3328200" y="414360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          0        -4/5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368" name="Straight Arrow Connector 19"/>
          <p:cNvCxnSpPr/>
          <p:nvPr/>
        </p:nvCxnSpPr>
        <p:spPr>
          <a:xfrm flipH="1">
            <a:off x="1837080" y="1686240"/>
            <a:ext cx="2607480" cy="98028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369" name="Straight Arrow Connector 21"/>
          <p:cNvCxnSpPr/>
          <p:nvPr/>
        </p:nvCxnSpPr>
        <p:spPr>
          <a:xfrm flipH="1">
            <a:off x="3018960" y="2252520"/>
            <a:ext cx="1425600" cy="42444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370" name="Rectangle 26"/>
          <p:cNvSpPr/>
          <p:nvPr/>
        </p:nvSpPr>
        <p:spPr>
          <a:xfrm>
            <a:off x="4361040" y="4816440"/>
            <a:ext cx="561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New x2 = old values / Key Element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371" name="Picture 28"/>
          <p:cNvPicPr/>
          <p:nvPr/>
        </p:nvPicPr>
        <p:blipFill>
          <a:blip r:embed="rId1"/>
          <a:stretch>
            <a:fillRect/>
          </a:stretch>
        </p:blipFill>
        <p:spPr>
          <a:xfrm>
            <a:off x="911520" y="4886640"/>
            <a:ext cx="3242880" cy="1690560"/>
          </a:xfrm>
          <a:prstGeom prst="rect">
            <a:avLst/>
          </a:prstGeom>
          <a:ln w="0">
            <a:noFill/>
          </a:ln>
        </p:spPr>
      </p:pic>
      <p:grpSp>
        <p:nvGrpSpPr>
          <p:cNvPr id="372" name="Group 34"/>
          <p:cNvGrpSpPr/>
          <p:nvPr/>
        </p:nvGrpSpPr>
        <p:grpSpPr>
          <a:xfrm>
            <a:off x="4361040" y="5456520"/>
            <a:ext cx="7801200" cy="1022400"/>
            <a:chOff x="4361040" y="5456520"/>
            <a:chExt cx="7801200" cy="1022400"/>
          </a:xfrm>
        </p:grpSpPr>
        <p:sp>
          <p:nvSpPr>
            <p:cNvPr id="373" name="Rectangle 29"/>
            <p:cNvSpPr/>
            <p:nvPr/>
          </p:nvSpPr>
          <p:spPr>
            <a:xfrm>
              <a:off x="4361040" y="5585400"/>
              <a:ext cx="2532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</a:t>
              </a: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= Old Value –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74" name="Rectangle 30"/>
            <p:cNvSpPr/>
            <p:nvPr/>
          </p:nvSpPr>
          <p:spPr>
            <a:xfrm>
              <a:off x="6807240" y="5456520"/>
              <a:ext cx="53550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Corresponding Key Column Value X Corresponding Key Row Value  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375" name="Straight Connector 32"/>
            <p:cNvCxnSpPr/>
            <p:nvPr/>
          </p:nvCxnSpPr>
          <p:spPr>
            <a:xfrm>
              <a:off x="6894000" y="6041160"/>
              <a:ext cx="4964760" cy="720"/>
            </a:xfrm>
            <a:prstGeom prst="straightConnector1">
              <a:avLst/>
            </a:prstGeom>
            <a:ln w="19050" cap="rnd">
              <a:solidFill>
                <a:srgbClr val="000000"/>
              </a:solidFill>
              <a:round/>
            </a:ln>
          </p:spPr>
        </p:cxnSp>
        <p:sp>
          <p:nvSpPr>
            <p:cNvPr id="376" name="Rectangle 33"/>
            <p:cNvSpPr/>
            <p:nvPr/>
          </p:nvSpPr>
          <p:spPr>
            <a:xfrm>
              <a:off x="7910640" y="6145560"/>
              <a:ext cx="21906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Key Element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pic>
        <p:nvPicPr>
          <p:cNvPr id="377" name="Picture 36"/>
          <p:cNvPicPr/>
          <p:nvPr/>
        </p:nvPicPr>
        <p:blipFill>
          <a:blip r:embed="rId2"/>
          <a:stretch>
            <a:fillRect/>
          </a:stretch>
        </p:blipFill>
        <p:spPr>
          <a:xfrm>
            <a:off x="928080" y="4849560"/>
            <a:ext cx="3461400" cy="1690560"/>
          </a:xfrm>
          <a:prstGeom prst="rect">
            <a:avLst/>
          </a:prstGeom>
          <a:ln w="0">
            <a:noFill/>
          </a:ln>
        </p:spPr>
      </p:pic>
      <p:grpSp>
        <p:nvGrpSpPr>
          <p:cNvPr id="378" name="Group 54"/>
          <p:cNvGrpSpPr/>
          <p:nvPr/>
        </p:nvGrpSpPr>
        <p:grpSpPr>
          <a:xfrm>
            <a:off x="4407120" y="444240"/>
            <a:ext cx="5525280" cy="1034640"/>
            <a:chOff x="4407120" y="444240"/>
            <a:chExt cx="5525280" cy="1034640"/>
          </a:xfrm>
        </p:grpSpPr>
        <p:sp>
          <p:nvSpPr>
            <p:cNvPr id="379" name="Speech Bubble: Rectangle 35"/>
            <p:cNvSpPr/>
            <p:nvPr/>
          </p:nvSpPr>
          <p:spPr>
            <a:xfrm>
              <a:off x="4407120" y="444240"/>
              <a:ext cx="5525280" cy="1034640"/>
            </a:xfrm>
            <a:prstGeom prst="wedgeRectCallout">
              <a:avLst>
                <a:gd name="adj1" fmla="val -57328"/>
                <a:gd name="adj2" fmla="val 224371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= 8 - 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380" name="Group 53"/>
            <p:cNvGrpSpPr/>
            <p:nvPr/>
          </p:nvGrpSpPr>
          <p:grpSpPr>
            <a:xfrm>
              <a:off x="5951520" y="586080"/>
              <a:ext cx="3612960" cy="787680"/>
              <a:chOff x="5951520" y="586080"/>
              <a:chExt cx="3612960" cy="787680"/>
            </a:xfrm>
          </p:grpSpPr>
          <p:sp>
            <p:nvSpPr>
              <p:cNvPr id="381" name="Rectangle 39"/>
              <p:cNvSpPr/>
              <p:nvPr/>
            </p:nvSpPr>
            <p:spPr>
              <a:xfrm>
                <a:off x="5951880" y="59328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 x 10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382" name="Straight Connector 40"/>
              <p:cNvCxnSpPr/>
              <p:nvPr/>
            </p:nvCxnSpPr>
            <p:spPr>
              <a:xfrm>
                <a:off x="5951520" y="988920"/>
                <a:ext cx="963000" cy="7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383" name="Rectangle 41"/>
              <p:cNvSpPr/>
              <p:nvPr/>
            </p:nvSpPr>
            <p:spPr>
              <a:xfrm>
                <a:off x="5955120" y="100980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84" name="Rectangle 47"/>
              <p:cNvSpPr/>
              <p:nvPr/>
            </p:nvSpPr>
            <p:spPr>
              <a:xfrm>
                <a:off x="7555680" y="58608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385" name="Straight Connector 48"/>
              <p:cNvCxnSpPr/>
              <p:nvPr/>
            </p:nvCxnSpPr>
            <p:spPr>
              <a:xfrm>
                <a:off x="7555320" y="981720"/>
                <a:ext cx="513360" cy="79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386" name="Rectangle 49"/>
              <p:cNvSpPr/>
              <p:nvPr/>
            </p:nvSpPr>
            <p:spPr>
              <a:xfrm>
                <a:off x="7370280" y="100260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87" name="Rectangle 50"/>
              <p:cNvSpPr/>
              <p:nvPr/>
            </p:nvSpPr>
            <p:spPr>
              <a:xfrm>
                <a:off x="6869880" y="795600"/>
                <a:ext cx="754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8 - 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88" name="Rectangle 52"/>
              <p:cNvSpPr/>
              <p:nvPr/>
            </p:nvSpPr>
            <p:spPr>
              <a:xfrm>
                <a:off x="7967160" y="803880"/>
                <a:ext cx="15973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 – 4 = 4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  <p:grpSp>
        <p:nvGrpSpPr>
          <p:cNvPr id="389" name="Group 56"/>
          <p:cNvGrpSpPr/>
          <p:nvPr/>
        </p:nvGrpSpPr>
        <p:grpSpPr>
          <a:xfrm>
            <a:off x="5394240" y="466560"/>
            <a:ext cx="5525280" cy="1034640"/>
            <a:chOff x="5394240" y="466560"/>
            <a:chExt cx="5525280" cy="1034640"/>
          </a:xfrm>
        </p:grpSpPr>
        <p:sp>
          <p:nvSpPr>
            <p:cNvPr id="390" name="Speech Bubble: Rectangle 57"/>
            <p:cNvSpPr/>
            <p:nvPr/>
          </p:nvSpPr>
          <p:spPr>
            <a:xfrm>
              <a:off x="5394240" y="466560"/>
              <a:ext cx="5525280" cy="1034640"/>
            </a:xfrm>
            <a:prstGeom prst="wedgeRectCallout">
              <a:avLst>
                <a:gd name="adj1" fmla="val -57328"/>
                <a:gd name="adj2" fmla="val 224371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= 8 - 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391" name="Group 58"/>
            <p:cNvGrpSpPr/>
            <p:nvPr/>
          </p:nvGrpSpPr>
          <p:grpSpPr>
            <a:xfrm>
              <a:off x="6938640" y="608400"/>
              <a:ext cx="3612960" cy="787680"/>
              <a:chOff x="6938640" y="608400"/>
              <a:chExt cx="3612960" cy="787680"/>
            </a:xfrm>
          </p:grpSpPr>
          <p:sp>
            <p:nvSpPr>
              <p:cNvPr id="392" name="Rectangle 59"/>
              <p:cNvSpPr/>
              <p:nvPr/>
            </p:nvSpPr>
            <p:spPr>
              <a:xfrm>
                <a:off x="6939000" y="61560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 x 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393" name="Straight Connector 60"/>
              <p:cNvCxnSpPr/>
              <p:nvPr/>
            </p:nvCxnSpPr>
            <p:spPr>
              <a:xfrm>
                <a:off x="6938640" y="1011240"/>
                <a:ext cx="963000" cy="7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394" name="Rectangle 61"/>
              <p:cNvSpPr/>
              <p:nvPr/>
            </p:nvSpPr>
            <p:spPr>
              <a:xfrm>
                <a:off x="6942240" y="103212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95" name="Rectangle 62"/>
              <p:cNvSpPr/>
              <p:nvPr/>
            </p:nvSpPr>
            <p:spPr>
              <a:xfrm>
                <a:off x="8542800" y="60840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160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396" name="Straight Connector 63"/>
              <p:cNvCxnSpPr/>
              <p:nvPr/>
            </p:nvCxnSpPr>
            <p:spPr>
              <a:xfrm>
                <a:off x="8542440" y="1004040"/>
                <a:ext cx="513720" cy="79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397" name="Rectangle 64"/>
              <p:cNvSpPr/>
              <p:nvPr/>
            </p:nvSpPr>
            <p:spPr>
              <a:xfrm>
                <a:off x="8357400" y="102492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98" name="Rectangle 65"/>
              <p:cNvSpPr/>
              <p:nvPr/>
            </p:nvSpPr>
            <p:spPr>
              <a:xfrm>
                <a:off x="7857000" y="817920"/>
                <a:ext cx="754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8 - 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99" name="Rectangle 66"/>
              <p:cNvSpPr/>
              <p:nvPr/>
            </p:nvSpPr>
            <p:spPr>
              <a:xfrm>
                <a:off x="8954280" y="826200"/>
                <a:ext cx="15973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 – 8 = 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  <p:grpSp>
        <p:nvGrpSpPr>
          <p:cNvPr id="400" name="Group 67"/>
          <p:cNvGrpSpPr/>
          <p:nvPr/>
        </p:nvGrpSpPr>
        <p:grpSpPr>
          <a:xfrm>
            <a:off x="6115320" y="459000"/>
            <a:ext cx="5525280" cy="1034640"/>
            <a:chOff x="6115320" y="459000"/>
            <a:chExt cx="5525280" cy="1034640"/>
          </a:xfrm>
        </p:grpSpPr>
        <p:sp>
          <p:nvSpPr>
            <p:cNvPr id="401" name="Speech Bubble: Rectangle 68"/>
            <p:cNvSpPr/>
            <p:nvPr/>
          </p:nvSpPr>
          <p:spPr>
            <a:xfrm>
              <a:off x="6115320" y="459000"/>
              <a:ext cx="5525280" cy="1034640"/>
            </a:xfrm>
            <a:prstGeom prst="wedgeRectCallout">
              <a:avLst>
                <a:gd name="adj1" fmla="val -49186"/>
                <a:gd name="adj2" fmla="val 225773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= 0 - 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02" name="Group 69"/>
            <p:cNvGrpSpPr/>
            <p:nvPr/>
          </p:nvGrpSpPr>
          <p:grpSpPr>
            <a:xfrm>
              <a:off x="7659720" y="600840"/>
              <a:ext cx="3870720" cy="787680"/>
              <a:chOff x="7659720" y="600840"/>
              <a:chExt cx="3870720" cy="787680"/>
            </a:xfrm>
          </p:grpSpPr>
          <p:sp>
            <p:nvSpPr>
              <p:cNvPr id="403" name="Rectangle 70"/>
              <p:cNvSpPr/>
              <p:nvPr/>
            </p:nvSpPr>
            <p:spPr>
              <a:xfrm>
                <a:off x="7659720" y="60804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 x 1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04" name="Straight Connector 71"/>
              <p:cNvCxnSpPr/>
              <p:nvPr/>
            </p:nvCxnSpPr>
            <p:spPr>
              <a:xfrm>
                <a:off x="7659720" y="1003680"/>
                <a:ext cx="963000" cy="7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05" name="Rectangle 72"/>
              <p:cNvSpPr/>
              <p:nvPr/>
            </p:nvSpPr>
            <p:spPr>
              <a:xfrm>
                <a:off x="7663320" y="10245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06" name="Rectangle 73"/>
              <p:cNvSpPr/>
              <p:nvPr/>
            </p:nvSpPr>
            <p:spPr>
              <a:xfrm>
                <a:off x="9263880" y="600840"/>
                <a:ext cx="7531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07" name="Straight Connector 74"/>
              <p:cNvCxnSpPr/>
              <p:nvPr/>
            </p:nvCxnSpPr>
            <p:spPr>
              <a:xfrm>
                <a:off x="9263520" y="996120"/>
                <a:ext cx="513360" cy="82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08" name="Rectangle 75"/>
              <p:cNvSpPr/>
              <p:nvPr/>
            </p:nvSpPr>
            <p:spPr>
              <a:xfrm>
                <a:off x="9078480" y="10173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09" name="Rectangle 76"/>
              <p:cNvSpPr/>
              <p:nvPr/>
            </p:nvSpPr>
            <p:spPr>
              <a:xfrm>
                <a:off x="8578080" y="810360"/>
                <a:ext cx="754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0 - 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10" name="Rectangle 77"/>
              <p:cNvSpPr/>
              <p:nvPr/>
            </p:nvSpPr>
            <p:spPr>
              <a:xfrm>
                <a:off x="9675360" y="818280"/>
                <a:ext cx="1855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0 – 2/5 = -2/5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  <p:grpSp>
        <p:nvGrpSpPr>
          <p:cNvPr id="411" name="Group 78"/>
          <p:cNvGrpSpPr/>
          <p:nvPr/>
        </p:nvGrpSpPr>
        <p:grpSpPr>
          <a:xfrm>
            <a:off x="6267600" y="466200"/>
            <a:ext cx="5525280" cy="1034640"/>
            <a:chOff x="6267600" y="466200"/>
            <a:chExt cx="5525280" cy="1034640"/>
          </a:xfrm>
        </p:grpSpPr>
        <p:sp>
          <p:nvSpPr>
            <p:cNvPr id="412" name="Speech Bubble: Rectangle 79"/>
            <p:cNvSpPr/>
            <p:nvPr/>
          </p:nvSpPr>
          <p:spPr>
            <a:xfrm>
              <a:off x="6267600" y="466200"/>
              <a:ext cx="5525280" cy="1034640"/>
            </a:xfrm>
            <a:prstGeom prst="wedgeRectCallout">
              <a:avLst>
                <a:gd name="adj1" fmla="val -33952"/>
                <a:gd name="adj2" fmla="val 227175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= 1 - 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13" name="Group 80"/>
            <p:cNvGrpSpPr/>
            <p:nvPr/>
          </p:nvGrpSpPr>
          <p:grpSpPr>
            <a:xfrm>
              <a:off x="7812000" y="608040"/>
              <a:ext cx="3870720" cy="787680"/>
              <a:chOff x="7812000" y="608040"/>
              <a:chExt cx="3870720" cy="787680"/>
            </a:xfrm>
          </p:grpSpPr>
          <p:sp>
            <p:nvSpPr>
              <p:cNvPr id="414" name="Rectangle 81"/>
              <p:cNvSpPr/>
              <p:nvPr/>
            </p:nvSpPr>
            <p:spPr>
              <a:xfrm>
                <a:off x="7812360" y="615240"/>
                <a:ext cx="136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 x 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15" name="Straight Connector 82"/>
              <p:cNvCxnSpPr/>
              <p:nvPr/>
            </p:nvCxnSpPr>
            <p:spPr>
              <a:xfrm>
                <a:off x="7812000" y="1010880"/>
                <a:ext cx="963000" cy="7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16" name="Rectangle 83"/>
              <p:cNvSpPr/>
              <p:nvPr/>
            </p:nvSpPr>
            <p:spPr>
              <a:xfrm>
                <a:off x="7815600" y="10317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17" name="Rectangle 84"/>
              <p:cNvSpPr/>
              <p:nvPr/>
            </p:nvSpPr>
            <p:spPr>
              <a:xfrm>
                <a:off x="9416160" y="608040"/>
                <a:ext cx="7531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18" name="Straight Connector 85"/>
              <p:cNvCxnSpPr/>
              <p:nvPr/>
            </p:nvCxnSpPr>
            <p:spPr>
              <a:xfrm>
                <a:off x="9415800" y="1003680"/>
                <a:ext cx="513720" cy="79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19" name="Rectangle 86"/>
              <p:cNvSpPr/>
              <p:nvPr/>
            </p:nvSpPr>
            <p:spPr>
              <a:xfrm>
                <a:off x="9230760" y="10245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0" name="Rectangle 87"/>
              <p:cNvSpPr/>
              <p:nvPr/>
            </p:nvSpPr>
            <p:spPr>
              <a:xfrm>
                <a:off x="8730360" y="817560"/>
                <a:ext cx="754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1 - 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1" name="Rectangle 88"/>
              <p:cNvSpPr/>
              <p:nvPr/>
            </p:nvSpPr>
            <p:spPr>
              <a:xfrm>
                <a:off x="9827640" y="825840"/>
                <a:ext cx="1855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1 – 0 = 1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  <p:grpSp>
        <p:nvGrpSpPr>
          <p:cNvPr id="422" name="Group 89"/>
          <p:cNvGrpSpPr/>
          <p:nvPr/>
        </p:nvGrpSpPr>
        <p:grpSpPr>
          <a:xfrm>
            <a:off x="6549120" y="459000"/>
            <a:ext cx="5525280" cy="1034640"/>
            <a:chOff x="6549120" y="459000"/>
            <a:chExt cx="5525280" cy="1034640"/>
          </a:xfrm>
        </p:grpSpPr>
        <p:sp>
          <p:nvSpPr>
            <p:cNvPr id="423" name="Speech Bubble: Rectangle 90"/>
            <p:cNvSpPr/>
            <p:nvPr/>
          </p:nvSpPr>
          <p:spPr>
            <a:xfrm>
              <a:off x="6549120" y="459000"/>
              <a:ext cx="5525280" cy="1034640"/>
            </a:xfrm>
            <a:prstGeom prst="wedgeRectCallout">
              <a:avLst>
                <a:gd name="adj1" fmla="val -18980"/>
                <a:gd name="adj2" fmla="val 222969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i="1" strike="noStrike" spc="-1">
                  <a:solidFill>
                    <a:schemeClr val="dk1"/>
                  </a:solidFill>
                  <a:latin typeface="Trebuchet MS" panose="020B0603020202020204"/>
                </a:rPr>
                <a:t>New s2 = 80- </a:t>
              </a: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24" name="Group 91"/>
            <p:cNvGrpSpPr/>
            <p:nvPr/>
          </p:nvGrpSpPr>
          <p:grpSpPr>
            <a:xfrm>
              <a:off x="8093520" y="600840"/>
              <a:ext cx="3870720" cy="787680"/>
              <a:chOff x="8093520" y="600840"/>
              <a:chExt cx="3870720" cy="787680"/>
            </a:xfrm>
          </p:grpSpPr>
          <p:sp>
            <p:nvSpPr>
              <p:cNvPr id="425" name="Rectangle 92"/>
              <p:cNvSpPr/>
              <p:nvPr/>
            </p:nvSpPr>
            <p:spPr>
              <a:xfrm>
                <a:off x="8093520" y="608040"/>
                <a:ext cx="13255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8 x 120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26" name="Straight Connector 93"/>
              <p:cNvCxnSpPr/>
              <p:nvPr/>
            </p:nvCxnSpPr>
            <p:spPr>
              <a:xfrm>
                <a:off x="8093520" y="1003680"/>
                <a:ext cx="963000" cy="72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27" name="Rectangle 94"/>
              <p:cNvSpPr/>
              <p:nvPr/>
            </p:nvSpPr>
            <p:spPr>
              <a:xfrm>
                <a:off x="8097120" y="10245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8" name="Rectangle 95"/>
              <p:cNvSpPr/>
              <p:nvPr/>
            </p:nvSpPr>
            <p:spPr>
              <a:xfrm>
                <a:off x="9697680" y="600840"/>
                <a:ext cx="7531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960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429" name="Straight Connector 96"/>
              <p:cNvCxnSpPr/>
              <p:nvPr/>
            </p:nvCxnSpPr>
            <p:spPr>
              <a:xfrm>
                <a:off x="9697320" y="996120"/>
                <a:ext cx="513360" cy="8280"/>
              </a:xfrm>
              <a:prstGeom prst="straightConnector1">
                <a:avLst/>
              </a:prstGeom>
              <a:ln w="28575" cap="rnd">
                <a:solidFill>
                  <a:srgbClr val="000000"/>
                </a:solidFill>
                <a:round/>
              </a:ln>
            </p:spPr>
          </p:cxnSp>
          <p:sp>
            <p:nvSpPr>
              <p:cNvPr id="430" name="Rectangle 97"/>
              <p:cNvSpPr/>
              <p:nvPr/>
            </p:nvSpPr>
            <p:spPr>
              <a:xfrm>
                <a:off x="9512280" y="1017360"/>
                <a:ext cx="837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20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31" name="Rectangle 98"/>
              <p:cNvSpPr/>
              <p:nvPr/>
            </p:nvSpPr>
            <p:spPr>
              <a:xfrm>
                <a:off x="9011880" y="810360"/>
                <a:ext cx="754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80 - 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32" name="Rectangle 99"/>
              <p:cNvSpPr/>
              <p:nvPr/>
            </p:nvSpPr>
            <p:spPr>
              <a:xfrm>
                <a:off x="10109160" y="818280"/>
                <a:ext cx="1855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US" sz="1800" b="1" i="1" strike="noStrike" spc="-1">
                    <a:solidFill>
                      <a:schemeClr val="dk1"/>
                    </a:solidFill>
                    <a:latin typeface="Trebuchet MS" panose="020B0603020202020204"/>
                  </a:rPr>
                  <a:t>: 80 – 48 = 32</a:t>
                </a:r>
                <a:endParaRPr lang="en-US" sz="1800" b="0" strike="noStrike" spc="-1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Rectangle: Rounded Corners 2"/>
          <p:cNvSpPr/>
          <p:nvPr/>
        </p:nvSpPr>
        <p:spPr>
          <a:xfrm>
            <a:off x="3323880" y="171252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34" name="Rectangle: Rounded Corners 34"/>
          <p:cNvSpPr/>
          <p:nvPr/>
        </p:nvSpPr>
        <p:spPr>
          <a:xfrm>
            <a:off x="2018880" y="3657960"/>
            <a:ext cx="8153640" cy="7966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35" name="Oval 7"/>
          <p:cNvSpPr/>
          <p:nvPr/>
        </p:nvSpPr>
        <p:spPr>
          <a:xfrm>
            <a:off x="3336120" y="3795840"/>
            <a:ext cx="806040" cy="627480"/>
          </a:xfrm>
          <a:prstGeom prst="ellipse">
            <a:avLst/>
          </a:prstGeom>
          <a:solidFill>
            <a:srgbClr val="FFFFFF"/>
          </a:solidFill>
          <a:ln w="28575" cap="rnd">
            <a:solidFill>
              <a:srgbClr val="FF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Trebuchet MS" panose="020B0603020202020204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77160" y="45036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Iteration 1 – Find Ratio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437" name="Table 3"/>
          <p:cNvGraphicFramePr/>
          <p:nvPr/>
        </p:nvGraphicFramePr>
        <p:xfrm>
          <a:off x="911520" y="1851840"/>
          <a:ext cx="8812440" cy="40399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0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8" name="Rectangle 8"/>
          <p:cNvSpPr/>
          <p:nvPr/>
        </p:nvSpPr>
        <p:spPr>
          <a:xfrm>
            <a:off x="3400920" y="198432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9" name="Rectangle 10"/>
          <p:cNvSpPr/>
          <p:nvPr/>
        </p:nvSpPr>
        <p:spPr>
          <a:xfrm>
            <a:off x="3400920" y="26589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440" name="Straight Arrow Connector 14"/>
          <p:cNvCxnSpPr/>
          <p:nvPr/>
        </p:nvCxnSpPr>
        <p:spPr>
          <a:xfrm>
            <a:off x="2336760" y="24022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441" name="Straight Arrow Connector 16"/>
          <p:cNvCxnSpPr/>
          <p:nvPr/>
        </p:nvCxnSpPr>
        <p:spPr>
          <a:xfrm>
            <a:off x="1172880" y="199728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442" name="Rectangle 21"/>
          <p:cNvSpPr/>
          <p:nvPr/>
        </p:nvSpPr>
        <p:spPr>
          <a:xfrm>
            <a:off x="2393640" y="323280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3" name="Rectangle 22"/>
          <p:cNvSpPr/>
          <p:nvPr/>
        </p:nvSpPr>
        <p:spPr>
          <a:xfrm>
            <a:off x="2373120" y="3861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s2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4" name="Rectangle 23"/>
          <p:cNvSpPr/>
          <p:nvPr/>
        </p:nvSpPr>
        <p:spPr>
          <a:xfrm>
            <a:off x="1291680" y="3200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5" name="Rectangle 24"/>
          <p:cNvSpPr/>
          <p:nvPr/>
        </p:nvSpPr>
        <p:spPr>
          <a:xfrm>
            <a:off x="1270080" y="38174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6" name="Rectangle 27"/>
          <p:cNvSpPr/>
          <p:nvPr/>
        </p:nvSpPr>
        <p:spPr>
          <a:xfrm>
            <a:off x="2359800" y="43952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7" name="Rectangle 31"/>
          <p:cNvSpPr/>
          <p:nvPr/>
        </p:nvSpPr>
        <p:spPr>
          <a:xfrm>
            <a:off x="2097360" y="4883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8" name="Rectangle 28"/>
          <p:cNvSpPr/>
          <p:nvPr/>
        </p:nvSpPr>
        <p:spPr>
          <a:xfrm>
            <a:off x="8935560" y="3313440"/>
            <a:ext cx="625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9" name="Rectangle 33"/>
          <p:cNvSpPr/>
          <p:nvPr/>
        </p:nvSpPr>
        <p:spPr>
          <a:xfrm>
            <a:off x="8863200" y="3861000"/>
            <a:ext cx="71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0" name="Speech Bubble: Oval 35"/>
          <p:cNvSpPr/>
          <p:nvPr/>
        </p:nvSpPr>
        <p:spPr>
          <a:xfrm>
            <a:off x="1357920" y="714240"/>
            <a:ext cx="2066040" cy="928080"/>
          </a:xfrm>
          <a:prstGeom prst="wedgeEllipseCallout">
            <a:avLst>
              <a:gd name="adj1" fmla="val 44189"/>
              <a:gd name="adj2" fmla="val 57812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Column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1" name="Speech Bubble: Oval 36"/>
          <p:cNvSpPr/>
          <p:nvPr/>
        </p:nvSpPr>
        <p:spPr>
          <a:xfrm>
            <a:off x="9294120" y="766800"/>
            <a:ext cx="2066040" cy="928080"/>
          </a:xfrm>
          <a:prstGeom prst="wedgeEllipseCallout">
            <a:avLst>
              <a:gd name="adj1" fmla="val -56930"/>
              <a:gd name="adj2" fmla="val 201562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Row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2" name="Speech Bubble: Oval 37"/>
          <p:cNvSpPr/>
          <p:nvPr/>
        </p:nvSpPr>
        <p:spPr>
          <a:xfrm>
            <a:off x="9210600" y="5332680"/>
            <a:ext cx="2233080" cy="928080"/>
          </a:xfrm>
          <a:prstGeom prst="wedgeEllipseCallout">
            <a:avLst>
              <a:gd name="adj1" fmla="val -288274"/>
              <a:gd name="adj2" fmla="val -16562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Element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3" name="Oval 50"/>
          <p:cNvSpPr/>
          <p:nvPr/>
        </p:nvSpPr>
        <p:spPr>
          <a:xfrm>
            <a:off x="3428280" y="2553840"/>
            <a:ext cx="658440" cy="620280"/>
          </a:xfrm>
          <a:prstGeom prst="ellipse">
            <a:avLst/>
          </a:prstGeom>
          <a:noFill/>
          <a:ln w="28575" cap="rnd"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54" name="Oval 51"/>
          <p:cNvSpPr/>
          <p:nvPr/>
        </p:nvSpPr>
        <p:spPr>
          <a:xfrm>
            <a:off x="2259720" y="3765600"/>
            <a:ext cx="658440" cy="620280"/>
          </a:xfrm>
          <a:prstGeom prst="ellipse">
            <a:avLst/>
          </a:prstGeom>
          <a:noFill/>
          <a:ln w="28575" cap="rnd"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55" name="Speech Bubble: Oval 52"/>
          <p:cNvSpPr/>
          <p:nvPr/>
        </p:nvSpPr>
        <p:spPr>
          <a:xfrm>
            <a:off x="9579600" y="2069640"/>
            <a:ext cx="2233080" cy="928080"/>
          </a:xfrm>
          <a:prstGeom prst="wedgeEllipseCallout">
            <a:avLst>
              <a:gd name="adj1" fmla="val -296720"/>
              <a:gd name="adj2" fmla="val 3749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Entering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6" name="Speech Bubble: Oval 53"/>
          <p:cNvSpPr/>
          <p:nvPr/>
        </p:nvSpPr>
        <p:spPr>
          <a:xfrm>
            <a:off x="960120" y="5559480"/>
            <a:ext cx="2233080" cy="928080"/>
          </a:xfrm>
          <a:prstGeom prst="wedgeEllipseCallout">
            <a:avLst>
              <a:gd name="adj1" fmla="val 10610"/>
              <a:gd name="adj2" fmla="val -182813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Leaving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7" name="Rectangle 38"/>
          <p:cNvSpPr/>
          <p:nvPr/>
        </p:nvSpPr>
        <p:spPr>
          <a:xfrm>
            <a:off x="3328200" y="3276360"/>
            <a:ext cx="686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1/2       1        1/20       0          6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8" name="Rectangle 39"/>
          <p:cNvSpPr/>
          <p:nvPr/>
        </p:nvSpPr>
        <p:spPr>
          <a:xfrm>
            <a:off x="3350160" y="387864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          0        -2/5       1         32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9" name="Rectangle 41"/>
          <p:cNvSpPr/>
          <p:nvPr/>
        </p:nvSpPr>
        <p:spPr>
          <a:xfrm>
            <a:off x="3328200" y="445212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8          16       4/5        0        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0" name="Rectangle 44"/>
          <p:cNvSpPr/>
          <p:nvPr/>
        </p:nvSpPr>
        <p:spPr>
          <a:xfrm>
            <a:off x="3328200" y="494172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          0        -4/5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461" name="Group 12"/>
          <p:cNvGrpSpPr/>
          <p:nvPr/>
        </p:nvGrpSpPr>
        <p:grpSpPr>
          <a:xfrm>
            <a:off x="3817440" y="1413000"/>
            <a:ext cx="4170600" cy="1908720"/>
            <a:chOff x="3817440" y="1413000"/>
            <a:chExt cx="4170600" cy="1908720"/>
          </a:xfrm>
        </p:grpSpPr>
        <p:cxnSp>
          <p:nvCxnSpPr>
            <p:cNvPr id="462" name="Straight Arrow Connector 46"/>
            <p:cNvCxnSpPr/>
            <p:nvPr/>
          </p:nvCxnSpPr>
          <p:spPr>
            <a:xfrm>
              <a:off x="7987680" y="1413000"/>
              <a:ext cx="720" cy="190908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  <p:cxnSp>
          <p:nvCxnSpPr>
            <p:cNvPr id="463" name="Straight Connector 47"/>
            <p:cNvCxnSpPr/>
            <p:nvPr/>
          </p:nvCxnSpPr>
          <p:spPr>
            <a:xfrm>
              <a:off x="3838680" y="1413000"/>
              <a:ext cx="4149720" cy="72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</a:ln>
          </p:spPr>
        </p:cxnSp>
        <p:cxnSp>
          <p:nvCxnSpPr>
            <p:cNvPr id="464" name="Straight Arrow Connector 54"/>
            <p:cNvCxnSpPr/>
            <p:nvPr/>
          </p:nvCxnSpPr>
          <p:spPr>
            <a:xfrm>
              <a:off x="3817440" y="1413000"/>
              <a:ext cx="720" cy="190080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3"/>
          <p:cNvSpPr/>
          <p:nvPr/>
        </p:nvSpPr>
        <p:spPr>
          <a:xfrm>
            <a:off x="1716120" y="3845160"/>
            <a:ext cx="8377560" cy="828000"/>
          </a:xfrm>
          <a:prstGeom prst="rect">
            <a:avLst/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77160" y="40644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Iteration 2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467" name="Table 3"/>
          <p:cNvGraphicFramePr/>
          <p:nvPr/>
        </p:nvGraphicFramePr>
        <p:xfrm>
          <a:off x="911520" y="966240"/>
          <a:ext cx="8812440" cy="36295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8" name="Rectangle 8"/>
          <p:cNvSpPr/>
          <p:nvPr/>
        </p:nvSpPr>
        <p:spPr>
          <a:xfrm>
            <a:off x="3400920" y="109908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9" name="Rectangle 10"/>
          <p:cNvSpPr/>
          <p:nvPr/>
        </p:nvSpPr>
        <p:spPr>
          <a:xfrm>
            <a:off x="3400920" y="177372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470" name="Straight Arrow Connector 14"/>
          <p:cNvCxnSpPr/>
          <p:nvPr/>
        </p:nvCxnSpPr>
        <p:spPr>
          <a:xfrm>
            <a:off x="2336760" y="15170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471" name="Straight Arrow Connector 16"/>
          <p:cNvCxnSpPr/>
          <p:nvPr/>
        </p:nvCxnSpPr>
        <p:spPr>
          <a:xfrm>
            <a:off x="1172880" y="111204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472" name="Rectangle 21"/>
          <p:cNvSpPr/>
          <p:nvPr/>
        </p:nvSpPr>
        <p:spPr>
          <a:xfrm>
            <a:off x="2393640" y="234756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3" name="Rectangle 22"/>
          <p:cNvSpPr/>
          <p:nvPr/>
        </p:nvSpPr>
        <p:spPr>
          <a:xfrm>
            <a:off x="2373120" y="2975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4" name="Rectangle 23"/>
          <p:cNvSpPr/>
          <p:nvPr/>
        </p:nvSpPr>
        <p:spPr>
          <a:xfrm>
            <a:off x="1291680" y="231516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5" name="Rectangle 24"/>
          <p:cNvSpPr/>
          <p:nvPr/>
        </p:nvSpPr>
        <p:spPr>
          <a:xfrm>
            <a:off x="1270080" y="2931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6" name="Rectangle 27"/>
          <p:cNvSpPr/>
          <p:nvPr/>
        </p:nvSpPr>
        <p:spPr>
          <a:xfrm>
            <a:off x="2359800" y="35096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7" name="Rectangle 31"/>
          <p:cNvSpPr/>
          <p:nvPr/>
        </p:nvSpPr>
        <p:spPr>
          <a:xfrm>
            <a:off x="2097360" y="399852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8" name="Rectangle 38"/>
          <p:cNvSpPr/>
          <p:nvPr/>
        </p:nvSpPr>
        <p:spPr>
          <a:xfrm>
            <a:off x="3328200" y="2391120"/>
            <a:ext cx="686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 1        1/10    -1/8        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9" name="Rectangle 39"/>
          <p:cNvSpPr/>
          <p:nvPr/>
        </p:nvSpPr>
        <p:spPr>
          <a:xfrm>
            <a:off x="3350160" y="296424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     0       -1/10     1/4        8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0" name="Rectangle 41"/>
          <p:cNvSpPr/>
          <p:nvPr/>
        </p:nvSpPr>
        <p:spPr>
          <a:xfrm>
            <a:off x="3328200" y="349632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16        2/5        1        128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1" name="Rectangle 44"/>
          <p:cNvSpPr/>
          <p:nvPr/>
        </p:nvSpPr>
        <p:spPr>
          <a:xfrm>
            <a:off x="3328200" y="405648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0        -2/5       -1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482" name="Straight Arrow Connector 40"/>
          <p:cNvCxnSpPr/>
          <p:nvPr/>
        </p:nvCxnSpPr>
        <p:spPr>
          <a:xfrm flipH="1">
            <a:off x="1815480" y="1517040"/>
            <a:ext cx="1585800" cy="164772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483" name="Straight Arrow Connector 42"/>
          <p:cNvCxnSpPr/>
          <p:nvPr/>
        </p:nvCxnSpPr>
        <p:spPr>
          <a:xfrm flipH="1">
            <a:off x="3018960" y="2122920"/>
            <a:ext cx="624600" cy="104184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484" name="Rectangle 43"/>
          <p:cNvSpPr/>
          <p:nvPr/>
        </p:nvSpPr>
        <p:spPr>
          <a:xfrm>
            <a:off x="5101920" y="4717440"/>
            <a:ext cx="561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New x1 = old values / Key Element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485" name="Group 45"/>
          <p:cNvGrpSpPr/>
          <p:nvPr/>
        </p:nvGrpSpPr>
        <p:grpSpPr>
          <a:xfrm>
            <a:off x="4671000" y="5347800"/>
            <a:ext cx="7351200" cy="985680"/>
            <a:chOff x="4671000" y="5347800"/>
            <a:chExt cx="7351200" cy="985680"/>
          </a:xfrm>
        </p:grpSpPr>
        <p:sp>
          <p:nvSpPr>
            <p:cNvPr id="486" name="Rectangle 48"/>
            <p:cNvSpPr/>
            <p:nvPr/>
          </p:nvSpPr>
          <p:spPr>
            <a:xfrm>
              <a:off x="4671000" y="5600520"/>
              <a:ext cx="25470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New x2 </a:t>
              </a: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=Old Value -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87" name="Rectangle 49"/>
            <p:cNvSpPr/>
            <p:nvPr/>
          </p:nvSpPr>
          <p:spPr>
            <a:xfrm>
              <a:off x="7005960" y="5347800"/>
              <a:ext cx="501624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Corresponding Key Column Value X Corresponding Key Row Value  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488" name="Straight Connector 55"/>
            <p:cNvCxnSpPr/>
            <p:nvPr/>
          </p:nvCxnSpPr>
          <p:spPr>
            <a:xfrm>
              <a:off x="7087320" y="5901120"/>
              <a:ext cx="4650840" cy="720"/>
            </a:xfrm>
            <a:prstGeom prst="straightConnector1">
              <a:avLst/>
            </a:prstGeom>
            <a:ln w="19050" cap="rnd">
              <a:solidFill>
                <a:srgbClr val="000000"/>
              </a:solidFill>
              <a:round/>
            </a:ln>
          </p:spPr>
        </p:cxnSp>
        <p:sp>
          <p:nvSpPr>
            <p:cNvPr id="489" name="Rectangle 56"/>
            <p:cNvSpPr/>
            <p:nvPr/>
          </p:nvSpPr>
          <p:spPr>
            <a:xfrm>
              <a:off x="8039520" y="6000120"/>
              <a:ext cx="205200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Key Element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pic>
        <p:nvPicPr>
          <p:cNvPr id="490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412200" y="4757400"/>
            <a:ext cx="4253040" cy="1976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 90"/>
          <p:cNvSpPr/>
          <p:nvPr/>
        </p:nvSpPr>
        <p:spPr>
          <a:xfrm>
            <a:off x="7449480" y="3487320"/>
            <a:ext cx="1121400" cy="695160"/>
          </a:xfrm>
          <a:prstGeom prst="rect">
            <a:avLst/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77160" y="286200"/>
            <a:ext cx="8596080" cy="8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Fin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al 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O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pti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m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ali</a:t>
            </a: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ty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3" name="Content Placeholder 2"/>
          <p:cNvSpPr/>
          <p:nvPr/>
        </p:nvSpPr>
        <p:spPr>
          <a:xfrm>
            <a:off x="1969560" y="4726800"/>
            <a:ext cx="7444440" cy="16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 = 8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x2 = 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</a:t>
            </a:r>
            <a:r>
              <a:rPr lang="en-US" sz="28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128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4" name="Rectangle 72"/>
          <p:cNvSpPr/>
          <p:nvPr/>
        </p:nvSpPr>
        <p:spPr>
          <a:xfrm>
            <a:off x="1032120" y="2391480"/>
            <a:ext cx="2200320" cy="1216800"/>
          </a:xfrm>
          <a:prstGeom prst="rect">
            <a:avLst/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495" name="Table 73"/>
          <p:cNvGraphicFramePr/>
          <p:nvPr/>
        </p:nvGraphicFramePr>
        <p:xfrm>
          <a:off x="911520" y="1078920"/>
          <a:ext cx="8812440" cy="3629520"/>
        </p:xfrm>
        <a:graphic>
          <a:graphicData uri="http://schemas.openxmlformats.org/drawingml/2006/table">
            <a:tbl>
              <a:tblPr/>
              <a:tblGrid>
                <a:gridCol w="1101600"/>
                <a:gridCol w="1252080"/>
                <a:gridCol w="950760"/>
                <a:gridCol w="1101600"/>
                <a:gridCol w="1101600"/>
                <a:gridCol w="1101600"/>
                <a:gridCol w="1101600"/>
                <a:gridCol w="110160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Variables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6" name="Rectangle 74"/>
          <p:cNvSpPr/>
          <p:nvPr/>
        </p:nvSpPr>
        <p:spPr>
          <a:xfrm>
            <a:off x="3400920" y="12117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12        16         0          0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7" name="Rectangle 75"/>
          <p:cNvSpPr/>
          <p:nvPr/>
        </p:nvSpPr>
        <p:spPr>
          <a:xfrm>
            <a:off x="3400920" y="188640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   x2         s1         s2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498" name="Straight Arrow Connector 76"/>
          <p:cNvCxnSpPr/>
          <p:nvPr/>
        </p:nvCxnSpPr>
        <p:spPr>
          <a:xfrm>
            <a:off x="2336760" y="162936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499" name="Straight Arrow Connector 77"/>
          <p:cNvCxnSpPr/>
          <p:nvPr/>
        </p:nvCxnSpPr>
        <p:spPr>
          <a:xfrm>
            <a:off x="1172880" y="122436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500" name="Rectangle 78"/>
          <p:cNvSpPr/>
          <p:nvPr/>
        </p:nvSpPr>
        <p:spPr>
          <a:xfrm>
            <a:off x="2393640" y="245988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1" name="Rectangle 79"/>
          <p:cNvSpPr/>
          <p:nvPr/>
        </p:nvSpPr>
        <p:spPr>
          <a:xfrm>
            <a:off x="2373120" y="30880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2" name="Rectangle 80"/>
          <p:cNvSpPr/>
          <p:nvPr/>
        </p:nvSpPr>
        <p:spPr>
          <a:xfrm>
            <a:off x="1291680" y="2427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3" name="Rectangle 81"/>
          <p:cNvSpPr/>
          <p:nvPr/>
        </p:nvSpPr>
        <p:spPr>
          <a:xfrm>
            <a:off x="1270080" y="3044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4" name="Rectangle 82"/>
          <p:cNvSpPr/>
          <p:nvPr/>
        </p:nvSpPr>
        <p:spPr>
          <a:xfrm>
            <a:off x="2359800" y="36223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5" name="Rectangle 83"/>
          <p:cNvSpPr/>
          <p:nvPr/>
        </p:nvSpPr>
        <p:spPr>
          <a:xfrm>
            <a:off x="2097360" y="411084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6" name="Rectangle 84"/>
          <p:cNvSpPr/>
          <p:nvPr/>
        </p:nvSpPr>
        <p:spPr>
          <a:xfrm>
            <a:off x="3328200" y="2503440"/>
            <a:ext cx="686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 1        1/10    -1/8        2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7" name="Rectangle 85"/>
          <p:cNvSpPr/>
          <p:nvPr/>
        </p:nvSpPr>
        <p:spPr>
          <a:xfrm>
            <a:off x="3350160" y="307692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     0       -1/10     1/4        8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8" name="Rectangle 86"/>
          <p:cNvSpPr/>
          <p:nvPr/>
        </p:nvSpPr>
        <p:spPr>
          <a:xfrm>
            <a:off x="3328200" y="3609000"/>
            <a:ext cx="5103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12       16        2/5        1        128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9" name="Rectangle 87"/>
          <p:cNvSpPr/>
          <p:nvPr/>
        </p:nvSpPr>
        <p:spPr>
          <a:xfrm>
            <a:off x="3328200" y="4169160"/>
            <a:ext cx="4073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  0        -2/5       -1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itle 1"/>
          <p:cNvSpPr/>
          <p:nvPr/>
        </p:nvSpPr>
        <p:spPr>
          <a:xfrm>
            <a:off x="1338480" y="1911960"/>
            <a:ext cx="8596080" cy="30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Big M</a:t>
            </a:r>
            <a:br>
              <a:rPr sz="6000"/>
            </a:b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Simplex Method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Simplex Method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677160" y="1649160"/>
            <a:ext cx="5202360" cy="32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12 x1 + 16 x2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10 x1 + 20 x2 &lt;= 120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8 x1 + 8 x2 &lt;= 80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3" name="Arrow: Left 4"/>
          <p:cNvSpPr/>
          <p:nvPr/>
        </p:nvSpPr>
        <p:spPr>
          <a:xfrm>
            <a:off x="3673080" y="2969640"/>
            <a:ext cx="1840680" cy="1515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Constraints &lt;= 0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4" name="Title 1"/>
          <p:cNvSpPr/>
          <p:nvPr/>
        </p:nvSpPr>
        <p:spPr>
          <a:xfrm>
            <a:off x="5721120" y="609480"/>
            <a:ext cx="6207480" cy="132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Big M Simplex Method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15" name="Straight Connector 7"/>
          <p:cNvCxnSpPr/>
          <p:nvPr/>
        </p:nvCxnSpPr>
        <p:spPr>
          <a:xfrm>
            <a:off x="5721120" y="1758240"/>
            <a:ext cx="720" cy="4417920"/>
          </a:xfrm>
          <a:prstGeom prst="straightConnector1">
            <a:avLst/>
          </a:prstGeom>
          <a:ln w="28575" cap="rnd">
            <a:solidFill>
              <a:srgbClr val="2E83C3"/>
            </a:solidFill>
            <a:round/>
          </a:ln>
        </p:spPr>
      </p:cxnSp>
      <p:sp>
        <p:nvSpPr>
          <p:cNvPr id="516" name="Content Placeholder 2"/>
          <p:cNvSpPr/>
          <p:nvPr/>
        </p:nvSpPr>
        <p:spPr>
          <a:xfrm>
            <a:off x="5928120" y="1649160"/>
            <a:ext cx="5202360" cy="2964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Minimize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12 x1 + 16 x2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10 x1 + 20 x2 &gt;= 120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8 x1 + 8 x2 &gt;= 80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7" name="Arrow: Left 11"/>
          <p:cNvSpPr/>
          <p:nvPr/>
        </p:nvSpPr>
        <p:spPr>
          <a:xfrm>
            <a:off x="9181080" y="2966400"/>
            <a:ext cx="1840680" cy="1515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Constraints &gt;= 0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8" name="Content Placeholder 2"/>
          <p:cNvSpPr/>
          <p:nvPr/>
        </p:nvSpPr>
        <p:spPr>
          <a:xfrm>
            <a:off x="462600" y="4698720"/>
            <a:ext cx="4512240" cy="1267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Add Surplus Variables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9" name="Content Placeholder 2"/>
          <p:cNvSpPr/>
          <p:nvPr/>
        </p:nvSpPr>
        <p:spPr>
          <a:xfrm>
            <a:off x="5928120" y="4674600"/>
            <a:ext cx="4512240" cy="1267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Subtract Surplus Variables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Add Artificial Variables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Example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677160" y="164916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Minimize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7 x1 + 15 x2 + 20 x3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2 x1 + 4 x2 + 6 x3 &gt;= 24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3 x1 + 9 x2 + 6 x3 &gt;= 30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x2, x3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677160" y="156240"/>
            <a:ext cx="1002744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Convert all inequality constraints </a:t>
            </a:r>
            <a:br>
              <a:rPr sz="3600"/>
            </a:b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into equality (use slack &amp; Artificial variables)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677160" y="1499400"/>
            <a:ext cx="8596080" cy="62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Let’s Subtract Slack Variables &amp; Add Artificial Variables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4" name="Rectangle 3"/>
          <p:cNvSpPr/>
          <p:nvPr/>
        </p:nvSpPr>
        <p:spPr>
          <a:xfrm>
            <a:off x="677160" y="2024640"/>
            <a:ext cx="60951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x1 + 4 x2 + 6 x3 -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a1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24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x1 + 9 x2 + 6 x3 -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a2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30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5" name="Content Placeholder 2"/>
          <p:cNvSpPr/>
          <p:nvPr/>
        </p:nvSpPr>
        <p:spPr>
          <a:xfrm>
            <a:off x="677160" y="3502800"/>
            <a:ext cx="8596080" cy="1257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We need to Add these Slack &amp; Artificial variables to the </a:t>
            </a: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Value for Slack variables should be Zero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Value for Artificial Variables should Maximum (i.e. M)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6" name="Rectangle 5"/>
          <p:cNvSpPr/>
          <p:nvPr/>
        </p:nvSpPr>
        <p:spPr>
          <a:xfrm>
            <a:off x="677160" y="5044680"/>
            <a:ext cx="105537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Minimize 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7 x1 + 15 x2 + 20 x3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s2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Ma1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Ma2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461880" y="27576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Develop Initial Simplex Table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528" name="Table 3"/>
          <p:cNvGraphicFramePr/>
          <p:nvPr/>
        </p:nvGraphicFramePr>
        <p:xfrm>
          <a:off x="900720" y="1715040"/>
          <a:ext cx="9681120" cy="4034160"/>
        </p:xfrm>
        <a:graphic>
          <a:graphicData uri="http://schemas.openxmlformats.org/drawingml/2006/table">
            <a:tbl>
              <a:tblPr/>
              <a:tblGrid>
                <a:gridCol w="815040"/>
                <a:gridCol w="926640"/>
                <a:gridCol w="7034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9" name="Speech Bubble: Oval 4"/>
          <p:cNvSpPr/>
          <p:nvPr/>
        </p:nvSpPr>
        <p:spPr>
          <a:xfrm>
            <a:off x="5042160" y="231480"/>
            <a:ext cx="3671280" cy="928080"/>
          </a:xfrm>
          <a:prstGeom prst="wedgeEllipseCallout">
            <a:avLst>
              <a:gd name="adj1" fmla="val -122117"/>
              <a:gd name="adj2" fmla="val 12054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Co-efficient of 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0" name="Speech Bubble: Oval 5"/>
          <p:cNvSpPr/>
          <p:nvPr/>
        </p:nvSpPr>
        <p:spPr>
          <a:xfrm>
            <a:off x="999000" y="156600"/>
            <a:ext cx="3482640" cy="928080"/>
          </a:xfrm>
          <a:prstGeom prst="wedgeEllipseCallout">
            <a:avLst>
              <a:gd name="adj1" fmla="val -37461"/>
              <a:gd name="adj2" fmla="val 12765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Co-efficient of Basic Variables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1" name="Rectangle 6"/>
          <p:cNvSpPr/>
          <p:nvPr/>
        </p:nvSpPr>
        <p:spPr>
          <a:xfrm>
            <a:off x="6682680" y="551052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x1 + 4 x2 + 6 x3 -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a1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24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2" name="Rectangle 8"/>
          <p:cNvSpPr/>
          <p:nvPr/>
        </p:nvSpPr>
        <p:spPr>
          <a:xfrm>
            <a:off x="3400920" y="181476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7       15      20      0       0       M      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3" name="Rectangle 10"/>
          <p:cNvSpPr/>
          <p:nvPr/>
        </p:nvSpPr>
        <p:spPr>
          <a:xfrm>
            <a:off x="3400920" y="247212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4" name="Rectangle 11"/>
          <p:cNvSpPr/>
          <p:nvPr/>
        </p:nvSpPr>
        <p:spPr>
          <a:xfrm>
            <a:off x="3400920" y="3153600"/>
            <a:ext cx="6473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       4       6       -1      0       1       0       24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5" name="Rectangle 12"/>
          <p:cNvSpPr/>
          <p:nvPr/>
        </p:nvSpPr>
        <p:spPr>
          <a:xfrm>
            <a:off x="854640" y="1166400"/>
            <a:ext cx="100411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7 x1 + 15 x2 + + 20 x3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0 s2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Ma1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 + </a:t>
            </a:r>
            <a:r>
              <a:rPr lang="en-US" sz="2800" b="1" i="1" strike="noStrike" spc="-1">
                <a:solidFill>
                  <a:srgbClr val="404040"/>
                </a:solidFill>
                <a:highlight>
                  <a:srgbClr val="FFFF00"/>
                </a:highlight>
                <a:latin typeface="Trebuchet MS" panose="020B0603020202020204"/>
              </a:rPr>
              <a:t>Ma2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36" name="Straight Arrow Connector 14"/>
          <p:cNvCxnSpPr/>
          <p:nvPr/>
        </p:nvCxnSpPr>
        <p:spPr>
          <a:xfrm>
            <a:off x="1796760" y="22708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537" name="Straight Arrow Connector 16"/>
          <p:cNvCxnSpPr/>
          <p:nvPr/>
        </p:nvCxnSpPr>
        <p:spPr>
          <a:xfrm>
            <a:off x="999000" y="196596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538" name="Rectangle 21"/>
          <p:cNvSpPr/>
          <p:nvPr/>
        </p:nvSpPr>
        <p:spPr>
          <a:xfrm>
            <a:off x="1965240" y="315828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9" name="Rectangle 22"/>
          <p:cNvSpPr/>
          <p:nvPr/>
        </p:nvSpPr>
        <p:spPr>
          <a:xfrm>
            <a:off x="1933560" y="3677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0" name="Rectangle 23"/>
          <p:cNvSpPr/>
          <p:nvPr/>
        </p:nvSpPr>
        <p:spPr>
          <a:xfrm>
            <a:off x="1094040" y="31759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1" name="Rectangle 24"/>
          <p:cNvSpPr/>
          <p:nvPr/>
        </p:nvSpPr>
        <p:spPr>
          <a:xfrm>
            <a:off x="1071720" y="36648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2" name="Rectangle 25"/>
          <p:cNvSpPr/>
          <p:nvPr/>
        </p:nvSpPr>
        <p:spPr>
          <a:xfrm>
            <a:off x="6682680" y="603756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x1 + 9 x2 + 6 x3 -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s2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+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a2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= 30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3" name="Rectangle 26"/>
          <p:cNvSpPr/>
          <p:nvPr/>
        </p:nvSpPr>
        <p:spPr>
          <a:xfrm>
            <a:off x="3328200" y="374328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       9       6        0      -1      0       1       30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4" name="Rectangle 27"/>
          <p:cNvSpPr/>
          <p:nvPr/>
        </p:nvSpPr>
        <p:spPr>
          <a:xfrm>
            <a:off x="1940400" y="42091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5" name="Rectangle 29"/>
          <p:cNvSpPr/>
          <p:nvPr/>
        </p:nvSpPr>
        <p:spPr>
          <a:xfrm>
            <a:off x="1126800" y="540108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 = a1x1 + a2x2 + a3x3 + ..anxn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6" name="Rectangle 30"/>
          <p:cNvSpPr/>
          <p:nvPr/>
        </p:nvSpPr>
        <p:spPr>
          <a:xfrm>
            <a:off x="3328200" y="426780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5M   13M   12M    -M     -M      M      M    54M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7" name="Rectangle 31"/>
          <p:cNvSpPr/>
          <p:nvPr/>
        </p:nvSpPr>
        <p:spPr>
          <a:xfrm>
            <a:off x="1639800" y="475812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8" name="Rectangle 32"/>
          <p:cNvSpPr/>
          <p:nvPr/>
        </p:nvSpPr>
        <p:spPr>
          <a:xfrm>
            <a:off x="3328200" y="481392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7-5M  15-13M 20-12M    M        M         0          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9" name="Rectangle 28"/>
          <p:cNvSpPr/>
          <p:nvPr/>
        </p:nvSpPr>
        <p:spPr>
          <a:xfrm>
            <a:off x="1126800" y="582084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Optimality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Min Z : Cj – Zj &gt;=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angle: Rounded Corners 2"/>
          <p:cNvSpPr/>
          <p:nvPr/>
        </p:nvSpPr>
        <p:spPr>
          <a:xfrm>
            <a:off x="3972960" y="80388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551" name="Rectangle: Rounded Corners 34"/>
          <p:cNvSpPr/>
          <p:nvPr/>
        </p:nvSpPr>
        <p:spPr>
          <a:xfrm>
            <a:off x="2516400" y="3093480"/>
            <a:ext cx="8339040" cy="71820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552" name="Table 38"/>
          <p:cNvGraphicFramePr/>
          <p:nvPr/>
        </p:nvGraphicFramePr>
        <p:xfrm>
          <a:off x="730080" y="1227600"/>
          <a:ext cx="9681120" cy="4034160"/>
        </p:xfrm>
        <a:graphic>
          <a:graphicData uri="http://schemas.openxmlformats.org/drawingml/2006/table">
            <a:tbl>
              <a:tblPr/>
              <a:tblGrid>
                <a:gridCol w="815040"/>
                <a:gridCol w="926640"/>
                <a:gridCol w="7034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77160" y="4690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Continue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4" name="Speech Bubble: Oval 35"/>
          <p:cNvSpPr/>
          <p:nvPr/>
        </p:nvSpPr>
        <p:spPr>
          <a:xfrm>
            <a:off x="1966680" y="187200"/>
            <a:ext cx="2066040" cy="656640"/>
          </a:xfrm>
          <a:prstGeom prst="wedgeEllipseCallout">
            <a:avLst>
              <a:gd name="adj1" fmla="val 44189"/>
              <a:gd name="adj2" fmla="val 57812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Column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5" name="Speech Bubble: Oval 36"/>
          <p:cNvSpPr/>
          <p:nvPr/>
        </p:nvSpPr>
        <p:spPr>
          <a:xfrm>
            <a:off x="9888480" y="1896480"/>
            <a:ext cx="2066040" cy="502200"/>
          </a:xfrm>
          <a:prstGeom prst="wedgeEllipseCallout">
            <a:avLst>
              <a:gd name="adj1" fmla="val -22219"/>
              <a:gd name="adj2" fmla="val 11826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Row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6" name="Speech Bubble: Oval 37"/>
          <p:cNvSpPr/>
          <p:nvPr/>
        </p:nvSpPr>
        <p:spPr>
          <a:xfrm>
            <a:off x="9160920" y="4952880"/>
            <a:ext cx="2233080" cy="928080"/>
          </a:xfrm>
          <a:prstGeom prst="wedgeEllipseCallout">
            <a:avLst>
              <a:gd name="adj1" fmla="val -250778"/>
              <a:gd name="adj2" fmla="val -19214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Element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7" name="Speech Bubble: Oval 52"/>
          <p:cNvSpPr/>
          <p:nvPr/>
        </p:nvSpPr>
        <p:spPr>
          <a:xfrm>
            <a:off x="9246240" y="297360"/>
            <a:ext cx="2233080" cy="928080"/>
          </a:xfrm>
          <a:prstGeom prst="wedgeEllipseCallout">
            <a:avLst>
              <a:gd name="adj1" fmla="val -252577"/>
              <a:gd name="adj2" fmla="val 144784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Entering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8" name="Speech Bubble: Oval 53"/>
          <p:cNvSpPr/>
          <p:nvPr/>
        </p:nvSpPr>
        <p:spPr>
          <a:xfrm>
            <a:off x="960120" y="5559480"/>
            <a:ext cx="2233080" cy="928080"/>
          </a:xfrm>
          <a:prstGeom prst="wedgeEllipseCallout">
            <a:avLst>
              <a:gd name="adj1" fmla="val 954"/>
              <a:gd name="adj2" fmla="val -263631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Leaving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59" name="Straight Arrow Connector 39"/>
          <p:cNvCxnSpPr/>
          <p:nvPr/>
        </p:nvCxnSpPr>
        <p:spPr>
          <a:xfrm>
            <a:off x="1627920" y="17362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560" name="Straight Arrow Connector 41"/>
          <p:cNvCxnSpPr/>
          <p:nvPr/>
        </p:nvCxnSpPr>
        <p:spPr>
          <a:xfrm>
            <a:off x="830160" y="143136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561" name="Rectangle 44"/>
          <p:cNvSpPr/>
          <p:nvPr/>
        </p:nvSpPr>
        <p:spPr>
          <a:xfrm>
            <a:off x="3182760" y="128448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7       15      20      0       0       M      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2" name="Rectangle 45"/>
          <p:cNvSpPr/>
          <p:nvPr/>
        </p:nvSpPr>
        <p:spPr>
          <a:xfrm>
            <a:off x="3182760" y="194184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3" name="Rectangle 46"/>
          <p:cNvSpPr/>
          <p:nvPr/>
        </p:nvSpPr>
        <p:spPr>
          <a:xfrm>
            <a:off x="3242160" y="2648520"/>
            <a:ext cx="6473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       4       6       -1      0       1       0       24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4" name="Rectangle 47"/>
          <p:cNvSpPr/>
          <p:nvPr/>
        </p:nvSpPr>
        <p:spPr>
          <a:xfrm>
            <a:off x="1747440" y="262800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5" name="Rectangle 54"/>
          <p:cNvSpPr/>
          <p:nvPr/>
        </p:nvSpPr>
        <p:spPr>
          <a:xfrm>
            <a:off x="1715400" y="31471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6" name="Rectangle 56"/>
          <p:cNvSpPr/>
          <p:nvPr/>
        </p:nvSpPr>
        <p:spPr>
          <a:xfrm>
            <a:off x="1722600" y="36792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7" name="Rectangle 57"/>
          <p:cNvSpPr/>
          <p:nvPr/>
        </p:nvSpPr>
        <p:spPr>
          <a:xfrm>
            <a:off x="3110400" y="383580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5M   13M   12M    -M     -M      M      M     54M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8" name="Rectangle 58"/>
          <p:cNvSpPr/>
          <p:nvPr/>
        </p:nvSpPr>
        <p:spPr>
          <a:xfrm>
            <a:off x="1421640" y="422820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9" name="Rectangle 59"/>
          <p:cNvSpPr/>
          <p:nvPr/>
        </p:nvSpPr>
        <p:spPr>
          <a:xfrm>
            <a:off x="3110400" y="428364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7-5M  15-13M20-12M    M        M         0          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0" name="Speech Bubble: Oval 60"/>
          <p:cNvSpPr/>
          <p:nvPr/>
        </p:nvSpPr>
        <p:spPr>
          <a:xfrm>
            <a:off x="3335400" y="5642280"/>
            <a:ext cx="2066040" cy="656640"/>
          </a:xfrm>
          <a:prstGeom prst="wedgeEllipseCallout">
            <a:avLst>
              <a:gd name="adj1" fmla="val -2093"/>
              <a:gd name="adj2" fmla="val -18828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Negative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571" name="Group 5"/>
          <p:cNvGrpSpPr/>
          <p:nvPr/>
        </p:nvGrpSpPr>
        <p:grpSpPr>
          <a:xfrm>
            <a:off x="4429440" y="297360"/>
            <a:ext cx="4890600" cy="2334600"/>
            <a:chOff x="4429440" y="297360"/>
            <a:chExt cx="4890600" cy="2334600"/>
          </a:xfrm>
        </p:grpSpPr>
        <p:cxnSp>
          <p:nvCxnSpPr>
            <p:cNvPr id="572" name="Straight Arrow Connector 62"/>
            <p:cNvCxnSpPr/>
            <p:nvPr/>
          </p:nvCxnSpPr>
          <p:spPr>
            <a:xfrm>
              <a:off x="9319680" y="723240"/>
              <a:ext cx="720" cy="190908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  <p:cxnSp>
          <p:nvCxnSpPr>
            <p:cNvPr id="573" name="Straight Connector 63"/>
            <p:cNvCxnSpPr/>
            <p:nvPr/>
          </p:nvCxnSpPr>
          <p:spPr>
            <a:xfrm>
              <a:off x="4451040" y="723240"/>
              <a:ext cx="4869360" cy="72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</a:ln>
          </p:spPr>
        </p:cxnSp>
        <p:cxnSp>
          <p:nvCxnSpPr>
            <p:cNvPr id="574" name="Straight Arrow Connector 64"/>
            <p:cNvCxnSpPr/>
            <p:nvPr/>
          </p:nvCxnSpPr>
          <p:spPr>
            <a:xfrm>
              <a:off x="4429440" y="723240"/>
              <a:ext cx="720" cy="190080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  <p:sp>
          <p:nvSpPr>
            <p:cNvPr id="575" name="Rectangle 65"/>
            <p:cNvSpPr/>
            <p:nvPr/>
          </p:nvSpPr>
          <p:spPr>
            <a:xfrm>
              <a:off x="6343920" y="297360"/>
              <a:ext cx="2285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Ratio = 24 / 4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576" name="Rectangle 66"/>
          <p:cNvSpPr/>
          <p:nvPr/>
        </p:nvSpPr>
        <p:spPr>
          <a:xfrm>
            <a:off x="9743040" y="2651760"/>
            <a:ext cx="625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7" name="Rectangle 67"/>
          <p:cNvSpPr/>
          <p:nvPr/>
        </p:nvSpPr>
        <p:spPr>
          <a:xfrm>
            <a:off x="9684360" y="3271320"/>
            <a:ext cx="968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8" name="Speech Bubble: Oval 68"/>
          <p:cNvSpPr/>
          <p:nvPr/>
        </p:nvSpPr>
        <p:spPr>
          <a:xfrm>
            <a:off x="10056240" y="4009320"/>
            <a:ext cx="2066040" cy="656640"/>
          </a:xfrm>
          <a:prstGeom prst="wedgeEllipseCallout">
            <a:avLst>
              <a:gd name="adj1" fmla="val -21831"/>
              <a:gd name="adj2" fmla="val -10482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9" name="Oval 7"/>
          <p:cNvSpPr/>
          <p:nvPr/>
        </p:nvSpPr>
        <p:spPr>
          <a:xfrm>
            <a:off x="3999600" y="3132360"/>
            <a:ext cx="806040" cy="627480"/>
          </a:xfrm>
          <a:prstGeom prst="ellipse">
            <a:avLst/>
          </a:prstGeom>
          <a:solidFill>
            <a:srgbClr val="FFFFFF"/>
          </a:solidFill>
          <a:ln w="28575" cap="rnd">
            <a:solidFill>
              <a:srgbClr val="FF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Trebuchet MS" panose="020B0603020202020204"/>
            </a:endParaRPr>
          </a:p>
        </p:txBody>
      </p:sp>
      <p:sp>
        <p:nvSpPr>
          <p:cNvPr id="580" name="Rectangle 55"/>
          <p:cNvSpPr/>
          <p:nvPr/>
        </p:nvSpPr>
        <p:spPr>
          <a:xfrm>
            <a:off x="3110400" y="321300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       9       6        0      -1      0       1       30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1" name="Rectangle 69"/>
          <p:cNvSpPr/>
          <p:nvPr/>
        </p:nvSpPr>
        <p:spPr>
          <a:xfrm>
            <a:off x="953280" y="27259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2" name="Rectangle 70"/>
          <p:cNvSpPr/>
          <p:nvPr/>
        </p:nvSpPr>
        <p:spPr>
          <a:xfrm>
            <a:off x="931320" y="32148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" name="Table 100"/>
          <p:cNvGraphicFramePr/>
          <p:nvPr/>
        </p:nvGraphicFramePr>
        <p:xfrm>
          <a:off x="416880" y="104400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8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84" name="Group 51"/>
          <p:cNvGrpSpPr/>
          <p:nvPr/>
        </p:nvGrpSpPr>
        <p:grpSpPr>
          <a:xfrm>
            <a:off x="2892240" y="4113000"/>
            <a:ext cx="4061520" cy="741960"/>
            <a:chOff x="2892240" y="4113000"/>
            <a:chExt cx="4061520" cy="741960"/>
          </a:xfrm>
        </p:grpSpPr>
        <p:sp>
          <p:nvSpPr>
            <p:cNvPr id="585" name="Rectangle: Rounded Corners 107"/>
            <p:cNvSpPr/>
            <p:nvPr/>
          </p:nvSpPr>
          <p:spPr>
            <a:xfrm>
              <a:off x="4493880" y="4136040"/>
              <a:ext cx="792720" cy="674640"/>
            </a:xfrm>
            <a:prstGeom prst="roundRect">
              <a:avLst>
                <a:gd name="adj" fmla="val 16667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586" name="Rectangle: Rounded Corners 108"/>
            <p:cNvSpPr/>
            <p:nvPr/>
          </p:nvSpPr>
          <p:spPr>
            <a:xfrm>
              <a:off x="6161040" y="4123080"/>
              <a:ext cx="792720" cy="731880"/>
            </a:xfrm>
            <a:prstGeom prst="roundRect">
              <a:avLst>
                <a:gd name="adj" fmla="val 16667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sp>
          <p:nvSpPr>
            <p:cNvPr id="587" name="Rectangle: Rounded Corners 46"/>
            <p:cNvSpPr/>
            <p:nvPr/>
          </p:nvSpPr>
          <p:spPr>
            <a:xfrm>
              <a:off x="2892240" y="4113000"/>
              <a:ext cx="792720" cy="705240"/>
            </a:xfrm>
            <a:prstGeom prst="roundRect">
              <a:avLst>
                <a:gd name="adj" fmla="val 16667"/>
              </a:avLst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</p:grpSp>
      <p:grpSp>
        <p:nvGrpSpPr>
          <p:cNvPr id="588" name="Group 44"/>
          <p:cNvGrpSpPr/>
          <p:nvPr/>
        </p:nvGrpSpPr>
        <p:grpSpPr>
          <a:xfrm>
            <a:off x="7720200" y="4751640"/>
            <a:ext cx="4421160" cy="1947240"/>
            <a:chOff x="7720200" y="4751640"/>
            <a:chExt cx="4421160" cy="1947240"/>
          </a:xfrm>
        </p:grpSpPr>
        <p:sp>
          <p:nvSpPr>
            <p:cNvPr id="589" name="Oval 24"/>
            <p:cNvSpPr/>
            <p:nvPr/>
          </p:nvSpPr>
          <p:spPr>
            <a:xfrm rot="21177000">
              <a:off x="7772400" y="5320080"/>
              <a:ext cx="4316760" cy="1117800"/>
            </a:xfrm>
            <a:prstGeom prst="ellipse">
              <a:avLst/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cxnSp>
          <p:nvCxnSpPr>
            <p:cNvPr id="590" name="Connector: Elbow 37"/>
            <p:cNvCxnSpPr>
              <a:stCxn id="589" idx="7"/>
            </p:cNvCxnSpPr>
            <p:nvPr/>
          </p:nvCxnSpPr>
          <p:spPr>
            <a:xfrm rot="16200000" flipV="1">
              <a:off x="10262520" y="4166280"/>
              <a:ext cx="242280" cy="2027520"/>
            </a:xfrm>
            <a:prstGeom prst="bentConnector3">
              <a:avLst>
                <a:gd name="adj1" fmla="val 99851"/>
              </a:avLst>
            </a:prstGeom>
            <a:ln w="38100">
              <a:solidFill>
                <a:srgbClr val="002060"/>
              </a:solidFill>
              <a:round/>
              <a:tailEnd type="arrow" w="med" len="med"/>
            </a:ln>
          </p:spPr>
        </p:cxnSp>
        <p:sp>
          <p:nvSpPr>
            <p:cNvPr id="591" name="Rectangle 106"/>
            <p:cNvSpPr/>
            <p:nvPr/>
          </p:nvSpPr>
          <p:spPr>
            <a:xfrm>
              <a:off x="10029960" y="4751640"/>
              <a:ext cx="127368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Row4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First Iteration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3" name="Rectangle 6"/>
          <p:cNvSpPr/>
          <p:nvPr/>
        </p:nvSpPr>
        <p:spPr>
          <a:xfrm>
            <a:off x="2811600" y="274500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2/3     0        10/3   -1      4/9     1        **       32/3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94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595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596" name="Rectangle 9"/>
          <p:cNvSpPr/>
          <p:nvPr/>
        </p:nvSpPr>
        <p:spPr>
          <a:xfrm>
            <a:off x="2126160" y="269352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7" name="Rectangle 10"/>
          <p:cNvSpPr/>
          <p:nvPr/>
        </p:nvSpPr>
        <p:spPr>
          <a:xfrm>
            <a:off x="2121120" y="34308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8" name="Rectangle 11"/>
          <p:cNvSpPr/>
          <p:nvPr/>
        </p:nvSpPr>
        <p:spPr>
          <a:xfrm>
            <a:off x="1291680" y="2693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9" name="Rectangle 12"/>
          <p:cNvSpPr/>
          <p:nvPr/>
        </p:nvSpPr>
        <p:spPr>
          <a:xfrm>
            <a:off x="1283760" y="3429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0" name="Rectangle 13"/>
          <p:cNvSpPr/>
          <p:nvPr/>
        </p:nvSpPr>
        <p:spPr>
          <a:xfrm>
            <a:off x="2885400" y="342900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1/3     1         2/3     0       -1/9      0      **    10/3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1" name="Rectangle 14"/>
          <p:cNvSpPr/>
          <p:nvPr/>
        </p:nvSpPr>
        <p:spPr>
          <a:xfrm>
            <a:off x="2107800" y="3886200"/>
            <a:ext cx="63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2" name="Rectangle 15"/>
          <p:cNvSpPr/>
          <p:nvPr/>
        </p:nvSpPr>
        <p:spPr>
          <a:xfrm>
            <a:off x="2866680" y="3861000"/>
            <a:ext cx="7405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2/3M+5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10/3M+10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-M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4/9M-5/3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     </a:t>
            </a:r>
            <a:r>
              <a:rPr lang="en-US" sz="1400" b="0" i="1" strike="noStrike" spc="-1">
                <a:solidFill>
                  <a:schemeClr val="dk1"/>
                </a:solidFill>
                <a:latin typeface="Trebuchet MS" panose="020B0603020202020204"/>
              </a:rPr>
              <a:t>32/3M+50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3" name="Rectangle 16"/>
          <p:cNvSpPr/>
          <p:nvPr/>
        </p:nvSpPr>
        <p:spPr>
          <a:xfrm>
            <a:off x="1804680" y="430344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4" name="Rectangle 17"/>
          <p:cNvSpPr/>
          <p:nvPr/>
        </p:nvSpPr>
        <p:spPr>
          <a:xfrm>
            <a:off x="2866680" y="425556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-2/3M+2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0     </a:t>
            </a:r>
            <a:r>
              <a:rPr lang="en-US" sz="1200" b="0" i="1" strike="noStrike" spc="-1">
                <a:solidFill>
                  <a:schemeClr val="dk1"/>
                </a:solidFill>
                <a:latin typeface="Trebuchet MS" panose="020B0603020202020204"/>
              </a:rPr>
              <a:t>-10/3M+10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M    </a:t>
            </a:r>
            <a:r>
              <a:rPr lang="en-US" sz="1200" b="0" i="1" strike="noStrike" spc="-1">
                <a:solidFill>
                  <a:schemeClr val="dk1"/>
                </a:solidFill>
                <a:latin typeface="Trebuchet MS" panose="020B0603020202020204"/>
              </a:rPr>
              <a:t>-4/9M+5/3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0      **   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05" name="Straight Arrow Connector 19"/>
          <p:cNvCxnSpPr/>
          <p:nvPr/>
        </p:nvCxnSpPr>
        <p:spPr>
          <a:xfrm flipH="1">
            <a:off x="1600200" y="1828800"/>
            <a:ext cx="2274120" cy="154872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606" name="Straight Arrow Connector 21"/>
          <p:cNvCxnSpPr/>
          <p:nvPr/>
        </p:nvCxnSpPr>
        <p:spPr>
          <a:xfrm flipH="1">
            <a:off x="2543040" y="2455560"/>
            <a:ext cx="1354320" cy="97380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607" name="Rectangle 26"/>
          <p:cNvSpPr/>
          <p:nvPr/>
        </p:nvSpPr>
        <p:spPr>
          <a:xfrm>
            <a:off x="4463280" y="4858200"/>
            <a:ext cx="561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New x2 = old values / Key Element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608" name="Group 34"/>
          <p:cNvGrpSpPr/>
          <p:nvPr/>
        </p:nvGrpSpPr>
        <p:grpSpPr>
          <a:xfrm>
            <a:off x="4089240" y="5362200"/>
            <a:ext cx="7928640" cy="835560"/>
            <a:chOff x="4089240" y="5362200"/>
            <a:chExt cx="7928640" cy="835560"/>
          </a:xfrm>
        </p:grpSpPr>
        <p:sp>
          <p:nvSpPr>
            <p:cNvPr id="609" name="Rectangle 29"/>
            <p:cNvSpPr/>
            <p:nvPr/>
          </p:nvSpPr>
          <p:spPr>
            <a:xfrm>
              <a:off x="4089240" y="5487120"/>
              <a:ext cx="2620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New a1 </a:t>
              </a: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= Old Value –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10" name="Rectangle 30"/>
            <p:cNvSpPr/>
            <p:nvPr/>
          </p:nvSpPr>
          <p:spPr>
            <a:xfrm>
              <a:off x="6476040" y="5362200"/>
              <a:ext cx="55418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Corresponding Key Col Val X Corresponding Key Row Value  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611" name="Straight Connector 32"/>
            <p:cNvCxnSpPr/>
            <p:nvPr/>
          </p:nvCxnSpPr>
          <p:spPr>
            <a:xfrm>
              <a:off x="6561000" y="5763960"/>
              <a:ext cx="5137920" cy="720"/>
            </a:xfrm>
            <a:prstGeom prst="straightConnector1">
              <a:avLst/>
            </a:prstGeom>
            <a:ln w="19050" cap="rnd">
              <a:solidFill>
                <a:srgbClr val="000000"/>
              </a:solidFill>
              <a:round/>
            </a:ln>
          </p:spPr>
        </p:cxnSp>
        <p:sp>
          <p:nvSpPr>
            <p:cNvPr id="612" name="Rectangle 33"/>
            <p:cNvSpPr/>
            <p:nvPr/>
          </p:nvSpPr>
          <p:spPr>
            <a:xfrm>
              <a:off x="7762320" y="5864400"/>
              <a:ext cx="22669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Key Element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613" name="Rectangle 101"/>
          <p:cNvSpPr/>
          <p:nvPr/>
        </p:nvSpPr>
        <p:spPr>
          <a:xfrm>
            <a:off x="2873520" y="118584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7       15      20      0        0          M      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4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15" name="Content Placeholder 6"/>
          <p:cNvPicPr/>
          <p:nvPr/>
        </p:nvPicPr>
        <p:blipFill>
          <a:blip r:embed="rId1"/>
          <a:stretch>
            <a:fillRect/>
          </a:stretch>
        </p:blipFill>
        <p:spPr>
          <a:xfrm>
            <a:off x="416880" y="4819320"/>
            <a:ext cx="3694320" cy="1904400"/>
          </a:xfrm>
          <a:prstGeom prst="rect">
            <a:avLst/>
          </a:prstGeom>
          <a:ln w="0">
            <a:noFill/>
          </a:ln>
        </p:spPr>
      </p:pic>
      <p:sp>
        <p:nvSpPr>
          <p:cNvPr id="616" name="Rectangle 45"/>
          <p:cNvSpPr/>
          <p:nvPr/>
        </p:nvSpPr>
        <p:spPr>
          <a:xfrm>
            <a:off x="7327440" y="175680"/>
            <a:ext cx="43700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highlight>
                  <a:srgbClr val="00FFFF"/>
                </a:highlight>
                <a:latin typeface="Trebuchet MS" panose="020B0603020202020204"/>
              </a:rPr>
              <a:t>Optimality Condition </a:t>
            </a: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For Minimization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All Cj – Zj &gt;= 0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Rectangle: Rounded Corners 40"/>
          <p:cNvSpPr/>
          <p:nvPr/>
        </p:nvSpPr>
        <p:spPr>
          <a:xfrm>
            <a:off x="2712240" y="2347200"/>
            <a:ext cx="8339040" cy="71820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618" name="Rectangle: Rounded Corners 39"/>
          <p:cNvSpPr/>
          <p:nvPr/>
        </p:nvSpPr>
        <p:spPr>
          <a:xfrm>
            <a:off x="4472640" y="72288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619" name="Table 100"/>
          <p:cNvGraphicFramePr/>
          <p:nvPr/>
        </p:nvGraphicFramePr>
        <p:xfrm>
          <a:off x="416880" y="104400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Iteration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1" name="Rectangle 6"/>
          <p:cNvSpPr/>
          <p:nvPr/>
        </p:nvSpPr>
        <p:spPr>
          <a:xfrm>
            <a:off x="2779200" y="2493360"/>
            <a:ext cx="65905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2/3     0     10/3   -1      4/9     1      **     32/3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22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623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624" name="Rectangle 9"/>
          <p:cNvSpPr/>
          <p:nvPr/>
        </p:nvSpPr>
        <p:spPr>
          <a:xfrm>
            <a:off x="2126160" y="248004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5" name="Rectangle 10"/>
          <p:cNvSpPr/>
          <p:nvPr/>
        </p:nvSpPr>
        <p:spPr>
          <a:xfrm>
            <a:off x="2121120" y="3033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6" name="Rectangle 11"/>
          <p:cNvSpPr/>
          <p:nvPr/>
        </p:nvSpPr>
        <p:spPr>
          <a:xfrm>
            <a:off x="1291680" y="2445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7" name="Rectangle 12"/>
          <p:cNvSpPr/>
          <p:nvPr/>
        </p:nvSpPr>
        <p:spPr>
          <a:xfrm>
            <a:off x="1270080" y="3062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8" name="Rectangle 13"/>
          <p:cNvSpPr/>
          <p:nvPr/>
        </p:nvSpPr>
        <p:spPr>
          <a:xfrm>
            <a:off x="2873520" y="30117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1/3     1      2/3     0    -1/9      0      **    10/3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9" name="Rectangle 14"/>
          <p:cNvSpPr/>
          <p:nvPr/>
        </p:nvSpPr>
        <p:spPr>
          <a:xfrm>
            <a:off x="2107800" y="3545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0" name="Rectangle 15"/>
          <p:cNvSpPr/>
          <p:nvPr/>
        </p:nvSpPr>
        <p:spPr>
          <a:xfrm>
            <a:off x="2858040" y="3638880"/>
            <a:ext cx="7405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2/3M+5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10/3M+10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-M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4/9M-5/3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M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     </a:t>
            </a:r>
            <a:r>
              <a:rPr lang="en-US" sz="1400" b="0" i="1" strike="noStrike" spc="-1">
                <a:solidFill>
                  <a:schemeClr val="dk1"/>
                </a:solidFill>
                <a:latin typeface="Trebuchet MS" panose="020B0603020202020204"/>
              </a:rPr>
              <a:t>32/3M+50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1" name="Rectangle 16"/>
          <p:cNvSpPr/>
          <p:nvPr/>
        </p:nvSpPr>
        <p:spPr>
          <a:xfrm>
            <a:off x="1804680" y="4100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2" name="Rectangle 17"/>
          <p:cNvSpPr/>
          <p:nvPr/>
        </p:nvSpPr>
        <p:spPr>
          <a:xfrm>
            <a:off x="2831040" y="410076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-2/3M+2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0     </a:t>
            </a:r>
            <a:r>
              <a:rPr lang="en-US" sz="1200" b="0" i="1" strike="noStrike" spc="-1">
                <a:solidFill>
                  <a:schemeClr val="dk1"/>
                </a:solidFill>
                <a:latin typeface="Trebuchet MS" panose="020B0603020202020204"/>
              </a:rPr>
              <a:t>-10/3M+10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M    </a:t>
            </a:r>
            <a:r>
              <a:rPr lang="en-US" sz="1200" b="0" i="1" strike="noStrike" spc="-1">
                <a:solidFill>
                  <a:schemeClr val="dk1"/>
                </a:solidFill>
                <a:latin typeface="Trebuchet MS" panose="020B0603020202020204"/>
              </a:rPr>
              <a:t>-4/9M+5/3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0      **     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3" name="Rectangle 101"/>
          <p:cNvSpPr/>
          <p:nvPr/>
        </p:nvSpPr>
        <p:spPr>
          <a:xfrm>
            <a:off x="2873520" y="118584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7       15      20      0       0       M      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4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5" name="Rectangle 35"/>
          <p:cNvSpPr/>
          <p:nvPr/>
        </p:nvSpPr>
        <p:spPr>
          <a:xfrm>
            <a:off x="9385920" y="24800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16/5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6" name="Rectangle 36"/>
          <p:cNvSpPr/>
          <p:nvPr/>
        </p:nvSpPr>
        <p:spPr>
          <a:xfrm>
            <a:off x="9327960" y="30686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5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7" name="Speech Bubble: Oval 41"/>
          <p:cNvSpPr/>
          <p:nvPr/>
        </p:nvSpPr>
        <p:spPr>
          <a:xfrm>
            <a:off x="3837960" y="5535360"/>
            <a:ext cx="2066040" cy="656640"/>
          </a:xfrm>
          <a:prstGeom prst="wedgeEllipseCallout">
            <a:avLst>
              <a:gd name="adj1" fmla="val -2093"/>
              <a:gd name="adj2" fmla="val -18828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Negative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8" name="Speech Bubble: Oval 42"/>
          <p:cNvSpPr/>
          <p:nvPr/>
        </p:nvSpPr>
        <p:spPr>
          <a:xfrm>
            <a:off x="10194840" y="3216600"/>
            <a:ext cx="1770120" cy="656640"/>
          </a:xfrm>
          <a:prstGeom prst="wedgeEllipseCallout">
            <a:avLst>
              <a:gd name="adj1" fmla="val -59962"/>
              <a:gd name="adj2" fmla="val -11980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9" name="Table 100"/>
          <p:cNvGraphicFramePr/>
          <p:nvPr/>
        </p:nvGraphicFramePr>
        <p:xfrm>
          <a:off x="416880" y="1044000"/>
          <a:ext cx="10093960" cy="3601085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968375"/>
                <a:gridCol w="97536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Row5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Row6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Iteration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1" name="Rectangle 6"/>
          <p:cNvSpPr/>
          <p:nvPr/>
        </p:nvSpPr>
        <p:spPr>
          <a:xfrm>
            <a:off x="2752090" y="2500630"/>
            <a:ext cx="7242810" cy="457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1/5     0        1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-3/10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2/15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**      **     16/5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42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643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644" name="Rectangle 9"/>
          <p:cNvSpPr/>
          <p:nvPr/>
        </p:nvSpPr>
        <p:spPr>
          <a:xfrm>
            <a:off x="2121080" y="2480145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5" name="Rectangle 10"/>
          <p:cNvSpPr/>
          <p:nvPr/>
        </p:nvSpPr>
        <p:spPr>
          <a:xfrm>
            <a:off x="2144615" y="3068665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6" name="Rectangle 11"/>
          <p:cNvSpPr/>
          <p:nvPr/>
        </p:nvSpPr>
        <p:spPr>
          <a:xfrm>
            <a:off x="1339940" y="2491665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7" name="Rectangle 12"/>
          <p:cNvSpPr/>
          <p:nvPr/>
        </p:nvSpPr>
        <p:spPr>
          <a:xfrm>
            <a:off x="1339850" y="3062625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8" name="Rectangle 13"/>
          <p:cNvSpPr/>
          <p:nvPr/>
        </p:nvSpPr>
        <p:spPr>
          <a:xfrm>
            <a:off x="2949655" y="3071785"/>
            <a:ext cx="6590520" cy="457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1/5     1        0      1/5  -1/5   **      **      6/5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9" name="Rectangle 14"/>
          <p:cNvSpPr/>
          <p:nvPr/>
        </p:nvSpPr>
        <p:spPr>
          <a:xfrm>
            <a:off x="2120690" y="36450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0" name="Rectangle 15"/>
          <p:cNvSpPr/>
          <p:nvPr/>
        </p:nvSpPr>
        <p:spPr>
          <a:xfrm>
            <a:off x="2949660" y="3642240"/>
            <a:ext cx="7405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7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15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</a:t>
            </a:r>
            <a:r>
              <a:rPr lang="en-US" sz="2000" b="1" i="1" strike="noStrike" spc="-1">
                <a:solidFill>
                  <a:schemeClr val="dk1"/>
                </a:solidFill>
                <a:latin typeface="Trebuchet MS" panose="020B0603020202020204"/>
              </a:rPr>
              <a:t>20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-3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-1/3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       82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1" name="Rectangle 16"/>
          <p:cNvSpPr/>
          <p:nvPr/>
        </p:nvSpPr>
        <p:spPr>
          <a:xfrm>
            <a:off x="1775460" y="422074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2" name="Rectangle 17"/>
          <p:cNvSpPr/>
          <p:nvPr/>
        </p:nvSpPr>
        <p:spPr>
          <a:xfrm>
            <a:off x="2927990" y="414983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 0        3     1/3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3" name="Rectangle 101"/>
          <p:cNvSpPr/>
          <p:nvPr/>
        </p:nvSpPr>
        <p:spPr>
          <a:xfrm>
            <a:off x="2987040" y="1183640"/>
            <a:ext cx="5910580" cy="457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7     15      20       0          0       M      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4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5" name="Rectangle 23"/>
          <p:cNvSpPr/>
          <p:nvPr/>
        </p:nvSpPr>
        <p:spPr>
          <a:xfrm>
            <a:off x="444240" y="5414400"/>
            <a:ext cx="43700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highlight>
                  <a:srgbClr val="00FFFF"/>
                </a:highlight>
                <a:latin typeface="Trebuchet MS" panose="020B0603020202020204"/>
              </a:rPr>
              <a:t>Optimality Condition </a:t>
            </a: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For Minimization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All Cj – Zj &gt;= 0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656" name="Group 2"/>
          <p:cNvGrpSpPr/>
          <p:nvPr/>
        </p:nvGrpSpPr>
        <p:grpSpPr>
          <a:xfrm>
            <a:off x="4915800" y="5198760"/>
            <a:ext cx="5078880" cy="1659240"/>
            <a:chOff x="4915800" y="5198760"/>
            <a:chExt cx="5078880" cy="1659240"/>
          </a:xfrm>
        </p:grpSpPr>
        <p:sp>
          <p:nvSpPr>
            <p:cNvPr id="657" name="Content Placeholder 2"/>
            <p:cNvSpPr/>
            <p:nvPr/>
          </p:nvSpPr>
          <p:spPr>
            <a:xfrm>
              <a:off x="4915800" y="5198760"/>
              <a:ext cx="2513160" cy="16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x1 = 0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x2 = 6/5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x3 = 16/5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58" name="Content Placeholder 2"/>
            <p:cNvSpPr/>
            <p:nvPr/>
          </p:nvSpPr>
          <p:spPr>
            <a:xfrm>
              <a:off x="7481520" y="5198760"/>
              <a:ext cx="2513160" cy="16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i="1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Z = 82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itle 1"/>
          <p:cNvSpPr/>
          <p:nvPr/>
        </p:nvSpPr>
        <p:spPr>
          <a:xfrm>
            <a:off x="1338480" y="1911960"/>
            <a:ext cx="8596080" cy="30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Two Phase 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Method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677160" y="257760"/>
            <a:ext cx="8596080" cy="6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Basic Points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1" name="Content Placeholder 2"/>
          <p:cNvSpPr/>
          <p:nvPr/>
        </p:nvSpPr>
        <p:spPr>
          <a:xfrm>
            <a:off x="677160" y="2408760"/>
            <a:ext cx="4920840" cy="84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89999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For Constraints </a:t>
            </a: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&lt;=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Add Surplus/ Slack Variables</a:t>
            </a:r>
            <a:endParaRPr lang="en-US" sz="2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2" name="Content Placeholder 2"/>
          <p:cNvSpPr/>
          <p:nvPr/>
        </p:nvSpPr>
        <p:spPr>
          <a:xfrm>
            <a:off x="5917320" y="2147040"/>
            <a:ext cx="5239080" cy="1267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88888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For Constraints </a:t>
            </a: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&gt;=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Subtract Surplus/ Slack Variables</a:t>
            </a:r>
            <a:endParaRPr lang="en-US" sz="2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Add Artificial Variables</a:t>
            </a:r>
            <a:endParaRPr lang="en-US" sz="2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3" name="Content Placeholder 2"/>
          <p:cNvSpPr/>
          <p:nvPr/>
        </p:nvSpPr>
        <p:spPr>
          <a:xfrm>
            <a:off x="677160" y="843480"/>
            <a:ext cx="9042840" cy="1495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93333" lnSpcReduction="10000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Two Phase Method is meant only for </a:t>
            </a: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Minimization</a:t>
            </a: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Type of Problem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If we get a Maximization problem, Convert it into Minimization problem, by Changing the sign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64" name="Straight Connector 16"/>
          <p:cNvCxnSpPr/>
          <p:nvPr/>
        </p:nvCxnSpPr>
        <p:spPr>
          <a:xfrm>
            <a:off x="5916960" y="3677040"/>
            <a:ext cx="720" cy="2499120"/>
          </a:xfrm>
          <a:prstGeom prst="straightConnector1">
            <a:avLst/>
          </a:prstGeom>
          <a:ln w="28575" cap="rnd">
            <a:solidFill>
              <a:srgbClr val="2E83C3"/>
            </a:solidFill>
            <a:round/>
          </a:ln>
        </p:spPr>
      </p:cxnSp>
      <p:sp>
        <p:nvSpPr>
          <p:cNvPr id="665" name="Content Placeholder 2"/>
          <p:cNvSpPr/>
          <p:nvPr/>
        </p:nvSpPr>
        <p:spPr>
          <a:xfrm>
            <a:off x="677160" y="3322080"/>
            <a:ext cx="5033520" cy="3277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73333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Phase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Follow Simplex Method with 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REVISED 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Objective Function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End of Phase 1, check Objective Function Value is ZERO in Optimal Table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If yes, Go to </a:t>
            </a:r>
            <a:r>
              <a:rPr lang="en-US" sz="26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Phase 2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Else, Conclude, The Problem does not have a Optimal Solution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6" name="Content Placeholder 2"/>
          <p:cNvSpPr/>
          <p:nvPr/>
        </p:nvSpPr>
        <p:spPr>
          <a:xfrm>
            <a:off x="6095880" y="3573720"/>
            <a:ext cx="4742280" cy="266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Phase 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Continue with Optimal Table for Phase 1 and 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REPLACE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the objective Function with 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Original</a:t>
            </a: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One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Oval 3"/>
          <p:cNvSpPr/>
          <p:nvPr/>
        </p:nvSpPr>
        <p:spPr>
          <a:xfrm>
            <a:off x="2385720" y="1870920"/>
            <a:ext cx="615960" cy="2278080"/>
          </a:xfrm>
          <a:prstGeom prst="ellipse">
            <a:avLst/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Example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677160" y="1254960"/>
            <a:ext cx="8596080" cy="300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Minimize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10 x1 + 6 x2 + 2 x3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- x1 +  x2 +  x3 &gt;= 1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3 x1 +  x2 -  x3 &gt;= 2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x2, x3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0" name="Content Placeholder 2"/>
          <p:cNvSpPr/>
          <p:nvPr/>
        </p:nvSpPr>
        <p:spPr>
          <a:xfrm>
            <a:off x="4975560" y="1995840"/>
            <a:ext cx="5239080" cy="1267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88888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For Constraints </a:t>
            </a: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&gt;=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Subtract Surplus/ Slack Variables</a:t>
            </a:r>
            <a:endParaRPr lang="en-US" sz="2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Add Artificial Variables</a:t>
            </a:r>
            <a:endParaRPr lang="en-US" sz="2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1" name="Content Placeholder 2"/>
          <p:cNvSpPr/>
          <p:nvPr/>
        </p:nvSpPr>
        <p:spPr>
          <a:xfrm>
            <a:off x="942480" y="4013280"/>
            <a:ext cx="10100880" cy="2573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91111"/>
          </a:bodyPr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Canonical Form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Minimize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10 x1 + 6 x2 + 2 x3 + 0 s1 + 0 s2 + a1 + a2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- x1 +  x2 +  x3 – s1 + a1 = 1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3 x1 +  x2 -  x3 – s2 + a2 = 2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x2, x3, s1, s2, a1, a2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677160" y="156240"/>
            <a:ext cx="10027440" cy="81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Form REVISED Objective Function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3" name="Content Placeholder 2"/>
          <p:cNvSpPr/>
          <p:nvPr/>
        </p:nvSpPr>
        <p:spPr>
          <a:xfrm>
            <a:off x="677160" y="970560"/>
            <a:ext cx="8596080" cy="1257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Keep the Constraints AS IS i.e. with Slack &amp; Artificial Variables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Take only Artificial Variables in to form REVISED 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775800" y="2560320"/>
            <a:ext cx="8596080" cy="300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Minimize </a:t>
            </a:r>
            <a:r>
              <a:rPr lang="en-US" sz="28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Z = a1 + a2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- x1 +  x2 +  x3 – s1 + a1 = 1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3 x1 +  x2 -  x3 – s2 + a2 = 2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x1, x2, x3, s1, s2, a1, a2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Rectangle: Rounded Corners 13"/>
          <p:cNvSpPr/>
          <p:nvPr/>
        </p:nvSpPr>
        <p:spPr>
          <a:xfrm>
            <a:off x="3447000" y="4820400"/>
            <a:ext cx="1472760" cy="59832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461880" y="27576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i="1" strike="noStrike" spc="-1">
                <a:solidFill>
                  <a:schemeClr val="accent1"/>
                </a:solidFill>
                <a:latin typeface="Trebuchet MS" panose="020B0603020202020204"/>
              </a:rPr>
              <a:t>Phase 1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677" name="Table 3"/>
          <p:cNvGraphicFramePr/>
          <p:nvPr/>
        </p:nvGraphicFramePr>
        <p:xfrm>
          <a:off x="900720" y="1715040"/>
          <a:ext cx="9681120" cy="4034160"/>
        </p:xfrm>
        <a:graphic>
          <a:graphicData uri="http://schemas.openxmlformats.org/drawingml/2006/table">
            <a:tbl>
              <a:tblPr/>
              <a:tblGrid>
                <a:gridCol w="815040"/>
                <a:gridCol w="926640"/>
                <a:gridCol w="7034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78" name="Rectangle 6"/>
          <p:cNvSpPr/>
          <p:nvPr/>
        </p:nvSpPr>
        <p:spPr>
          <a:xfrm>
            <a:off x="6682680" y="551052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- x1 +  x2 +  x3 – s1 + a1 =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9" name="Rectangle 8"/>
          <p:cNvSpPr/>
          <p:nvPr/>
        </p:nvSpPr>
        <p:spPr>
          <a:xfrm>
            <a:off x="3400920" y="181476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0       0       0      0       0       1        1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0" name="Rectangle 10"/>
          <p:cNvSpPr/>
          <p:nvPr/>
        </p:nvSpPr>
        <p:spPr>
          <a:xfrm>
            <a:off x="3400920" y="247212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1" name="Rectangle 11"/>
          <p:cNvSpPr/>
          <p:nvPr/>
        </p:nvSpPr>
        <p:spPr>
          <a:xfrm>
            <a:off x="3400920" y="3153600"/>
            <a:ext cx="6473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-1       1       1       -1      0       1       0       1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2" name="Rectangle 12"/>
          <p:cNvSpPr/>
          <p:nvPr/>
        </p:nvSpPr>
        <p:spPr>
          <a:xfrm>
            <a:off x="854640" y="1166400"/>
            <a:ext cx="100411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</a:t>
            </a:r>
            <a:r>
              <a:rPr lang="en-US" sz="2800" b="1" i="1" strike="noStrike" spc="-1">
                <a:solidFill>
                  <a:schemeClr val="dk1"/>
                </a:solidFill>
                <a:latin typeface="Trebuchet MS" panose="020B0603020202020204"/>
              </a:rPr>
              <a:t>a1 + a2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83" name="Straight Arrow Connector 14"/>
          <p:cNvCxnSpPr/>
          <p:nvPr/>
        </p:nvCxnSpPr>
        <p:spPr>
          <a:xfrm>
            <a:off x="1796760" y="22708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684" name="Straight Arrow Connector 16"/>
          <p:cNvCxnSpPr/>
          <p:nvPr/>
        </p:nvCxnSpPr>
        <p:spPr>
          <a:xfrm>
            <a:off x="999000" y="196596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685" name="Rectangle 21"/>
          <p:cNvSpPr/>
          <p:nvPr/>
        </p:nvSpPr>
        <p:spPr>
          <a:xfrm>
            <a:off x="1965240" y="315828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6" name="Rectangle 22"/>
          <p:cNvSpPr/>
          <p:nvPr/>
        </p:nvSpPr>
        <p:spPr>
          <a:xfrm>
            <a:off x="1933560" y="36774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7" name="Rectangle 23"/>
          <p:cNvSpPr/>
          <p:nvPr/>
        </p:nvSpPr>
        <p:spPr>
          <a:xfrm>
            <a:off x="1094040" y="31759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8" name="Rectangle 24"/>
          <p:cNvSpPr/>
          <p:nvPr/>
        </p:nvSpPr>
        <p:spPr>
          <a:xfrm>
            <a:off x="1071720" y="36648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9" name="Rectangle 25"/>
          <p:cNvSpPr/>
          <p:nvPr/>
        </p:nvSpPr>
        <p:spPr>
          <a:xfrm>
            <a:off x="6682680" y="603756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x1 +  x2 -  x3 – s2 + a2 = 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0" name="Rectangle 26"/>
          <p:cNvSpPr/>
          <p:nvPr/>
        </p:nvSpPr>
        <p:spPr>
          <a:xfrm>
            <a:off x="3328200" y="374328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      1       -1      0      -1      0        1       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1" name="Rectangle 27"/>
          <p:cNvSpPr/>
          <p:nvPr/>
        </p:nvSpPr>
        <p:spPr>
          <a:xfrm>
            <a:off x="1940400" y="42091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2" name="Rectangle 30"/>
          <p:cNvSpPr/>
          <p:nvPr/>
        </p:nvSpPr>
        <p:spPr>
          <a:xfrm>
            <a:off x="3328200" y="426780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      2       0       -1     -1      1        1      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3" name="Rectangle 31"/>
          <p:cNvSpPr/>
          <p:nvPr/>
        </p:nvSpPr>
        <p:spPr>
          <a:xfrm>
            <a:off x="1639800" y="475812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4" name="Rectangle 32"/>
          <p:cNvSpPr/>
          <p:nvPr/>
        </p:nvSpPr>
        <p:spPr>
          <a:xfrm>
            <a:off x="3328200" y="4813920"/>
            <a:ext cx="65466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-2        -2        0         1         1         0       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5" name="Rectangle 28"/>
          <p:cNvSpPr/>
          <p:nvPr/>
        </p:nvSpPr>
        <p:spPr>
          <a:xfrm>
            <a:off x="900720" y="552960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Optimality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Min Z : Cj – Zj &gt;= 0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ctangle: Rounded Corners 2"/>
          <p:cNvSpPr/>
          <p:nvPr/>
        </p:nvSpPr>
        <p:spPr>
          <a:xfrm>
            <a:off x="3156840" y="80388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697" name="Rectangle: Rounded Corners 34"/>
          <p:cNvSpPr/>
          <p:nvPr/>
        </p:nvSpPr>
        <p:spPr>
          <a:xfrm>
            <a:off x="2516400" y="3093480"/>
            <a:ext cx="8339040" cy="71820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698" name="Table 38"/>
          <p:cNvGraphicFramePr/>
          <p:nvPr/>
        </p:nvGraphicFramePr>
        <p:xfrm>
          <a:off x="730080" y="1227600"/>
          <a:ext cx="9681120" cy="4034160"/>
        </p:xfrm>
        <a:graphic>
          <a:graphicData uri="http://schemas.openxmlformats.org/drawingml/2006/table">
            <a:tbl>
              <a:tblPr/>
              <a:tblGrid>
                <a:gridCol w="815040"/>
                <a:gridCol w="926640"/>
                <a:gridCol w="7034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6528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84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028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32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9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77160" y="4690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Continue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0" name="Speech Bubble: Oval 37"/>
          <p:cNvSpPr/>
          <p:nvPr/>
        </p:nvSpPr>
        <p:spPr>
          <a:xfrm>
            <a:off x="9160920" y="4952880"/>
            <a:ext cx="2233080" cy="928080"/>
          </a:xfrm>
          <a:prstGeom prst="wedgeEllipseCallout">
            <a:avLst>
              <a:gd name="adj1" fmla="val -290453"/>
              <a:gd name="adj2" fmla="val -20122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Key Element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1" name="Speech Bubble: Oval 52"/>
          <p:cNvSpPr/>
          <p:nvPr/>
        </p:nvSpPr>
        <p:spPr>
          <a:xfrm>
            <a:off x="9246240" y="297360"/>
            <a:ext cx="2233080" cy="928080"/>
          </a:xfrm>
          <a:prstGeom prst="wedgeEllipseCallout">
            <a:avLst>
              <a:gd name="adj1" fmla="val -291622"/>
              <a:gd name="adj2" fmla="val 15235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Entering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2" name="Speech Bubble: Oval 53"/>
          <p:cNvSpPr/>
          <p:nvPr/>
        </p:nvSpPr>
        <p:spPr>
          <a:xfrm>
            <a:off x="960120" y="5559480"/>
            <a:ext cx="2233080" cy="928080"/>
          </a:xfrm>
          <a:prstGeom prst="wedgeEllipseCallout">
            <a:avLst>
              <a:gd name="adj1" fmla="val 954"/>
              <a:gd name="adj2" fmla="val -25303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Leaving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03" name="Straight Arrow Connector 39"/>
          <p:cNvCxnSpPr/>
          <p:nvPr/>
        </p:nvCxnSpPr>
        <p:spPr>
          <a:xfrm>
            <a:off x="1627920" y="17362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704" name="Straight Arrow Connector 41"/>
          <p:cNvCxnSpPr/>
          <p:nvPr/>
        </p:nvCxnSpPr>
        <p:spPr>
          <a:xfrm>
            <a:off x="830160" y="143136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705" name="Rectangle 45"/>
          <p:cNvSpPr/>
          <p:nvPr/>
        </p:nvSpPr>
        <p:spPr>
          <a:xfrm>
            <a:off x="3196800" y="204048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6" name="Rectangle 47"/>
          <p:cNvSpPr/>
          <p:nvPr/>
        </p:nvSpPr>
        <p:spPr>
          <a:xfrm>
            <a:off x="1747440" y="262800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7" name="Rectangle 54"/>
          <p:cNvSpPr/>
          <p:nvPr/>
        </p:nvSpPr>
        <p:spPr>
          <a:xfrm>
            <a:off x="1729440" y="3203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8" name="Rectangle 56"/>
          <p:cNvSpPr/>
          <p:nvPr/>
        </p:nvSpPr>
        <p:spPr>
          <a:xfrm>
            <a:off x="1722600" y="36792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9" name="Rectangle 58"/>
          <p:cNvSpPr/>
          <p:nvPr/>
        </p:nvSpPr>
        <p:spPr>
          <a:xfrm>
            <a:off x="1421640" y="422820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0" name="Speech Bubble: Oval 60"/>
          <p:cNvSpPr/>
          <p:nvPr/>
        </p:nvSpPr>
        <p:spPr>
          <a:xfrm>
            <a:off x="3335400" y="5642280"/>
            <a:ext cx="2760120" cy="656640"/>
          </a:xfrm>
          <a:prstGeom prst="wedgeEllipseCallout">
            <a:avLst>
              <a:gd name="adj1" fmla="val -35726"/>
              <a:gd name="adj2" fmla="val -18828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Select any one most  Negative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1" name="Rectangle 66"/>
          <p:cNvSpPr/>
          <p:nvPr/>
        </p:nvSpPr>
        <p:spPr>
          <a:xfrm>
            <a:off x="9743040" y="2651760"/>
            <a:ext cx="625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2" name="Rectangle 67"/>
          <p:cNvSpPr/>
          <p:nvPr/>
        </p:nvSpPr>
        <p:spPr>
          <a:xfrm>
            <a:off x="9684360" y="3271320"/>
            <a:ext cx="968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3" name="Speech Bubble: Oval 68"/>
          <p:cNvSpPr/>
          <p:nvPr/>
        </p:nvSpPr>
        <p:spPr>
          <a:xfrm>
            <a:off x="10056240" y="4009320"/>
            <a:ext cx="2066040" cy="656640"/>
          </a:xfrm>
          <a:prstGeom prst="wedgeEllipseCallout">
            <a:avLst>
              <a:gd name="adj1" fmla="val -84447"/>
              <a:gd name="adj2" fmla="val -11124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4" name="Oval 7"/>
          <p:cNvSpPr/>
          <p:nvPr/>
        </p:nvSpPr>
        <p:spPr>
          <a:xfrm>
            <a:off x="3197880" y="3132360"/>
            <a:ext cx="806040" cy="627480"/>
          </a:xfrm>
          <a:prstGeom prst="ellipse">
            <a:avLst/>
          </a:prstGeom>
          <a:solidFill>
            <a:srgbClr val="FFFFFF"/>
          </a:solidFill>
          <a:ln w="28575" cap="rnd">
            <a:solidFill>
              <a:srgbClr val="FF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Trebuchet MS" panose="020B0603020202020204"/>
            </a:endParaRPr>
          </a:p>
        </p:txBody>
      </p:sp>
      <p:sp>
        <p:nvSpPr>
          <p:cNvPr id="715" name="Rectangle 69"/>
          <p:cNvSpPr/>
          <p:nvPr/>
        </p:nvSpPr>
        <p:spPr>
          <a:xfrm>
            <a:off x="953280" y="27259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6" name="Rectangle 70"/>
          <p:cNvSpPr/>
          <p:nvPr/>
        </p:nvSpPr>
        <p:spPr>
          <a:xfrm>
            <a:off x="931320" y="32148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7" name="Rectangle 40"/>
          <p:cNvSpPr/>
          <p:nvPr/>
        </p:nvSpPr>
        <p:spPr>
          <a:xfrm>
            <a:off x="3182760" y="136332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0       0       0      0       0       1        1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8" name="Rectangle 42"/>
          <p:cNvSpPr/>
          <p:nvPr/>
        </p:nvSpPr>
        <p:spPr>
          <a:xfrm>
            <a:off x="3175920" y="2647440"/>
            <a:ext cx="6473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-1       1       1       -1      0       1       0       1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9" name="Rectangle 43"/>
          <p:cNvSpPr/>
          <p:nvPr/>
        </p:nvSpPr>
        <p:spPr>
          <a:xfrm>
            <a:off x="3159360" y="326520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3       1       -1      0      -1      0        1      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0" name="Rectangle 48"/>
          <p:cNvSpPr/>
          <p:nvPr/>
        </p:nvSpPr>
        <p:spPr>
          <a:xfrm>
            <a:off x="3137400" y="3818520"/>
            <a:ext cx="6546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2       2       0       -1     -1      1        1      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1" name="Rectangle 49"/>
          <p:cNvSpPr/>
          <p:nvPr/>
        </p:nvSpPr>
        <p:spPr>
          <a:xfrm>
            <a:off x="3145320" y="4321440"/>
            <a:ext cx="65466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-2        -2        0         1         1         0       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2" name="Table 100"/>
          <p:cNvGraphicFramePr/>
          <p:nvPr/>
        </p:nvGraphicFramePr>
        <p:xfrm>
          <a:off x="416880" y="104400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23" name="Group 44"/>
          <p:cNvGrpSpPr/>
          <p:nvPr/>
        </p:nvGrpSpPr>
        <p:grpSpPr>
          <a:xfrm>
            <a:off x="7720200" y="4751640"/>
            <a:ext cx="4421160" cy="1947240"/>
            <a:chOff x="7720200" y="4751640"/>
            <a:chExt cx="4421160" cy="1947240"/>
          </a:xfrm>
        </p:grpSpPr>
        <p:sp>
          <p:nvSpPr>
            <p:cNvPr id="724" name="Oval 24"/>
            <p:cNvSpPr/>
            <p:nvPr/>
          </p:nvSpPr>
          <p:spPr>
            <a:xfrm rot="21177000">
              <a:off x="7772400" y="5320080"/>
              <a:ext cx="4316760" cy="1117800"/>
            </a:xfrm>
            <a:prstGeom prst="ellipse">
              <a:avLst/>
            </a:prstGeom>
            <a:solidFill>
              <a:srgbClr val="5FCBEF"/>
            </a:solidFill>
            <a:ln cap="rnd">
              <a:solidFill>
                <a:srgbClr val="4696B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rebuchet MS" panose="020B0603020202020204"/>
              </a:endParaRPr>
            </a:p>
          </p:txBody>
        </p:sp>
        <p:cxnSp>
          <p:nvCxnSpPr>
            <p:cNvPr id="725" name="Connector: Elbow 37"/>
            <p:cNvCxnSpPr>
              <a:stCxn id="724" idx="7"/>
            </p:cNvCxnSpPr>
            <p:nvPr/>
          </p:nvCxnSpPr>
          <p:spPr>
            <a:xfrm rot="16200000" flipV="1">
              <a:off x="10262520" y="4166280"/>
              <a:ext cx="242280" cy="2027520"/>
            </a:xfrm>
            <a:prstGeom prst="bentConnector3">
              <a:avLst>
                <a:gd name="adj1" fmla="val 99851"/>
              </a:avLst>
            </a:prstGeom>
            <a:ln w="38100">
              <a:solidFill>
                <a:srgbClr val="002060"/>
              </a:solidFill>
              <a:round/>
              <a:tailEnd type="arrow" w="med" len="med"/>
            </a:ln>
          </p:spPr>
        </p:cxnSp>
        <p:sp>
          <p:nvSpPr>
            <p:cNvPr id="726" name="Rectangle 106"/>
            <p:cNvSpPr/>
            <p:nvPr/>
          </p:nvSpPr>
          <p:spPr>
            <a:xfrm>
              <a:off x="10029960" y="4751640"/>
              <a:ext cx="127368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Row4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First Iteration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8" name="Rectangle 6"/>
          <p:cNvSpPr/>
          <p:nvPr/>
        </p:nvSpPr>
        <p:spPr>
          <a:xfrm>
            <a:off x="2779200" y="24933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1/3    -1/3    0     -1/3     0     **      2/3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29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730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731" name="Rectangle 9"/>
          <p:cNvSpPr/>
          <p:nvPr/>
        </p:nvSpPr>
        <p:spPr>
          <a:xfrm>
            <a:off x="2126160" y="248004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2" name="Rectangle 10"/>
          <p:cNvSpPr/>
          <p:nvPr/>
        </p:nvSpPr>
        <p:spPr>
          <a:xfrm>
            <a:off x="2121120" y="3033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3" name="Rectangle 11"/>
          <p:cNvSpPr/>
          <p:nvPr/>
        </p:nvSpPr>
        <p:spPr>
          <a:xfrm>
            <a:off x="1291680" y="2445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4" name="Rectangle 12"/>
          <p:cNvSpPr/>
          <p:nvPr/>
        </p:nvSpPr>
        <p:spPr>
          <a:xfrm>
            <a:off x="1270080" y="3062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5" name="Rectangle 13"/>
          <p:cNvSpPr/>
          <p:nvPr/>
        </p:nvSpPr>
        <p:spPr>
          <a:xfrm>
            <a:off x="2873520" y="30117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4/3     2/3    -1    -1/3     1      **     5/3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6" name="Rectangle 14"/>
          <p:cNvSpPr/>
          <p:nvPr/>
        </p:nvSpPr>
        <p:spPr>
          <a:xfrm>
            <a:off x="2107800" y="3545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7" name="Rectangle 15"/>
          <p:cNvSpPr/>
          <p:nvPr/>
        </p:nvSpPr>
        <p:spPr>
          <a:xfrm>
            <a:off x="2858040" y="3596760"/>
            <a:ext cx="7405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4/3     2/3    -1    -1/3    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8" name="Rectangle 16"/>
          <p:cNvSpPr/>
          <p:nvPr/>
        </p:nvSpPr>
        <p:spPr>
          <a:xfrm>
            <a:off x="1804680" y="4100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9" name="Rectangle 17"/>
          <p:cNvSpPr/>
          <p:nvPr/>
        </p:nvSpPr>
        <p:spPr>
          <a:xfrm>
            <a:off x="2831040" y="410076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-4/3  -2/3     1     1/3     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40" name="Straight Arrow Connector 19"/>
          <p:cNvCxnSpPr/>
          <p:nvPr/>
        </p:nvCxnSpPr>
        <p:spPr>
          <a:xfrm flipH="1">
            <a:off x="1873440" y="1531800"/>
            <a:ext cx="1436040" cy="101628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741" name="Straight Arrow Connector 21"/>
          <p:cNvCxnSpPr/>
          <p:nvPr/>
        </p:nvCxnSpPr>
        <p:spPr>
          <a:xfrm flipH="1">
            <a:off x="2591280" y="2245320"/>
            <a:ext cx="604080" cy="40716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742" name="Rectangle 26"/>
          <p:cNvSpPr/>
          <p:nvPr/>
        </p:nvSpPr>
        <p:spPr>
          <a:xfrm>
            <a:off x="4463280" y="4858200"/>
            <a:ext cx="561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New x1 = old values / Key Element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743" name="Group 34"/>
          <p:cNvGrpSpPr/>
          <p:nvPr/>
        </p:nvGrpSpPr>
        <p:grpSpPr>
          <a:xfrm>
            <a:off x="4089240" y="5362200"/>
            <a:ext cx="7928640" cy="835560"/>
            <a:chOff x="4089240" y="5362200"/>
            <a:chExt cx="7928640" cy="835560"/>
          </a:xfrm>
        </p:grpSpPr>
        <p:sp>
          <p:nvSpPr>
            <p:cNvPr id="744" name="Rectangle 29"/>
            <p:cNvSpPr/>
            <p:nvPr/>
          </p:nvSpPr>
          <p:spPr>
            <a:xfrm>
              <a:off x="4089240" y="5487120"/>
              <a:ext cx="2620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New a1 </a:t>
              </a: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= Old Value –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45" name="Rectangle 30"/>
            <p:cNvSpPr/>
            <p:nvPr/>
          </p:nvSpPr>
          <p:spPr>
            <a:xfrm>
              <a:off x="6476040" y="5362200"/>
              <a:ext cx="55418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Corresponding Key Col Val X Corresponding Key Row Value  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746" name="Straight Connector 32"/>
            <p:cNvCxnSpPr/>
            <p:nvPr/>
          </p:nvCxnSpPr>
          <p:spPr>
            <a:xfrm>
              <a:off x="6561000" y="5763960"/>
              <a:ext cx="5137920" cy="720"/>
            </a:xfrm>
            <a:prstGeom prst="straightConnector1">
              <a:avLst/>
            </a:prstGeom>
            <a:ln w="19050" cap="rnd">
              <a:solidFill>
                <a:srgbClr val="000000"/>
              </a:solidFill>
              <a:round/>
            </a:ln>
          </p:spPr>
        </p:cxnSp>
        <p:sp>
          <p:nvSpPr>
            <p:cNvPr id="747" name="Rectangle 33"/>
            <p:cNvSpPr/>
            <p:nvPr/>
          </p:nvSpPr>
          <p:spPr>
            <a:xfrm>
              <a:off x="7762320" y="5864400"/>
              <a:ext cx="226692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chemeClr val="dk1"/>
                  </a:solidFill>
                  <a:latin typeface="Trebuchet MS" panose="020B0603020202020204"/>
                </a:rPr>
                <a:t>Key Element Value</a:t>
              </a:r>
              <a:endParaRPr lang="en-US" sz="1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748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9" name="Rectangle 45"/>
          <p:cNvSpPr/>
          <p:nvPr/>
        </p:nvSpPr>
        <p:spPr>
          <a:xfrm>
            <a:off x="7327440" y="175680"/>
            <a:ext cx="43700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highlight>
                  <a:srgbClr val="00FFFF"/>
                </a:highlight>
                <a:latin typeface="Trebuchet MS" panose="020B0603020202020204"/>
              </a:rPr>
              <a:t>Optimality Condition </a:t>
            </a: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For Minimization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All Cj – Zj &gt;= 0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0" name="Rectangle 35"/>
          <p:cNvSpPr/>
          <p:nvPr/>
        </p:nvSpPr>
        <p:spPr>
          <a:xfrm>
            <a:off x="2873520" y="118044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0      0       0       1   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751" name="Picture 18"/>
          <p:cNvPicPr/>
          <p:nvPr/>
        </p:nvPicPr>
        <p:blipFill>
          <a:blip r:embed="rId1"/>
          <a:stretch>
            <a:fillRect/>
          </a:stretch>
        </p:blipFill>
        <p:spPr>
          <a:xfrm>
            <a:off x="442080" y="4751640"/>
            <a:ext cx="3424320" cy="1947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ectangle: Rounded Corners 40"/>
          <p:cNvSpPr/>
          <p:nvPr/>
        </p:nvSpPr>
        <p:spPr>
          <a:xfrm>
            <a:off x="2712240" y="2867760"/>
            <a:ext cx="8339040" cy="71820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753" name="Rectangle: Rounded Corners 39"/>
          <p:cNvSpPr/>
          <p:nvPr/>
        </p:nvSpPr>
        <p:spPr>
          <a:xfrm>
            <a:off x="3680280" y="706680"/>
            <a:ext cx="806040" cy="436824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754" name="Table 100"/>
          <p:cNvGraphicFramePr/>
          <p:nvPr/>
        </p:nvGraphicFramePr>
        <p:xfrm>
          <a:off x="416880" y="104400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Iteration 1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56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757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758" name="Rectangle 9"/>
          <p:cNvSpPr/>
          <p:nvPr/>
        </p:nvSpPr>
        <p:spPr>
          <a:xfrm>
            <a:off x="2126160" y="248004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9" name="Rectangle 10"/>
          <p:cNvSpPr/>
          <p:nvPr/>
        </p:nvSpPr>
        <p:spPr>
          <a:xfrm>
            <a:off x="2121120" y="3033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a1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0" name="Rectangle 11"/>
          <p:cNvSpPr/>
          <p:nvPr/>
        </p:nvSpPr>
        <p:spPr>
          <a:xfrm>
            <a:off x="1291680" y="2445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1" name="Rectangle 12"/>
          <p:cNvSpPr/>
          <p:nvPr/>
        </p:nvSpPr>
        <p:spPr>
          <a:xfrm>
            <a:off x="1270080" y="3062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2" name="Rectangle 14"/>
          <p:cNvSpPr/>
          <p:nvPr/>
        </p:nvSpPr>
        <p:spPr>
          <a:xfrm>
            <a:off x="2107800" y="3545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3" name="Rectangle 16"/>
          <p:cNvSpPr/>
          <p:nvPr/>
        </p:nvSpPr>
        <p:spPr>
          <a:xfrm>
            <a:off x="1804680" y="4100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4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a1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5" name="Rectangle 35"/>
          <p:cNvSpPr/>
          <p:nvPr/>
        </p:nvSpPr>
        <p:spPr>
          <a:xfrm>
            <a:off x="9385920" y="24800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6" name="Rectangle 36"/>
          <p:cNvSpPr/>
          <p:nvPr/>
        </p:nvSpPr>
        <p:spPr>
          <a:xfrm>
            <a:off x="9327960" y="30686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7" name="Speech Bubble: Oval 41"/>
          <p:cNvSpPr/>
          <p:nvPr/>
        </p:nvSpPr>
        <p:spPr>
          <a:xfrm>
            <a:off x="3050280" y="5493960"/>
            <a:ext cx="2066040" cy="656640"/>
          </a:xfrm>
          <a:prstGeom prst="wedgeEllipseCallout">
            <a:avLst>
              <a:gd name="adj1" fmla="val -2093"/>
              <a:gd name="adj2" fmla="val -188289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Negative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8" name="Speech Bubble: Oval 42"/>
          <p:cNvSpPr/>
          <p:nvPr/>
        </p:nvSpPr>
        <p:spPr>
          <a:xfrm>
            <a:off x="9392040" y="3833280"/>
            <a:ext cx="1770120" cy="656640"/>
          </a:xfrm>
          <a:prstGeom prst="wedgeEllipseCallout">
            <a:avLst>
              <a:gd name="adj1" fmla="val -59962"/>
              <a:gd name="adj2" fmla="val -11980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9" name="Rectangle 23"/>
          <p:cNvSpPr/>
          <p:nvPr/>
        </p:nvSpPr>
        <p:spPr>
          <a:xfrm>
            <a:off x="2873520" y="118044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0      0       0       1   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0" name="Rectangle 24"/>
          <p:cNvSpPr/>
          <p:nvPr/>
        </p:nvSpPr>
        <p:spPr>
          <a:xfrm>
            <a:off x="2779200" y="24933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1/3    -1/3    0     -1/3     0     **      2/3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1" name="Rectangle 25"/>
          <p:cNvSpPr/>
          <p:nvPr/>
        </p:nvSpPr>
        <p:spPr>
          <a:xfrm>
            <a:off x="2873520" y="30117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4/3     2/3    -1    -1/3     1      **     5/3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2" name="Rectangle 26"/>
          <p:cNvSpPr/>
          <p:nvPr/>
        </p:nvSpPr>
        <p:spPr>
          <a:xfrm>
            <a:off x="2858040" y="3596760"/>
            <a:ext cx="7405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  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4/3     2/3    -1    -1/3    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3" name="Rectangle 27"/>
          <p:cNvSpPr/>
          <p:nvPr/>
        </p:nvSpPr>
        <p:spPr>
          <a:xfrm>
            <a:off x="2831040" y="410076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-4/3  -2/3     1     1/3     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4" name="Speech Bubble: Oval 28"/>
          <p:cNvSpPr/>
          <p:nvPr/>
        </p:nvSpPr>
        <p:spPr>
          <a:xfrm>
            <a:off x="9246240" y="297360"/>
            <a:ext cx="2233080" cy="928080"/>
          </a:xfrm>
          <a:prstGeom prst="wedgeEllipseCallout">
            <a:avLst>
              <a:gd name="adj1" fmla="val -291622"/>
              <a:gd name="adj2" fmla="val 15235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Entering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5" name="Speech Bubble: Oval 29"/>
          <p:cNvSpPr/>
          <p:nvPr/>
        </p:nvSpPr>
        <p:spPr>
          <a:xfrm>
            <a:off x="960120" y="5559480"/>
            <a:ext cx="2233080" cy="928080"/>
          </a:xfrm>
          <a:prstGeom prst="wedgeEllipseCallout">
            <a:avLst>
              <a:gd name="adj1" fmla="val 14179"/>
              <a:gd name="adj2" fmla="val -280290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Leaving Variable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6" name="Table 100"/>
          <p:cNvGraphicFramePr/>
          <p:nvPr/>
        </p:nvGraphicFramePr>
        <p:xfrm>
          <a:off x="416880" y="104400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Row5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Trebuchet MS" panose="020B0603020202020204"/>
                        </a:rPr>
                        <a:t>Row6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677160" y="33372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i="1" strike="noStrike" spc="-1">
                <a:solidFill>
                  <a:schemeClr val="accent1"/>
                </a:solidFill>
                <a:latin typeface="Trebuchet MS" panose="020B0603020202020204"/>
              </a:rPr>
              <a:t>Iteration 2 Table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78" name="Straight Arrow Connector 7"/>
          <p:cNvCxnSpPr/>
          <p:nvPr/>
        </p:nvCxnSpPr>
        <p:spPr>
          <a:xfrm>
            <a:off x="2069280" y="160524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779" name="Straight Arrow Connector 8"/>
          <p:cNvCxnSpPr/>
          <p:nvPr/>
        </p:nvCxnSpPr>
        <p:spPr>
          <a:xfrm>
            <a:off x="1285200" y="127080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780" name="Rectangle 9"/>
          <p:cNvSpPr/>
          <p:nvPr/>
        </p:nvSpPr>
        <p:spPr>
          <a:xfrm>
            <a:off x="2126160" y="248004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1" name="Rectangle 10"/>
          <p:cNvSpPr/>
          <p:nvPr/>
        </p:nvSpPr>
        <p:spPr>
          <a:xfrm>
            <a:off x="2121120" y="303300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2" name="Rectangle 11"/>
          <p:cNvSpPr/>
          <p:nvPr/>
        </p:nvSpPr>
        <p:spPr>
          <a:xfrm>
            <a:off x="1291680" y="244584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3" name="Rectangle 12"/>
          <p:cNvSpPr/>
          <p:nvPr/>
        </p:nvSpPr>
        <p:spPr>
          <a:xfrm>
            <a:off x="1270080" y="30625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4" name="Rectangle 14"/>
          <p:cNvSpPr/>
          <p:nvPr/>
        </p:nvSpPr>
        <p:spPr>
          <a:xfrm>
            <a:off x="2107800" y="3545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5" name="Rectangle 16"/>
          <p:cNvSpPr/>
          <p:nvPr/>
        </p:nvSpPr>
        <p:spPr>
          <a:xfrm>
            <a:off x="1804680" y="410076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6" name="Rectangle 102"/>
          <p:cNvSpPr/>
          <p:nvPr/>
        </p:nvSpPr>
        <p:spPr>
          <a:xfrm>
            <a:off x="2873520" y="184356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**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7" name="Rectangle 35"/>
          <p:cNvSpPr/>
          <p:nvPr/>
        </p:nvSpPr>
        <p:spPr>
          <a:xfrm>
            <a:off x="9385920" y="24800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8" name="Rectangle 36"/>
          <p:cNvSpPr/>
          <p:nvPr/>
        </p:nvSpPr>
        <p:spPr>
          <a:xfrm>
            <a:off x="9327960" y="306864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9" name="Rectangle 23"/>
          <p:cNvSpPr/>
          <p:nvPr/>
        </p:nvSpPr>
        <p:spPr>
          <a:xfrm>
            <a:off x="2873520" y="118044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0      0       0        **   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0" name="Rectangle 24"/>
          <p:cNvSpPr/>
          <p:nvPr/>
        </p:nvSpPr>
        <p:spPr>
          <a:xfrm>
            <a:off x="2779200" y="24933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1      1/2   -3/4  -1/4     **     **      5/4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1" name="Rectangle 25"/>
          <p:cNvSpPr/>
          <p:nvPr/>
        </p:nvSpPr>
        <p:spPr>
          <a:xfrm>
            <a:off x="2873520" y="301176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  0     -1/2   1/4   -1/4     **      **     1/4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2" name="Rectangle 26"/>
          <p:cNvSpPr/>
          <p:nvPr/>
        </p:nvSpPr>
        <p:spPr>
          <a:xfrm>
            <a:off x="2858040" y="3596760"/>
            <a:ext cx="7405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0       0        0       0       0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3" name="Rectangle 27"/>
          <p:cNvSpPr/>
          <p:nvPr/>
        </p:nvSpPr>
        <p:spPr>
          <a:xfrm>
            <a:off x="2831040" y="410076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0       0        0        0      0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4" name="Rectangle 30"/>
          <p:cNvSpPr/>
          <p:nvPr/>
        </p:nvSpPr>
        <p:spPr>
          <a:xfrm>
            <a:off x="552240" y="4919760"/>
            <a:ext cx="28796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highlight>
                  <a:srgbClr val="00FFFF"/>
                </a:highlight>
                <a:latin typeface="Trebuchet MS" panose="020B0603020202020204"/>
              </a:rPr>
              <a:t>Optimality Condition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For Minimization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All Cj – Zj &gt;= 0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5" name="Content Placeholder 2"/>
          <p:cNvSpPr/>
          <p:nvPr/>
        </p:nvSpPr>
        <p:spPr>
          <a:xfrm>
            <a:off x="3155040" y="4871160"/>
            <a:ext cx="8484120" cy="1885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 fontScale="64999"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4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Phase 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Follow Simplex Method with REVISED Objective Function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Trebuchet MS" panose="020B0603020202020204"/>
              </a:rPr>
              <a:t>End of Phase 1, check Objective Function Value is ZERO in Optimal Table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If yes, Go to </a:t>
            </a:r>
            <a:r>
              <a:rPr lang="en-US" sz="26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Phase 2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6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Else, Conclude, The Problem does not have a Optimal Solution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96" name="Straight Arrow Connector 32"/>
          <p:cNvCxnSpPr>
            <a:endCxn id="780" idx="3"/>
          </p:cNvCxnSpPr>
          <p:nvPr/>
        </p:nvCxnSpPr>
        <p:spPr>
          <a:xfrm flipH="1">
            <a:off x="2694240" y="2234520"/>
            <a:ext cx="1090440" cy="473400"/>
          </a:xfrm>
          <a:prstGeom prst="straightConnector1">
            <a:avLst/>
          </a:prstGeom>
          <a:ln w="28575" cap="rnd">
            <a:solidFill>
              <a:srgbClr val="FF0000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Content Placeholder 2"/>
          <p:cNvSpPr/>
          <p:nvPr/>
        </p:nvSpPr>
        <p:spPr>
          <a:xfrm>
            <a:off x="1568160" y="1128600"/>
            <a:ext cx="4742280" cy="266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400" b="1" i="1" strike="noStrike" spc="-1">
                <a:solidFill>
                  <a:schemeClr val="dk1"/>
                </a:solidFill>
                <a:latin typeface="Trebuchet MS" panose="020B0603020202020204"/>
              </a:rPr>
              <a:t>Phase 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600" b="0" strike="noStrike" spc="-1">
                <a:solidFill>
                  <a:schemeClr val="dk1"/>
                </a:solidFill>
                <a:latin typeface="Trebuchet MS" panose="020B0603020202020204"/>
              </a:rPr>
              <a:t>Continue with Optimal Table for Phase 1 and </a:t>
            </a:r>
            <a:r>
              <a:rPr lang="en-US" sz="26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REPLACE</a:t>
            </a:r>
            <a:r>
              <a:rPr lang="en-US" sz="2600" b="0" strike="noStrike" spc="-1">
                <a:solidFill>
                  <a:schemeClr val="dk1"/>
                </a:solidFill>
                <a:latin typeface="Trebuchet MS" panose="020B0603020202020204"/>
              </a:rPr>
              <a:t> the objective Function with </a:t>
            </a:r>
            <a:r>
              <a:rPr lang="en-US" sz="2600" b="0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Original</a:t>
            </a:r>
            <a:r>
              <a:rPr lang="en-US" sz="2600" b="0" strike="noStrike" spc="-1">
                <a:solidFill>
                  <a:schemeClr val="dk1"/>
                </a:solidFill>
                <a:latin typeface="Trebuchet MS" panose="020B0603020202020204"/>
              </a:rPr>
              <a:t> One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Rectangle: Rounded Corners 63"/>
          <p:cNvSpPr/>
          <p:nvPr/>
        </p:nvSpPr>
        <p:spPr>
          <a:xfrm>
            <a:off x="2829600" y="4374000"/>
            <a:ext cx="4105080" cy="71820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799" name="Table 43"/>
          <p:cNvGraphicFramePr/>
          <p:nvPr/>
        </p:nvGraphicFramePr>
        <p:xfrm>
          <a:off x="416880" y="1367280"/>
          <a:ext cx="9681120" cy="4076640"/>
        </p:xfrm>
        <a:graphic>
          <a:graphicData uri="http://schemas.openxmlformats.org/drawingml/2006/table">
            <a:tbl>
              <a:tblPr/>
              <a:tblGrid>
                <a:gridCol w="815040"/>
                <a:gridCol w="705600"/>
                <a:gridCol w="92448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815040"/>
                <a:gridCol w="715680"/>
              </a:tblGrid>
              <a:tr h="683280"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 Bi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Cj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Solution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Ratio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1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Basic Varibls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highlight>
                          <a:srgbClr val="00FFFF"/>
                        </a:highlight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          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52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highlight>
                          <a:srgbClr val="00FFFF"/>
                        </a:highlight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Trebuchet MS" panose="020B0603020202020204"/>
                        </a:rPr>
                        <a:t> 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640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Trebuchet MS" panose="020B0603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416880" y="189000"/>
            <a:ext cx="859608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i="1" strike="noStrike" spc="-1">
                <a:solidFill>
                  <a:schemeClr val="accent1"/>
                </a:solidFill>
                <a:latin typeface="Trebuchet MS" panose="020B0603020202020204"/>
              </a:rPr>
              <a:t>Phase 2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01" name="Straight Arrow Connector 45"/>
          <p:cNvCxnSpPr/>
          <p:nvPr/>
        </p:nvCxnSpPr>
        <p:spPr>
          <a:xfrm>
            <a:off x="2069280" y="1928880"/>
            <a:ext cx="68292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802" name="Straight Arrow Connector 46"/>
          <p:cNvCxnSpPr/>
          <p:nvPr/>
        </p:nvCxnSpPr>
        <p:spPr>
          <a:xfrm>
            <a:off x="1285200" y="1594440"/>
            <a:ext cx="720" cy="30528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803" name="Rectangle 47"/>
          <p:cNvSpPr/>
          <p:nvPr/>
        </p:nvSpPr>
        <p:spPr>
          <a:xfrm>
            <a:off x="2126160" y="2803680"/>
            <a:ext cx="568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4" name="Rectangle 48"/>
          <p:cNvSpPr/>
          <p:nvPr/>
        </p:nvSpPr>
        <p:spPr>
          <a:xfrm>
            <a:off x="2121120" y="33562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5" name="Rectangle 49"/>
          <p:cNvSpPr/>
          <p:nvPr/>
        </p:nvSpPr>
        <p:spPr>
          <a:xfrm>
            <a:off x="1291680" y="276948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6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6" name="Rectangle 50"/>
          <p:cNvSpPr/>
          <p:nvPr/>
        </p:nvSpPr>
        <p:spPr>
          <a:xfrm>
            <a:off x="1227960" y="3372120"/>
            <a:ext cx="6843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7" name="Rectangle 51"/>
          <p:cNvSpPr/>
          <p:nvPr/>
        </p:nvSpPr>
        <p:spPr>
          <a:xfrm>
            <a:off x="2107800" y="3868920"/>
            <a:ext cx="545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8" name="Rectangle 52"/>
          <p:cNvSpPr/>
          <p:nvPr/>
        </p:nvSpPr>
        <p:spPr>
          <a:xfrm>
            <a:off x="1804680" y="4424400"/>
            <a:ext cx="1211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Cj - Zj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9" name="Rectangle 53"/>
          <p:cNvSpPr/>
          <p:nvPr/>
        </p:nvSpPr>
        <p:spPr>
          <a:xfrm>
            <a:off x="2873520" y="2166840"/>
            <a:ext cx="606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x1     x2       x3    s1       s2     **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0" name="Rectangle 54"/>
          <p:cNvSpPr/>
          <p:nvPr/>
        </p:nvSpPr>
        <p:spPr>
          <a:xfrm>
            <a:off x="9385920" y="280368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1" name="Rectangle 55"/>
          <p:cNvSpPr/>
          <p:nvPr/>
        </p:nvSpPr>
        <p:spPr>
          <a:xfrm>
            <a:off x="9327960" y="3391920"/>
            <a:ext cx="749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000" b="0" i="1" strike="noStrike" spc="-1">
                <a:solidFill>
                  <a:schemeClr val="dk1"/>
                </a:solidFill>
                <a:latin typeface="Trebuchet MS" panose="020B0603020202020204"/>
              </a:rPr>
              <a:t>**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2" name="Rectangle 56"/>
          <p:cNvSpPr/>
          <p:nvPr/>
        </p:nvSpPr>
        <p:spPr>
          <a:xfrm>
            <a:off x="2873520" y="1504080"/>
            <a:ext cx="565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10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  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6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  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2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 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   </a:t>
            </a:r>
            <a:r>
              <a:rPr lang="en-US" sz="2400" b="0" i="1" strike="noStrike" spc="-1">
                <a:solidFill>
                  <a:schemeClr val="dk1"/>
                </a:solidFill>
                <a:highlight>
                  <a:srgbClr val="FFFF00"/>
                </a:highlight>
                <a:latin typeface="Trebuchet MS" panose="020B0603020202020204"/>
              </a:rPr>
              <a:t>0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     **      **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3" name="Rectangle 57"/>
          <p:cNvSpPr/>
          <p:nvPr/>
        </p:nvSpPr>
        <p:spPr>
          <a:xfrm>
            <a:off x="2779200" y="281700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1      1/2   -3/4  -1/4     **     **      5/4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4" name="Rectangle 58"/>
          <p:cNvSpPr/>
          <p:nvPr/>
        </p:nvSpPr>
        <p:spPr>
          <a:xfrm>
            <a:off x="2873520" y="3335400"/>
            <a:ext cx="7285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       0     -1/2   1/4   -1/4     **      **     1/4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5" name="Rectangle 59"/>
          <p:cNvSpPr/>
          <p:nvPr/>
        </p:nvSpPr>
        <p:spPr>
          <a:xfrm>
            <a:off x="2858040" y="3920400"/>
            <a:ext cx="7219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10      6       -2      -2      -4                      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6" name="Rectangle 60"/>
          <p:cNvSpPr/>
          <p:nvPr/>
        </p:nvSpPr>
        <p:spPr>
          <a:xfrm>
            <a:off x="2831040" y="4466520"/>
            <a:ext cx="7304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   </a:t>
            </a:r>
            <a:r>
              <a:rPr lang="en-US" sz="2400" b="0" i="1" strike="noStrike" spc="-1">
                <a:solidFill>
                  <a:schemeClr val="dk1"/>
                </a:solidFill>
                <a:latin typeface="Trebuchet MS" panose="020B0603020202020204"/>
              </a:rPr>
              <a:t>0       0       4       2       4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7" name="Rectangle 61"/>
          <p:cNvSpPr/>
          <p:nvPr/>
        </p:nvSpPr>
        <p:spPr>
          <a:xfrm>
            <a:off x="416880" y="870120"/>
            <a:ext cx="8596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chemeClr val="dk1"/>
                </a:solidFill>
                <a:latin typeface="Trebuchet MS" panose="020B0603020202020204"/>
              </a:rPr>
              <a:t>Minimize </a:t>
            </a:r>
            <a:r>
              <a:rPr lang="en-US" sz="2400" b="1" i="1" strike="noStrike" spc="-1">
                <a:solidFill>
                  <a:schemeClr val="dk1"/>
                </a:solidFill>
                <a:latin typeface="Trebuchet MS" panose="020B0603020202020204"/>
              </a:rPr>
              <a:t>Z = 10 x1 + 6 x2 + 2 x3 + 0 s1 + 0 s2 + a1 + a2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8" name="Rectangle 62"/>
          <p:cNvSpPr/>
          <p:nvPr/>
        </p:nvSpPr>
        <p:spPr>
          <a:xfrm>
            <a:off x="680760" y="5187960"/>
            <a:ext cx="28796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highlight>
                  <a:srgbClr val="00FFFF"/>
                </a:highlight>
                <a:latin typeface="Trebuchet MS" panose="020B0603020202020204"/>
              </a:rPr>
              <a:t>Optimality Condition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For Minimization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All Cj – Zj &gt;= 0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819" name="Group 64"/>
          <p:cNvGrpSpPr/>
          <p:nvPr/>
        </p:nvGrpSpPr>
        <p:grpSpPr>
          <a:xfrm>
            <a:off x="5520600" y="5080320"/>
            <a:ext cx="5078880" cy="1659240"/>
            <a:chOff x="5520600" y="5080320"/>
            <a:chExt cx="5078880" cy="1659240"/>
          </a:xfrm>
        </p:grpSpPr>
        <p:sp>
          <p:nvSpPr>
            <p:cNvPr id="820" name="Content Placeholder 2"/>
            <p:cNvSpPr/>
            <p:nvPr/>
          </p:nvSpPr>
          <p:spPr>
            <a:xfrm>
              <a:off x="5520600" y="5080320"/>
              <a:ext cx="2513160" cy="16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x1 = 1/4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x2 = 5/4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 </a:t>
              </a:r>
              <a:r>
                <a:rPr lang="en-US" sz="2800" b="0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x3 = 0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821" name="Content Placeholder 2"/>
            <p:cNvSpPr/>
            <p:nvPr/>
          </p:nvSpPr>
          <p:spPr>
            <a:xfrm>
              <a:off x="8086320" y="5080320"/>
              <a:ext cx="2513160" cy="165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342900" indent="-342900" defTabSz="457200">
                <a:lnSpc>
                  <a:spcPct val="100000"/>
                </a:lnSpc>
                <a:spcBef>
                  <a:spcPts val="1000"/>
                </a:spcBef>
                <a:buClr>
                  <a:srgbClr val="5FCBEF"/>
                </a:buClr>
                <a:buSzPct val="80000"/>
                <a:buFont typeface="Wingdings 3" panose="05040102010807070707" charset="2"/>
                <a:buChar char=""/>
              </a:pPr>
              <a:r>
                <a:rPr lang="en-US" sz="2800" b="0" i="1" strike="noStrike" spc="-1">
                  <a:solidFill>
                    <a:schemeClr val="dk1">
                      <a:lumMod val="75000"/>
                      <a:lumOff val="25000"/>
                    </a:schemeClr>
                  </a:solidFill>
                  <a:latin typeface="Trebuchet MS" panose="020B0603020202020204"/>
                </a:rPr>
                <a:t>Z = 10</a:t>
              </a:r>
              <a:endParaRPr lang="en-US" sz="2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Title 1"/>
          <p:cNvSpPr/>
          <p:nvPr/>
        </p:nvSpPr>
        <p:spPr>
          <a:xfrm>
            <a:off x="1338480" y="1911960"/>
            <a:ext cx="8596080" cy="30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6000" b="0" strike="noStrike" spc="-1">
                <a:solidFill>
                  <a:schemeClr val="dk1"/>
                </a:solidFill>
                <a:latin typeface="Trebuchet MS" panose="020B0603020202020204"/>
              </a:rPr>
              <a:t>Additional Example for Simplex Method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Example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/>
          </p:nvPr>
        </p:nvSpPr>
        <p:spPr>
          <a:xfrm>
            <a:off x="677160" y="164916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1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Maximize Z = 2 x1 -  x2 + 2 x3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  <a:ea typeface="Cambria Math" panose="02040503050406030204"/>
              </a:rPr>
              <a:t>               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Subject to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Constraints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2 x1 + x2 &lt;= 10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x1 + 2 x2 – 2 x3 &lt;= 20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x1 + 2 x3 &lt;= 5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ambria Math" panose="02040503050406030204"/>
                <a:ea typeface="Cambria Math" panose="02040503050406030204"/>
              </a:rPr>
              <a:t>x1, x2, x3  &gt;= 0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677160" y="156240"/>
            <a:ext cx="1002744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Convert all inequality constraints </a:t>
            </a:r>
            <a:br>
              <a:rPr sz="3600"/>
            </a:b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into equality (use slack variables)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/>
          </p:nvPr>
        </p:nvSpPr>
        <p:spPr>
          <a:xfrm>
            <a:off x="677160" y="1499400"/>
            <a:ext cx="8596080" cy="62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Let’s add Slack Variables to Constraints &amp; Objective Function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7" name="Rectangle 3"/>
          <p:cNvSpPr/>
          <p:nvPr/>
        </p:nvSpPr>
        <p:spPr>
          <a:xfrm>
            <a:off x="811080" y="2053080"/>
            <a:ext cx="609516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2 x1 + x2  +S1 = 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x2 – 2 x3  + S2 = 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x3 + S3 = 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x1, x2, x3, S1, S2, S3  &gt;= 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8" name="Content Placeholder 2"/>
          <p:cNvSpPr/>
          <p:nvPr/>
        </p:nvSpPr>
        <p:spPr>
          <a:xfrm>
            <a:off x="677160" y="4210560"/>
            <a:ext cx="8596080" cy="624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We need to Add these Slack variables to the </a:t>
            </a:r>
            <a:r>
              <a:rPr lang="en-US" sz="1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Objective Function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too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9" name="Rectangle 5"/>
          <p:cNvSpPr/>
          <p:nvPr/>
        </p:nvSpPr>
        <p:spPr>
          <a:xfrm>
            <a:off x="677160" y="4835520"/>
            <a:ext cx="92300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2 x1 -  x2 + 2 x3+ 0 s1 + 0 s2 + 0 s3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Rectangle: Rounded Corners 25"/>
          <p:cNvSpPr/>
          <p:nvPr/>
        </p:nvSpPr>
        <p:spPr>
          <a:xfrm>
            <a:off x="2491560" y="1216800"/>
            <a:ext cx="681480" cy="33670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831" name="Speech Bubble: Oval 26"/>
          <p:cNvSpPr/>
          <p:nvPr/>
        </p:nvSpPr>
        <p:spPr>
          <a:xfrm>
            <a:off x="3745440" y="4991760"/>
            <a:ext cx="1755360" cy="637200"/>
          </a:xfrm>
          <a:prstGeom prst="wedgeEllipseCallout">
            <a:avLst>
              <a:gd name="adj1" fmla="val -94992"/>
              <a:gd name="adj2" fmla="val -14689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832" name="Table 3"/>
          <p:cNvGraphicFramePr/>
          <p:nvPr/>
        </p:nvGraphicFramePr>
        <p:xfrm>
          <a:off x="612360" y="1427040"/>
          <a:ext cx="8532720" cy="2849040"/>
        </p:xfrm>
        <a:graphic>
          <a:graphicData uri="http://schemas.openxmlformats.org/drawingml/2006/table">
            <a:tbl>
              <a:tblPr/>
              <a:tblGrid>
                <a:gridCol w="652680"/>
                <a:gridCol w="1171080"/>
                <a:gridCol w="736560"/>
                <a:gridCol w="853200"/>
                <a:gridCol w="853200"/>
                <a:gridCol w="853200"/>
                <a:gridCol w="853200"/>
                <a:gridCol w="853200"/>
                <a:gridCol w="853200"/>
                <a:gridCol w="853200"/>
              </a:tblGrid>
              <a:tr h="4363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 Bi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 </a:t>
                      </a: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Soln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Ratio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788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Basic Variables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87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Cj-Zj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612360" y="9504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Develop Initial Simplex Table 1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34" name="Rectangle 12"/>
          <p:cNvSpPr/>
          <p:nvPr/>
        </p:nvSpPr>
        <p:spPr>
          <a:xfrm>
            <a:off x="612360" y="693720"/>
            <a:ext cx="96037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2 x1 -  x2 + 2 x3+ 0 s1 + 0 s2 + 0 s3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35" name="Straight Arrow Connector 14"/>
          <p:cNvCxnSpPr/>
          <p:nvPr/>
        </p:nvCxnSpPr>
        <p:spPr>
          <a:xfrm>
            <a:off x="1547640" y="1505520"/>
            <a:ext cx="68256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836" name="Straight Arrow Connector 16"/>
          <p:cNvCxnSpPr/>
          <p:nvPr/>
        </p:nvCxnSpPr>
        <p:spPr>
          <a:xfrm>
            <a:off x="705960" y="142668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837" name="Rectangle 34"/>
          <p:cNvSpPr/>
          <p:nvPr/>
        </p:nvSpPr>
        <p:spPr>
          <a:xfrm>
            <a:off x="687240" y="5415840"/>
            <a:ext cx="4073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2 x1 + x2  +S1 = 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x2 – 2 x3  + S2 = 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x3 + S3 = 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38" name="Rectangle 38"/>
          <p:cNvSpPr/>
          <p:nvPr/>
        </p:nvSpPr>
        <p:spPr>
          <a:xfrm>
            <a:off x="4623480" y="6212520"/>
            <a:ext cx="435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For Maximization, Cj – Zj &lt;=0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Reach Optimality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0" name="Content Placeholder 2"/>
          <p:cNvSpPr/>
          <p:nvPr/>
        </p:nvSpPr>
        <p:spPr>
          <a:xfrm>
            <a:off x="677160" y="1414440"/>
            <a:ext cx="8596080" cy="4028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Select the 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Trebuchet MS" panose="020B0603020202020204"/>
              </a:rPr>
              <a:t>Maximum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Value of Cj – Zj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column of Maximum Cj – Zj value becomes the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Column</a:t>
            </a: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Find the </a:t>
            </a:r>
            <a:r>
              <a:rPr lang="en-US" sz="2800" b="0" i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Ratio = Solution / Key Column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Row with Minimum Value of Ratio is called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Row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457200">
              <a:lnSpc>
                <a:spcPct val="100000"/>
              </a:lnSpc>
              <a:spcBef>
                <a:spcPts val="1000"/>
              </a:spcBef>
              <a:buClr>
                <a:srgbClr val="5FCBEF"/>
              </a:buClr>
              <a:buSzPct val="80000"/>
              <a:buFont typeface="Wingdings 3" panose="05040102010807070707" charset="2"/>
              <a:buChar char=""/>
            </a:pPr>
            <a:r>
              <a:rPr lang="en-US" sz="2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The intersection Point is called </a:t>
            </a:r>
            <a:r>
              <a:rPr lang="en-US" sz="2800" b="1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 panose="020B0603020202020204"/>
              </a:rPr>
              <a:t>Key Element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Rectangle: Rounded Corners 10"/>
          <p:cNvSpPr/>
          <p:nvPr/>
        </p:nvSpPr>
        <p:spPr>
          <a:xfrm>
            <a:off x="1253880" y="2386800"/>
            <a:ext cx="8433360" cy="45936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842" name="Rectangle: Rounded Corners 25"/>
          <p:cNvSpPr/>
          <p:nvPr/>
        </p:nvSpPr>
        <p:spPr>
          <a:xfrm>
            <a:off x="2491560" y="1216800"/>
            <a:ext cx="681480" cy="33670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843" name="Speech Bubble: Oval 26"/>
          <p:cNvSpPr/>
          <p:nvPr/>
        </p:nvSpPr>
        <p:spPr>
          <a:xfrm>
            <a:off x="3745440" y="4991760"/>
            <a:ext cx="1755360" cy="637200"/>
          </a:xfrm>
          <a:prstGeom prst="wedgeEllipseCallout">
            <a:avLst>
              <a:gd name="adj1" fmla="val -94992"/>
              <a:gd name="adj2" fmla="val -14689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Most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844" name="Table 3"/>
          <p:cNvGraphicFramePr/>
          <p:nvPr/>
        </p:nvGraphicFramePr>
        <p:xfrm>
          <a:off x="612360" y="1427040"/>
          <a:ext cx="8532720" cy="2849040"/>
        </p:xfrm>
        <a:graphic>
          <a:graphicData uri="http://schemas.openxmlformats.org/drawingml/2006/table">
            <a:tbl>
              <a:tblPr/>
              <a:tblGrid>
                <a:gridCol w="652680"/>
                <a:gridCol w="1171080"/>
                <a:gridCol w="736560"/>
                <a:gridCol w="853200"/>
                <a:gridCol w="853200"/>
                <a:gridCol w="853200"/>
                <a:gridCol w="853200"/>
                <a:gridCol w="853200"/>
                <a:gridCol w="853200"/>
                <a:gridCol w="853200"/>
              </a:tblGrid>
              <a:tr h="4363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 Bi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 </a:t>
                      </a: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Soln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Ratio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788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Basic Variables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87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Cj-Zj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612360" y="9504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Step – Develop Initial Simplex Table 1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6" name="Rectangle 12"/>
          <p:cNvSpPr/>
          <p:nvPr/>
        </p:nvSpPr>
        <p:spPr>
          <a:xfrm>
            <a:off x="612360" y="693720"/>
            <a:ext cx="96037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0"/>
              </a:spcBef>
            </a:pPr>
            <a:r>
              <a:rPr lang="en-US" sz="2800" b="1" strike="noStrike" spc="-1">
                <a:solidFill>
                  <a:srgbClr val="404040"/>
                </a:solidFill>
                <a:latin typeface="Trebuchet MS" panose="020B0603020202020204"/>
              </a:rPr>
              <a:t>Maximize </a:t>
            </a:r>
            <a:r>
              <a:rPr lang="en-US" sz="2800" b="1" i="1" strike="noStrike" spc="-1">
                <a:solidFill>
                  <a:srgbClr val="404040"/>
                </a:solidFill>
                <a:latin typeface="Trebuchet MS" panose="020B0603020202020204"/>
              </a:rPr>
              <a:t>Z = 2 x1 -  x2 + 2 x3+ 0 s1 + 0 s2 + 0 s3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47" name="Straight Arrow Connector 14"/>
          <p:cNvCxnSpPr/>
          <p:nvPr/>
        </p:nvCxnSpPr>
        <p:spPr>
          <a:xfrm>
            <a:off x="1547640" y="1505520"/>
            <a:ext cx="682560" cy="72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cxnSp>
        <p:nvCxnSpPr>
          <p:cNvPr id="848" name="Straight Arrow Connector 16"/>
          <p:cNvCxnSpPr/>
          <p:nvPr/>
        </p:nvCxnSpPr>
        <p:spPr>
          <a:xfrm>
            <a:off x="705960" y="1426680"/>
            <a:ext cx="720" cy="305640"/>
          </a:xfrm>
          <a:prstGeom prst="straightConnector1">
            <a:avLst/>
          </a:prstGeom>
          <a:ln w="38100" cap="rnd">
            <a:solidFill>
              <a:srgbClr val="5FCBEF"/>
            </a:solidFill>
            <a:round/>
            <a:tailEnd type="triangle" w="med" len="med"/>
          </a:ln>
        </p:spPr>
      </p:cxnSp>
      <p:sp>
        <p:nvSpPr>
          <p:cNvPr id="849" name="Rectangle 34"/>
          <p:cNvSpPr/>
          <p:nvPr/>
        </p:nvSpPr>
        <p:spPr>
          <a:xfrm>
            <a:off x="687240" y="5415840"/>
            <a:ext cx="4073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2 x1 + x2  +S1 = 10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x2 – 2 x3  + S2 = 20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x1 + 2 x3 + S3 = 5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0" name="Rectangle 38"/>
          <p:cNvSpPr/>
          <p:nvPr/>
        </p:nvSpPr>
        <p:spPr>
          <a:xfrm>
            <a:off x="4880160" y="5892120"/>
            <a:ext cx="435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For Maximization, Cj – Zj &lt;=0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1" name="Speech Bubble: Oval 11"/>
          <p:cNvSpPr/>
          <p:nvPr/>
        </p:nvSpPr>
        <p:spPr>
          <a:xfrm>
            <a:off x="9700560" y="3134880"/>
            <a:ext cx="1846800" cy="629640"/>
          </a:xfrm>
          <a:prstGeom prst="wedgeEllipseCallout">
            <a:avLst>
              <a:gd name="adj1" fmla="val -59309"/>
              <a:gd name="adj2" fmla="val -98408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rebuchet MS" panose="020B0603020202020204"/>
              </a:rPr>
              <a:t>Least Positive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Rectangle: Rounded Corners 92"/>
          <p:cNvSpPr/>
          <p:nvPr/>
        </p:nvSpPr>
        <p:spPr>
          <a:xfrm>
            <a:off x="1428120" y="4783320"/>
            <a:ext cx="8084520" cy="45936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853" name="Rectangle: Rounded Corners 91"/>
          <p:cNvSpPr/>
          <p:nvPr/>
        </p:nvSpPr>
        <p:spPr>
          <a:xfrm>
            <a:off x="4069800" y="3757680"/>
            <a:ext cx="681480" cy="268128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graphicFrame>
        <p:nvGraphicFramePr>
          <p:cNvPr id="854" name="Table 3"/>
          <p:cNvGraphicFramePr/>
          <p:nvPr/>
        </p:nvGraphicFramePr>
        <p:xfrm>
          <a:off x="612360" y="775440"/>
          <a:ext cx="8532720" cy="5379840"/>
        </p:xfrm>
        <a:graphic>
          <a:graphicData uri="http://schemas.openxmlformats.org/drawingml/2006/table">
            <a:tbl>
              <a:tblPr/>
              <a:tblGrid>
                <a:gridCol w="652680"/>
                <a:gridCol w="1171080"/>
                <a:gridCol w="736560"/>
                <a:gridCol w="853200"/>
                <a:gridCol w="853200"/>
                <a:gridCol w="853200"/>
                <a:gridCol w="853200"/>
                <a:gridCol w="853200"/>
                <a:gridCol w="853200"/>
                <a:gridCol w="853200"/>
              </a:tblGrid>
              <a:tr h="4363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 Bi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 </a:t>
                      </a: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Soln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Ratio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788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Basic Variables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544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87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Cj-Zj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Infy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3/2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15/2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Cj-Zj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612360" y="9504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Iteration 2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6" name="Rectangle 13"/>
          <p:cNvSpPr/>
          <p:nvPr/>
        </p:nvSpPr>
        <p:spPr>
          <a:xfrm>
            <a:off x="9209160" y="3757680"/>
            <a:ext cx="20034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New x1 = old values / Key Element 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57" name="Straight Connector 4"/>
          <p:cNvCxnSpPr/>
          <p:nvPr/>
        </p:nvCxnSpPr>
        <p:spPr>
          <a:xfrm>
            <a:off x="225360" y="3757680"/>
            <a:ext cx="9695880" cy="720"/>
          </a:xfrm>
          <a:prstGeom prst="straightConnector1">
            <a:avLst/>
          </a:prstGeom>
          <a:ln w="38100" cap="rnd">
            <a:solidFill>
              <a:srgbClr val="000000"/>
            </a:solidFill>
            <a:round/>
          </a:ln>
        </p:spPr>
      </p:cxnSp>
      <p:sp>
        <p:nvSpPr>
          <p:cNvPr id="858" name="Rectangle 17"/>
          <p:cNvSpPr/>
          <p:nvPr/>
        </p:nvSpPr>
        <p:spPr>
          <a:xfrm rot="16200000">
            <a:off x="-375480" y="2100240"/>
            <a:ext cx="1510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Iteration 1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9" name="Rectangle 18"/>
          <p:cNvSpPr/>
          <p:nvPr/>
        </p:nvSpPr>
        <p:spPr>
          <a:xfrm rot="16200000">
            <a:off x="-375480" y="4682880"/>
            <a:ext cx="1510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Iteration 2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0" name="Rectangle 20"/>
          <p:cNvSpPr/>
          <p:nvPr/>
        </p:nvSpPr>
        <p:spPr>
          <a:xfrm>
            <a:off x="9209160" y="4433760"/>
            <a:ext cx="253224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strike="noStrike" spc="-1">
                <a:solidFill>
                  <a:schemeClr val="dk1"/>
                </a:solidFill>
                <a:latin typeface="Trebuchet MS" panose="020B0603020202020204"/>
              </a:rPr>
              <a:t>New s2 = Old Value – Corresponding Key Col Value * New x1 Value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861" name="Group 90"/>
          <p:cNvGrpSpPr/>
          <p:nvPr/>
        </p:nvGrpSpPr>
        <p:grpSpPr>
          <a:xfrm>
            <a:off x="3782520" y="928080"/>
            <a:ext cx="6734520" cy="1396440"/>
            <a:chOff x="3782520" y="928080"/>
            <a:chExt cx="6734520" cy="1396440"/>
          </a:xfrm>
        </p:grpSpPr>
        <p:cxnSp>
          <p:nvCxnSpPr>
            <p:cNvPr id="862" name="Connector: Elbow 7"/>
            <p:cNvCxnSpPr/>
            <p:nvPr/>
          </p:nvCxnSpPr>
          <p:spPr>
            <a:xfrm flipV="1">
              <a:off x="3782520" y="928080"/>
              <a:ext cx="6734880" cy="1396800"/>
            </a:xfrm>
            <a:prstGeom prst="bentConnector2">
              <a:avLst/>
            </a:prstGeom>
            <a:ln w="28575" cap="rnd">
              <a:solidFill>
                <a:srgbClr val="002060"/>
              </a:solidFill>
              <a:round/>
              <a:tailEnd type="triangle" w="med" len="med"/>
            </a:ln>
          </p:spPr>
        </p:cxnSp>
        <p:cxnSp>
          <p:nvCxnSpPr>
            <p:cNvPr id="863" name="Straight Arrow Connector 46"/>
            <p:cNvCxnSpPr/>
            <p:nvPr/>
          </p:nvCxnSpPr>
          <p:spPr>
            <a:xfrm>
              <a:off x="10516680" y="928080"/>
              <a:ext cx="720" cy="716040"/>
            </a:xfrm>
            <a:prstGeom prst="straightConnector1">
              <a:avLst/>
            </a:prstGeom>
            <a:ln w="28575" cap="rnd">
              <a:solidFill>
                <a:srgbClr val="002060"/>
              </a:solidFill>
              <a:round/>
              <a:tailEnd type="triangle" w="med" len="med"/>
            </a:ln>
          </p:spPr>
        </p:cxnSp>
      </p:grpSp>
      <p:grpSp>
        <p:nvGrpSpPr>
          <p:cNvPr id="864" name="Group 89"/>
          <p:cNvGrpSpPr/>
          <p:nvPr/>
        </p:nvGrpSpPr>
        <p:grpSpPr>
          <a:xfrm>
            <a:off x="2982960" y="613440"/>
            <a:ext cx="7896600" cy="1751040"/>
            <a:chOff x="2982960" y="613440"/>
            <a:chExt cx="7896600" cy="1751040"/>
          </a:xfrm>
        </p:grpSpPr>
        <p:cxnSp>
          <p:nvCxnSpPr>
            <p:cNvPr id="865" name="Connector: Elbow 56"/>
            <p:cNvCxnSpPr/>
            <p:nvPr/>
          </p:nvCxnSpPr>
          <p:spPr>
            <a:xfrm flipV="1">
              <a:off x="2982960" y="624960"/>
              <a:ext cx="7896960" cy="1739880"/>
            </a:xfrm>
            <a:prstGeom prst="bentConnector2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  <p:cxnSp>
          <p:nvCxnSpPr>
            <p:cNvPr id="866" name="Straight Arrow Connector 57"/>
            <p:cNvCxnSpPr/>
            <p:nvPr/>
          </p:nvCxnSpPr>
          <p:spPr>
            <a:xfrm>
              <a:off x="10856520" y="613440"/>
              <a:ext cx="15840" cy="100008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med" len="med"/>
            </a:ln>
          </p:spPr>
        </p:cxnSp>
      </p:grpSp>
      <p:grpSp>
        <p:nvGrpSpPr>
          <p:cNvPr id="867" name="Group 88"/>
          <p:cNvGrpSpPr/>
          <p:nvPr/>
        </p:nvGrpSpPr>
        <p:grpSpPr>
          <a:xfrm>
            <a:off x="3782520" y="232560"/>
            <a:ext cx="7461720" cy="3817800"/>
            <a:chOff x="3782520" y="232560"/>
            <a:chExt cx="7461720" cy="3817800"/>
          </a:xfrm>
        </p:grpSpPr>
        <p:cxnSp>
          <p:nvCxnSpPr>
            <p:cNvPr id="868" name="Connector: Elbow 62"/>
            <p:cNvCxnSpPr/>
            <p:nvPr/>
          </p:nvCxnSpPr>
          <p:spPr>
            <a:xfrm flipV="1">
              <a:off x="3782520" y="232560"/>
              <a:ext cx="7462080" cy="3818160"/>
            </a:xfrm>
            <a:prstGeom prst="bentConnector2">
              <a:avLst/>
            </a:prstGeom>
            <a:ln w="28575" cap="rnd">
              <a:solidFill>
                <a:srgbClr val="00B050"/>
              </a:solidFill>
              <a:round/>
              <a:tailEnd type="triangle" w="med" len="med"/>
            </a:ln>
          </p:spPr>
        </p:cxnSp>
        <p:cxnSp>
          <p:nvCxnSpPr>
            <p:cNvPr id="869" name="Straight Arrow Connector 63"/>
            <p:cNvCxnSpPr/>
            <p:nvPr/>
          </p:nvCxnSpPr>
          <p:spPr>
            <a:xfrm>
              <a:off x="11243880" y="232560"/>
              <a:ext cx="720" cy="1380960"/>
            </a:xfrm>
            <a:prstGeom prst="straightConnector1">
              <a:avLst/>
            </a:prstGeom>
            <a:ln w="28575" cap="rnd">
              <a:solidFill>
                <a:srgbClr val="00B050"/>
              </a:solidFill>
              <a:round/>
              <a:tailEnd type="triangle" w="med" len="med"/>
            </a:ln>
          </p:spPr>
        </p:cxnSp>
      </p:grpSp>
      <p:sp>
        <p:nvSpPr>
          <p:cNvPr id="870" name="Speech Bubble: Rectangle 70"/>
          <p:cNvSpPr/>
          <p:nvPr/>
        </p:nvSpPr>
        <p:spPr>
          <a:xfrm>
            <a:off x="9343800" y="1674000"/>
            <a:ext cx="2597760" cy="419040"/>
          </a:xfrm>
          <a:prstGeom prst="wedgeRectCallout">
            <a:avLst>
              <a:gd name="adj1" fmla="val -257860"/>
              <a:gd name="adj2" fmla="val 617066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i="1" strike="noStrike" spc="-1">
                <a:solidFill>
                  <a:schemeClr val="dk1"/>
                </a:solidFill>
                <a:latin typeface="Trebuchet MS" panose="020B0603020202020204"/>
              </a:rPr>
              <a:t>New s2 = </a:t>
            </a:r>
            <a:r>
              <a:rPr lang="en-US" sz="1800" b="1" i="1" strike="noStrike" spc="-1">
                <a:solidFill>
                  <a:srgbClr val="002060"/>
                </a:solidFill>
                <a:latin typeface="Trebuchet MS" panose="020B0603020202020204"/>
              </a:rPr>
              <a:t>2</a:t>
            </a:r>
            <a:r>
              <a:rPr lang="en-US" sz="1800" b="1" i="1" strike="noStrike" spc="-1">
                <a:solidFill>
                  <a:schemeClr val="dk1"/>
                </a:solidFill>
                <a:latin typeface="Trebuchet MS" panose="020B0603020202020204"/>
              </a:rPr>
              <a:t> – </a:t>
            </a:r>
            <a:r>
              <a:rPr lang="en-US" sz="1800" b="1" i="1" strike="noStrike" spc="-1">
                <a:solidFill>
                  <a:srgbClr val="FF0000"/>
                </a:solidFill>
                <a:latin typeface="Trebuchet MS" panose="020B0603020202020204"/>
              </a:rPr>
              <a:t>1</a:t>
            </a:r>
            <a:r>
              <a:rPr lang="en-US" sz="1800" b="1" i="1" strike="noStrike" spc="-1">
                <a:solidFill>
                  <a:schemeClr val="dk1"/>
                </a:solidFill>
                <a:latin typeface="Trebuchet MS" panose="020B0603020202020204"/>
              </a:rPr>
              <a:t> * </a:t>
            </a:r>
            <a:r>
              <a:rPr lang="en-US" sz="1800" b="1" i="1" strike="noStrike" spc="-1">
                <a:solidFill>
                  <a:srgbClr val="00B050"/>
                </a:solidFill>
                <a:latin typeface="Trebuchet MS" panose="020B0603020202020204"/>
              </a:rPr>
              <a:t>1/2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Rectangle: Rounded Corners 92"/>
          <p:cNvSpPr/>
          <p:nvPr/>
        </p:nvSpPr>
        <p:spPr>
          <a:xfrm>
            <a:off x="2247840" y="3863520"/>
            <a:ext cx="7421400" cy="45936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rebuchet MS" panose="020B0603020202020204"/>
            </a:endParaRPr>
          </a:p>
        </p:txBody>
      </p:sp>
      <p:sp>
        <p:nvSpPr>
          <p:cNvPr id="872" name="Rectangle: Rounded Corners 91"/>
          <p:cNvSpPr/>
          <p:nvPr/>
        </p:nvSpPr>
        <p:spPr>
          <a:xfrm>
            <a:off x="5219280" y="4604400"/>
            <a:ext cx="2001960" cy="1281960"/>
          </a:xfrm>
          <a:prstGeom prst="roundRect">
            <a:avLst>
              <a:gd name="adj" fmla="val 16667"/>
            </a:avLst>
          </a:prstGeom>
          <a:solidFill>
            <a:srgbClr val="5FCBEF"/>
          </a:solidFill>
          <a:ln cap="rnd">
            <a:solidFill>
              <a:srgbClr val="4696B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en-US" sz="1800" b="0" strike="noStrike" spc="-1">
                <a:solidFill>
                  <a:schemeClr val="dk1"/>
                </a:solidFill>
                <a:latin typeface="Trebuchet MS" panose="020B0603020202020204"/>
              </a:rPr>
              <a:t>Final Solution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</a:pP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x1 = 2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</a:pP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x</a:t>
            </a:r>
            <a:r>
              <a:rPr lang="en-US" sz="1800" b="0" strike="noStrike" spc="-1">
                <a:solidFill>
                  <a:schemeClr val="dk1"/>
                </a:solidFill>
                <a:latin typeface="Trebuchet MS" panose="020B0603020202020204"/>
              </a:rPr>
              <a:t>3</a:t>
            </a: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 = </a:t>
            </a:r>
            <a:r>
              <a:rPr lang="en-US" sz="1800" b="0" strike="noStrike" spc="-1">
                <a:solidFill>
                  <a:schemeClr val="dk1"/>
                </a:solidFill>
                <a:latin typeface="Trebuchet MS" panose="020B0603020202020204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</a:pP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 </a:t>
            </a:r>
            <a:r>
              <a:rPr lang="pl-PL" sz="1800" b="0" strike="noStrike" spc="-1">
                <a:solidFill>
                  <a:schemeClr val="dk1"/>
                </a:solidFill>
                <a:latin typeface="Trebuchet MS" panose="020B0603020202020204"/>
              </a:rPr>
              <a:t>Z = 1</a:t>
            </a:r>
            <a:r>
              <a:rPr lang="en-US" sz="1800" b="0" strike="noStrike" spc="-1">
                <a:solidFill>
                  <a:schemeClr val="dk1"/>
                </a:solidFill>
                <a:latin typeface="Trebuchet MS" panose="020B0603020202020204"/>
              </a:rPr>
              <a:t>0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873" name="Table 3"/>
          <p:cNvGraphicFramePr/>
          <p:nvPr/>
        </p:nvGraphicFramePr>
        <p:xfrm>
          <a:off x="612360" y="775440"/>
          <a:ext cx="8532720" cy="3465000"/>
        </p:xfrm>
        <a:graphic>
          <a:graphicData uri="http://schemas.openxmlformats.org/drawingml/2006/table">
            <a:tbl>
              <a:tblPr/>
              <a:tblGrid>
                <a:gridCol w="652680"/>
                <a:gridCol w="1171080"/>
                <a:gridCol w="736560"/>
                <a:gridCol w="853200"/>
                <a:gridCol w="853200"/>
                <a:gridCol w="853200"/>
                <a:gridCol w="853200"/>
                <a:gridCol w="853200"/>
                <a:gridCol w="853200"/>
                <a:gridCol w="853200"/>
              </a:tblGrid>
              <a:tr h="43632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 Bi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 </a:t>
                      </a: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Soln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Ratio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788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Basic Variables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S2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x3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½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6160"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Cj-Zj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-3/2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-1/2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-1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612360" y="95040"/>
            <a:ext cx="8596080" cy="7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>
                <a:solidFill>
                  <a:schemeClr val="accent1"/>
                </a:solidFill>
                <a:latin typeface="Trebuchet MS" panose="020B0603020202020204"/>
              </a:rPr>
              <a:t>Iteration 2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75" name="Straight Connector 4"/>
          <p:cNvCxnSpPr/>
          <p:nvPr/>
        </p:nvCxnSpPr>
        <p:spPr>
          <a:xfrm>
            <a:off x="350640" y="4323240"/>
            <a:ext cx="9695880" cy="720"/>
          </a:xfrm>
          <a:prstGeom prst="straightConnector1">
            <a:avLst/>
          </a:prstGeom>
          <a:ln w="38100" cap="rnd">
            <a:solidFill>
              <a:srgbClr val="000000"/>
            </a:solidFill>
            <a:round/>
          </a:ln>
        </p:spPr>
      </p:cxnSp>
      <p:sp>
        <p:nvSpPr>
          <p:cNvPr id="876" name="Rectangle 17"/>
          <p:cNvSpPr/>
          <p:nvPr/>
        </p:nvSpPr>
        <p:spPr>
          <a:xfrm rot="16200000">
            <a:off x="-375480" y="2100240"/>
            <a:ext cx="1510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Iteration 3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77" name="Rectangle 22"/>
          <p:cNvSpPr/>
          <p:nvPr/>
        </p:nvSpPr>
        <p:spPr>
          <a:xfrm>
            <a:off x="612360" y="4542480"/>
            <a:ext cx="4357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Cambria Math" panose="02040503050406030204"/>
                <a:ea typeface="Cambria Math" panose="02040503050406030204"/>
              </a:rPr>
              <a:t>For Maximization, Cj – Zj &lt;=0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14756</Words>
  <Application>WPS Presentation</Application>
  <PresentationFormat/>
  <Paragraphs>1811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43</vt:i4>
      </vt:variant>
    </vt:vector>
  </HeadingPairs>
  <TitlesOfParts>
    <vt:vector size="71" baseType="lpstr">
      <vt:lpstr>Arial</vt:lpstr>
      <vt:lpstr>SimSun</vt:lpstr>
      <vt:lpstr>Wingdings</vt:lpstr>
      <vt:lpstr>Arial</vt:lpstr>
      <vt:lpstr>Times New Roman</vt:lpstr>
      <vt:lpstr>Trebuchet MS</vt:lpstr>
      <vt:lpstr>Symbol</vt:lpstr>
      <vt:lpstr>Wingdings 3</vt:lpstr>
      <vt:lpstr>Microsoft YaHei</vt:lpstr>
      <vt:lpstr>Arial Unicode MS</vt:lpstr>
      <vt:lpstr>Calibri</vt:lpstr>
      <vt:lpstr>Cambria Math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OPERATIONAL RESEARCH</vt:lpstr>
      <vt:lpstr>Optimization</vt:lpstr>
      <vt:lpstr>Overview</vt:lpstr>
      <vt:lpstr>LPP Using  Simplex Method</vt:lpstr>
      <vt:lpstr>Overview</vt:lpstr>
      <vt:lpstr>Example</vt:lpstr>
      <vt:lpstr>Step – Convert all inequality constraints  into equality (use slack variables)</vt:lpstr>
      <vt:lpstr>Step – Develop Initial Simplex Table </vt:lpstr>
      <vt:lpstr>Is it a Optimal Solution ?</vt:lpstr>
      <vt:lpstr>Step – Reach Optimality </vt:lpstr>
      <vt:lpstr>Step – Example </vt:lpstr>
      <vt:lpstr>First Iteration Table</vt:lpstr>
      <vt:lpstr>Iteration 1 – Find Ratio</vt:lpstr>
      <vt:lpstr>Iteration 2</vt:lpstr>
      <vt:lpstr>Final Optimality</vt:lpstr>
      <vt:lpstr>PowerPoint 演示文稿</vt:lpstr>
      <vt:lpstr>Simplex Method</vt:lpstr>
      <vt:lpstr>Example</vt:lpstr>
      <vt:lpstr>Step – Convert all inequality constraints  into equality (use slack &amp; Artificial variables)</vt:lpstr>
      <vt:lpstr>Step – Develop Initial Simplex Table </vt:lpstr>
      <vt:lpstr>Continue</vt:lpstr>
      <vt:lpstr>First Iteration Table</vt:lpstr>
      <vt:lpstr>Iteration Table</vt:lpstr>
      <vt:lpstr>Iteration Table</vt:lpstr>
      <vt:lpstr>PowerPoint 演示文稿</vt:lpstr>
      <vt:lpstr>Basic Points</vt:lpstr>
      <vt:lpstr>Example</vt:lpstr>
      <vt:lpstr>Step – Form REVISED Objective Function</vt:lpstr>
      <vt:lpstr>Phase 1</vt:lpstr>
      <vt:lpstr>Continue</vt:lpstr>
      <vt:lpstr>First Iteration Table</vt:lpstr>
      <vt:lpstr>Iteration 1 Table</vt:lpstr>
      <vt:lpstr>Iteration 2 Table</vt:lpstr>
      <vt:lpstr>PowerPoint 演示文稿</vt:lpstr>
      <vt:lpstr>Phase 2</vt:lpstr>
      <vt:lpstr>PowerPoint 演示文稿</vt:lpstr>
      <vt:lpstr>Example</vt:lpstr>
      <vt:lpstr>Step – Convert all inequality constraints  into equality (use slack variables)</vt:lpstr>
      <vt:lpstr>Step – Develop Initial Simplex Table 1 </vt:lpstr>
      <vt:lpstr>Step – Reach Optimality </vt:lpstr>
      <vt:lpstr>Step – Develop Initial Simplex Table 1 </vt:lpstr>
      <vt:lpstr>Iteration 2 </vt:lpstr>
      <vt:lpstr>Iteration 2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ankit</cp:lastModifiedBy>
  <cp:revision>726</cp:revision>
  <dcterms:created xsi:type="dcterms:W3CDTF">2019-07-10T03:56:00Z</dcterms:created>
  <dcterms:modified xsi:type="dcterms:W3CDTF">2026-07-25T04:56:13Z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0x0101008BE71CFA69A98247845C383A00253C40</vt:lpwstr>
  </property>
  <property fmtid="{D5CDD505-2E9C-101B-9397-08002B2CF9AE}" pid="4" name="Order">
    <vt:r8>1593300</vt:r8>
  </property>
  <property fmtid="{D5CDD505-2E9C-101B-9397-08002B2CF9AE}" pid="5" name="PresentationFormat">
    <vt:lpwstr>Widescreen</vt:lpwstr>
  </property>
  <property fmtid="{D5CDD505-2E9C-101B-9397-08002B2CF9AE}" pid="6" name="Slides">
    <vt:i4>43</vt:i4>
  </property>
  <property fmtid="{D5CDD505-2E9C-101B-9397-08002B2CF9AE}" pid="7" name="TriggerFlowInfo">
    <vt:lpwstr/>
  </property>
  <property fmtid="{D5CDD505-2E9C-101B-9397-08002B2CF9AE}" pid="8" name="_ExtendedDescription">
    <vt:lpwstr/>
  </property>
  <property fmtid="{D5CDD505-2E9C-101B-9397-08002B2CF9AE}" pid="9" name="_SharedFileIndex">
    <vt:lpwstr/>
  </property>
  <property fmtid="{D5CDD505-2E9C-101B-9397-08002B2CF9AE}" pid="10" name="_SourceUrl">
    <vt:lpwstr/>
  </property>
  <property fmtid="{D5CDD505-2E9C-101B-9397-08002B2CF9AE}" pid="11" name="ICV">
    <vt:lpwstr>7D877B41705B4CA9A1C31DB8B2A25216_12</vt:lpwstr>
  </property>
  <property fmtid="{D5CDD505-2E9C-101B-9397-08002B2CF9AE}" pid="12" name="KSOProductBuildVer">
    <vt:lpwstr>2057-12.2.0.23206</vt:lpwstr>
  </property>
</Properties>
</file>