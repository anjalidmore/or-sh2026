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_rels/drawing1.xml.rels" ContentType="application/vnd.openxmlformats-package.relationships+xml"/>
  <Override PartName="/ppt/diagrams/_rels/data1.xml.rels" ContentType="application/vnd.openxmlformats-package.relationships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9.png" ContentType="image/png"/>
  <Override PartName="/ppt/media/image17.png" ContentType="image/png"/>
  <Override PartName="/ppt/media/image8.png" ContentType="image/png"/>
  <Override PartName="/ppt/media/image27.png" ContentType="image/png"/>
  <Override PartName="/ppt/media/OOXDiagramDrawingRels1_1.svg" ContentType="image/svg"/>
  <Override PartName="/ppt/media/OOXDiagramDrawingRels1_3.svg" ContentType="image/svg"/>
  <Override PartName="/ppt/media/image7.png" ContentType="image/png"/>
  <Override PartName="/ppt/media/image16.png" ContentType="image/png"/>
  <Override PartName="/ppt/media/image22.png" ContentType="image/png"/>
  <Override PartName="/ppt/media/OOXDiagramDataRels1_0.png" ContentType="image/png"/>
  <Override PartName="/ppt/media/image23.png" ContentType="image/png"/>
  <Override PartName="/ppt/media/image24.png" ContentType="image/png"/>
  <Override PartName="/ppt/media/OOXDiagramDataRels1_2.png" ContentType="image/png"/>
  <Override PartName="/ppt/media/image25.png" ContentType="image/png"/>
  <Override PartName="/ppt/media/image26.png" ContentType="image/png"/>
  <Override PartName="/ppt/media/OOXDiagramDrawingRels1_0.png" ContentType="image/png"/>
  <Override PartName="/ppt/media/image28.png" ContentType="image/png"/>
  <Override PartName="/ppt/media/OOXDiagramDataRels1_3.svg" ContentType="image/sv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OOXDiagramDataRels1_1.svg" ContentType="image/svg"/>
  <Override PartName="/ppt/media/image4.png" ContentType="image/png"/>
  <Override PartName="/ppt/media/image13.png" ContentType="image/png"/>
  <Override PartName="/ppt/media/image3.png" ContentType="image/png"/>
  <Override PartName="/ppt/media/image12.png" ContentType="image/png"/>
  <Override PartName="/ppt/media/image2.png" ContentType="image/png"/>
  <Override PartName="/ppt/media/image11.png" ContentType="image/png"/>
  <Override PartName="/ppt/media/image1.png" ContentType="image/png"/>
  <Override PartName="/ppt/media/image10.png" ContentType="image/png"/>
  <Override PartName="/ppt/media/OOXDiagramDrawingRels1_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presProps" Target="presProps.xml"/>
</Relationships>
</file>

<file path=ppt/diagrams/_rels/data1.xml.rels><?xml version="1.0" encoding="UTF-8"?>
<Relationships xmlns="http://schemas.openxmlformats.org/package/2006/relationships"><Relationship Id="rId1" Type="http://schemas.openxmlformats.org/officeDocument/2006/relationships/image" Target="../media/OOXDiagramDataRels1_0.png"/><Relationship Id="rId2" Type="http://schemas.openxmlformats.org/officeDocument/2006/relationships/image" Target="../media/OOXDiagramDataRels1_1.svg"/><Relationship Id="rId3" Type="http://schemas.openxmlformats.org/officeDocument/2006/relationships/image" Target="../media/OOXDiagramDataRels1_2.png"/><Relationship Id="rId4" Type="http://schemas.openxmlformats.org/officeDocument/2006/relationships/image" Target="../media/OOXDiagramDataRels1_3.svg"/>
</Relationships>
</file>

<file path=ppt/diagrams/_rels/drawing1.xml.rels><?xml version="1.0" encoding="UTF-8"?>
<Relationships xmlns="http://schemas.openxmlformats.org/package/2006/relationships"><Relationship Id="rId1" Type="http://schemas.openxmlformats.org/officeDocument/2006/relationships/image" Target="../media/OOXDiagramDrawingRels1_0.png"/><Relationship Id="rId2" Type="http://schemas.openxmlformats.org/officeDocument/2006/relationships/image" Target="../media/OOXDiagramDrawingRels1_1.svg"/><Relationship Id="rId3" Type="http://schemas.openxmlformats.org/officeDocument/2006/relationships/image" Target="../media/OOXDiagramDrawingRels1_2.png"/><Relationship Id="rId4" Type="http://schemas.openxmlformats.org/officeDocument/2006/relationships/image" Target="../media/OOXDiagramDrawingRels1_3.svg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C2BE6A-DF36-46EE-8D13-11C486C6B37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2" csCatId="colorful" phldr="1"/>
      <dgm:spPr/>
      <dgm:t>
        <a:bodyPr/>
        <a:lstStyle/>
        <a:p>
          <a:endParaRPr lang="en-US"/>
        </a:p>
      </dgm:t>
    </dgm:pt>
    <dgm:pt modelId="{3A8E762C-7E5E-40B3-8AFF-DA2D88B128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Problem 1:</a:t>
          </a:r>
        </a:p>
      </dgm:t>
    </dgm:pt>
    <dgm:pt modelId="{DB8C5FC7-596E-4FCB-9001-76C3AD41E657}" type="parTrans" cxnId="{8789ABCB-8C25-49EE-880A-7E592D8F0B30}">
      <dgm:prSet/>
      <dgm:spPr/>
      <dgm:t>
        <a:bodyPr/>
        <a:lstStyle/>
        <a:p>
          <a:endParaRPr lang="en-US"/>
        </a:p>
      </dgm:t>
    </dgm:pt>
    <dgm:pt modelId="{C2815D6F-D842-4AA6-9DEB-2DD1BB53F1F4}" type="sibTrans" cxnId="{8789ABCB-8C25-49EE-880A-7E592D8F0B30}">
      <dgm:prSet/>
      <dgm:spPr/>
      <dgm:t>
        <a:bodyPr/>
        <a:lstStyle/>
        <a:p>
          <a:endParaRPr lang="en-US"/>
        </a:p>
      </dgm:t>
    </dgm:pt>
    <dgm:pt modelId="{7E14AFE4-74AF-4887-B7C5-EA7BE3EC12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Examine whether the following 2 x 2 game has a saddle point</a:t>
          </a:r>
        </a:p>
      </dgm:t>
    </dgm:pt>
    <dgm:pt modelId="{0C6FF5F3-E3BF-49EA-9EEE-E79A16552135}" type="parTrans" cxnId="{A45CAA74-A518-42D5-B2E8-46129DE58BF8}">
      <dgm:prSet/>
      <dgm:spPr/>
      <dgm:t>
        <a:bodyPr/>
        <a:lstStyle/>
        <a:p>
          <a:endParaRPr lang="en-US"/>
        </a:p>
      </dgm:t>
    </dgm:pt>
    <dgm:pt modelId="{B35FBAA9-95C7-41D2-A540-56D07AC8F0C2}" type="sibTrans" cxnId="{A45CAA74-A518-42D5-B2E8-46129DE58BF8}">
      <dgm:prSet/>
      <dgm:spPr/>
      <dgm:t>
        <a:bodyPr/>
        <a:lstStyle/>
        <a:p>
          <a:endParaRPr lang="en-US"/>
        </a:p>
      </dgm:t>
    </dgm:pt>
    <dgm:pt modelId="{BC85BBB4-C871-47C8-AC98-6B2971262610}" type="pres">
      <dgm:prSet presAssocID="{DAC2BE6A-DF36-46EE-8D13-11C486C6B371}" presName="root" presStyleCnt="0">
        <dgm:presLayoutVars>
          <dgm:dir/>
          <dgm:resizeHandles val="exact"/>
        </dgm:presLayoutVars>
      </dgm:prSet>
      <dgm:spPr/>
    </dgm:pt>
    <dgm:pt modelId="{53811549-5AEF-4E76-BD68-6C9F3551B39C}" type="pres">
      <dgm:prSet presAssocID="{3A8E762C-7E5E-40B3-8AFF-DA2D88B12800}" presName="compNode" presStyleCnt="0"/>
      <dgm:spPr/>
    </dgm:pt>
    <dgm:pt modelId="{26BD3B1C-AA90-458F-9667-8EBCFC4FA32C}" type="pres">
      <dgm:prSet presAssocID="{3A8E762C-7E5E-40B3-8AFF-DA2D88B12800}" presName="bgRect" presStyleLbl="bgShp" presStyleIdx="0" presStyleCnt="2"/>
      <dgm:spPr/>
    </dgm:pt>
    <dgm:pt modelId="{A095425A-32C3-4CCC-A19E-9453E91D1EAC}" type="pres">
      <dgm:prSet presAssocID="{3A8E762C-7E5E-40B3-8AFF-DA2D88B1280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6D2949F6-879D-42D2-9C46-55313906D916}" type="pres">
      <dgm:prSet presAssocID="{3A8E762C-7E5E-40B3-8AFF-DA2D88B12800}" presName="spaceRect" presStyleCnt="0"/>
      <dgm:spPr/>
    </dgm:pt>
    <dgm:pt modelId="{F1C68A0D-6724-4C36-936E-0213CD67917A}" type="pres">
      <dgm:prSet presAssocID="{3A8E762C-7E5E-40B3-8AFF-DA2D88B12800}" presName="parTx" presStyleLbl="revTx" presStyleIdx="0" presStyleCnt="2">
        <dgm:presLayoutVars>
          <dgm:chMax val="0"/>
          <dgm:chPref val="0"/>
        </dgm:presLayoutVars>
      </dgm:prSet>
      <dgm:spPr/>
    </dgm:pt>
    <dgm:pt modelId="{189E8DED-E0F7-4CBC-A347-5BCE60031AA7}" type="pres">
      <dgm:prSet presAssocID="{C2815D6F-D842-4AA6-9DEB-2DD1BB53F1F4}" presName="sibTrans" presStyleCnt="0"/>
      <dgm:spPr/>
    </dgm:pt>
    <dgm:pt modelId="{56E10CDC-B7DC-4CD1-A7A7-E13F44436185}" type="pres">
      <dgm:prSet presAssocID="{7E14AFE4-74AF-4887-B7C5-EA7BE3EC1228}" presName="compNode" presStyleCnt="0"/>
      <dgm:spPr/>
    </dgm:pt>
    <dgm:pt modelId="{08216948-10BD-4F29-B941-DB0FD5954AA4}" type="pres">
      <dgm:prSet presAssocID="{7E14AFE4-74AF-4887-B7C5-EA7BE3EC1228}" presName="bgRect" presStyleLbl="bgShp" presStyleIdx="1" presStyleCnt="2"/>
      <dgm:spPr/>
    </dgm:pt>
    <dgm:pt modelId="{520C65C3-FE6F-41F0-944B-8ABE73E3BC1E}" type="pres">
      <dgm:prSet presAssocID="{7E14AFE4-74AF-4887-B7C5-EA7BE3EC122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62C9C02-A938-4E0D-918B-0790C3AFD502}" type="pres">
      <dgm:prSet presAssocID="{7E14AFE4-74AF-4887-B7C5-EA7BE3EC1228}" presName="spaceRect" presStyleCnt="0"/>
      <dgm:spPr/>
    </dgm:pt>
    <dgm:pt modelId="{DF4041CB-3AD5-490D-AB2F-BC4A1692D99C}" type="pres">
      <dgm:prSet presAssocID="{7E14AFE4-74AF-4887-B7C5-EA7BE3EC122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A015BC4A-CBA2-4E1B-BC2F-93D20575EF95}" type="presOf" srcId="{DAC2BE6A-DF36-46EE-8D13-11C486C6B371}" destId="{BC85BBB4-C871-47C8-AC98-6B2971262610}" srcOrd="0" destOrd="0" presId="urn:microsoft.com/office/officeart/2018/2/layout/IconVerticalSolidList"/>
    <dgm:cxn modelId="{A45CAA74-A518-42D5-B2E8-46129DE58BF8}" srcId="{DAC2BE6A-DF36-46EE-8D13-11C486C6B371}" destId="{7E14AFE4-74AF-4887-B7C5-EA7BE3EC1228}" srcOrd="1" destOrd="0" parTransId="{0C6FF5F3-E3BF-49EA-9EEE-E79A16552135}" sibTransId="{B35FBAA9-95C7-41D2-A540-56D07AC8F0C2}"/>
    <dgm:cxn modelId="{3B07969C-6E72-42A7-875D-F87FF3FB18F4}" type="presOf" srcId="{7E14AFE4-74AF-4887-B7C5-EA7BE3EC1228}" destId="{DF4041CB-3AD5-490D-AB2F-BC4A1692D99C}" srcOrd="0" destOrd="0" presId="urn:microsoft.com/office/officeart/2018/2/layout/IconVerticalSolidList"/>
    <dgm:cxn modelId="{B3AD07B7-3B41-4EFD-893E-09D3BACBC5A5}" type="presOf" srcId="{3A8E762C-7E5E-40B3-8AFF-DA2D88B12800}" destId="{F1C68A0D-6724-4C36-936E-0213CD67917A}" srcOrd="0" destOrd="0" presId="urn:microsoft.com/office/officeart/2018/2/layout/IconVerticalSolidList"/>
    <dgm:cxn modelId="{8789ABCB-8C25-49EE-880A-7E592D8F0B30}" srcId="{DAC2BE6A-DF36-46EE-8D13-11C486C6B371}" destId="{3A8E762C-7E5E-40B3-8AFF-DA2D88B12800}" srcOrd="0" destOrd="0" parTransId="{DB8C5FC7-596E-4FCB-9001-76C3AD41E657}" sibTransId="{C2815D6F-D842-4AA6-9DEB-2DD1BB53F1F4}"/>
    <dgm:cxn modelId="{BC167DD5-08B0-4714-96A6-C9FE4D0F4246}" type="presParOf" srcId="{BC85BBB4-C871-47C8-AC98-6B2971262610}" destId="{53811549-5AEF-4E76-BD68-6C9F3551B39C}" srcOrd="0" destOrd="0" presId="urn:microsoft.com/office/officeart/2018/2/layout/IconVerticalSolidList"/>
    <dgm:cxn modelId="{30691927-04E9-4DF4-B6B2-246718C545D5}" type="presParOf" srcId="{53811549-5AEF-4E76-BD68-6C9F3551B39C}" destId="{26BD3B1C-AA90-458F-9667-8EBCFC4FA32C}" srcOrd="0" destOrd="0" presId="urn:microsoft.com/office/officeart/2018/2/layout/IconVerticalSolidList"/>
    <dgm:cxn modelId="{0C2841E8-A512-4CAD-BFCC-B3A54C0C1CF8}" type="presParOf" srcId="{53811549-5AEF-4E76-BD68-6C9F3551B39C}" destId="{A095425A-32C3-4CCC-A19E-9453E91D1EAC}" srcOrd="1" destOrd="0" presId="urn:microsoft.com/office/officeart/2018/2/layout/IconVerticalSolidList"/>
    <dgm:cxn modelId="{DE5C1CCD-0734-4878-A381-504BA16101AD}" type="presParOf" srcId="{53811549-5AEF-4E76-BD68-6C9F3551B39C}" destId="{6D2949F6-879D-42D2-9C46-55313906D916}" srcOrd="2" destOrd="0" presId="urn:microsoft.com/office/officeart/2018/2/layout/IconVerticalSolidList"/>
    <dgm:cxn modelId="{6A4FB9D6-43E5-4A64-9BF2-E2DF15FD8FF2}" type="presParOf" srcId="{53811549-5AEF-4E76-BD68-6C9F3551B39C}" destId="{F1C68A0D-6724-4C36-936E-0213CD67917A}" srcOrd="3" destOrd="0" presId="urn:microsoft.com/office/officeart/2018/2/layout/IconVerticalSolidList"/>
    <dgm:cxn modelId="{D94B6A66-5550-4727-898D-95D7DF0DB0F6}" type="presParOf" srcId="{BC85BBB4-C871-47C8-AC98-6B2971262610}" destId="{189E8DED-E0F7-4CBC-A347-5BCE60031AA7}" srcOrd="1" destOrd="0" presId="urn:microsoft.com/office/officeart/2018/2/layout/IconVerticalSolidList"/>
    <dgm:cxn modelId="{24AA7B6D-63B3-49E8-9938-03D110A18135}" type="presParOf" srcId="{BC85BBB4-C871-47C8-AC98-6B2971262610}" destId="{56E10CDC-B7DC-4CD1-A7A7-E13F44436185}" srcOrd="2" destOrd="0" presId="urn:microsoft.com/office/officeart/2018/2/layout/IconVerticalSolidList"/>
    <dgm:cxn modelId="{0FE6CD30-0652-4F8F-9E2A-C9F1999CF428}" type="presParOf" srcId="{56E10CDC-B7DC-4CD1-A7A7-E13F44436185}" destId="{08216948-10BD-4F29-B941-DB0FD5954AA4}" srcOrd="0" destOrd="0" presId="urn:microsoft.com/office/officeart/2018/2/layout/IconVerticalSolidList"/>
    <dgm:cxn modelId="{7360E73E-0FC3-4763-ADE2-EDC100915EB3}" type="presParOf" srcId="{56E10CDC-B7DC-4CD1-A7A7-E13F44436185}" destId="{520C65C3-FE6F-41F0-944B-8ABE73E3BC1E}" srcOrd="1" destOrd="0" presId="urn:microsoft.com/office/officeart/2018/2/layout/IconVerticalSolidList"/>
    <dgm:cxn modelId="{9F968B8A-E3B5-419C-9215-84F3134FF488}" type="presParOf" srcId="{56E10CDC-B7DC-4CD1-A7A7-E13F44436185}" destId="{962C9C02-A938-4E0D-918B-0790C3AFD502}" srcOrd="2" destOrd="0" presId="urn:microsoft.com/office/officeart/2018/2/layout/IconVerticalSolidList"/>
    <dgm:cxn modelId="{5EF70AC5-5FA3-4433-9755-073EA8960802}" type="presParOf" srcId="{56E10CDC-B7DC-4CD1-A7A7-E13F44436185}" destId="{DF4041CB-3AD5-490D-AB2F-BC4A1692D9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D3B1C-AA90-458F-9667-8EBCFC4FA32C}">
      <dsp:nvSpPr>
        <dsp:cNvPr id="0" name=""/>
        <dsp:cNvSpPr/>
      </dsp:nvSpPr>
      <dsp:spPr>
        <a:xfrm>
          <a:off x="0" y="467164"/>
          <a:ext cx="6263640" cy="86245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95425A-32C3-4CCC-A19E-9453E91D1EAC}">
      <dsp:nvSpPr>
        <dsp:cNvPr id="0" name=""/>
        <dsp:cNvSpPr/>
      </dsp:nvSpPr>
      <dsp:spPr>
        <a:xfrm>
          <a:off x="260893" y="661217"/>
          <a:ext cx="474351" cy="4743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68A0D-6724-4C36-936E-0213CD67917A}">
      <dsp:nvSpPr>
        <dsp:cNvPr id="0" name=""/>
        <dsp:cNvSpPr/>
      </dsp:nvSpPr>
      <dsp:spPr>
        <a:xfrm>
          <a:off x="996138" y="467164"/>
          <a:ext cx="5267501" cy="862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277" tIns="91277" rIns="91277" bIns="91277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Problem 1:</a:t>
          </a:r>
        </a:p>
      </dsp:txBody>
      <dsp:txXfrm>
        <a:off x="996138" y="467164"/>
        <a:ext cx="5267501" cy="862458"/>
      </dsp:txXfrm>
    </dsp:sp>
    <dsp:sp modelId="{08216948-10BD-4F29-B941-DB0FD5954AA4}">
      <dsp:nvSpPr>
        <dsp:cNvPr id="0" name=""/>
        <dsp:cNvSpPr/>
      </dsp:nvSpPr>
      <dsp:spPr>
        <a:xfrm>
          <a:off x="0" y="1545237"/>
          <a:ext cx="6263640" cy="862458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0C65C3-FE6F-41F0-944B-8ABE73E3BC1E}">
      <dsp:nvSpPr>
        <dsp:cNvPr id="0" name=""/>
        <dsp:cNvSpPr/>
      </dsp:nvSpPr>
      <dsp:spPr>
        <a:xfrm>
          <a:off x="260893" y="1739290"/>
          <a:ext cx="474351" cy="4743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041CB-3AD5-490D-AB2F-BC4A1692D99C}">
      <dsp:nvSpPr>
        <dsp:cNvPr id="0" name=""/>
        <dsp:cNvSpPr/>
      </dsp:nvSpPr>
      <dsp:spPr>
        <a:xfrm>
          <a:off x="996138" y="1545237"/>
          <a:ext cx="5267501" cy="8624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277" tIns="91277" rIns="91277" bIns="91277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Examine whether the following 2 x 2 game has a saddle point</a:t>
          </a:r>
        </a:p>
      </dsp:txBody>
      <dsp:txXfrm>
        <a:off x="996138" y="1545237"/>
        <a:ext cx="5267501" cy="8624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11EB88-84E2-4C53-9888-6A7E7BDC33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F3E2AE-61A7-45EC-949B-4DAE97F088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4749B90-928F-45B6-9E1F-FA4438B043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D8D5669-C5D2-457E-B15D-D8A5802F97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00C8CA0-69CC-4616-A396-AF8DA827C6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8E1C963-F7D8-46A1-8C0A-F7145F4389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F765BEB-D9AE-43DA-9CC9-77CD7911A1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B151EF9-943C-49C1-911B-47786023B7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EFE1450-CF50-4374-B014-249DB27051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01EE559-DA4A-4B1C-B6A1-04E45704D7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EED8EB72-8E8B-45F3-AFD3-89CA47B8E8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96BE95-045D-47C6-B3A8-FD699078BA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1D291E-1D41-4DED-A4D5-843201C0C5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BA4505-05B6-4E40-88BA-05A5BA87938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480210-69D1-4715-A758-83658AD4008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C3D840-6682-4BEC-A69F-17A23DB37E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9AFEB9-03A9-40E6-902E-5DB44E6CB7C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A2EC9B-A3F4-45EF-999B-1DB6B52A67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1112AE-1CA3-427D-950B-B51612C6F58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580C6E-321A-4AB6-A9B9-6F848865C14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21639F-A961-4288-997B-032807C8CF4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794688-7451-4D94-8EF7-A50368B40A2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http://www.pondiuni.edu.in/storage/dde/downloads/mbaii_qt.pdf" TargetMode="External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Calibri Light"/>
                <a:ea typeface="Calibri Light"/>
              </a:rPr>
              <a:t> </a:t>
            </a:r>
            <a:r>
              <a:rPr b="0" lang="en-US" sz="4000" spc="-1" strike="noStrike">
                <a:solidFill>
                  <a:schemeClr val="dk1"/>
                </a:solidFill>
                <a:latin typeface="Calibri Light"/>
                <a:ea typeface="Calibri Light"/>
              </a:rPr>
              <a:t>GAME THEORY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Down Arrow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00280" y="1491840"/>
            <a:ext cx="3333240" cy="3498840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759240" y="1967400"/>
            <a:ext cx="3223440" cy="254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rmAutofit/>
          </a:bodyPr>
          <a:p>
            <a:pPr algn="ctr"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3300" spc="-1" strike="noStrike">
                <a:solidFill>
                  <a:srgbClr val="ffffff"/>
                </a:solidFill>
                <a:latin typeface="Calibri Light"/>
              </a:rPr>
              <a:t>Problem 1: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3300" spc="-1" strike="noStrike">
                <a:solidFill>
                  <a:srgbClr val="ffffff"/>
                </a:solidFill>
                <a:latin typeface="Calibri Light"/>
              </a:rPr>
              <a:t>Solve the game with the following pay-off matrix.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Picture 5" descr="A screenshot of a cell phone&#10;&#10;Description generated with very high confidence"/>
          <p:cNvPicPr/>
          <p:nvPr/>
        </p:nvPicPr>
        <p:blipFill>
          <a:blip r:embed="rId1"/>
          <a:stretch/>
        </p:blipFill>
        <p:spPr>
          <a:xfrm>
            <a:off x="4777200" y="1705320"/>
            <a:ext cx="6780240" cy="344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431280" y="2080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Solution: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31280" y="682200"/>
            <a:ext cx="413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First consider the minimum of each row.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Picture 4" descr="A picture containing clock&#10;&#10;Description generated with very high confidence"/>
          <p:cNvPicPr/>
          <p:nvPr/>
        </p:nvPicPr>
        <p:blipFill>
          <a:blip r:embed="rId1"/>
          <a:stretch/>
        </p:blipFill>
        <p:spPr>
          <a:xfrm>
            <a:off x="654120" y="1159560"/>
            <a:ext cx="3486240" cy="2149920"/>
          </a:xfrm>
          <a:prstGeom prst="rect">
            <a:avLst/>
          </a:prstGeom>
          <a:ln w="0">
            <a:noFill/>
          </a:ln>
        </p:spPr>
      </p:pic>
      <p:sp>
        <p:nvSpPr>
          <p:cNvPr id="73" name="TextBox 4"/>
          <p:cNvSpPr/>
          <p:nvPr/>
        </p:nvSpPr>
        <p:spPr>
          <a:xfrm>
            <a:off x="431280" y="3432600"/>
            <a:ext cx="482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Next consider the maximum of each column.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Picture 6" descr="A screenshot of a cell phone&#10;&#10;Description generated with very high confidence"/>
          <p:cNvPicPr/>
          <p:nvPr/>
        </p:nvPicPr>
        <p:blipFill>
          <a:blip r:embed="rId2"/>
          <a:stretch/>
        </p:blipFill>
        <p:spPr>
          <a:xfrm>
            <a:off x="654120" y="3879000"/>
            <a:ext cx="3439800" cy="2416680"/>
          </a:xfrm>
          <a:prstGeom prst="rect">
            <a:avLst/>
          </a:prstGeom>
          <a:ln w="0">
            <a:noFill/>
          </a:ln>
        </p:spPr>
      </p:pic>
      <p:sp>
        <p:nvSpPr>
          <p:cNvPr id="75" name="TextBox 6"/>
          <p:cNvSpPr/>
          <p:nvPr/>
        </p:nvSpPr>
        <p:spPr>
          <a:xfrm>
            <a:off x="4334040" y="1211760"/>
            <a:ext cx="7538040" cy="13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We see that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-1" strike="noStrike">
                <a:solidFill>
                  <a:srgbClr val="ff0000"/>
                </a:solidFill>
                <a:latin typeface="Calibri"/>
              </a:rPr>
              <a:t>the maximum of row minima = the minimum of the column maxima</a:t>
            </a: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. So the game has a saddle point. The common value is 12. Therefore the value V of the game = 12.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4334040" y="5096160"/>
            <a:ext cx="7797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Interpretation: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In the long run, the following best strategies will be identified by the two players: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The best strategy for player A is strategy 4.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The best strategy for player B is strategy IV.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The game is favourable to player 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Picture 5" descr="A screenshot of a cell phone&#10;&#10;Description generated with very high confidence"/>
          <p:cNvPicPr/>
          <p:nvPr/>
        </p:nvPicPr>
        <p:blipFill>
          <a:blip r:embed="rId3"/>
          <a:stretch/>
        </p:blipFill>
        <p:spPr>
          <a:xfrm>
            <a:off x="6933240" y="2588400"/>
            <a:ext cx="4763880" cy="243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477720" y="3384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Problem 2: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477720" y="1026000"/>
            <a:ext cx="5186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Solve the game with the following pay-off matrix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Picture 4" descr="A screenshot of a cell phone&#10;&#10;Description generated with very high confidence"/>
          <p:cNvPicPr/>
          <p:nvPr/>
        </p:nvPicPr>
        <p:blipFill>
          <a:blip r:embed="rId1"/>
          <a:stretch/>
        </p:blipFill>
        <p:spPr>
          <a:xfrm>
            <a:off x="7214760" y="111240"/>
            <a:ext cx="4452840" cy="2499840"/>
          </a:xfrm>
          <a:prstGeom prst="rect">
            <a:avLst/>
          </a:prstGeom>
          <a:ln w="0">
            <a:noFill/>
          </a:ln>
        </p:spPr>
      </p:pic>
      <p:sp>
        <p:nvSpPr>
          <p:cNvPr id="81" name="TextBox 4"/>
          <p:cNvSpPr/>
          <p:nvPr/>
        </p:nvSpPr>
        <p:spPr>
          <a:xfrm>
            <a:off x="477720" y="1713600"/>
            <a:ext cx="58557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It is observed that the maximum of row minima and the minimum of the column maxima are equal. Hence the given the game has a saddle point. The common value is 20. This indicates that the value V of the game is 20.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477720" y="32004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Problem 3: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477720" y="363708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Solve the following game: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Picture 9" descr="A close up of a logo&#10;&#10;Description generated with very high confidence"/>
          <p:cNvPicPr/>
          <p:nvPr/>
        </p:nvPicPr>
        <p:blipFill>
          <a:blip r:embed="rId2"/>
          <a:stretch/>
        </p:blipFill>
        <p:spPr>
          <a:xfrm>
            <a:off x="7214760" y="3030840"/>
            <a:ext cx="4424760" cy="2570760"/>
          </a:xfrm>
          <a:prstGeom prst="rect">
            <a:avLst/>
          </a:prstGeom>
          <a:ln w="0">
            <a:noFill/>
          </a:ln>
        </p:spPr>
      </p:pic>
      <p:sp>
        <p:nvSpPr>
          <p:cNvPr id="85" name="TextBox 9"/>
          <p:cNvSpPr/>
          <p:nvPr/>
        </p:nvSpPr>
        <p:spPr>
          <a:xfrm>
            <a:off x="440640" y="4073760"/>
            <a:ext cx="65062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Since the max {row minima} = min {column maxima}, the game under consideration has a saddle point. The common value is –4. Hence the value of the game is –4.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Interpretation.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best strategy for player A is strategy 4.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best strategy for player B is strategy II.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Since the value of the game is negative, it is concluded that the game is favourable to player B.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Table 2"/>
          <p:cNvGraphicFramePr/>
          <p:nvPr/>
        </p:nvGraphicFramePr>
        <p:xfrm>
          <a:off x="2011680" y="722520"/>
          <a:ext cx="8168400" cy="805680"/>
        </p:xfrm>
        <a:graphic>
          <a:graphicData uri="http://schemas.openxmlformats.org/drawingml/2006/table">
            <a:tbl>
              <a:tblPr/>
              <a:tblGrid>
                <a:gridCol w="4084200"/>
                <a:gridCol w="408420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b="0" lang="en-US" sz="1800" spc="-1" strike="noStrike">
                        <a:solidFill>
                          <a:schemeClr val="dk1"/>
                        </a:solidFill>
                        <a:latin typeface="Calibri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7" name="PlaceHolder 1"/>
          <p:cNvSpPr>
            <a:spLocks noGrp="1"/>
          </p:cNvSpPr>
          <p:nvPr>
            <p:ph/>
          </p:nvPr>
        </p:nvSpPr>
        <p:spPr>
          <a:xfrm>
            <a:off x="708120" y="37584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Solve the game with the following pay-off matrix.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6135120" y="37584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Solve the game with the following pay-off matrix.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9" name="Picture 6" descr="A picture containing clock&#10;&#10;Description generated with very high confidence"/>
          <p:cNvPicPr/>
          <p:nvPr/>
        </p:nvPicPr>
        <p:blipFill>
          <a:blip r:embed="rId1"/>
          <a:stretch/>
        </p:blipFill>
        <p:spPr>
          <a:xfrm>
            <a:off x="802800" y="1306440"/>
            <a:ext cx="4387680" cy="2265840"/>
          </a:xfrm>
          <a:prstGeom prst="rect">
            <a:avLst/>
          </a:prstGeom>
          <a:ln w="0">
            <a:noFill/>
          </a:ln>
        </p:spPr>
      </p:pic>
      <p:sp>
        <p:nvSpPr>
          <p:cNvPr id="90" name="TextBox 6"/>
          <p:cNvSpPr/>
          <p:nvPr/>
        </p:nvSpPr>
        <p:spPr>
          <a:xfrm>
            <a:off x="839880" y="3860280"/>
            <a:ext cx="43041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Answer: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Best strategy for A: 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Best strategy for B: IV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V = 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game is favourable to player 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Picture 8" descr="A screenshot of a cell phone&#10;&#10;Description generated with very high confidence"/>
          <p:cNvPicPr/>
          <p:nvPr/>
        </p:nvPicPr>
        <p:blipFill>
          <a:blip r:embed="rId2"/>
          <a:stretch/>
        </p:blipFill>
        <p:spPr>
          <a:xfrm>
            <a:off x="6099840" y="1337400"/>
            <a:ext cx="4276080" cy="2259000"/>
          </a:xfrm>
          <a:prstGeom prst="rect">
            <a:avLst/>
          </a:prstGeom>
          <a:ln w="0">
            <a:noFill/>
          </a:ln>
        </p:spPr>
      </p:pic>
      <p:sp>
        <p:nvSpPr>
          <p:cNvPr id="92" name="TextBox 8"/>
          <p:cNvSpPr/>
          <p:nvPr/>
        </p:nvSpPr>
        <p:spPr>
          <a:xfrm>
            <a:off x="6136920" y="3860280"/>
            <a:ext cx="40438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Answer: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Best strategy for A: 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Best strategy for B: II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V = -2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game is favourable to player 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578160" y="378720"/>
            <a:ext cx="4145040" cy="157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rmAutofit fontScale="89999" lnSpcReduction="10000"/>
          </a:bodyPr>
          <a:p>
            <a:pPr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GAMES WITH NO SADDLE POINT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89529474"/>
              </p:ext>
            </p:extLst>
          </p:nvPr>
        </p:nvGraphicFramePr>
        <p:xfrm>
          <a:off x="5307120" y="-178920"/>
          <a:ext cx="6263280" cy="287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94" name="Picture 153" descr="A screenshot of a cell phone&#10;&#10;Description generated with very high confidence"/>
          <p:cNvPicPr/>
          <p:nvPr/>
        </p:nvPicPr>
        <p:blipFill>
          <a:blip r:embed="rId6"/>
          <a:stretch/>
        </p:blipFill>
        <p:spPr>
          <a:xfrm>
            <a:off x="6823080" y="2498400"/>
            <a:ext cx="4399920" cy="2204640"/>
          </a:xfrm>
          <a:prstGeom prst="rect">
            <a:avLst/>
          </a:prstGeom>
          <a:ln w="0">
            <a:noFill/>
          </a:ln>
        </p:spPr>
      </p:pic>
      <p:pic>
        <p:nvPicPr>
          <p:cNvPr id="95" name="Picture 168" descr="A screenshot of a cell phone&#10;&#10;Description generated with very high confidence"/>
          <p:cNvPicPr/>
          <p:nvPr/>
        </p:nvPicPr>
        <p:blipFill>
          <a:blip r:embed="rId7"/>
          <a:stretch/>
        </p:blipFill>
        <p:spPr>
          <a:xfrm>
            <a:off x="579960" y="2267640"/>
            <a:ext cx="5883840" cy="4088160"/>
          </a:xfrm>
          <a:prstGeom prst="rect">
            <a:avLst/>
          </a:prstGeom>
          <a:ln w="0">
            <a:noFill/>
          </a:ln>
        </p:spPr>
      </p:pic>
      <p:sp>
        <p:nvSpPr>
          <p:cNvPr id="96" name="TextBox 168"/>
          <p:cNvSpPr/>
          <p:nvPr/>
        </p:nvSpPr>
        <p:spPr>
          <a:xfrm>
            <a:off x="6852600" y="5151960"/>
            <a:ext cx="4787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We see that max {row minima} and min {column maxima} are not equal. Hence the game has no saddle point.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1" dur="indefinite" restart="never" nodeType="tmRoot">
          <p:childTnLst>
            <p:seq>
              <p:cTn id="72" dur="indefinite" nodeType="mainSeq">
                <p:childTnLst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Down Arrow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280" y="-4680"/>
            <a:ext cx="3333240" cy="3338280"/>
          </a:xfrm>
          <a:prstGeom prst="downArrow">
            <a:avLst>
              <a:gd name="adj1" fmla="val 100000"/>
              <a:gd name="adj2" fmla="val 26890"/>
            </a:avLst>
          </a:prstGeom>
          <a:solidFill>
            <a:schemeClr val="tx1">
              <a:lumMod val="85000"/>
              <a:lumOff val="15000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1"/>
          <p:cNvSpPr/>
          <p:nvPr/>
        </p:nvSpPr>
        <p:spPr>
          <a:xfrm>
            <a:off x="1028880" y="190440"/>
            <a:ext cx="2885760" cy="24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rmAutofit/>
          </a:bodyPr>
          <a:p>
            <a:pPr algn="ctr"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3600" spc="-1" strike="noStrike">
                <a:solidFill>
                  <a:schemeClr val="lt1"/>
                </a:solidFill>
                <a:latin typeface="Calibri Light"/>
              </a:rPr>
              <a:t>Problem 2: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3600" spc="-1" strike="noStrike">
                <a:solidFill>
                  <a:schemeClr val="lt1"/>
                </a:solidFill>
                <a:latin typeface="Calibri Light"/>
              </a:rPr>
              <a:t>Solve the following game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Picture 3" descr="A picture containing flying, table&#10;&#10;Description generated with very high confidence"/>
          <p:cNvPicPr/>
          <p:nvPr/>
        </p:nvPicPr>
        <p:blipFill>
          <a:blip r:embed="rId1"/>
          <a:stretch/>
        </p:blipFill>
        <p:spPr>
          <a:xfrm>
            <a:off x="726480" y="3666960"/>
            <a:ext cx="3332520" cy="2664720"/>
          </a:xfrm>
          <a:prstGeom prst="rect">
            <a:avLst/>
          </a:prstGeom>
          <a:ln w="0">
            <a:noFill/>
          </a:ln>
        </p:spPr>
      </p:pic>
      <p:pic>
        <p:nvPicPr>
          <p:cNvPr id="100" name="Picture 4" descr="A screenshot of a cell phone&#10;&#10;Description generated with very high confidence"/>
          <p:cNvPicPr/>
          <p:nvPr/>
        </p:nvPicPr>
        <p:blipFill>
          <a:blip r:embed="rId2"/>
          <a:stretch/>
        </p:blipFill>
        <p:spPr>
          <a:xfrm>
            <a:off x="5839560" y="226800"/>
            <a:ext cx="5168160" cy="4471200"/>
          </a:xfrm>
          <a:prstGeom prst="rect">
            <a:avLst/>
          </a:prstGeom>
          <a:ln w="0">
            <a:noFill/>
          </a:ln>
        </p:spPr>
      </p:pic>
      <p:sp>
        <p:nvSpPr>
          <p:cNvPr id="101" name="TextBox 4"/>
          <p:cNvSpPr/>
          <p:nvPr/>
        </p:nvSpPr>
        <p:spPr>
          <a:xfrm>
            <a:off x="5207760" y="5077440"/>
            <a:ext cx="6292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We see that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Max {row minima} ≠ min {column maxima}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So the game has no saddle point. Therefore it is a mixed game.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3" descr="A picture containing bird&#10;&#10;Description generated with very high confidence"/>
          <p:cNvPicPr/>
          <p:nvPr/>
        </p:nvPicPr>
        <p:blipFill>
          <a:blip r:embed="rId1"/>
          <a:stretch/>
        </p:blipFill>
        <p:spPr>
          <a:xfrm>
            <a:off x="329040" y="187920"/>
            <a:ext cx="4592160" cy="1705320"/>
          </a:xfrm>
          <a:prstGeom prst="rect">
            <a:avLst/>
          </a:prstGeom>
          <a:ln w="0">
            <a:noFill/>
          </a:ln>
        </p:spPr>
      </p:pic>
      <p:sp>
        <p:nvSpPr>
          <p:cNvPr id="103" name="TextBox 3"/>
          <p:cNvSpPr/>
          <p:nvPr/>
        </p:nvSpPr>
        <p:spPr>
          <a:xfrm>
            <a:off x="356760" y="2233800"/>
            <a:ext cx="4109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Answer: p = 1/3, r = 1/4, V = 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Picture 5" descr="A picture containing object, clock&#10;&#10;Description generated with very high confidence"/>
          <p:cNvPicPr/>
          <p:nvPr/>
        </p:nvPicPr>
        <p:blipFill>
          <a:blip r:embed="rId2"/>
          <a:stretch/>
        </p:blipFill>
        <p:spPr>
          <a:xfrm>
            <a:off x="6220440" y="184320"/>
            <a:ext cx="4675680" cy="1712520"/>
          </a:xfrm>
          <a:prstGeom prst="rect">
            <a:avLst/>
          </a:prstGeom>
          <a:ln w="0">
            <a:noFill/>
          </a:ln>
        </p:spPr>
      </p:pic>
      <p:sp>
        <p:nvSpPr>
          <p:cNvPr id="105" name="TextBox 5"/>
          <p:cNvSpPr/>
          <p:nvPr/>
        </p:nvSpPr>
        <p:spPr>
          <a:xfrm>
            <a:off x="6220440" y="2233800"/>
            <a:ext cx="478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Answer: p = 4/7, r = 1/3, V = -1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Picture 7" descr="A picture containing object, clock&#10;&#10;Description generated with very high confidence"/>
          <p:cNvPicPr/>
          <p:nvPr/>
        </p:nvPicPr>
        <p:blipFill>
          <a:blip r:embed="rId3"/>
          <a:stretch/>
        </p:blipFill>
        <p:spPr>
          <a:xfrm>
            <a:off x="412560" y="2930040"/>
            <a:ext cx="4508280" cy="1648080"/>
          </a:xfrm>
          <a:prstGeom prst="rect">
            <a:avLst/>
          </a:prstGeom>
          <a:ln w="0">
            <a:noFill/>
          </a:ln>
        </p:spPr>
      </p:pic>
      <p:sp>
        <p:nvSpPr>
          <p:cNvPr id="107" name="TextBox 7"/>
          <p:cNvSpPr/>
          <p:nvPr/>
        </p:nvSpPr>
        <p:spPr>
          <a:xfrm>
            <a:off x="412560" y="5031000"/>
            <a:ext cx="450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Answer: p = 1/4, r = 1/2, V = 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Picture 9" descr="A picture containing clock&#10;&#10;Description generated with very high confidence"/>
          <p:cNvPicPr/>
          <p:nvPr/>
        </p:nvPicPr>
        <p:blipFill>
          <a:blip r:embed="rId4"/>
          <a:stretch/>
        </p:blipFill>
        <p:spPr>
          <a:xfrm>
            <a:off x="6220440" y="2927520"/>
            <a:ext cx="4675680" cy="1653480"/>
          </a:xfrm>
          <a:prstGeom prst="rect">
            <a:avLst/>
          </a:prstGeom>
          <a:ln w="0">
            <a:noFill/>
          </a:ln>
        </p:spPr>
      </p:pic>
      <p:sp>
        <p:nvSpPr>
          <p:cNvPr id="109" name="TextBox 9"/>
          <p:cNvSpPr/>
          <p:nvPr/>
        </p:nvSpPr>
        <p:spPr>
          <a:xfrm>
            <a:off x="6220440" y="5031000"/>
            <a:ext cx="473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Answer: p = 1/2, r = 1/12, V = 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" dur="indefinite" restart="never" nodeType="tmRoot">
          <p:childTnLst>
            <p:seq>
              <p:cTn id="92" dur="indefinite" nodeType="mainSeq">
                <p:childTnLst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459000" y="291960"/>
            <a:ext cx="58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PRINCIPLE OF DOMINANCE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459000" y="784440"/>
            <a:ext cx="4824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Problem 1: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Solve the game with the following pay-off matrix: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Picture 4" descr="A close up of a logo&#10;&#10;Description generated with very high confidence"/>
          <p:cNvPicPr/>
          <p:nvPr/>
        </p:nvPicPr>
        <p:blipFill>
          <a:blip r:embed="rId1"/>
          <a:stretch/>
        </p:blipFill>
        <p:spPr>
          <a:xfrm>
            <a:off x="5941800" y="101520"/>
            <a:ext cx="3662640" cy="200808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5" descr="A screenshot of a social media post&#10;&#10;Description generated with very high confidence"/>
          <p:cNvPicPr/>
          <p:nvPr/>
        </p:nvPicPr>
        <p:blipFill>
          <a:blip r:embed="rId2"/>
          <a:stretch/>
        </p:blipFill>
        <p:spPr>
          <a:xfrm>
            <a:off x="459000" y="1536840"/>
            <a:ext cx="4889520" cy="4862160"/>
          </a:xfrm>
          <a:prstGeom prst="rect">
            <a:avLst/>
          </a:prstGeom>
          <a:ln w="0">
            <a:noFill/>
          </a:ln>
        </p:spPr>
      </p:pic>
      <p:sp>
        <p:nvSpPr>
          <p:cNvPr id="114" name="TextBox 5"/>
          <p:cNvSpPr/>
          <p:nvPr/>
        </p:nvSpPr>
        <p:spPr>
          <a:xfrm>
            <a:off x="5886000" y="2233800"/>
            <a:ext cx="57999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following condition holds: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Max {row minima} ≠ min {column maxima}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Therefore we see that there is no saddle point for the game under consideration.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Compare columns II and III.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Picture 7" descr="A screenshot of a cell phone&#10;&#10;Description generated with very high confidence"/>
          <p:cNvPicPr/>
          <p:nvPr/>
        </p:nvPicPr>
        <p:blipFill>
          <a:blip r:embed="rId3"/>
          <a:stretch/>
        </p:blipFill>
        <p:spPr>
          <a:xfrm>
            <a:off x="5886000" y="3794760"/>
            <a:ext cx="2510640" cy="1470600"/>
          </a:xfrm>
          <a:prstGeom prst="rect">
            <a:avLst/>
          </a:prstGeom>
          <a:ln w="0">
            <a:noFill/>
          </a:ln>
        </p:spPr>
      </p:pic>
      <p:sp>
        <p:nvSpPr>
          <p:cNvPr id="116" name="TextBox 7"/>
          <p:cNvSpPr/>
          <p:nvPr/>
        </p:nvSpPr>
        <p:spPr>
          <a:xfrm>
            <a:off x="8729640" y="3553560"/>
            <a:ext cx="33562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algn="just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We see that each element in column III is greater than the corresponding element in column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II. The choice is for player B. Since column II dominates column III, player B will discard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his strategy 3.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Now we have the reduced game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Picture 9" descr="A picture containing clock, orange, bird, large&#10;&#10;Description generated with very high confidence"/>
          <p:cNvPicPr/>
          <p:nvPr/>
        </p:nvPicPr>
        <p:blipFill>
          <a:blip r:embed="rId4"/>
          <a:stretch/>
        </p:blipFill>
        <p:spPr>
          <a:xfrm>
            <a:off x="6795360" y="5354280"/>
            <a:ext cx="1667520" cy="1362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9" dur="indefinite" restart="never" nodeType="tmRoot">
          <p:childTnLst>
            <p:seq>
              <p:cTn id="110" dur="indefinite" nodeType="mainSeq">
                <p:childTnLst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9" descr="A picture containing clock, orange, bird, large&#10;&#10;Description generated with very high confidence"/>
          <p:cNvPicPr/>
          <p:nvPr/>
        </p:nvPicPr>
        <p:blipFill>
          <a:blip r:embed="rId1"/>
          <a:stretch/>
        </p:blipFill>
        <p:spPr>
          <a:xfrm>
            <a:off x="383400" y="122400"/>
            <a:ext cx="1481760" cy="1213560"/>
          </a:xfrm>
          <a:prstGeom prst="rect">
            <a:avLst/>
          </a:prstGeom>
          <a:ln w="0">
            <a:noFill/>
          </a:ln>
        </p:spPr>
      </p:pic>
      <p:sp>
        <p:nvSpPr>
          <p:cNvPr id="119" name="TextBox 3"/>
          <p:cNvSpPr/>
          <p:nvPr/>
        </p:nvSpPr>
        <p:spPr>
          <a:xfrm>
            <a:off x="2020320" y="124560"/>
            <a:ext cx="8550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 this matrix again, there is no saddle point. Column II dominates column IV. The choice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is for player B. So player B will give up his strategy 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game reduces to the following: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Picture 5" descr="A sunset in the background&#10;&#10;Description generated with high confidence"/>
          <p:cNvPicPr/>
          <p:nvPr/>
        </p:nvPicPr>
        <p:blipFill>
          <a:blip r:embed="rId2"/>
          <a:stretch/>
        </p:blipFill>
        <p:spPr>
          <a:xfrm>
            <a:off x="10728000" y="125640"/>
            <a:ext cx="1161720" cy="1495080"/>
          </a:xfrm>
          <a:prstGeom prst="rect">
            <a:avLst/>
          </a:prstGeom>
          <a:ln w="0">
            <a:noFill/>
          </a:ln>
        </p:spPr>
      </p:pic>
      <p:sp>
        <p:nvSpPr>
          <p:cNvPr id="121" name="TextBox 5"/>
          <p:cNvSpPr/>
          <p:nvPr/>
        </p:nvSpPr>
        <p:spPr>
          <a:xfrm>
            <a:off x="384840" y="1760040"/>
            <a:ext cx="9944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This matrix has no saddle point.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third row dominates the first row. The choice is for player A. He will give up his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strategy 1 and retain strategy 3. The game reduces to the following: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Picture 7" descr="A close up of a clock&#10;&#10;Description generated with high confidence"/>
          <p:cNvPicPr/>
          <p:nvPr/>
        </p:nvPicPr>
        <p:blipFill>
          <a:blip r:embed="rId3"/>
          <a:stretch/>
        </p:blipFill>
        <p:spPr>
          <a:xfrm>
            <a:off x="8673840" y="1839960"/>
            <a:ext cx="1386360" cy="1244880"/>
          </a:xfrm>
          <a:prstGeom prst="rect">
            <a:avLst/>
          </a:prstGeom>
          <a:ln w="0">
            <a:noFill/>
          </a:ln>
        </p:spPr>
      </p:pic>
      <p:sp>
        <p:nvSpPr>
          <p:cNvPr id="123" name="TextBox 7"/>
          <p:cNvSpPr/>
          <p:nvPr/>
        </p:nvSpPr>
        <p:spPr>
          <a:xfrm>
            <a:off x="384840" y="3191040"/>
            <a:ext cx="647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Again, there is no saddle point. We have a 2x2 matrix.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8"/>
          <p:cNvSpPr/>
          <p:nvPr/>
        </p:nvSpPr>
        <p:spPr>
          <a:xfrm>
            <a:off x="459000" y="3785760"/>
            <a:ext cx="55958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The value of the game, V=15/4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Thus, X = (3/4 , 1/4 ,0,0)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and Y = (1/4 , 3/4 ,0,0)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are the optimal strategies.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6" dur="indefinite" restart="never" nodeType="tmRoot">
          <p:childTnLst>
            <p:seq>
              <p:cTn id="137" dur="indefinite" nodeType="mainSeq">
                <p:childTnLst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Down Arrow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280" y="-4680"/>
            <a:ext cx="3333240" cy="3338280"/>
          </a:xfrm>
          <a:prstGeom prst="downArrow">
            <a:avLst>
              <a:gd name="adj1" fmla="val 100000"/>
              <a:gd name="adj2" fmla="val 26890"/>
            </a:avLst>
          </a:prstGeom>
          <a:solidFill>
            <a:schemeClr val="tx1">
              <a:lumMod val="85000"/>
              <a:lumOff val="15000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1"/>
          <p:cNvSpPr/>
          <p:nvPr/>
        </p:nvSpPr>
        <p:spPr>
          <a:xfrm>
            <a:off x="1186560" y="172080"/>
            <a:ext cx="2569680" cy="24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rmAutofit fontScale="87222"/>
          </a:bodyPr>
          <a:p>
            <a:pPr algn="ctr"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2800" spc="-1" strike="noStrike">
                <a:solidFill>
                  <a:schemeClr val="lt1"/>
                </a:solidFill>
                <a:latin typeface="Calibri Light"/>
              </a:rPr>
              <a:t>Problem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2800" spc="-1" strike="noStrike">
                <a:solidFill>
                  <a:schemeClr val="lt1"/>
                </a:solidFill>
                <a:latin typeface="Calibri Light"/>
              </a:rPr>
              <a:t>For the game with the following pay-off matrix, determine the saddle point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" name="Picture 3" descr="A picture containing clock&#10;&#10;Description generated with very high confidence"/>
          <p:cNvPicPr/>
          <p:nvPr/>
        </p:nvPicPr>
        <p:blipFill>
          <a:blip r:embed="rId1"/>
          <a:stretch/>
        </p:blipFill>
        <p:spPr>
          <a:xfrm>
            <a:off x="59400" y="3776040"/>
            <a:ext cx="4071600" cy="2251440"/>
          </a:xfrm>
          <a:prstGeom prst="rect">
            <a:avLst/>
          </a:prstGeom>
          <a:ln w="0">
            <a:noFill/>
          </a:ln>
        </p:spPr>
      </p:pic>
      <p:sp>
        <p:nvSpPr>
          <p:cNvPr id="128" name="TextBox 3"/>
          <p:cNvSpPr/>
          <p:nvPr/>
        </p:nvSpPr>
        <p:spPr>
          <a:xfrm>
            <a:off x="4584960" y="4036680"/>
            <a:ext cx="71848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We see that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Maximum of row minimum = Minimum of column maximum = 0.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So, a saddle point exists for the given game and the value of the game is 0.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Interpretation: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No player gains and no player loses. i.e., The game is not favourable to any player. i.e. It is a fair game.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2" dur="indefinite" restart="never" nodeType="tmRoot">
          <p:childTnLst>
            <p:seq>
              <p:cTn id="163" dur="indefinite" nodeType="mainSeq">
                <p:childTnLst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Down Arrow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0280" y="-4680"/>
            <a:ext cx="3333240" cy="3338280"/>
          </a:xfrm>
          <a:prstGeom prst="downArrow">
            <a:avLst>
              <a:gd name="adj1" fmla="val 100000"/>
              <a:gd name="adj2" fmla="val 26890"/>
            </a:avLst>
          </a:prstGeom>
          <a:solidFill>
            <a:schemeClr val="tx1">
              <a:lumMod val="85000"/>
              <a:lumOff val="15000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1"/>
          <p:cNvSpPr/>
          <p:nvPr/>
        </p:nvSpPr>
        <p:spPr>
          <a:xfrm>
            <a:off x="1028880" y="190440"/>
            <a:ext cx="2885760" cy="24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ctr">
            <a:normAutofit/>
          </a:bodyPr>
          <a:p>
            <a:pPr algn="ctr"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3600" spc="-1" strike="noStrike">
                <a:solidFill>
                  <a:schemeClr val="lt1"/>
                </a:solidFill>
                <a:latin typeface="Calibri Light"/>
              </a:rPr>
              <a:t>Problem: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spcAft>
                <a:spcPts val="601"/>
              </a:spcAft>
            </a:pPr>
            <a:r>
              <a:rPr b="0" lang="en-US" sz="3600" spc="-1" strike="noStrike">
                <a:solidFill>
                  <a:schemeClr val="lt1"/>
                </a:solidFill>
                <a:latin typeface="Calibri Light"/>
              </a:rPr>
              <a:t>Solve the game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" name="Picture 3" descr="A picture containing object, clock&#10;&#10;Description generated with very high confidence"/>
          <p:cNvPicPr/>
          <p:nvPr/>
        </p:nvPicPr>
        <p:blipFill>
          <a:blip r:embed="rId1"/>
          <a:stretch/>
        </p:blipFill>
        <p:spPr>
          <a:xfrm>
            <a:off x="801720" y="3618000"/>
            <a:ext cx="2782440" cy="1861200"/>
          </a:xfrm>
          <a:prstGeom prst="rect">
            <a:avLst/>
          </a:prstGeom>
          <a:ln w="0">
            <a:noFill/>
          </a:ln>
        </p:spPr>
      </p:pic>
      <p:sp>
        <p:nvSpPr>
          <p:cNvPr id="132" name="TextBox 3"/>
          <p:cNvSpPr/>
          <p:nvPr/>
        </p:nvSpPr>
        <p:spPr>
          <a:xfrm>
            <a:off x="4808160" y="654120"/>
            <a:ext cx="6478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Solution: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Now the given game is transformed into the following game.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Picture 5" descr="A picture containing clock, water, people&#10;&#10;Description generated with very high confidence"/>
          <p:cNvPicPr/>
          <p:nvPr/>
        </p:nvPicPr>
        <p:blipFill>
          <a:blip r:embed="rId2"/>
          <a:stretch/>
        </p:blipFill>
        <p:spPr>
          <a:xfrm>
            <a:off x="6381360" y="1538280"/>
            <a:ext cx="1854360" cy="1532520"/>
          </a:xfrm>
          <a:prstGeom prst="rect">
            <a:avLst/>
          </a:prstGeom>
          <a:ln w="0">
            <a:noFill/>
          </a:ln>
        </p:spPr>
      </p:pic>
      <p:sp>
        <p:nvSpPr>
          <p:cNvPr id="134" name="TextBox 5"/>
          <p:cNvSpPr/>
          <p:nvPr/>
        </p:nvSpPr>
        <p:spPr>
          <a:xfrm>
            <a:off x="4724280" y="3200400"/>
            <a:ext cx="2742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Value of the game is V =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Thus, A = (3/4 , 1/4 ,0)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and B = (1/2 , 1/2 ,0)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7"/>
          <p:cNvSpPr/>
          <p:nvPr/>
        </p:nvSpPr>
        <p:spPr>
          <a:xfrm>
            <a:off x="4696560" y="4640760"/>
            <a:ext cx="6822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Interpretation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Out of 3 trials, player A will use strategy 1 once and strategy 2 once. Out of 3 trials, player B will use strategy 1 once and strategy 2 once. The game is favourable to player 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8" dur="indefinite" restart="never" nodeType="tmRoot">
          <p:childTnLst>
            <p:seq>
              <p:cTn id="169" dur="indefinite" nodeType="mainSeq">
                <p:childTnLst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8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79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2" descr="A screenshot of a cell phone&#10;&#10;Description generated with very high confidence"/>
          <p:cNvPicPr/>
          <p:nvPr/>
        </p:nvPicPr>
        <p:blipFill>
          <a:blip r:embed="rId1"/>
          <a:stretch/>
        </p:blipFill>
        <p:spPr>
          <a:xfrm>
            <a:off x="663480" y="207720"/>
            <a:ext cx="4833720" cy="2809080"/>
          </a:xfrm>
          <a:prstGeom prst="rect">
            <a:avLst/>
          </a:prstGeom>
          <a:ln w="0">
            <a:noFill/>
          </a:ln>
        </p:spPr>
      </p:pic>
      <p:sp>
        <p:nvSpPr>
          <p:cNvPr id="137" name="TextBox 2"/>
          <p:cNvSpPr/>
          <p:nvPr/>
        </p:nvSpPr>
        <p:spPr>
          <a:xfrm>
            <a:off x="663480" y="31910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Answer: V = 12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Picture 4" descr="A picture containing clock&#10;&#10;Description generated with very high confidence"/>
          <p:cNvPicPr/>
          <p:nvPr/>
        </p:nvPicPr>
        <p:blipFill>
          <a:blip r:embed="rId2"/>
          <a:stretch/>
        </p:blipFill>
        <p:spPr>
          <a:xfrm>
            <a:off x="6034680" y="208440"/>
            <a:ext cx="5121720" cy="1933920"/>
          </a:xfrm>
          <a:prstGeom prst="rect">
            <a:avLst/>
          </a:prstGeom>
          <a:ln w="0">
            <a:noFill/>
          </a:ln>
        </p:spPr>
      </p:pic>
      <p:sp>
        <p:nvSpPr>
          <p:cNvPr id="139" name="TextBox 4"/>
          <p:cNvSpPr/>
          <p:nvPr/>
        </p:nvSpPr>
        <p:spPr>
          <a:xfrm>
            <a:off x="6034680" y="319104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Answer: V = 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Picture 6" descr="A picture containing clock&#10;&#10;Description generated with very high confidence"/>
          <p:cNvPicPr/>
          <p:nvPr/>
        </p:nvPicPr>
        <p:blipFill>
          <a:blip r:embed="rId3"/>
          <a:stretch/>
        </p:blipFill>
        <p:spPr>
          <a:xfrm>
            <a:off x="663480" y="3862440"/>
            <a:ext cx="4833720" cy="1307160"/>
          </a:xfrm>
          <a:prstGeom prst="rect">
            <a:avLst/>
          </a:prstGeom>
          <a:ln w="0">
            <a:noFill/>
          </a:ln>
        </p:spPr>
      </p:pic>
      <p:sp>
        <p:nvSpPr>
          <p:cNvPr id="141" name="TextBox 6"/>
          <p:cNvSpPr/>
          <p:nvPr/>
        </p:nvSpPr>
        <p:spPr>
          <a:xfrm>
            <a:off x="663480" y="5514120"/>
            <a:ext cx="4833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Answer: p=3/5 , r=2/5 , V=11/5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Picture 8" descr="A picture containing clock&#10;&#10;Description generated with very high confidence"/>
          <p:cNvPicPr/>
          <p:nvPr/>
        </p:nvPicPr>
        <p:blipFill>
          <a:blip r:embed="rId4"/>
          <a:stretch/>
        </p:blipFill>
        <p:spPr>
          <a:xfrm>
            <a:off x="6099840" y="3792240"/>
            <a:ext cx="4127400" cy="1447920"/>
          </a:xfrm>
          <a:prstGeom prst="rect">
            <a:avLst/>
          </a:prstGeom>
          <a:ln w="0">
            <a:noFill/>
          </a:ln>
        </p:spPr>
      </p:pic>
      <p:sp>
        <p:nvSpPr>
          <p:cNvPr id="143" name="TextBox 8"/>
          <p:cNvSpPr/>
          <p:nvPr/>
        </p:nvSpPr>
        <p:spPr>
          <a:xfrm>
            <a:off x="6034680" y="5514120"/>
            <a:ext cx="5279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Answer: p=4/9 , r=7/9 , V=70/9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8" dur="indefinite" restart="never" nodeType="tmRoot">
          <p:childTnLst>
            <p:seq>
              <p:cTn id="189" dur="indefinite" nodeType="mainSeq">
                <p:childTnLst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Freeform: 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7000" cy="6857640"/>
          </a:xfrm>
          <a:custGeom>
            <a:avLst/>
            <a:gdLst>
              <a:gd name="textAreaLeft" fmla="*/ 0 w 4167000"/>
              <a:gd name="textAreaRight" fmla="*/ 4167360 w 416700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86880" y="1153440"/>
            <a:ext cx="2558880" cy="446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Calibri Light"/>
              </a:rPr>
              <a:t>Reference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7" name="Arc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7550280" y="2455200"/>
            <a:ext cx="4083120" cy="4083120"/>
          </a:xfrm>
          <a:prstGeom prst="arc">
            <a:avLst>
              <a:gd name="adj1" fmla="val 16200000"/>
              <a:gd name="adj2" fmla="val 0"/>
            </a:avLst>
          </a:prstGeom>
          <a:noFill/>
          <a:ln cap="rnd" w="127000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447440" y="591480"/>
            <a:ext cx="6441480" cy="558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pc="-1" strike="noStrike" u="sng">
                <a:solidFill>
                  <a:schemeClr val="dk1"/>
                </a:solidFill>
                <a:uFillTx/>
                <a:latin typeface="Calibri"/>
                <a:ea typeface="Calibri"/>
                <a:hlinkClick r:id="rId1"/>
              </a:rPr>
              <a:t>http://www.pondiuni.edu.in/storage/dde/downloads/mbaii_qt.pdf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2020-06-01T17:36:47Z</dcterms:created>
  <dc:creator/>
  <dc:description/>
  <dc:language>en-US</dc:language>
  <cp:lastModifiedBy/>
  <dcterms:modified xsi:type="dcterms:W3CDTF">2025-08-16T10:57:48Z</dcterms:modified>
  <cp:revision>812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14</vt:i4>
  </property>
</Properties>
</file>