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2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theme" Target="theme/theme1.xml"/><Relationship Id="rId21" Type="http://schemas.openxmlformats.org/officeDocument/2006/relationships/slide" Target="slides/slide11.xml"/><Relationship Id="rId34" Type="http://schemas.openxmlformats.org/officeDocument/2006/relationships/slide" Target="slides/slide24.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5" name="PlaceHolder 1"/>
          <p:cNvSpPr>
            <a:spLocks noGrp="1"/>
          </p:cNvSpPr>
          <p:nvPr>
            <p:ph type="title"/>
          </p:nvPr>
        </p:nvSpPr>
        <p:spPr>
          <a:xfrm>
            <a:off x="98280" y="16200"/>
            <a:ext cx="8826120" cy="602280"/>
          </a:xfrm>
          <a:prstGeom prst="rect">
            <a:avLst/>
          </a:prstGeom>
          <a:noFill/>
          <a:ln w="0">
            <a:noFill/>
          </a:ln>
        </p:spPr>
        <p:txBody>
          <a:bodyPr lIns="0" tIns="0" rIns="0" bIns="0" anchor="ctr">
            <a:noAutofit/>
          </a:bodyPr>
          <a:lstStyle/>
          <a:p>
            <a:pPr indent="0">
              <a:buNone/>
            </a:pPr>
            <a:endParaRPr lang="en-US" sz="1400" b="0" strike="noStrike" spc="-1">
              <a:solidFill>
                <a:srgbClr val="000000"/>
              </a:solidFill>
              <a:latin typeface="Arial"/>
            </a:endParaRPr>
          </a:p>
        </p:txBody>
      </p:sp>
      <p:sp>
        <p:nvSpPr>
          <p:cNvPr id="6"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FFFFFF"/>
              </a:solidFill>
              <a:latin typeface="Arial"/>
            </a:endParaRPr>
          </a:p>
        </p:txBody>
      </p:sp>
      <p:sp>
        <p:nvSpPr>
          <p:cNvPr id="4" name="PlaceHolder 3"/>
          <p:cNvSpPr>
            <a:spLocks noGrp="1"/>
          </p:cNvSpPr>
          <p:nvPr>
            <p:ph type="sldNum" idx="1"/>
          </p:nvPr>
        </p:nvSpPr>
        <p:spPr/>
        <p:txBody>
          <a:bodyPr/>
          <a:lstStyle/>
          <a:p>
            <a:fld id="{211D0966-AB8B-48DA-9CBC-F574EBA0F91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lstStyle/>
          <a:p>
            <a:fld id="{2148CA06-5FBA-440B-8BC5-18C8F4F980D2}"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13" name="PlaceHolder 1"/>
          <p:cNvSpPr>
            <a:spLocks noGrp="1"/>
          </p:cNvSpPr>
          <p:nvPr>
            <p:ph type="title"/>
          </p:nvPr>
        </p:nvSpPr>
        <p:spPr>
          <a:xfrm>
            <a:off x="98280" y="16200"/>
            <a:ext cx="8826120" cy="602280"/>
          </a:xfrm>
          <a:prstGeom prst="rect">
            <a:avLst/>
          </a:prstGeom>
          <a:noFill/>
          <a:ln w="0">
            <a:noFill/>
          </a:ln>
        </p:spPr>
        <p:txBody>
          <a:bodyPr lIns="0" tIns="0" rIns="0" bIns="0" anchor="ctr">
            <a:noAutofit/>
          </a:bodyPr>
          <a:lstStyle/>
          <a:p>
            <a:pPr indent="0">
              <a:buNone/>
            </a:pPr>
            <a:endParaRPr lang="en-US" sz="1400" b="0" strike="noStrike" spc="-1">
              <a:solidFill>
                <a:srgbClr val="000000"/>
              </a:solidFill>
              <a:latin typeface="Arial"/>
            </a:endParaRPr>
          </a:p>
        </p:txBody>
      </p:sp>
      <p:sp>
        <p:nvSpPr>
          <p:cNvPr id="14"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en-US" sz="1400" b="0" strike="noStrike" spc="-1">
              <a:solidFill>
                <a:srgbClr val="000000"/>
              </a:solidFill>
              <a:latin typeface="Arial"/>
            </a:endParaRPr>
          </a:p>
        </p:txBody>
      </p:sp>
      <p:sp>
        <p:nvSpPr>
          <p:cNvPr id="4" name="PlaceHolder 3"/>
          <p:cNvSpPr>
            <a:spLocks noGrp="1"/>
          </p:cNvSpPr>
          <p:nvPr>
            <p:ph type="sldNum" idx="3"/>
          </p:nvPr>
        </p:nvSpPr>
        <p:spPr/>
        <p:txBody>
          <a:bodyPr/>
          <a:lstStyle/>
          <a:p>
            <a:fld id="{55088950-59E1-40F9-AA27-D8E29ECED5E7}"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21" name="PlaceHolder 1"/>
          <p:cNvSpPr>
            <a:spLocks noGrp="1"/>
          </p:cNvSpPr>
          <p:nvPr>
            <p:ph type="title"/>
          </p:nvPr>
        </p:nvSpPr>
        <p:spPr>
          <a:xfrm>
            <a:off x="98280" y="16200"/>
            <a:ext cx="8826120" cy="602280"/>
          </a:xfrm>
          <a:prstGeom prst="rect">
            <a:avLst/>
          </a:prstGeom>
          <a:noFill/>
          <a:ln w="0">
            <a:noFill/>
          </a:ln>
        </p:spPr>
        <p:txBody>
          <a:bodyPr lIns="0" tIns="0" rIns="0" bIns="0" anchor="ctr">
            <a:noAutofit/>
          </a:bodyPr>
          <a:lstStyle/>
          <a:p>
            <a:pPr indent="0">
              <a:buNone/>
            </a:pPr>
            <a:endParaRPr lang="en-US" sz="1400" b="0" strike="noStrike" spc="-1">
              <a:solidFill>
                <a:srgbClr val="000000"/>
              </a:solidFill>
              <a:latin typeface="Arial"/>
            </a:endParaRPr>
          </a:p>
        </p:txBody>
      </p:sp>
      <p:sp>
        <p:nvSpPr>
          <p:cNvPr id="22"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en-US" sz="1400" b="0" strike="noStrike" spc="-1">
              <a:solidFill>
                <a:srgbClr val="000000"/>
              </a:solidFill>
              <a:latin typeface="Arial"/>
            </a:endParaRPr>
          </a:p>
        </p:txBody>
      </p:sp>
      <p:sp>
        <p:nvSpPr>
          <p:cNvPr id="23"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en-US" sz="1400" b="0" strike="noStrike" spc="-1">
              <a:solidFill>
                <a:srgbClr val="000000"/>
              </a:solidFill>
              <a:latin typeface="Arial"/>
            </a:endParaRPr>
          </a:p>
        </p:txBody>
      </p:sp>
      <p:sp>
        <p:nvSpPr>
          <p:cNvPr id="5" name="PlaceHolder 4"/>
          <p:cNvSpPr>
            <a:spLocks noGrp="1"/>
          </p:cNvSpPr>
          <p:nvPr>
            <p:ph type="sldNum" idx="4"/>
          </p:nvPr>
        </p:nvSpPr>
        <p:spPr/>
        <p:txBody>
          <a:bodyPr/>
          <a:lstStyle/>
          <a:p>
            <a:fld id="{E709204A-E50C-43B0-8063-00E4E72A9893}"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29" name="PlaceHolder 1"/>
          <p:cNvSpPr>
            <a:spLocks noGrp="1"/>
          </p:cNvSpPr>
          <p:nvPr>
            <p:ph type="title"/>
          </p:nvPr>
        </p:nvSpPr>
        <p:spPr>
          <a:xfrm>
            <a:off x="98280" y="16200"/>
            <a:ext cx="8826120" cy="602280"/>
          </a:xfrm>
          <a:prstGeom prst="rect">
            <a:avLst/>
          </a:prstGeom>
          <a:noFill/>
          <a:ln w="0">
            <a:noFill/>
          </a:ln>
        </p:spPr>
        <p:txBody>
          <a:bodyPr lIns="0" tIns="0" rIns="0" bIns="0" anchor="ctr">
            <a:noAutofit/>
          </a:bodyPr>
          <a:lstStyle/>
          <a:p>
            <a:pPr indent="0">
              <a:buNone/>
            </a:pPr>
            <a:endParaRPr lang="en-US" sz="1400" b="0" strike="noStrike" spc="-1">
              <a:solidFill>
                <a:srgbClr val="000000"/>
              </a:solidFill>
              <a:latin typeface="Arial"/>
            </a:endParaRPr>
          </a:p>
        </p:txBody>
      </p:sp>
      <p:sp>
        <p:nvSpPr>
          <p:cNvPr id="3" name="PlaceHolder 2"/>
          <p:cNvSpPr>
            <a:spLocks noGrp="1"/>
          </p:cNvSpPr>
          <p:nvPr>
            <p:ph type="sldNum" idx="5"/>
          </p:nvPr>
        </p:nvSpPr>
        <p:spPr/>
        <p:txBody>
          <a:bodyPr/>
          <a:lstStyle/>
          <a:p>
            <a:fld id="{7B2CE6EA-80B6-4969-AEEF-E33120C27EA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
        <p:nvSpPr>
          <p:cNvPr id="2" name="PlaceHolder 1"/>
          <p:cNvSpPr>
            <a:spLocks noGrp="1"/>
          </p:cNvSpPr>
          <p:nvPr>
            <p:ph type="sldNum" idx="6"/>
          </p:nvPr>
        </p:nvSpPr>
        <p:spPr/>
        <p:txBody>
          <a:bodyPr/>
          <a:lstStyle/>
          <a:p>
            <a:fld id="{26253A51-074C-4AF1-A5EC-86A3A7085553}"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7"/>
          </p:nvPr>
        </p:nvSpPr>
        <p:spPr/>
        <p:txBody>
          <a:bodyPr/>
          <a:lstStyle/>
          <a:p>
            <a:fld id="{CAC8311F-44CA-4040-8AE0-1A390B165698}"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8"/>
          </p:nvPr>
        </p:nvSpPr>
        <p:spPr/>
        <p:txBody>
          <a:bodyPr/>
          <a:lstStyle/>
          <a:p>
            <a:fld id="{B95C665B-4818-4A45-9A62-79B13287CE0E}"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9"/>
          </p:nvPr>
        </p:nvSpPr>
        <p:spPr/>
        <p:txBody>
          <a:bodyPr/>
          <a:lstStyle/>
          <a:p>
            <a:fld id="{AC15CD45-E846-47BE-A635-70B9C7456B40}"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lstStyle/>
          <a:p>
            <a:fld id="{FC566E0E-0436-44AD-9C54-5E015BC986E0}"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5" name="Google Shape;10;p2"/>
          <p:cNvSpPr/>
          <p:nvPr/>
        </p:nvSpPr>
        <p:spPr>
          <a:xfrm flipH="1">
            <a:off x="8246520" y="4245840"/>
            <a:ext cx="897120" cy="897120"/>
          </a:xfrm>
          <a:prstGeom prst="rtTriangle">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strike="noStrike" spc="-1">
              <a:solidFill>
                <a:srgbClr val="000000"/>
              </a:solidFill>
              <a:latin typeface="Arial"/>
              <a:ea typeface="Arial"/>
            </a:endParaRPr>
          </a:p>
        </p:txBody>
      </p:sp>
      <p:sp>
        <p:nvSpPr>
          <p:cNvPr id="6" name="Google Shape;11;p2"/>
          <p:cNvSpPr/>
          <p:nvPr/>
        </p:nvSpPr>
        <p:spPr>
          <a:xfrm flipH="1">
            <a:off x="8246520" y="4245840"/>
            <a:ext cx="897120" cy="897120"/>
          </a:xfrm>
          <a:prstGeom prst="round1Rect">
            <a:avLst>
              <a:gd name="adj" fmla="val 16667"/>
            </a:avLst>
          </a:prstGeom>
          <a:solidFill>
            <a:schemeClr val="lt1">
              <a:alpha val="68000"/>
            </a:scheme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strike="noStrike" spc="-1">
              <a:solidFill>
                <a:srgbClr val="000000"/>
              </a:solidFill>
              <a:latin typeface="Arial"/>
              <a:ea typeface="Arial"/>
            </a:endParaRPr>
          </a:p>
        </p:txBody>
      </p:sp>
      <p:sp>
        <p:nvSpPr>
          <p:cNvPr id="2" name="PlaceHolder 1"/>
          <p:cNvSpPr>
            <a:spLocks noGrp="1"/>
          </p:cNvSpPr>
          <p:nvPr>
            <p:ph type="title"/>
          </p:nvPr>
        </p:nvSpPr>
        <p:spPr>
          <a:xfrm>
            <a:off x="390600" y="1819440"/>
            <a:ext cx="8221680" cy="933120"/>
          </a:xfrm>
          <a:prstGeom prst="rect">
            <a:avLst/>
          </a:prstGeom>
          <a:noFill/>
          <a:ln w="0">
            <a:noFill/>
          </a:ln>
        </p:spPr>
        <p:txBody>
          <a:bodyPr lIns="91440" tIns="91440" rIns="91440" bIns="91440" anchor="b">
            <a:noAutofit/>
          </a:bodyPr>
          <a:lstStyle/>
          <a:p>
            <a:pPr indent="0">
              <a:buNone/>
            </a:pPr>
            <a:r>
              <a:rPr lang="en-US" sz="4800" b="0" strike="noStrike" spc="-1">
                <a:solidFill>
                  <a:srgbClr val="000000"/>
                </a:solidFill>
                <a:latin typeface="Arial"/>
              </a:rPr>
              <a:t>Click to edit the title text format</a:t>
            </a:r>
          </a:p>
        </p:txBody>
      </p:sp>
      <p:sp>
        <p:nvSpPr>
          <p:cNvPr id="3" name="PlaceHolder 2"/>
          <p:cNvSpPr>
            <a:spLocks noGrp="1"/>
          </p:cNvSpPr>
          <p:nvPr>
            <p:ph type="sldNum" idx="1"/>
          </p:nvPr>
        </p:nvSpPr>
        <p:spPr>
          <a:xfrm>
            <a:off x="8523720" y="46954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strike="noStrike" spc="-1">
                <a:solidFill>
                  <a:schemeClr val="lt2"/>
                </a:solidFill>
                <a:latin typeface="Roboto"/>
                <a:ea typeface="Roboto"/>
              </a:defRPr>
            </a:lvl1pPr>
          </a:lstStyle>
          <a:p>
            <a:pPr indent="0" algn="r">
              <a:lnSpc>
                <a:spcPct val="100000"/>
              </a:lnSpc>
              <a:buNone/>
              <a:tabLst>
                <a:tab pos="0" algn="l"/>
              </a:tabLst>
            </a:pPr>
            <a:fld id="{582BA80B-F6D7-487F-B1D9-BC5B3F4ECA3A}" type="slidenum">
              <a:rPr lang="en" sz="1000" b="0" strike="noStrike" spc="-1">
                <a:solidFill>
                  <a:schemeClr val="lt2"/>
                </a:solidFill>
                <a:latin typeface="Roboto"/>
                <a:ea typeface="Roboto"/>
              </a:rPr>
              <a:t>‹#›</a:t>
            </a:fld>
            <a:endParaRPr lang="en-US" sz="1000" b="0" strike="noStrike" spc="-1">
              <a:solidFill>
                <a:srgbClr val="FFFFFF"/>
              </a:solidFill>
              <a:latin typeface="Times New Roman"/>
            </a:endParaRPr>
          </a:p>
        </p:txBody>
      </p:sp>
      <p:sp>
        <p:nvSpPr>
          <p:cNvPr id="4"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7" name="PlaceHolder 1"/>
          <p:cNvSpPr>
            <a:spLocks noGrp="1"/>
          </p:cNvSpPr>
          <p:nvPr>
            <p:ph type="sldNum" idx="2"/>
          </p:nvPr>
        </p:nvSpPr>
        <p:spPr>
          <a:xfrm>
            <a:off x="8523720" y="46954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strike="noStrike" spc="-1">
                <a:solidFill>
                  <a:schemeClr val="lt2"/>
                </a:solidFill>
                <a:latin typeface="Roboto"/>
                <a:ea typeface="Roboto"/>
              </a:defRPr>
            </a:lvl1pPr>
          </a:lstStyle>
          <a:p>
            <a:pPr indent="0" algn="r">
              <a:lnSpc>
                <a:spcPct val="100000"/>
              </a:lnSpc>
              <a:buNone/>
              <a:tabLst>
                <a:tab pos="0" algn="l"/>
              </a:tabLst>
            </a:pPr>
            <a:fld id="{F961C56D-86D4-4A4B-B76C-04E9A9D18562}" type="slidenum">
              <a:rPr lang="en" sz="1000" b="0" strike="noStrike" spc="-1">
                <a:solidFill>
                  <a:schemeClr val="lt2"/>
                </a:solidFill>
                <a:latin typeface="Roboto"/>
                <a:ea typeface="Roboto"/>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8" name="Google Shape;19;p4"/>
          <p:cNvSpPr/>
          <p:nvPr/>
        </p:nvSpPr>
        <p:spPr>
          <a:xfrm rot="10800000" flipH="1">
            <a:off x="-360" y="1686600"/>
            <a:ext cx="9143640" cy="3457080"/>
          </a:xfrm>
          <a:prstGeom prst="rect">
            <a:avLst/>
          </a:pr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strike="noStrike" spc="-1">
              <a:solidFill>
                <a:srgbClr val="000000"/>
              </a:solidFill>
              <a:latin typeface="Arial"/>
              <a:ea typeface="Arial"/>
            </a:endParaRPr>
          </a:p>
        </p:txBody>
      </p:sp>
      <p:sp>
        <p:nvSpPr>
          <p:cNvPr id="9" name="Google Shape;20;p4"/>
          <p:cNvSpPr/>
          <p:nvPr/>
        </p:nvSpPr>
        <p:spPr>
          <a:xfrm>
            <a:off x="0" y="1685880"/>
            <a:ext cx="9143640" cy="108360"/>
          </a:xfrm>
          <a:prstGeom prst="rect">
            <a:avLst/>
          </a:prstGeom>
          <a:gradFill rotWithShape="0">
            <a:gsLst>
              <a:gs pos="0">
                <a:srgbClr val="F9F9F9"/>
              </a:gs>
              <a:gs pos="36000">
                <a:srgbClr val="F9F9F9"/>
              </a:gs>
              <a:gs pos="80000">
                <a:srgbClr val="DEDEDE"/>
              </a:gs>
              <a:gs pos="100000">
                <a:srgbClr val="999999"/>
              </a:gs>
            </a:gsLst>
            <a:lin ang="16200000"/>
          </a:gradFill>
          <a:ln w="0">
            <a:noFill/>
          </a:ln>
        </p:spPr>
        <p:style>
          <a:lnRef idx="0">
            <a:scrgbClr r="0" g="0" b="0"/>
          </a:lnRef>
          <a:fillRef idx="0">
            <a:scrgbClr r="0" g="0" b="0"/>
          </a:fillRef>
          <a:effectRef idx="0">
            <a:scrgbClr r="0" g="0" b="0"/>
          </a:effectRef>
          <a:fontRef idx="minor"/>
        </p:style>
        <p:txBody>
          <a:bodyPr tIns="54360" bIns="54360" anchor="ctr">
            <a:noAutofit/>
          </a:bodyPr>
          <a:lstStyle/>
          <a:p>
            <a:pPr>
              <a:lnSpc>
                <a:spcPct val="100000"/>
              </a:lnSpc>
              <a:tabLst>
                <a:tab pos="0" algn="l"/>
              </a:tabLst>
            </a:pPr>
            <a:endParaRPr lang="en-US" sz="1400" b="0" strike="noStrike" spc="-1">
              <a:solidFill>
                <a:srgbClr val="000000"/>
              </a:solidFill>
              <a:latin typeface="Arial"/>
              <a:ea typeface="Arial"/>
            </a:endParaRPr>
          </a:p>
        </p:txBody>
      </p:sp>
      <p:sp>
        <p:nvSpPr>
          <p:cNvPr id="10" name="PlaceHolder 1"/>
          <p:cNvSpPr>
            <a:spLocks noGrp="1"/>
          </p:cNvSpPr>
          <p:nvPr>
            <p:ph type="title"/>
          </p:nvPr>
        </p:nvSpPr>
        <p:spPr>
          <a:xfrm>
            <a:off x="471960" y="738720"/>
            <a:ext cx="8221680" cy="767520"/>
          </a:xfrm>
          <a:prstGeom prst="rect">
            <a:avLst/>
          </a:prstGeom>
          <a:noFill/>
          <a:ln w="0">
            <a:noFill/>
          </a:ln>
        </p:spPr>
        <p:txBody>
          <a:bodyPr lIns="91440" tIns="91440" rIns="91440" bIns="91440" anchor="b">
            <a:noAutofit/>
          </a:bodyPr>
          <a:lstStyle/>
          <a:p>
            <a:pPr indent="0">
              <a:buNone/>
            </a:pPr>
            <a:r>
              <a:rPr lang="en-US" sz="3200" b="0" strike="noStrike" spc="-1">
                <a:solidFill>
                  <a:srgbClr val="000000"/>
                </a:solidFill>
                <a:latin typeface="Arial"/>
              </a:rPr>
              <a:t>Click to edit the title text format</a:t>
            </a:r>
          </a:p>
        </p:txBody>
      </p:sp>
      <p:sp>
        <p:nvSpPr>
          <p:cNvPr id="11" name="PlaceHolder 2"/>
          <p:cNvSpPr>
            <a:spLocks noGrp="1"/>
          </p:cNvSpPr>
          <p:nvPr>
            <p:ph type="body"/>
          </p:nvPr>
        </p:nvSpPr>
        <p:spPr>
          <a:xfrm>
            <a:off x="471960" y="1919160"/>
            <a:ext cx="8221680" cy="27097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US" sz="1800" b="0" strike="noStrike" spc="-1">
                <a:solidFill>
                  <a:srgbClr val="000000"/>
                </a:solidFill>
                <a:latin typeface="Arial"/>
              </a:rPr>
              <a:t>Seventh Outline Level</a:t>
            </a:r>
          </a:p>
        </p:txBody>
      </p:sp>
      <p:sp>
        <p:nvSpPr>
          <p:cNvPr id="12" name="PlaceHolder 3"/>
          <p:cNvSpPr>
            <a:spLocks noGrp="1"/>
          </p:cNvSpPr>
          <p:nvPr>
            <p:ph type="sldNum" idx="3"/>
          </p:nvPr>
        </p:nvSpPr>
        <p:spPr>
          <a:xfrm>
            <a:off x="8523720" y="46954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strike="noStrike" spc="-1">
                <a:solidFill>
                  <a:schemeClr val="lt2"/>
                </a:solidFill>
                <a:latin typeface="Roboto"/>
                <a:ea typeface="Roboto"/>
              </a:defRPr>
            </a:lvl1pPr>
          </a:lstStyle>
          <a:p>
            <a:pPr indent="0" algn="r">
              <a:lnSpc>
                <a:spcPct val="100000"/>
              </a:lnSpc>
              <a:buNone/>
              <a:tabLst>
                <a:tab pos="0" algn="l"/>
              </a:tabLst>
            </a:pPr>
            <a:fld id="{FDAB47F0-7B78-4BA2-B642-C90B97E459F7}" type="slidenum">
              <a:rPr lang="en" sz="1000" b="0" strike="noStrike" spc="-1">
                <a:solidFill>
                  <a:schemeClr val="lt2"/>
                </a:solidFill>
                <a:latin typeface="Roboto"/>
                <a:ea typeface="Roboto"/>
              </a:rPr>
              <a:t>‹#›</a:t>
            </a:fld>
            <a:endParaRPr lang="en-US" sz="10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5" name="Google Shape;25;p5"/>
          <p:cNvSpPr/>
          <p:nvPr/>
        </p:nvSpPr>
        <p:spPr>
          <a:xfrm rot="10800000" flipH="1">
            <a:off x="-360" y="1686600"/>
            <a:ext cx="9143640" cy="3457080"/>
          </a:xfrm>
          <a:prstGeom prst="rect">
            <a:avLst/>
          </a:pr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strike="noStrike" spc="-1">
              <a:solidFill>
                <a:srgbClr val="000000"/>
              </a:solidFill>
              <a:latin typeface="Arial"/>
              <a:ea typeface="Arial"/>
            </a:endParaRPr>
          </a:p>
        </p:txBody>
      </p:sp>
      <p:sp>
        <p:nvSpPr>
          <p:cNvPr id="16" name="Google Shape;26;p5"/>
          <p:cNvSpPr/>
          <p:nvPr/>
        </p:nvSpPr>
        <p:spPr>
          <a:xfrm>
            <a:off x="0" y="1685880"/>
            <a:ext cx="9143640" cy="108360"/>
          </a:xfrm>
          <a:prstGeom prst="rect">
            <a:avLst/>
          </a:prstGeom>
          <a:gradFill rotWithShape="0">
            <a:gsLst>
              <a:gs pos="0">
                <a:srgbClr val="F9F9F9"/>
              </a:gs>
              <a:gs pos="36000">
                <a:srgbClr val="F9F9F9"/>
              </a:gs>
              <a:gs pos="80000">
                <a:srgbClr val="DEDEDE"/>
              </a:gs>
              <a:gs pos="100000">
                <a:srgbClr val="999999"/>
              </a:gs>
            </a:gsLst>
            <a:lin ang="16200000"/>
          </a:gradFill>
          <a:ln w="0">
            <a:noFill/>
          </a:ln>
        </p:spPr>
        <p:style>
          <a:lnRef idx="0">
            <a:scrgbClr r="0" g="0" b="0"/>
          </a:lnRef>
          <a:fillRef idx="0">
            <a:scrgbClr r="0" g="0" b="0"/>
          </a:fillRef>
          <a:effectRef idx="0">
            <a:scrgbClr r="0" g="0" b="0"/>
          </a:effectRef>
          <a:fontRef idx="minor"/>
        </p:style>
        <p:txBody>
          <a:bodyPr tIns="54360" bIns="54360" anchor="ctr">
            <a:noAutofit/>
          </a:bodyPr>
          <a:lstStyle/>
          <a:p>
            <a:pPr>
              <a:lnSpc>
                <a:spcPct val="100000"/>
              </a:lnSpc>
              <a:tabLst>
                <a:tab pos="0" algn="l"/>
              </a:tabLst>
            </a:pPr>
            <a:endParaRPr lang="en-US" sz="1400" b="0" strike="noStrike" spc="-1">
              <a:solidFill>
                <a:srgbClr val="000000"/>
              </a:solidFill>
              <a:latin typeface="Arial"/>
              <a:ea typeface="Arial"/>
            </a:endParaRPr>
          </a:p>
        </p:txBody>
      </p:sp>
      <p:sp>
        <p:nvSpPr>
          <p:cNvPr id="17" name="PlaceHolder 1"/>
          <p:cNvSpPr>
            <a:spLocks noGrp="1"/>
          </p:cNvSpPr>
          <p:nvPr>
            <p:ph type="title"/>
          </p:nvPr>
        </p:nvSpPr>
        <p:spPr>
          <a:xfrm>
            <a:off x="471960" y="738720"/>
            <a:ext cx="8221680" cy="767520"/>
          </a:xfrm>
          <a:prstGeom prst="rect">
            <a:avLst/>
          </a:prstGeom>
          <a:noFill/>
          <a:ln w="0">
            <a:noFill/>
          </a:ln>
        </p:spPr>
        <p:txBody>
          <a:bodyPr lIns="91440" tIns="91440" rIns="91440" bIns="91440" anchor="b">
            <a:noAutofit/>
          </a:bodyPr>
          <a:lstStyle/>
          <a:p>
            <a:pPr indent="0">
              <a:buNone/>
            </a:pPr>
            <a:r>
              <a:rPr lang="en-US" sz="3200" b="0" strike="noStrike" spc="-1">
                <a:solidFill>
                  <a:srgbClr val="000000"/>
                </a:solidFill>
                <a:latin typeface="Arial"/>
              </a:rPr>
              <a:t>Click to edit the title text format</a:t>
            </a:r>
          </a:p>
        </p:txBody>
      </p:sp>
      <p:sp>
        <p:nvSpPr>
          <p:cNvPr id="18" name="PlaceHolder 2"/>
          <p:cNvSpPr>
            <a:spLocks noGrp="1"/>
          </p:cNvSpPr>
          <p:nvPr>
            <p:ph type="body"/>
          </p:nvPr>
        </p:nvSpPr>
        <p:spPr>
          <a:xfrm>
            <a:off x="471960" y="1919160"/>
            <a:ext cx="3999600" cy="27097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US" sz="14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US" sz="14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US" sz="1400" b="0" strike="noStrike" spc="-1">
                <a:solidFill>
                  <a:srgbClr val="000000"/>
                </a:solidFill>
                <a:latin typeface="Arial"/>
              </a:rPr>
              <a:t>Seventh Outline Level</a:t>
            </a:r>
          </a:p>
        </p:txBody>
      </p:sp>
      <p:sp>
        <p:nvSpPr>
          <p:cNvPr id="19" name="PlaceHolder 3"/>
          <p:cNvSpPr>
            <a:spLocks noGrp="1"/>
          </p:cNvSpPr>
          <p:nvPr>
            <p:ph type="body"/>
          </p:nvPr>
        </p:nvSpPr>
        <p:spPr>
          <a:xfrm>
            <a:off x="4694400" y="1919160"/>
            <a:ext cx="3999600" cy="27097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US" sz="14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US" sz="14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US" sz="1400" b="0" strike="noStrike" spc="-1">
                <a:solidFill>
                  <a:srgbClr val="000000"/>
                </a:solidFill>
                <a:latin typeface="Arial"/>
              </a:rPr>
              <a:t>Seventh Outline Level</a:t>
            </a:r>
          </a:p>
        </p:txBody>
      </p:sp>
      <p:sp>
        <p:nvSpPr>
          <p:cNvPr id="20" name="PlaceHolder 4"/>
          <p:cNvSpPr>
            <a:spLocks noGrp="1"/>
          </p:cNvSpPr>
          <p:nvPr>
            <p:ph type="sldNum" idx="4"/>
          </p:nvPr>
        </p:nvSpPr>
        <p:spPr>
          <a:xfrm>
            <a:off x="8523720" y="46954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strike="noStrike" spc="-1">
                <a:solidFill>
                  <a:schemeClr val="lt2"/>
                </a:solidFill>
                <a:latin typeface="Roboto"/>
                <a:ea typeface="Roboto"/>
              </a:defRPr>
            </a:lvl1pPr>
          </a:lstStyle>
          <a:p>
            <a:pPr indent="0" algn="r">
              <a:lnSpc>
                <a:spcPct val="100000"/>
              </a:lnSpc>
              <a:buNone/>
              <a:tabLst>
                <a:tab pos="0" algn="l"/>
              </a:tabLst>
            </a:pPr>
            <a:fld id="{F78BC1C4-67F1-4CBA-805B-4ECE37BDE471}" type="slidenum">
              <a:rPr lang="en" sz="1000" b="0" strike="noStrike" spc="-1">
                <a:solidFill>
                  <a:schemeClr val="lt2"/>
                </a:solidFill>
                <a:latin typeface="Roboto"/>
                <a:ea typeface="Roboto"/>
              </a:rPr>
              <a:t>‹#›</a:t>
            </a:fld>
            <a:endParaRPr lang="en-US" sz="10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24" name="Google Shape;32;p6"/>
          <p:cNvSpPr/>
          <p:nvPr/>
        </p:nvSpPr>
        <p:spPr>
          <a:xfrm rot="10800000" flipH="1">
            <a:off x="-360" y="657000"/>
            <a:ext cx="9143640" cy="4486680"/>
          </a:xfrm>
          <a:prstGeom prst="rect">
            <a:avLst/>
          </a:pr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strike="noStrike" spc="-1">
              <a:solidFill>
                <a:srgbClr val="000000"/>
              </a:solidFill>
              <a:latin typeface="Arial"/>
              <a:ea typeface="Arial"/>
            </a:endParaRPr>
          </a:p>
        </p:txBody>
      </p:sp>
      <p:sp>
        <p:nvSpPr>
          <p:cNvPr id="25" name="Google Shape;33;p6"/>
          <p:cNvSpPr/>
          <p:nvPr/>
        </p:nvSpPr>
        <p:spPr>
          <a:xfrm>
            <a:off x="0" y="656280"/>
            <a:ext cx="9143640" cy="108360"/>
          </a:xfrm>
          <a:prstGeom prst="rect">
            <a:avLst/>
          </a:prstGeom>
          <a:gradFill rotWithShape="0">
            <a:gsLst>
              <a:gs pos="0">
                <a:srgbClr val="F9F9F9"/>
              </a:gs>
              <a:gs pos="36000">
                <a:srgbClr val="F9F9F9"/>
              </a:gs>
              <a:gs pos="80000">
                <a:srgbClr val="DEDEDE"/>
              </a:gs>
              <a:gs pos="100000">
                <a:srgbClr val="999999"/>
              </a:gs>
            </a:gsLst>
            <a:lin ang="16200000"/>
          </a:gradFill>
          <a:ln w="0">
            <a:noFill/>
          </a:ln>
        </p:spPr>
        <p:style>
          <a:lnRef idx="0">
            <a:scrgbClr r="0" g="0" b="0"/>
          </a:lnRef>
          <a:fillRef idx="0">
            <a:scrgbClr r="0" g="0" b="0"/>
          </a:fillRef>
          <a:effectRef idx="0">
            <a:scrgbClr r="0" g="0" b="0"/>
          </a:effectRef>
          <a:fontRef idx="minor"/>
        </p:style>
        <p:txBody>
          <a:bodyPr tIns="54360" bIns="54360" anchor="ctr">
            <a:noAutofit/>
          </a:bodyPr>
          <a:lstStyle/>
          <a:p>
            <a:pPr>
              <a:lnSpc>
                <a:spcPct val="100000"/>
              </a:lnSpc>
              <a:tabLst>
                <a:tab pos="0" algn="l"/>
              </a:tabLst>
            </a:pPr>
            <a:endParaRPr lang="en-US" sz="1400" b="0" strike="noStrike" spc="-1">
              <a:solidFill>
                <a:srgbClr val="000000"/>
              </a:solidFill>
              <a:latin typeface="Arial"/>
              <a:ea typeface="Arial"/>
            </a:endParaRPr>
          </a:p>
        </p:txBody>
      </p:sp>
      <p:sp>
        <p:nvSpPr>
          <p:cNvPr id="26"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buNone/>
            </a:pPr>
            <a:r>
              <a:rPr lang="en-US" sz="1800" b="0" strike="noStrike" spc="-1">
                <a:solidFill>
                  <a:srgbClr val="000000"/>
                </a:solidFill>
                <a:latin typeface="Arial"/>
              </a:rPr>
              <a:t>Click to edit the title text format</a:t>
            </a:r>
          </a:p>
        </p:txBody>
      </p:sp>
      <p:sp>
        <p:nvSpPr>
          <p:cNvPr id="27" name="PlaceHolder 2"/>
          <p:cNvSpPr>
            <a:spLocks noGrp="1"/>
          </p:cNvSpPr>
          <p:nvPr>
            <p:ph type="sldNum" idx="5"/>
          </p:nvPr>
        </p:nvSpPr>
        <p:spPr>
          <a:xfrm>
            <a:off x="8523720" y="46954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strike="noStrike" spc="-1">
                <a:solidFill>
                  <a:schemeClr val="lt2"/>
                </a:solidFill>
                <a:latin typeface="Roboto"/>
                <a:ea typeface="Roboto"/>
              </a:defRPr>
            </a:lvl1pPr>
          </a:lstStyle>
          <a:p>
            <a:pPr indent="0" algn="r">
              <a:lnSpc>
                <a:spcPct val="100000"/>
              </a:lnSpc>
              <a:buNone/>
              <a:tabLst>
                <a:tab pos="0" algn="l"/>
              </a:tabLst>
            </a:pPr>
            <a:fld id="{98252E96-8D6F-44AB-A74B-2A974D9C21DB}" type="slidenum">
              <a:rPr lang="en" sz="1000" b="0" strike="noStrike" spc="-1">
                <a:solidFill>
                  <a:schemeClr val="lt2"/>
                </a:solidFill>
                <a:latin typeface="Roboto"/>
                <a:ea typeface="Roboto"/>
              </a:rPr>
              <a:t>‹#›</a:t>
            </a:fld>
            <a:endParaRPr lang="en-US" sz="1000" b="0" strike="noStrike" spc="-1">
              <a:solidFill>
                <a:srgbClr val="FFFFFF"/>
              </a:solidFill>
              <a:latin typeface="Times New Roman"/>
            </a:endParaRPr>
          </a:p>
        </p:txBody>
      </p:sp>
      <p:sp>
        <p:nvSpPr>
          <p:cNvPr id="28"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30" name="Google Shape;37;p7"/>
          <p:cNvSpPr/>
          <p:nvPr/>
        </p:nvSpPr>
        <p:spPr>
          <a:xfrm rot="10800000" flipH="1">
            <a:off x="3276360" y="360"/>
            <a:ext cx="5866920" cy="5143320"/>
          </a:xfrm>
          <a:prstGeom prst="rect">
            <a:avLst/>
          </a:pr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strike="noStrike" spc="-1">
              <a:solidFill>
                <a:srgbClr val="000000"/>
              </a:solidFill>
              <a:latin typeface="Arial"/>
              <a:ea typeface="Arial"/>
            </a:endParaRPr>
          </a:p>
        </p:txBody>
      </p:sp>
      <p:sp>
        <p:nvSpPr>
          <p:cNvPr id="31" name="Google Shape;38;p7"/>
          <p:cNvSpPr/>
          <p:nvPr/>
        </p:nvSpPr>
        <p:spPr>
          <a:xfrm rot="16200000">
            <a:off x="759240" y="2517840"/>
            <a:ext cx="5143320" cy="108360"/>
          </a:xfrm>
          <a:prstGeom prst="rect">
            <a:avLst/>
          </a:prstGeom>
          <a:gradFill rotWithShape="0">
            <a:gsLst>
              <a:gs pos="0">
                <a:srgbClr val="F9F9F9"/>
              </a:gs>
              <a:gs pos="36000">
                <a:srgbClr val="F9F9F9"/>
              </a:gs>
              <a:gs pos="80000">
                <a:srgbClr val="DEDEDE"/>
              </a:gs>
              <a:gs pos="100000">
                <a:srgbClr val="999999"/>
              </a:gs>
            </a:gsLst>
            <a:lin ang="10800000"/>
          </a:gradFill>
          <a:ln w="0">
            <a:noFill/>
          </a:ln>
        </p:spPr>
        <p:style>
          <a:lnRef idx="0">
            <a:scrgbClr r="0" g="0" b="0"/>
          </a:lnRef>
          <a:fillRef idx="0">
            <a:scrgbClr r="0" g="0" b="0"/>
          </a:fillRef>
          <a:effectRef idx="0">
            <a:scrgbClr r="0" g="0" b="0"/>
          </a:effectRef>
          <a:fontRef idx="minor"/>
        </p:style>
        <p:txBody>
          <a:bodyPr tIns="54360" bIns="54360" anchor="ctr">
            <a:noAutofit/>
          </a:bodyPr>
          <a:lstStyle/>
          <a:p>
            <a:pPr>
              <a:lnSpc>
                <a:spcPct val="100000"/>
              </a:lnSpc>
              <a:tabLst>
                <a:tab pos="0" algn="l"/>
              </a:tabLst>
            </a:pPr>
            <a:endParaRPr lang="en-US" sz="1400" b="0" strike="noStrike" spc="-1">
              <a:solidFill>
                <a:srgbClr val="000000"/>
              </a:solidFill>
              <a:latin typeface="Arial"/>
              <a:ea typeface="Arial"/>
            </a:endParaRPr>
          </a:p>
        </p:txBody>
      </p:sp>
      <p:sp>
        <p:nvSpPr>
          <p:cNvPr id="32" name="PlaceHolder 1"/>
          <p:cNvSpPr>
            <a:spLocks noGrp="1"/>
          </p:cNvSpPr>
          <p:nvPr>
            <p:ph type="title"/>
          </p:nvPr>
        </p:nvSpPr>
        <p:spPr>
          <a:xfrm>
            <a:off x="226080" y="357840"/>
            <a:ext cx="2807640" cy="952920"/>
          </a:xfrm>
          <a:prstGeom prst="rect">
            <a:avLst/>
          </a:prstGeom>
          <a:noFill/>
          <a:ln w="0">
            <a:noFill/>
          </a:ln>
        </p:spPr>
        <p:txBody>
          <a:bodyPr lIns="91440" tIns="91440" rIns="91440" bIns="91440" anchor="b">
            <a:noAutofit/>
          </a:bodyPr>
          <a:lstStyle/>
          <a:p>
            <a:pPr indent="0">
              <a:buNone/>
            </a:pPr>
            <a:r>
              <a:rPr lang="en-US" sz="2400" b="0" strike="noStrike" spc="-1">
                <a:solidFill>
                  <a:srgbClr val="000000"/>
                </a:solidFill>
                <a:latin typeface="Arial"/>
              </a:rPr>
              <a:t>Click to edit the title text format</a:t>
            </a:r>
          </a:p>
        </p:txBody>
      </p:sp>
      <p:sp>
        <p:nvSpPr>
          <p:cNvPr id="33" name="PlaceHolder 2"/>
          <p:cNvSpPr>
            <a:spLocks noGrp="1"/>
          </p:cNvSpPr>
          <p:nvPr>
            <p:ph type="body"/>
          </p:nvPr>
        </p:nvSpPr>
        <p:spPr>
          <a:xfrm>
            <a:off x="226080" y="1465920"/>
            <a:ext cx="2807640" cy="31633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en-US" sz="12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US" sz="12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US" sz="12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US" sz="12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US" sz="12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US" sz="12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US" sz="1200" b="0" strike="noStrike" spc="-1">
                <a:solidFill>
                  <a:srgbClr val="000000"/>
                </a:solidFill>
                <a:latin typeface="Arial"/>
              </a:rPr>
              <a:t>Seventh Outline Level</a:t>
            </a:r>
          </a:p>
        </p:txBody>
      </p:sp>
      <p:sp>
        <p:nvSpPr>
          <p:cNvPr id="34" name="PlaceHolder 3"/>
          <p:cNvSpPr>
            <a:spLocks noGrp="1"/>
          </p:cNvSpPr>
          <p:nvPr>
            <p:ph type="sldNum" idx="6"/>
          </p:nvPr>
        </p:nvSpPr>
        <p:spPr>
          <a:xfrm>
            <a:off x="8523720" y="46954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strike="noStrike" spc="-1">
                <a:solidFill>
                  <a:schemeClr val="lt2"/>
                </a:solidFill>
                <a:latin typeface="Roboto"/>
                <a:ea typeface="Roboto"/>
              </a:defRPr>
            </a:lvl1pPr>
          </a:lstStyle>
          <a:p>
            <a:pPr indent="0" algn="r">
              <a:lnSpc>
                <a:spcPct val="100000"/>
              </a:lnSpc>
              <a:buNone/>
              <a:tabLst>
                <a:tab pos="0" algn="l"/>
              </a:tabLst>
            </a:pPr>
            <a:fld id="{39245395-379A-47D4-AFA4-F9475BC2840B}" type="slidenum">
              <a:rPr lang="en" sz="1000" b="0" strike="noStrike" spc="-1">
                <a:solidFill>
                  <a:schemeClr val="lt2"/>
                </a:solidFill>
                <a:latin typeface="Roboto"/>
                <a:ea typeface="Roboto"/>
              </a:rPr>
              <a:t>‹#›</a:t>
            </a:fld>
            <a:endParaRPr lang="en-US" sz="10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490320" y="488160"/>
            <a:ext cx="6226920" cy="4090320"/>
          </a:xfrm>
          <a:prstGeom prst="rect">
            <a:avLst/>
          </a:prstGeom>
          <a:noFill/>
          <a:ln w="0">
            <a:noFill/>
          </a:ln>
        </p:spPr>
        <p:txBody>
          <a:bodyPr lIns="91440" tIns="91440" rIns="91440" bIns="91440" anchor="ctr">
            <a:noAutofit/>
          </a:bodyPr>
          <a:lstStyle/>
          <a:p>
            <a:pPr indent="0">
              <a:buNone/>
            </a:pPr>
            <a:r>
              <a:rPr lang="en-US" sz="6000" b="0" strike="noStrike" spc="-1">
                <a:solidFill>
                  <a:srgbClr val="000000"/>
                </a:solidFill>
                <a:latin typeface="Arial"/>
              </a:rPr>
              <a:t>Click to edit the title text format</a:t>
            </a:r>
          </a:p>
        </p:txBody>
      </p:sp>
      <p:sp>
        <p:nvSpPr>
          <p:cNvPr id="36" name="PlaceHolder 2"/>
          <p:cNvSpPr>
            <a:spLocks noGrp="1"/>
          </p:cNvSpPr>
          <p:nvPr>
            <p:ph type="sldNum" idx="7"/>
          </p:nvPr>
        </p:nvSpPr>
        <p:spPr>
          <a:xfrm>
            <a:off x="8523720" y="46954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strike="noStrike" spc="-1">
                <a:solidFill>
                  <a:schemeClr val="lt1"/>
                </a:solidFill>
                <a:latin typeface="Roboto"/>
                <a:ea typeface="Roboto"/>
              </a:defRPr>
            </a:lvl1pPr>
          </a:lstStyle>
          <a:p>
            <a:pPr indent="0" algn="r">
              <a:lnSpc>
                <a:spcPct val="100000"/>
              </a:lnSpc>
              <a:buNone/>
              <a:tabLst>
                <a:tab pos="0" algn="l"/>
              </a:tabLst>
            </a:pPr>
            <a:fld id="{1334A271-1A44-4715-BC52-9CE899E5016F}" type="slidenum">
              <a:rPr lang="en" sz="1000" b="0" strike="noStrike" spc="-1">
                <a:solidFill>
                  <a:schemeClr val="lt1"/>
                </a:solidFill>
                <a:latin typeface="Roboto"/>
                <a:ea typeface="Roboto"/>
              </a:rPr>
              <a:t>‹#›</a:t>
            </a:fld>
            <a:endParaRPr lang="en-US" sz="10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37" name="Google Shape;46;p9"/>
          <p:cNvSpPr/>
          <p:nvPr/>
        </p:nvSpPr>
        <p:spPr>
          <a:xfrm flipH="1">
            <a:off x="-720" y="0"/>
            <a:ext cx="4571640" cy="5143320"/>
          </a:xfrm>
          <a:prstGeom prst="rect">
            <a:avLst/>
          </a:pr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strike="noStrike" spc="-1">
              <a:solidFill>
                <a:srgbClr val="000000"/>
              </a:solidFill>
              <a:latin typeface="Arial"/>
              <a:ea typeface="Arial"/>
            </a:endParaRPr>
          </a:p>
        </p:txBody>
      </p:sp>
      <p:sp>
        <p:nvSpPr>
          <p:cNvPr id="38" name="Google Shape;47;p9"/>
          <p:cNvSpPr/>
          <p:nvPr/>
        </p:nvSpPr>
        <p:spPr>
          <a:xfrm rot="5400000">
            <a:off x="1946160" y="2517840"/>
            <a:ext cx="5142600" cy="108360"/>
          </a:xfrm>
          <a:prstGeom prst="rect">
            <a:avLst/>
          </a:prstGeom>
          <a:gradFill rotWithShape="0">
            <a:gsLst>
              <a:gs pos="0">
                <a:srgbClr val="F9F9F9"/>
              </a:gs>
              <a:gs pos="36000">
                <a:srgbClr val="F9F9F9"/>
              </a:gs>
              <a:gs pos="80000">
                <a:srgbClr val="DEDEDE"/>
              </a:gs>
              <a:gs pos="100000">
                <a:srgbClr val="999999"/>
              </a:gs>
            </a:gsLst>
            <a:lin ang="0"/>
          </a:gradFill>
          <a:ln w="0">
            <a:noFill/>
          </a:ln>
        </p:spPr>
        <p:style>
          <a:lnRef idx="0">
            <a:scrgbClr r="0" g="0" b="0"/>
          </a:lnRef>
          <a:fillRef idx="0">
            <a:scrgbClr r="0" g="0" b="0"/>
          </a:fillRef>
          <a:effectRef idx="0">
            <a:scrgbClr r="0" g="0" b="0"/>
          </a:effectRef>
          <a:fontRef idx="minor"/>
        </p:style>
        <p:txBody>
          <a:bodyPr tIns="54360" bIns="54360" anchor="ctr">
            <a:noAutofit/>
          </a:bodyPr>
          <a:lstStyle/>
          <a:p>
            <a:pPr>
              <a:lnSpc>
                <a:spcPct val="100000"/>
              </a:lnSpc>
              <a:tabLst>
                <a:tab pos="0" algn="l"/>
              </a:tabLst>
            </a:pPr>
            <a:endParaRPr lang="en-US" sz="1400" b="0" strike="noStrike" spc="-1">
              <a:solidFill>
                <a:srgbClr val="000000"/>
              </a:solidFill>
              <a:latin typeface="Arial"/>
              <a:ea typeface="Arial"/>
            </a:endParaRPr>
          </a:p>
        </p:txBody>
      </p:sp>
      <p:sp>
        <p:nvSpPr>
          <p:cNvPr id="39" name="PlaceHolder 1"/>
          <p:cNvSpPr>
            <a:spLocks noGrp="1"/>
          </p:cNvSpPr>
          <p:nvPr>
            <p:ph type="title"/>
          </p:nvPr>
        </p:nvSpPr>
        <p:spPr>
          <a:xfrm>
            <a:off x="265680" y="1233000"/>
            <a:ext cx="4044960" cy="1482120"/>
          </a:xfrm>
          <a:prstGeom prst="rect">
            <a:avLst/>
          </a:prstGeom>
          <a:noFill/>
          <a:ln w="0">
            <a:noFill/>
          </a:ln>
        </p:spPr>
        <p:txBody>
          <a:bodyPr lIns="91440" tIns="91440" rIns="91440" bIns="91440" anchor="b">
            <a:noAutofit/>
          </a:bodyPr>
          <a:lstStyle/>
          <a:p>
            <a:pPr indent="0">
              <a:buNone/>
            </a:pPr>
            <a:r>
              <a:rPr lang="en-US" sz="4200" b="0" strike="noStrike" spc="-1">
                <a:solidFill>
                  <a:srgbClr val="000000"/>
                </a:solidFill>
                <a:latin typeface="Arial"/>
              </a:rPr>
              <a:t>Click to edit the title text format</a:t>
            </a:r>
          </a:p>
        </p:txBody>
      </p:sp>
      <p:sp>
        <p:nvSpPr>
          <p:cNvPr id="40" name="PlaceHolder 2"/>
          <p:cNvSpPr>
            <a:spLocks noGrp="1"/>
          </p:cNvSpPr>
          <p:nvPr>
            <p:ph type="body"/>
          </p:nvPr>
        </p:nvSpPr>
        <p:spPr>
          <a:xfrm>
            <a:off x="4939560" y="724320"/>
            <a:ext cx="3836520" cy="3694680"/>
          </a:xfrm>
          <a:prstGeom prst="rect">
            <a:avLst/>
          </a:prstGeom>
          <a:noFill/>
          <a:ln w="0">
            <a:noFill/>
          </a:ln>
        </p:spPr>
        <p:txBody>
          <a:bodyPr lIns="91440" tIns="91440" rIns="91440" bIns="91440" anchor="ctr">
            <a:noAutofit/>
          </a:bodyPr>
          <a:lstStyle/>
          <a:p>
            <a:pPr marL="432000" indent="-324000">
              <a:spcBef>
                <a:spcPts val="1417"/>
              </a:spcBef>
              <a:buClr>
                <a:srgbClr val="FFFFFF"/>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US" sz="1800" b="0" strike="noStrike" spc="-1">
                <a:solidFill>
                  <a:srgbClr val="000000"/>
                </a:solidFill>
                <a:latin typeface="Arial"/>
              </a:rPr>
              <a:t>Seventh Outline Level</a:t>
            </a:r>
          </a:p>
        </p:txBody>
      </p:sp>
      <p:sp>
        <p:nvSpPr>
          <p:cNvPr id="41" name="PlaceHolder 3"/>
          <p:cNvSpPr>
            <a:spLocks noGrp="1"/>
          </p:cNvSpPr>
          <p:nvPr>
            <p:ph type="sldNum" idx="8"/>
          </p:nvPr>
        </p:nvSpPr>
        <p:spPr>
          <a:xfrm>
            <a:off x="8523720" y="46954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strike="noStrike" spc="-1">
                <a:solidFill>
                  <a:schemeClr val="lt1"/>
                </a:solidFill>
                <a:latin typeface="Roboto"/>
                <a:ea typeface="Roboto"/>
              </a:defRPr>
            </a:lvl1pPr>
          </a:lstStyle>
          <a:p>
            <a:pPr indent="0" algn="r">
              <a:lnSpc>
                <a:spcPct val="100000"/>
              </a:lnSpc>
              <a:buNone/>
              <a:tabLst>
                <a:tab pos="0" algn="l"/>
              </a:tabLst>
            </a:pPr>
            <a:fld id="{5ABB3979-5DF3-4651-8167-486445680F8D}" type="slidenum">
              <a:rPr lang="en" sz="1000" b="0" strike="noStrike" spc="-1">
                <a:solidFill>
                  <a:schemeClr val="lt1"/>
                </a:solidFill>
                <a:latin typeface="Roboto"/>
                <a:ea typeface="Roboto"/>
              </a:rPr>
              <a:t>‹#›</a:t>
            </a:fld>
            <a:endParaRPr lang="en-US" sz="10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42" name="Google Shape;53;p10"/>
          <p:cNvSpPr/>
          <p:nvPr/>
        </p:nvSpPr>
        <p:spPr>
          <a:xfrm rot="10800000" flipH="1">
            <a:off x="-360" y="360"/>
            <a:ext cx="9143640" cy="4695480"/>
          </a:xfrm>
          <a:prstGeom prst="rect">
            <a:avLst/>
          </a:pr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strike="noStrike" spc="-1">
              <a:solidFill>
                <a:srgbClr val="000000"/>
              </a:solidFill>
              <a:latin typeface="Arial"/>
              <a:ea typeface="Arial"/>
            </a:endParaRPr>
          </a:p>
        </p:txBody>
      </p:sp>
      <p:sp>
        <p:nvSpPr>
          <p:cNvPr id="43" name="Google Shape;54;p10"/>
          <p:cNvSpPr/>
          <p:nvPr/>
        </p:nvSpPr>
        <p:spPr>
          <a:xfrm rot="10800000" flipH="1">
            <a:off x="-360" y="4623120"/>
            <a:ext cx="9143640" cy="73800"/>
          </a:xfrm>
          <a:prstGeom prst="rect">
            <a:avLst/>
          </a:prstGeom>
          <a:gradFill rotWithShape="0">
            <a:gsLst>
              <a:gs pos="0">
                <a:srgbClr val="F9F9F9"/>
              </a:gs>
              <a:gs pos="36000">
                <a:srgbClr val="F9F9F9"/>
              </a:gs>
              <a:gs pos="80000">
                <a:srgbClr val="DEDEDE"/>
              </a:gs>
              <a:gs pos="100000">
                <a:srgbClr val="999999"/>
              </a:gs>
            </a:gsLst>
            <a:lin ang="5394000"/>
          </a:gradFill>
          <a:ln w="0">
            <a:noFill/>
          </a:ln>
        </p:spPr>
        <p:style>
          <a:lnRef idx="0">
            <a:scrgbClr r="0" g="0" b="0"/>
          </a:lnRef>
          <a:fillRef idx="0">
            <a:scrgbClr r="0" g="0" b="0"/>
          </a:fillRef>
          <a:effectRef idx="0">
            <a:scrgbClr r="0" g="0" b="0"/>
          </a:effectRef>
          <a:fontRef idx="minor"/>
        </p:style>
        <p:txBody>
          <a:bodyPr tIns="37080" bIns="37080" anchor="ctr">
            <a:noAutofit/>
          </a:bodyPr>
          <a:lstStyle/>
          <a:p>
            <a:pPr>
              <a:lnSpc>
                <a:spcPct val="100000"/>
              </a:lnSpc>
              <a:tabLst>
                <a:tab pos="0" algn="l"/>
              </a:tabLst>
            </a:pPr>
            <a:endParaRPr lang="en-US" sz="1400" b="0" strike="noStrike" spc="-1">
              <a:solidFill>
                <a:srgbClr val="000000"/>
              </a:solidFill>
              <a:latin typeface="Arial"/>
              <a:ea typeface="Arial"/>
            </a:endParaRPr>
          </a:p>
        </p:txBody>
      </p:sp>
      <p:sp>
        <p:nvSpPr>
          <p:cNvPr id="44" name="PlaceHolder 1"/>
          <p:cNvSpPr>
            <a:spLocks noGrp="1"/>
          </p:cNvSpPr>
          <p:nvPr>
            <p:ph type="body"/>
          </p:nvPr>
        </p:nvSpPr>
        <p:spPr>
          <a:xfrm>
            <a:off x="57240" y="4696920"/>
            <a:ext cx="8381520" cy="446400"/>
          </a:xfrm>
          <a:prstGeom prst="rect">
            <a:avLst/>
          </a:prstGeom>
          <a:noFill/>
          <a:ln w="0">
            <a:noFill/>
          </a:ln>
        </p:spPr>
        <p:txBody>
          <a:bodyPr lIns="91440" tIns="91440" rIns="91440" bIns="91440" anchor="ctr">
            <a:noAutofit/>
          </a:bodyPr>
          <a:lstStyle/>
          <a:p>
            <a:pPr marL="432000" indent="-324000">
              <a:spcBef>
                <a:spcPts val="1417"/>
              </a:spcBef>
              <a:buClr>
                <a:srgbClr val="FFFFFF"/>
              </a:buClr>
              <a:buSzPct val="45000"/>
              <a:buFont typeface="Wingdings" charset="2"/>
              <a:buChar char=""/>
            </a:pPr>
            <a:r>
              <a:rPr lang="en-US" sz="12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US" sz="12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US" sz="12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US" sz="12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US" sz="12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US" sz="12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US" sz="1200" b="0" strike="noStrike" spc="-1">
                <a:solidFill>
                  <a:srgbClr val="000000"/>
                </a:solidFill>
                <a:latin typeface="Arial"/>
              </a:rPr>
              <a:t>Seventh Outline Level</a:t>
            </a:r>
          </a:p>
        </p:txBody>
      </p:sp>
      <p:sp>
        <p:nvSpPr>
          <p:cNvPr id="45" name="PlaceHolder 2"/>
          <p:cNvSpPr>
            <a:spLocks noGrp="1"/>
          </p:cNvSpPr>
          <p:nvPr>
            <p:ph type="sldNum" idx="9"/>
          </p:nvPr>
        </p:nvSpPr>
        <p:spPr>
          <a:xfrm>
            <a:off x="8523720" y="46954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strike="noStrike" spc="-1">
                <a:solidFill>
                  <a:schemeClr val="lt1"/>
                </a:solidFill>
                <a:latin typeface="Roboto"/>
                <a:ea typeface="Roboto"/>
              </a:defRPr>
            </a:lvl1pPr>
          </a:lstStyle>
          <a:p>
            <a:pPr indent="0" algn="r">
              <a:lnSpc>
                <a:spcPct val="100000"/>
              </a:lnSpc>
              <a:buNone/>
              <a:tabLst>
                <a:tab pos="0" algn="l"/>
              </a:tabLst>
            </a:pPr>
            <a:fld id="{0D20142D-5361-4C3A-B667-557C9F324C15}" type="slidenum">
              <a:rPr lang="en" sz="1000" b="0" strike="noStrike" spc="-1">
                <a:solidFill>
                  <a:schemeClr val="lt1"/>
                </a:solidFill>
                <a:latin typeface="Roboto"/>
                <a:ea typeface="Roboto"/>
              </a:rPr>
              <a:t>‹#›</a:t>
            </a:fld>
            <a:endParaRPr lang="en-US" sz="10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475560" y="1258560"/>
            <a:ext cx="8221680" cy="1963080"/>
          </a:xfrm>
          <a:prstGeom prst="rect">
            <a:avLst/>
          </a:prstGeom>
          <a:noFill/>
          <a:ln w="0">
            <a:noFill/>
          </a:ln>
        </p:spPr>
        <p:txBody>
          <a:bodyPr lIns="91440" tIns="91440" rIns="91440" bIns="91440" anchor="b">
            <a:noAutofit/>
          </a:bodyPr>
          <a:lstStyle/>
          <a:p>
            <a:pPr indent="0" algn="ctr">
              <a:lnSpc>
                <a:spcPct val="100000"/>
              </a:lnSpc>
              <a:buNone/>
            </a:pPr>
            <a:r>
              <a:rPr lang="en-US" sz="12000" b="0" strike="noStrike" spc="-1">
                <a:solidFill>
                  <a:schemeClr val="dk2"/>
                </a:solidFill>
                <a:latin typeface="Roboto"/>
                <a:ea typeface="Roboto"/>
              </a:rPr>
              <a:t>xx%</a:t>
            </a:r>
            <a:endParaRPr lang="en-US" sz="12000" b="0" strike="noStrike" spc="-1">
              <a:solidFill>
                <a:srgbClr val="000000"/>
              </a:solidFill>
              <a:latin typeface="Arial"/>
            </a:endParaRPr>
          </a:p>
        </p:txBody>
      </p:sp>
      <p:sp>
        <p:nvSpPr>
          <p:cNvPr id="47" name="PlaceHolder 2"/>
          <p:cNvSpPr>
            <a:spLocks noGrp="1"/>
          </p:cNvSpPr>
          <p:nvPr>
            <p:ph type="body"/>
          </p:nvPr>
        </p:nvSpPr>
        <p:spPr>
          <a:xfrm>
            <a:off x="475560" y="3304800"/>
            <a:ext cx="8221680" cy="13003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48" name="PlaceHolder 3"/>
          <p:cNvSpPr>
            <a:spLocks noGrp="1"/>
          </p:cNvSpPr>
          <p:nvPr>
            <p:ph type="sldNum" idx="10"/>
          </p:nvPr>
        </p:nvSpPr>
        <p:spPr>
          <a:xfrm>
            <a:off x="8523720" y="46954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strike="noStrike" spc="-1">
                <a:solidFill>
                  <a:schemeClr val="lt2"/>
                </a:solidFill>
                <a:latin typeface="Roboto"/>
                <a:ea typeface="Roboto"/>
              </a:defRPr>
            </a:lvl1pPr>
          </a:lstStyle>
          <a:p>
            <a:pPr indent="0" algn="r">
              <a:lnSpc>
                <a:spcPct val="100000"/>
              </a:lnSpc>
              <a:buNone/>
              <a:tabLst>
                <a:tab pos="0" algn="l"/>
              </a:tabLst>
            </a:pPr>
            <a:fld id="{AD80A6C5-C693-4080-9867-AF42189015E6}" type="slidenum">
              <a:rPr lang="en" sz="1000" b="0" strike="noStrike" spc="-1">
                <a:solidFill>
                  <a:schemeClr val="lt2"/>
                </a:solidFill>
                <a:latin typeface="Roboto"/>
                <a:ea typeface="Roboto"/>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8" Type="http://schemas.openxmlformats.org/officeDocument/2006/relationships/hyperlink" Target="https://www.youtube.com/watch?v=a2QgdDk4Xjw&amp;list=PLjc8ejfjpgTf0LaDEHgLB3gCHZYcNtsoX" TargetMode="External"/><Relationship Id="rId3" Type="http://schemas.openxmlformats.org/officeDocument/2006/relationships/hyperlink" Target="https://forms.gle/DQgXpr2tjddgtbJF7" TargetMode="External"/><Relationship Id="rId7" Type="http://schemas.openxmlformats.org/officeDocument/2006/relationships/hyperlink" Target="http://nptel.ac.in/" TargetMode="External"/><Relationship Id="rId2" Type="http://schemas.openxmlformats.org/officeDocument/2006/relationships/hyperlink" Target="https://forms.gle/RyXCA682kmZ2KxqNA" TargetMode="External"/><Relationship Id="rId1" Type="http://schemas.openxmlformats.org/officeDocument/2006/relationships/slideLayout" Target="../slideLayouts/slideLayout5.xml"/><Relationship Id="rId6" Type="http://schemas.openxmlformats.org/officeDocument/2006/relationships/hyperlink" Target="https://www.youtube.com/watch?v=fSuqTgnCVRg" TargetMode="External"/><Relationship Id="rId5" Type="http://schemas.openxmlformats.org/officeDocument/2006/relationships/hyperlink" Target="https://wps.pearsoned.co.uk/wps/media/objects/12987/13299709/rsh_qam11_module04.pdf" TargetMode="External"/><Relationship Id="rId4" Type="http://schemas.openxmlformats.org/officeDocument/2006/relationships/hyperlink" Target="https://docs.google.com/document/d/12pArDqY1dIdrl-3KdioyF6IjXBvo7nU7wwyxy3N6-C0/ed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390600" y="1475280"/>
            <a:ext cx="8221680" cy="933120"/>
          </a:xfrm>
          <a:prstGeom prst="rect">
            <a:avLst/>
          </a:prstGeom>
          <a:noFill/>
          <a:ln w="0">
            <a:noFill/>
          </a:ln>
        </p:spPr>
        <p:txBody>
          <a:bodyPr lIns="91440" tIns="91440" rIns="91440" bIns="91440" anchor="b">
            <a:noAutofit/>
          </a:bodyPr>
          <a:lstStyle/>
          <a:p>
            <a:pPr indent="0">
              <a:lnSpc>
                <a:spcPct val="100000"/>
              </a:lnSpc>
              <a:buNone/>
              <a:tabLst>
                <a:tab pos="0" algn="l"/>
              </a:tabLst>
            </a:pPr>
            <a:r>
              <a:rPr lang="en" sz="4800" b="0" strike="noStrike" spc="-1">
                <a:solidFill>
                  <a:schemeClr val="lt1"/>
                </a:solidFill>
                <a:latin typeface="Roboto"/>
                <a:ea typeface="Roboto"/>
              </a:rPr>
              <a:t>Module 05: Game Theory</a:t>
            </a:r>
            <a:endParaRPr lang="en-US" sz="4800" b="0" strike="noStrike" spc="-1">
              <a:solidFill>
                <a:srgbClr val="000000"/>
              </a:solidFill>
              <a:latin typeface="Arial"/>
            </a:endParaRPr>
          </a:p>
        </p:txBody>
      </p:sp>
      <p:sp>
        <p:nvSpPr>
          <p:cNvPr id="50" name="PlaceHolder 2"/>
          <p:cNvSpPr>
            <a:spLocks noGrp="1"/>
          </p:cNvSpPr>
          <p:nvPr>
            <p:ph type="subTitle"/>
          </p:nvPr>
        </p:nvSpPr>
        <p:spPr>
          <a:xfrm>
            <a:off x="390600" y="2789280"/>
            <a:ext cx="8221680" cy="43272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1800" spc="-1" dirty="0">
                <a:solidFill>
                  <a:schemeClr val="lt1"/>
                </a:solidFill>
                <a:latin typeface="Roboto"/>
                <a:ea typeface="Roboto"/>
              </a:rPr>
              <a:t>July</a:t>
            </a:r>
            <a:r>
              <a:rPr lang="en" sz="1800" b="0" strike="noStrike" spc="-1" dirty="0">
                <a:solidFill>
                  <a:schemeClr val="lt1"/>
                </a:solidFill>
                <a:latin typeface="Roboto"/>
                <a:ea typeface="Roboto"/>
              </a:rPr>
              <a:t> </a:t>
            </a:r>
            <a:r>
              <a:rPr lang="en" sz="1800" spc="-1" dirty="0">
                <a:solidFill>
                  <a:schemeClr val="lt1"/>
                </a:solidFill>
                <a:latin typeface="Roboto"/>
                <a:ea typeface="Roboto"/>
              </a:rPr>
              <a:t>17th</a:t>
            </a:r>
            <a:r>
              <a:rPr lang="en" sz="1800" b="0" strike="noStrike" spc="-1" dirty="0">
                <a:solidFill>
                  <a:schemeClr val="lt1"/>
                </a:solidFill>
                <a:latin typeface="Roboto"/>
                <a:ea typeface="Roboto"/>
              </a:rPr>
              <a:t>, 2026</a:t>
            </a:r>
            <a:endParaRPr lang="en-US" sz="1800" b="0" strike="noStrike" spc="-1" dirty="0">
              <a:solidFill>
                <a:srgbClr val="FFFFF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390600" y="885240"/>
            <a:ext cx="8221680" cy="933120"/>
          </a:xfrm>
          <a:prstGeom prst="rect">
            <a:avLst/>
          </a:prstGeom>
          <a:noFill/>
          <a:ln w="0">
            <a:noFill/>
          </a:ln>
        </p:spPr>
        <p:txBody>
          <a:bodyPr lIns="91440" tIns="91440" rIns="91440" bIns="91440" anchor="b">
            <a:noAutofit/>
          </a:bodyPr>
          <a:lstStyle/>
          <a:p>
            <a:pPr indent="0">
              <a:lnSpc>
                <a:spcPct val="100000"/>
              </a:lnSpc>
              <a:buNone/>
              <a:tabLst>
                <a:tab pos="0" algn="l"/>
              </a:tabLst>
            </a:pPr>
            <a:r>
              <a:rPr lang="en" sz="4200" b="0" strike="noStrike" spc="-1">
                <a:solidFill>
                  <a:schemeClr val="lt1"/>
                </a:solidFill>
                <a:latin typeface="Roboto"/>
                <a:ea typeface="Roboto"/>
              </a:rPr>
              <a:t>Detailed Contents</a:t>
            </a:r>
            <a:endParaRPr lang="en-US" sz="4200" b="0" strike="noStrike" spc="-1">
              <a:solidFill>
                <a:srgbClr val="000000"/>
              </a:solidFill>
              <a:latin typeface="Arial"/>
            </a:endParaRPr>
          </a:p>
        </p:txBody>
      </p:sp>
      <p:sp>
        <p:nvSpPr>
          <p:cNvPr id="52" name="PlaceHolder 2"/>
          <p:cNvSpPr>
            <a:spLocks noGrp="1"/>
          </p:cNvSpPr>
          <p:nvPr>
            <p:ph type="subTitle"/>
          </p:nvPr>
        </p:nvSpPr>
        <p:spPr>
          <a:xfrm>
            <a:off x="418680" y="2322360"/>
            <a:ext cx="8221680" cy="1420200"/>
          </a:xfrm>
          <a:prstGeom prst="rect">
            <a:avLst/>
          </a:prstGeom>
          <a:noFill/>
          <a:ln w="0">
            <a:noFill/>
          </a:ln>
        </p:spPr>
        <p:txBody>
          <a:bodyPr lIns="91440" tIns="91440" rIns="91440" bIns="91440" anchor="t">
            <a:noAutofit/>
          </a:bodyPr>
          <a:lstStyle/>
          <a:p>
            <a:pPr indent="0" algn="just">
              <a:lnSpc>
                <a:spcPct val="100000"/>
              </a:lnSpc>
              <a:buNone/>
              <a:tabLst>
                <a:tab pos="0" algn="l"/>
              </a:tabLst>
            </a:pPr>
            <a:r>
              <a:rPr lang="en" sz="1800" b="0" strike="noStrike" spc="-1">
                <a:solidFill>
                  <a:schemeClr val="lt1"/>
                </a:solidFill>
                <a:latin typeface="Roboto"/>
                <a:ea typeface="Roboto"/>
              </a:rPr>
              <a:t>Game Theory. Competitive games, rectangular game, saddle point, minimax (maximin) method of optimal strategies, value of the game. Solution of games with saddle points, dominance principle. Rectangular games without saddle point – mixed strategy for 2 X 2 games.</a:t>
            </a:r>
            <a:endParaRPr lang="en-US" sz="1800" b="0" strike="noStrike" spc="-1">
              <a:solidFill>
                <a:srgbClr val="FFFFFF"/>
              </a:solidFill>
              <a:latin typeface="Arial"/>
            </a:endParaRPr>
          </a:p>
          <a:p>
            <a:pPr indent="0" algn="just">
              <a:lnSpc>
                <a:spcPct val="100000"/>
              </a:lnSpc>
              <a:buNone/>
              <a:tabLst>
                <a:tab pos="0" algn="l"/>
              </a:tabLst>
            </a:pPr>
            <a:endParaRPr lang="en-US" sz="1800" b="0" strike="noStrike" spc="-1">
              <a:solidFill>
                <a:srgbClr val="FFFFFF"/>
              </a:solidFill>
              <a:latin typeface="Arial"/>
            </a:endParaRPr>
          </a:p>
          <a:p>
            <a:pPr indent="0" algn="just">
              <a:lnSpc>
                <a:spcPct val="100000"/>
              </a:lnSpc>
              <a:buNone/>
              <a:tabLst>
                <a:tab pos="0" algn="l"/>
              </a:tabLst>
            </a:pPr>
            <a:r>
              <a:rPr lang="en" sz="1800" b="0" strike="noStrike" spc="-1">
                <a:solidFill>
                  <a:schemeClr val="lt1"/>
                </a:solidFill>
                <a:latin typeface="Roboto"/>
                <a:ea typeface="Roboto"/>
              </a:rPr>
              <a:t>**05 Hrs.</a:t>
            </a:r>
            <a:endParaRPr lang="en-US" sz="1800" b="0" strike="noStrike" spc="-1">
              <a:solidFill>
                <a:srgbClr val="FFFFFF"/>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lnSpc>
                <a:spcPct val="100000"/>
              </a:lnSpc>
              <a:buNone/>
            </a:pPr>
            <a:r>
              <a:rPr lang="en-US" sz="1800" b="1" strike="noStrike" spc="-1">
                <a:solidFill>
                  <a:schemeClr val="lt1"/>
                </a:solidFill>
                <a:latin typeface="Roboto"/>
                <a:ea typeface="Roboto"/>
              </a:rPr>
              <a:t>The Prisoner's Dilemma</a:t>
            </a:r>
            <a:endParaRPr lang="en-US" sz="1800" b="0" strike="noStrike" spc="-1">
              <a:solidFill>
                <a:srgbClr val="000000"/>
              </a:solidFill>
              <a:latin typeface="Arial"/>
            </a:endParaRPr>
          </a:p>
        </p:txBody>
      </p:sp>
      <p:pic>
        <p:nvPicPr>
          <p:cNvPr id="54" name="Picture 2"/>
          <p:cNvPicPr/>
          <p:nvPr/>
        </p:nvPicPr>
        <p:blipFill>
          <a:blip r:embed="rId2"/>
          <a:stretch/>
        </p:blipFill>
        <p:spPr>
          <a:xfrm>
            <a:off x="4782960" y="847800"/>
            <a:ext cx="4077720" cy="2361600"/>
          </a:xfrm>
          <a:prstGeom prst="rect">
            <a:avLst/>
          </a:prstGeom>
          <a:ln w="9525">
            <a:noFill/>
          </a:ln>
        </p:spPr>
      </p:pic>
      <p:sp>
        <p:nvSpPr>
          <p:cNvPr id="55" name="Rectangle 3"/>
          <p:cNvSpPr/>
          <p:nvPr/>
        </p:nvSpPr>
        <p:spPr>
          <a:xfrm>
            <a:off x="173520" y="846720"/>
            <a:ext cx="4571640" cy="265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en-US" sz="1400" b="0" strike="noStrike" spc="-1">
                <a:solidFill>
                  <a:srgbClr val="000000"/>
                </a:solidFill>
                <a:latin typeface="Arial"/>
                <a:ea typeface="Arial"/>
              </a:rPr>
              <a:t>The </a:t>
            </a:r>
            <a:r>
              <a:rPr lang="en-US" sz="1400" b="1" strike="noStrike" spc="-1">
                <a:solidFill>
                  <a:srgbClr val="000000"/>
                </a:solidFill>
                <a:latin typeface="Arial"/>
                <a:ea typeface="Arial"/>
              </a:rPr>
              <a:t>prisoner's dilemma</a:t>
            </a:r>
            <a:r>
              <a:rPr lang="en-US" sz="1400" b="0" strike="noStrike" spc="-1">
                <a:solidFill>
                  <a:srgbClr val="000000"/>
                </a:solidFill>
                <a:latin typeface="Arial"/>
                <a:ea typeface="Arial"/>
              </a:rPr>
              <a:t> is the story of two criminals who have been arrested for a heinous crime and are being interrogated separately. Each knows that if neither of them talks, the case against them is weak and they will be convicted and punished for lesser charges. If this happens, each will get one year in prison. If both confess, each will get 20 years in prison. If only one confesses and testifies against the other, the one who did not cooperate with the police will get a life sentence and the one who did cooperate will get parole. The table below illustrates the structure of payoffs.</a:t>
            </a:r>
            <a:endParaRPr lang="en-US" sz="1400" b="0" strike="noStrike" spc="-1">
              <a:solidFill>
                <a:srgbClr val="FFFFFF"/>
              </a:solidFill>
              <a:latin typeface="Arial"/>
            </a:endParaRPr>
          </a:p>
        </p:txBody>
      </p:sp>
      <p:sp>
        <p:nvSpPr>
          <p:cNvPr id="56" name="Rectangle 4"/>
          <p:cNvSpPr/>
          <p:nvPr/>
        </p:nvSpPr>
        <p:spPr>
          <a:xfrm>
            <a:off x="320400" y="4464720"/>
            <a:ext cx="728856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strike="noStrike" spc="-1">
                <a:solidFill>
                  <a:srgbClr val="000000"/>
                </a:solidFill>
                <a:latin typeface="Arial"/>
                <a:ea typeface="Arial"/>
              </a:rPr>
              <a:t>Ref: http://ingrimayne.com/econ/IndividualGroup/PrisDilm.html</a:t>
            </a:r>
            <a:endParaRPr lang="en-US" sz="1400" b="0" strike="noStrike" spc="-1">
              <a:solidFill>
                <a:srgbClr val="FFFFFF"/>
              </a:solidFill>
              <a:latin typeface="Arial"/>
            </a:endParaRPr>
          </a:p>
        </p:txBody>
      </p:sp>
      <p:sp>
        <p:nvSpPr>
          <p:cNvPr id="57" name="Rectangle 5"/>
          <p:cNvSpPr/>
          <p:nvPr/>
        </p:nvSpPr>
        <p:spPr>
          <a:xfrm>
            <a:off x="215640" y="3484800"/>
            <a:ext cx="7992720" cy="115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en-US" sz="1400" b="0" strike="noStrike" spc="-1">
                <a:solidFill>
                  <a:srgbClr val="000000"/>
                </a:solidFill>
                <a:latin typeface="Arial"/>
                <a:ea typeface="Arial"/>
              </a:rPr>
              <a:t>Nash equilibrium: (in economics and game theory) a stable state of a system involving the interaction of different participants, in which no participant can gain by a unilateral change of strategy if the strategies of the others remain unchanged. </a:t>
            </a:r>
            <a:endParaRPr lang="en-US" sz="1400" b="0" strike="noStrike" spc="-1">
              <a:solidFill>
                <a:srgbClr val="FFFFFF"/>
              </a:solidFill>
              <a:latin typeface="Arial"/>
            </a:endParaRPr>
          </a:p>
          <a:p>
            <a:pPr>
              <a:lnSpc>
                <a:spcPct val="100000"/>
              </a:lnSpc>
            </a:pPr>
            <a:br>
              <a:rPr sz="1400"/>
            </a:br>
            <a:endParaRPr lang="en-US" sz="1400" b="0" strike="noStrike" spc="-1">
              <a:solidFill>
                <a:srgbClr val="FFFFFF"/>
              </a:solid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checkerboard(across)">
                                      <p:cBhvr additive="repl">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 calcmode="lin" valueType="num">
                                      <p:cBhvr additive="repl">
                                        <p:cTn id="12" dur="500" fill="hold"/>
                                        <p:tgtEl>
                                          <p:spTgt spid="55"/>
                                        </p:tgtEl>
                                        <p:attrNameLst>
                                          <p:attrName>ppt_x</p:attrName>
                                        </p:attrNameLst>
                                      </p:cBhvr>
                                      <p:tavLst>
                                        <p:tav tm="0">
                                          <p:val>
                                            <p:strVal val="#ppt_x"/>
                                          </p:val>
                                        </p:tav>
                                        <p:tav tm="100000">
                                          <p:val>
                                            <p:strVal val="#ppt_x"/>
                                          </p:val>
                                        </p:tav>
                                      </p:tavLst>
                                    </p:anim>
                                    <p:anim calcmode="lin" valueType="num">
                                      <p:cBhvr additive="repl">
                                        <p:cTn id="13"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56"/>
                                        </p:tgtEl>
                                        <p:attrNameLst>
                                          <p:attrName>style.visibility</p:attrName>
                                        </p:attrNameLst>
                                      </p:cBhvr>
                                      <p:to>
                                        <p:strVal val="visible"/>
                                      </p:to>
                                    </p:set>
                                    <p:animEffect transition="in" filter="box(in)">
                                      <p:cBhvr additive="repl">
                                        <p:cTn id="18"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1800" b="0" strike="noStrike" spc="-1">
                <a:solidFill>
                  <a:schemeClr val="lt1"/>
                </a:solidFill>
                <a:latin typeface="Roboto"/>
                <a:ea typeface="Roboto"/>
              </a:rPr>
              <a:t>  Objective</a:t>
            </a:r>
            <a:endParaRPr lang="en-US" sz="1800" b="0" strike="noStrike" spc="-1">
              <a:solidFill>
                <a:srgbClr val="000000"/>
              </a:solidFill>
              <a:latin typeface="Arial"/>
            </a:endParaRPr>
          </a:p>
        </p:txBody>
      </p:sp>
      <p:sp>
        <p:nvSpPr>
          <p:cNvPr id="59" name="PlaceHolder 2"/>
          <p:cNvSpPr>
            <a:spLocks noGrp="1"/>
          </p:cNvSpPr>
          <p:nvPr>
            <p:ph/>
          </p:nvPr>
        </p:nvSpPr>
        <p:spPr>
          <a:xfrm>
            <a:off x="258480" y="1032480"/>
            <a:ext cx="8624160" cy="2014200"/>
          </a:xfrm>
          <a:prstGeom prst="rect">
            <a:avLst/>
          </a:prstGeom>
          <a:noFill/>
          <a:ln w="0">
            <a:noFill/>
          </a:ln>
        </p:spPr>
        <p:txBody>
          <a:bodyPr lIns="91440" tIns="91440" rIns="91440" bIns="91440" anchor="t">
            <a:noAutofit/>
          </a:bodyPr>
          <a:lstStyle/>
          <a:p>
            <a:pPr indent="0">
              <a:lnSpc>
                <a:spcPct val="115000"/>
              </a:lnSpc>
              <a:buNone/>
              <a:tabLst>
                <a:tab pos="0" algn="l"/>
              </a:tabLst>
            </a:pPr>
            <a:r>
              <a:rPr lang="en" sz="1800" b="0" strike="noStrike" spc="-1">
                <a:solidFill>
                  <a:srgbClr val="000000"/>
                </a:solidFill>
                <a:latin typeface="Roboto"/>
                <a:ea typeface="Roboto"/>
              </a:rPr>
              <a:t>After completing this module, students will be able to:</a:t>
            </a:r>
            <a:endParaRPr lang="en-US" sz="1800" b="0" strike="noStrike" spc="-1">
              <a:solidFill>
                <a:srgbClr val="000000"/>
              </a:solidFill>
              <a:latin typeface="Arial"/>
            </a:endParaRPr>
          </a:p>
          <a:p>
            <a:pPr marL="457200" indent="-343080">
              <a:lnSpc>
                <a:spcPct val="150000"/>
              </a:lnSpc>
              <a:spcBef>
                <a:spcPts val="1599"/>
              </a:spcBef>
              <a:buClr>
                <a:srgbClr val="000000"/>
              </a:buClr>
              <a:buFont typeface="Roboto"/>
              <a:buAutoNum type="arabicPeriod"/>
              <a:tabLst>
                <a:tab pos="0" algn="l"/>
              </a:tabLst>
            </a:pPr>
            <a:r>
              <a:rPr lang="en" sz="1800" b="0" strike="noStrike" spc="-1">
                <a:solidFill>
                  <a:srgbClr val="000000"/>
                </a:solidFill>
                <a:latin typeface="Roboto"/>
                <a:ea typeface="Roboto"/>
              </a:rPr>
              <a:t>Understand the principles of zero-sum, two-person games.</a:t>
            </a:r>
            <a:endParaRPr lang="en-US" sz="1800" b="0" strike="noStrike" spc="-1">
              <a:solidFill>
                <a:srgbClr val="000000"/>
              </a:solidFill>
              <a:latin typeface="Arial"/>
            </a:endParaRPr>
          </a:p>
          <a:p>
            <a:pPr marL="457200" indent="-343080">
              <a:lnSpc>
                <a:spcPct val="150000"/>
              </a:lnSpc>
              <a:buClr>
                <a:srgbClr val="000000"/>
              </a:buClr>
              <a:buFont typeface="Roboto"/>
              <a:buAutoNum type="arabicPeriod"/>
              <a:tabLst>
                <a:tab pos="0" algn="l"/>
              </a:tabLst>
            </a:pPr>
            <a:r>
              <a:rPr lang="en" sz="1800" b="0" strike="noStrike" spc="-1">
                <a:solidFill>
                  <a:srgbClr val="000000"/>
                </a:solidFill>
                <a:latin typeface="Roboto"/>
                <a:ea typeface="Roboto"/>
              </a:rPr>
              <a:t>Analyze pure strategy games and use dominance to reduce the size of a game.</a:t>
            </a:r>
            <a:endParaRPr lang="en-US" sz="1800" b="0" strike="noStrike" spc="-1">
              <a:solidFill>
                <a:srgbClr val="000000"/>
              </a:solidFill>
              <a:latin typeface="Arial"/>
            </a:endParaRPr>
          </a:p>
          <a:p>
            <a:pPr marL="457200" indent="-343080">
              <a:lnSpc>
                <a:spcPct val="150000"/>
              </a:lnSpc>
              <a:buClr>
                <a:srgbClr val="000000"/>
              </a:buClr>
              <a:buFont typeface="Roboto"/>
              <a:buAutoNum type="arabicPeriod"/>
              <a:tabLst>
                <a:tab pos="0" algn="l"/>
              </a:tabLst>
            </a:pPr>
            <a:r>
              <a:rPr lang="en" sz="1800" b="0" strike="noStrike" spc="-1">
                <a:solidFill>
                  <a:srgbClr val="000000"/>
                </a:solidFill>
                <a:latin typeface="Roboto"/>
                <a:ea typeface="Roboto"/>
              </a:rPr>
              <a:t>Solve mixed strategy games when there is no saddle point.</a:t>
            </a:r>
            <a:endParaRPr lang="en-US" sz="1800" b="0" strike="noStrike" spc="-1">
              <a:solidFill>
                <a:srgbClr val="000000"/>
              </a:solidFill>
              <a:latin typeface="Arial"/>
            </a:endParaRPr>
          </a:p>
          <a:p>
            <a:pPr indent="0">
              <a:lnSpc>
                <a:spcPct val="115000"/>
              </a:lnSpc>
              <a:spcBef>
                <a:spcPts val="1599"/>
              </a:spcBef>
              <a:spcAft>
                <a:spcPts val="1599"/>
              </a:spcAft>
              <a:buNone/>
              <a:tabLst>
                <a:tab pos="0" algn="l"/>
              </a:tabLst>
            </a:pPr>
            <a:endParaRPr lang="en-US" sz="1800" b="0" strike="noStrike" spc="-1">
              <a:solidFill>
                <a:srgbClr val="000000"/>
              </a:solid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additive="repl">
                                        <p:cTn id="7" dur="10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1800" b="0" strike="noStrike" spc="-1">
                <a:solidFill>
                  <a:schemeClr val="lt1"/>
                </a:solidFill>
                <a:latin typeface="Roboto"/>
                <a:ea typeface="Roboto"/>
              </a:rPr>
              <a:t>   Introduction</a:t>
            </a:r>
            <a:endParaRPr lang="en-US" sz="1800" b="0" strike="noStrike" spc="-1">
              <a:solidFill>
                <a:srgbClr val="000000"/>
              </a:solidFill>
              <a:latin typeface="Arial"/>
            </a:endParaRPr>
          </a:p>
        </p:txBody>
      </p:sp>
      <p:sp>
        <p:nvSpPr>
          <p:cNvPr id="61" name="Google Shape;86;p16"/>
          <p:cNvSpPr/>
          <p:nvPr/>
        </p:nvSpPr>
        <p:spPr>
          <a:xfrm>
            <a:off x="97560" y="696600"/>
            <a:ext cx="8702640" cy="41317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a:lnSpc>
                <a:spcPct val="115000"/>
              </a:lnSpc>
            </a:pPr>
            <a:r>
              <a:rPr lang="en" sz="1500" b="1" strike="noStrike" spc="-1">
                <a:solidFill>
                  <a:srgbClr val="FF0000"/>
                </a:solidFill>
                <a:latin typeface="Arial"/>
                <a:ea typeface="Arial"/>
              </a:rPr>
              <a:t>Game theory</a:t>
            </a:r>
            <a:r>
              <a:rPr lang="en" sz="1500" b="0" strike="noStrike" spc="-1">
                <a:solidFill>
                  <a:srgbClr val="000000"/>
                </a:solidFill>
                <a:latin typeface="Arial"/>
                <a:ea typeface="Arial"/>
              </a:rPr>
              <a:t> is one way to consider the </a:t>
            </a:r>
            <a:r>
              <a:rPr lang="en" sz="1500" b="1" strike="noStrike" spc="-1">
                <a:solidFill>
                  <a:srgbClr val="FF0000"/>
                </a:solidFill>
                <a:latin typeface="Arial"/>
                <a:ea typeface="Arial"/>
              </a:rPr>
              <a:t>impact of the strategies of others on our strategies and outcomes.</a:t>
            </a:r>
            <a:r>
              <a:rPr lang="en" sz="1500" b="0" strike="noStrike" spc="-1">
                <a:solidFill>
                  <a:srgbClr val="000000"/>
                </a:solidFill>
                <a:latin typeface="Arial"/>
                <a:ea typeface="Arial"/>
              </a:rPr>
              <a:t> A game is a contest involving </a:t>
            </a:r>
            <a:r>
              <a:rPr lang="en" sz="1500" b="0" strike="noStrike" spc="-1">
                <a:solidFill>
                  <a:srgbClr val="FF0000"/>
                </a:solidFill>
                <a:latin typeface="Arial"/>
                <a:ea typeface="Arial"/>
              </a:rPr>
              <a:t>two or more decision makers</a:t>
            </a:r>
            <a:r>
              <a:rPr lang="en" sz="1500" b="0" strike="noStrike" spc="-1">
                <a:solidFill>
                  <a:srgbClr val="000000"/>
                </a:solidFill>
                <a:latin typeface="Arial"/>
                <a:ea typeface="Arial"/>
              </a:rPr>
              <a:t>, each of whom wants to win. </a:t>
            </a:r>
            <a:r>
              <a:rPr lang="en" sz="1500" b="1" strike="noStrike" spc="-1">
                <a:solidFill>
                  <a:srgbClr val="FF0000"/>
                </a:solidFill>
                <a:latin typeface="Arial"/>
                <a:ea typeface="Arial"/>
              </a:rPr>
              <a:t>Game theory is the study of how optimal strategies are formulated in conflict. </a:t>
            </a:r>
            <a:endParaRPr lang="en-US" sz="1500" b="0" strike="noStrike" spc="-1">
              <a:solidFill>
                <a:srgbClr val="FFFFFF"/>
              </a:solidFill>
              <a:latin typeface="Arial"/>
            </a:endParaRPr>
          </a:p>
          <a:p>
            <a:pPr algn="just">
              <a:lnSpc>
                <a:spcPct val="115000"/>
              </a:lnSpc>
              <a:tabLst>
                <a:tab pos="0" algn="l"/>
              </a:tabLst>
            </a:pPr>
            <a:endParaRPr lang="en-US" sz="1500" b="0" strike="noStrike" spc="-1">
              <a:solidFill>
                <a:srgbClr val="FFFFFF"/>
              </a:solidFill>
              <a:latin typeface="Arial"/>
            </a:endParaRPr>
          </a:p>
          <a:p>
            <a:pPr algn="just">
              <a:lnSpc>
                <a:spcPct val="115000"/>
              </a:lnSpc>
              <a:tabLst>
                <a:tab pos="0" algn="l"/>
              </a:tabLst>
            </a:pPr>
            <a:r>
              <a:rPr lang="en" sz="1500" b="0" strike="noStrike" spc="-1">
                <a:solidFill>
                  <a:srgbClr val="000000"/>
                </a:solidFill>
                <a:latin typeface="Arial"/>
                <a:ea typeface="Arial"/>
              </a:rPr>
              <a:t>The study of game theory dates back to 1944, when John von Neumann and Oscar Morgenstern published their classic book, Theory of Games and Economic Behavior. Since then, </a:t>
            </a:r>
            <a:r>
              <a:rPr lang="en" sz="1500" b="0" strike="noStrike" spc="-1">
                <a:solidFill>
                  <a:srgbClr val="002060"/>
                </a:solidFill>
                <a:latin typeface="Arial"/>
                <a:ea typeface="Arial"/>
              </a:rPr>
              <a:t>game theory has been used by army generals to plan war strategies, by union negotiators and managers in collective bargaining, and by businesses of all types to determine the best strategies given a competitive business environment.</a:t>
            </a:r>
            <a:endParaRPr lang="en-US" sz="1500" b="0" strike="noStrike" spc="-1">
              <a:solidFill>
                <a:srgbClr val="FFFFFF"/>
              </a:solidFill>
              <a:latin typeface="Arial"/>
            </a:endParaRPr>
          </a:p>
          <a:p>
            <a:pPr algn="just">
              <a:lnSpc>
                <a:spcPct val="115000"/>
              </a:lnSpc>
              <a:tabLst>
                <a:tab pos="0" algn="l"/>
              </a:tabLst>
            </a:pPr>
            <a:endParaRPr lang="en-US" sz="1500" b="0" strike="noStrike" spc="-1">
              <a:solidFill>
                <a:srgbClr val="FFFFFF"/>
              </a:solidFill>
              <a:latin typeface="Arial"/>
            </a:endParaRPr>
          </a:p>
          <a:p>
            <a:pPr algn="just">
              <a:lnSpc>
                <a:spcPct val="115000"/>
              </a:lnSpc>
              <a:tabLst>
                <a:tab pos="0" algn="l"/>
              </a:tabLst>
            </a:pPr>
            <a:r>
              <a:rPr lang="en" sz="1500" b="0" strike="noStrike" spc="-1">
                <a:solidFill>
                  <a:srgbClr val="000000"/>
                </a:solidFill>
                <a:latin typeface="Arial"/>
                <a:ea typeface="Arial"/>
              </a:rPr>
              <a:t>Game theory continues to be important today. In 1994, John Harsanui, John Nash, and Reinhard Selten jointly received the Nobel Prize in Economics from the Royal Swedish Academy of Sciences. In their classic work, these individuals developed the notion of noncooperative game theory. After the work of John von Neumann, Nash developed the concepts of the Nash equilibrium and the Nash bargaining problem, which are the cornerstones of modern game theory.</a:t>
            </a:r>
            <a:endParaRPr lang="en-US" sz="1500" b="0" strike="noStrike" spc="-1">
              <a:solidFill>
                <a:srgbClr val="FFFFFF"/>
              </a:solidFill>
              <a:latin typeface="Arial"/>
            </a:endParaRPr>
          </a:p>
          <a:p>
            <a:pPr algn="just">
              <a:lnSpc>
                <a:spcPct val="100000"/>
              </a:lnSpc>
              <a:tabLst>
                <a:tab pos="0" algn="l"/>
              </a:tabLst>
            </a:pPr>
            <a:endParaRPr lang="en-US" sz="1500" b="0" strike="noStrike" spc="-1">
              <a:solidFill>
                <a:srgbClr val="FFFFFF"/>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lnSpc>
                <a:spcPct val="100000"/>
              </a:lnSpc>
              <a:buNone/>
            </a:pPr>
            <a:r>
              <a:rPr lang="en-GB" sz="1800" b="1" strike="noStrike" spc="-1">
                <a:solidFill>
                  <a:schemeClr val="lt1"/>
                </a:solidFill>
                <a:latin typeface="Roboto"/>
                <a:ea typeface="Roboto"/>
              </a:rPr>
              <a:t>Managerial Applications of the Theory of Games</a:t>
            </a:r>
            <a:endParaRPr lang="en-US" sz="1800" b="0" strike="noStrike" spc="-1">
              <a:solidFill>
                <a:srgbClr val="000000"/>
              </a:solidFill>
              <a:latin typeface="Arial"/>
            </a:endParaRPr>
          </a:p>
        </p:txBody>
      </p:sp>
      <p:sp>
        <p:nvSpPr>
          <p:cNvPr id="63" name="TextBox 2"/>
          <p:cNvSpPr/>
          <p:nvPr/>
        </p:nvSpPr>
        <p:spPr>
          <a:xfrm>
            <a:off x="235080" y="822600"/>
            <a:ext cx="8555040" cy="4055040"/>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a:lnSpc>
                <a:spcPct val="100000"/>
              </a:lnSpc>
            </a:pPr>
            <a:r>
              <a:rPr lang="en-US" sz="2000" b="0" strike="noStrike" spc="-1">
                <a:solidFill>
                  <a:srgbClr val="000000"/>
                </a:solidFill>
                <a:latin typeface="Arial"/>
                <a:ea typeface="Arial"/>
              </a:rPr>
              <a:t>The techniques of game theory can be effectively applied to various managerial problems as detailed below:</a:t>
            </a:r>
            <a:endParaRPr lang="en-US" sz="2000" b="0" strike="noStrike" spc="-1">
              <a:solidFill>
                <a:srgbClr val="FFFFFF"/>
              </a:solidFill>
              <a:latin typeface="Arial"/>
            </a:endParaRPr>
          </a:p>
          <a:p>
            <a:pPr>
              <a:lnSpc>
                <a:spcPct val="100000"/>
              </a:lnSpc>
            </a:pPr>
            <a:r>
              <a:rPr lang="en-US" sz="2000" b="0" strike="noStrike" spc="-1">
                <a:solidFill>
                  <a:srgbClr val="000000"/>
                </a:solidFill>
                <a:latin typeface="Arial"/>
                <a:ea typeface="Arial"/>
              </a:rPr>
              <a:t>1) Analysis of the market strategies of a business organization in the long run.</a:t>
            </a:r>
            <a:endParaRPr lang="en-US" sz="2000" b="0" strike="noStrike" spc="-1">
              <a:solidFill>
                <a:srgbClr val="FFFFFF"/>
              </a:solidFill>
              <a:latin typeface="Arial"/>
            </a:endParaRPr>
          </a:p>
          <a:p>
            <a:pPr>
              <a:lnSpc>
                <a:spcPct val="100000"/>
              </a:lnSpc>
            </a:pPr>
            <a:r>
              <a:rPr lang="en-US" sz="2000" b="0" strike="noStrike" spc="-1">
                <a:solidFill>
                  <a:srgbClr val="000000"/>
                </a:solidFill>
                <a:latin typeface="Arial"/>
                <a:ea typeface="Arial"/>
              </a:rPr>
              <a:t>2) Evaluation of the responses of the consumers to a new product.</a:t>
            </a:r>
            <a:endParaRPr lang="en-US" sz="2000" b="0" strike="noStrike" spc="-1">
              <a:solidFill>
                <a:srgbClr val="FFFFFF"/>
              </a:solidFill>
              <a:latin typeface="Arial"/>
            </a:endParaRPr>
          </a:p>
          <a:p>
            <a:pPr>
              <a:lnSpc>
                <a:spcPct val="100000"/>
              </a:lnSpc>
            </a:pPr>
            <a:r>
              <a:rPr lang="en-US" sz="2000" b="0" strike="noStrike" spc="-1">
                <a:solidFill>
                  <a:srgbClr val="000000"/>
                </a:solidFill>
                <a:latin typeface="Arial"/>
                <a:ea typeface="Arial"/>
              </a:rPr>
              <a:t>3) Resolving the conflict between two groups in a business organization.</a:t>
            </a:r>
            <a:endParaRPr lang="en-US" sz="2000" b="0" strike="noStrike" spc="-1">
              <a:solidFill>
                <a:srgbClr val="FFFFFF"/>
              </a:solidFill>
              <a:latin typeface="Arial"/>
            </a:endParaRPr>
          </a:p>
          <a:p>
            <a:pPr>
              <a:lnSpc>
                <a:spcPct val="100000"/>
              </a:lnSpc>
            </a:pPr>
            <a:r>
              <a:rPr lang="en-US" sz="2000" b="0" strike="noStrike" spc="-1">
                <a:solidFill>
                  <a:srgbClr val="000000"/>
                </a:solidFill>
                <a:latin typeface="Arial"/>
                <a:ea typeface="Arial"/>
              </a:rPr>
              <a:t>4) Decision making on the techniques to increase market share.</a:t>
            </a:r>
            <a:endParaRPr lang="en-US" sz="2000" b="0" strike="noStrike" spc="-1">
              <a:solidFill>
                <a:srgbClr val="FFFFFF"/>
              </a:solidFill>
              <a:latin typeface="Arial"/>
            </a:endParaRPr>
          </a:p>
          <a:p>
            <a:pPr>
              <a:lnSpc>
                <a:spcPct val="100000"/>
              </a:lnSpc>
            </a:pPr>
            <a:r>
              <a:rPr lang="en-US" sz="2000" b="0" strike="noStrike" spc="-1">
                <a:solidFill>
                  <a:srgbClr val="000000"/>
                </a:solidFill>
                <a:latin typeface="Arial"/>
                <a:ea typeface="Arial"/>
              </a:rPr>
              <a:t>5) Material procurement process.</a:t>
            </a:r>
            <a:endParaRPr lang="en-US" sz="2000" b="0" strike="noStrike" spc="-1">
              <a:solidFill>
                <a:srgbClr val="FFFFFF"/>
              </a:solidFill>
              <a:latin typeface="Arial"/>
            </a:endParaRPr>
          </a:p>
          <a:p>
            <a:pPr>
              <a:lnSpc>
                <a:spcPct val="100000"/>
              </a:lnSpc>
            </a:pPr>
            <a:r>
              <a:rPr lang="en-US" sz="2000" b="0" strike="noStrike" spc="-1">
                <a:solidFill>
                  <a:srgbClr val="000000"/>
                </a:solidFill>
                <a:latin typeface="Arial"/>
                <a:ea typeface="Arial"/>
              </a:rPr>
              <a:t>6) Decision making for transportation problem.</a:t>
            </a:r>
            <a:endParaRPr lang="en-US" sz="2000" b="0" strike="noStrike" spc="-1">
              <a:solidFill>
                <a:srgbClr val="FFFFFF"/>
              </a:solidFill>
              <a:latin typeface="Arial"/>
            </a:endParaRPr>
          </a:p>
          <a:p>
            <a:pPr>
              <a:lnSpc>
                <a:spcPct val="100000"/>
              </a:lnSpc>
            </a:pPr>
            <a:r>
              <a:rPr lang="en-US" sz="2000" b="0" strike="noStrike" spc="-1">
                <a:solidFill>
                  <a:srgbClr val="000000"/>
                </a:solidFill>
                <a:latin typeface="Arial"/>
                <a:ea typeface="Arial"/>
              </a:rPr>
              <a:t>7) Evaluation of the distribution system.</a:t>
            </a:r>
            <a:endParaRPr lang="en-US" sz="2000" b="0" strike="noStrike" spc="-1">
              <a:solidFill>
                <a:srgbClr val="FFFFFF"/>
              </a:solidFill>
              <a:latin typeface="Arial"/>
            </a:endParaRPr>
          </a:p>
          <a:p>
            <a:pPr>
              <a:lnSpc>
                <a:spcPct val="100000"/>
              </a:lnSpc>
            </a:pPr>
            <a:r>
              <a:rPr lang="en-US" sz="2000" b="0" strike="noStrike" spc="-1">
                <a:solidFill>
                  <a:srgbClr val="000000"/>
                </a:solidFill>
                <a:latin typeface="Arial"/>
                <a:ea typeface="Arial"/>
              </a:rPr>
              <a:t>8) Evaluation of the location of the facilities.</a:t>
            </a:r>
            <a:endParaRPr lang="en-US" sz="2000" b="0" strike="noStrike" spc="-1">
              <a:solidFill>
                <a:srgbClr val="FFFFFF"/>
              </a:solidFill>
              <a:latin typeface="Arial"/>
            </a:endParaRPr>
          </a:p>
          <a:p>
            <a:pPr>
              <a:lnSpc>
                <a:spcPct val="100000"/>
              </a:lnSpc>
            </a:pPr>
            <a:r>
              <a:rPr lang="en-US" sz="2000" b="0" strike="noStrike" spc="-1">
                <a:solidFill>
                  <a:srgbClr val="000000"/>
                </a:solidFill>
                <a:latin typeface="Arial"/>
                <a:ea typeface="Arial"/>
              </a:rPr>
              <a:t>9) Examination of new business ventures and</a:t>
            </a:r>
            <a:endParaRPr lang="en-US" sz="2000" b="0" strike="noStrike" spc="-1">
              <a:solidFill>
                <a:srgbClr val="FFFFFF"/>
              </a:solidFill>
              <a:latin typeface="Arial"/>
            </a:endParaRPr>
          </a:p>
          <a:p>
            <a:pPr>
              <a:lnSpc>
                <a:spcPct val="100000"/>
              </a:lnSpc>
            </a:pPr>
            <a:r>
              <a:rPr lang="en-US" sz="2000" b="0" strike="noStrike" spc="-1">
                <a:solidFill>
                  <a:srgbClr val="000000"/>
                </a:solidFill>
                <a:latin typeface="Arial"/>
                <a:ea typeface="Arial"/>
              </a:rPr>
              <a:t>10) Competitive economic environment.</a:t>
            </a:r>
            <a:endParaRPr lang="en-US" sz="2000" b="0" strike="noStrike" spc="-1">
              <a:solidFill>
                <a:srgbClr val="FFFFFF"/>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2"/>
          <p:cNvPicPr/>
          <p:nvPr/>
        </p:nvPicPr>
        <p:blipFill>
          <a:blip r:embed="rId2"/>
          <a:stretch/>
        </p:blipFill>
        <p:spPr>
          <a:xfrm>
            <a:off x="135000" y="112680"/>
            <a:ext cx="8861760" cy="1982880"/>
          </a:xfrm>
          <a:prstGeom prst="rect">
            <a:avLst/>
          </a:prstGeom>
          <a:ln w="9525">
            <a:noFill/>
          </a:ln>
        </p:spPr>
      </p:pic>
      <p:pic>
        <p:nvPicPr>
          <p:cNvPr id="65" name="Picture 3"/>
          <p:cNvPicPr/>
          <p:nvPr/>
        </p:nvPicPr>
        <p:blipFill>
          <a:blip r:embed="rId3"/>
          <a:stretch/>
        </p:blipFill>
        <p:spPr>
          <a:xfrm>
            <a:off x="219600" y="2129040"/>
            <a:ext cx="3934800" cy="2263680"/>
          </a:xfrm>
          <a:prstGeom prst="rect">
            <a:avLst/>
          </a:prstGeom>
          <a:ln w="9525">
            <a:noFill/>
          </a:ln>
        </p:spPr>
      </p:pic>
      <p:pic>
        <p:nvPicPr>
          <p:cNvPr id="66" name="Picture 4"/>
          <p:cNvPicPr/>
          <p:nvPr/>
        </p:nvPicPr>
        <p:blipFill>
          <a:blip r:embed="rId4"/>
          <a:stretch/>
        </p:blipFill>
        <p:spPr>
          <a:xfrm>
            <a:off x="4208400" y="2148120"/>
            <a:ext cx="4746240" cy="2225160"/>
          </a:xfrm>
          <a:prstGeom prst="rect">
            <a:avLst/>
          </a:prstGeom>
          <a:ln w="9525">
            <a:noFill/>
          </a:ln>
        </p:spPr>
      </p:pic>
      <p:pic>
        <p:nvPicPr>
          <p:cNvPr id="67" name="Picture 5"/>
          <p:cNvPicPr/>
          <p:nvPr/>
        </p:nvPicPr>
        <p:blipFill>
          <a:blip r:embed="rId5"/>
          <a:stretch/>
        </p:blipFill>
        <p:spPr>
          <a:xfrm>
            <a:off x="1933920" y="4684680"/>
            <a:ext cx="5454360" cy="312120"/>
          </a:xfrm>
          <a:prstGeom prst="rect">
            <a:avLst/>
          </a:prstGeom>
          <a:ln w="9525">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checkerboard(across)">
                                      <p:cBhvr additive="repl">
                                        <p:cTn id="7"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lnSpc>
                <a:spcPct val="100000"/>
              </a:lnSpc>
              <a:buNone/>
            </a:pPr>
            <a:r>
              <a:rPr lang="en-GB" sz="1800" b="1" strike="noStrike" spc="-1">
                <a:solidFill>
                  <a:schemeClr val="lt1"/>
                </a:solidFill>
                <a:latin typeface="Roboto"/>
                <a:ea typeface="Roboto"/>
              </a:rPr>
              <a:t>Key concepts in the Theory of Games</a:t>
            </a:r>
            <a:endParaRPr lang="en-US" sz="1800" b="0" strike="noStrike" spc="-1">
              <a:solidFill>
                <a:srgbClr val="000000"/>
              </a:solidFill>
              <a:latin typeface="Arial"/>
            </a:endParaRPr>
          </a:p>
        </p:txBody>
      </p:sp>
      <p:sp>
        <p:nvSpPr>
          <p:cNvPr id="69" name="TextBox 3"/>
          <p:cNvSpPr/>
          <p:nvPr/>
        </p:nvSpPr>
        <p:spPr>
          <a:xfrm>
            <a:off x="245880" y="811800"/>
            <a:ext cx="8457840" cy="3931560"/>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algn="just">
              <a:lnSpc>
                <a:spcPct val="100000"/>
              </a:lnSpc>
            </a:pPr>
            <a:r>
              <a:rPr lang="en-US" sz="1800" b="0" strike="noStrike" spc="-1">
                <a:solidFill>
                  <a:srgbClr val="000000"/>
                </a:solidFill>
                <a:latin typeface="Arial"/>
                <a:ea typeface="Arial"/>
              </a:rPr>
              <a:t>Players:     The competitors or decision makers in a game are called the players of the game.</a:t>
            </a:r>
            <a:endParaRPr lang="en-US" sz="1800" b="0" strike="noStrike" spc="-1">
              <a:solidFill>
                <a:srgbClr val="FFFFFF"/>
              </a:solidFill>
              <a:latin typeface="Arial"/>
            </a:endParaRPr>
          </a:p>
          <a:p>
            <a:pPr algn="just">
              <a:lnSpc>
                <a:spcPct val="100000"/>
              </a:lnSpc>
            </a:pPr>
            <a:endParaRPr lang="en-US" sz="1800" b="0" strike="noStrike" spc="-1">
              <a:solidFill>
                <a:srgbClr val="FFFFFF"/>
              </a:solidFill>
              <a:latin typeface="Arial"/>
            </a:endParaRPr>
          </a:p>
          <a:p>
            <a:pPr algn="just">
              <a:lnSpc>
                <a:spcPct val="100000"/>
              </a:lnSpc>
            </a:pPr>
            <a:r>
              <a:rPr lang="en-US" sz="1800" b="0" strike="noStrike" spc="-1">
                <a:solidFill>
                  <a:srgbClr val="000000"/>
                </a:solidFill>
                <a:latin typeface="Arial"/>
                <a:ea typeface="Arial"/>
              </a:rPr>
              <a:t>Strategies:    The alternative courses of action available to a player are referred to as his strategies.</a:t>
            </a:r>
            <a:endParaRPr lang="en-US" sz="1800" b="0" strike="noStrike" spc="-1">
              <a:solidFill>
                <a:srgbClr val="FFFFFF"/>
              </a:solidFill>
              <a:latin typeface="Arial"/>
            </a:endParaRPr>
          </a:p>
          <a:p>
            <a:pPr algn="just">
              <a:lnSpc>
                <a:spcPct val="100000"/>
              </a:lnSpc>
            </a:pPr>
            <a:endParaRPr lang="en-US" sz="1800" b="0" strike="noStrike" spc="-1">
              <a:solidFill>
                <a:srgbClr val="FFFFFF"/>
              </a:solidFill>
              <a:latin typeface="Arial"/>
            </a:endParaRPr>
          </a:p>
          <a:p>
            <a:pPr algn="just">
              <a:lnSpc>
                <a:spcPct val="100000"/>
              </a:lnSpc>
            </a:pPr>
            <a:r>
              <a:rPr lang="en-US" sz="1800" b="0" strike="noStrike" spc="-1">
                <a:solidFill>
                  <a:srgbClr val="000000"/>
                </a:solidFill>
                <a:latin typeface="Arial"/>
                <a:ea typeface="Arial"/>
              </a:rPr>
              <a:t>Pay off:    The outcome of playing a game is called the pay off to the concerned player.</a:t>
            </a:r>
            <a:endParaRPr lang="en-US" sz="1800" b="0" strike="noStrike" spc="-1">
              <a:solidFill>
                <a:srgbClr val="FFFFFF"/>
              </a:solidFill>
              <a:latin typeface="Arial"/>
            </a:endParaRPr>
          </a:p>
          <a:p>
            <a:pPr algn="just">
              <a:lnSpc>
                <a:spcPct val="100000"/>
              </a:lnSpc>
            </a:pPr>
            <a:endParaRPr lang="en-US" sz="1800" b="0" strike="noStrike" spc="-1">
              <a:solidFill>
                <a:srgbClr val="FFFFFF"/>
              </a:solidFill>
              <a:latin typeface="Arial"/>
            </a:endParaRPr>
          </a:p>
          <a:p>
            <a:pPr algn="just">
              <a:lnSpc>
                <a:spcPct val="100000"/>
              </a:lnSpc>
            </a:pPr>
            <a:r>
              <a:rPr lang="en-US" sz="1800" b="0" strike="noStrike" spc="-1">
                <a:solidFill>
                  <a:srgbClr val="000000"/>
                </a:solidFill>
                <a:latin typeface="Arial"/>
                <a:ea typeface="Arial"/>
              </a:rPr>
              <a:t>Optimal Strategy:    A strategy by which a player can achieve the best pay off is called the optimal strategy for him.</a:t>
            </a:r>
            <a:endParaRPr lang="en-US" sz="1800" b="0" strike="noStrike" spc="-1">
              <a:solidFill>
                <a:srgbClr val="FFFFFF"/>
              </a:solidFill>
              <a:latin typeface="Arial"/>
            </a:endParaRPr>
          </a:p>
          <a:p>
            <a:pPr algn="just">
              <a:lnSpc>
                <a:spcPct val="100000"/>
              </a:lnSpc>
            </a:pPr>
            <a:endParaRPr lang="en-US" sz="1800" b="0" strike="noStrike" spc="-1">
              <a:solidFill>
                <a:srgbClr val="FFFFFF"/>
              </a:solidFill>
              <a:latin typeface="Arial"/>
            </a:endParaRPr>
          </a:p>
          <a:p>
            <a:pPr algn="just">
              <a:lnSpc>
                <a:spcPct val="100000"/>
              </a:lnSpc>
            </a:pPr>
            <a:r>
              <a:rPr lang="en-US" sz="1800" b="0" strike="noStrike" spc="-1">
                <a:solidFill>
                  <a:srgbClr val="000000"/>
                </a:solidFill>
                <a:latin typeface="Arial"/>
                <a:ea typeface="Arial"/>
              </a:rPr>
              <a:t>Zero-sum game:      A game in which the total payoffs to all the players at the end of the game is zero is referred to as a zero-sum game.</a:t>
            </a:r>
            <a:endParaRPr lang="en-US" sz="1800" b="0" strike="noStrike" spc="-1">
              <a:solidFill>
                <a:srgbClr val="FFFFFF"/>
              </a:solidFill>
              <a:latin typeface="Arial"/>
            </a:endParaRPr>
          </a:p>
        </p:txBody>
      </p:sp>
      <p:pic>
        <p:nvPicPr>
          <p:cNvPr id="70" name="Picture 3"/>
          <p:cNvPicPr/>
          <p:nvPr/>
        </p:nvPicPr>
        <p:blipFill>
          <a:blip r:embed="rId2"/>
          <a:stretch/>
        </p:blipFill>
        <p:spPr>
          <a:xfrm>
            <a:off x="6537600" y="189360"/>
            <a:ext cx="2374920" cy="1366200"/>
          </a:xfrm>
          <a:prstGeom prst="rect">
            <a:avLst/>
          </a:prstGeom>
          <a:ln w="9525">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amond(in)">
                                      <p:cBhvr additive="repl">
                                        <p:cTn id="7" dur="20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buNone/>
            </a:pPr>
            <a:endParaRPr lang="en-US" sz="1800" b="0" strike="noStrike" spc="-1">
              <a:solidFill>
                <a:schemeClr val="lt1"/>
              </a:solidFill>
              <a:latin typeface="Roboto"/>
              <a:ea typeface="Roboto"/>
            </a:endParaRPr>
          </a:p>
        </p:txBody>
      </p:sp>
      <p:sp>
        <p:nvSpPr>
          <p:cNvPr id="72" name="TextBox 2"/>
          <p:cNvSpPr/>
          <p:nvPr/>
        </p:nvSpPr>
        <p:spPr>
          <a:xfrm>
            <a:off x="224280" y="747360"/>
            <a:ext cx="8705880" cy="4205880"/>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algn="just">
              <a:lnSpc>
                <a:spcPct val="100000"/>
              </a:lnSpc>
            </a:pPr>
            <a:r>
              <a:rPr lang="en-US" sz="1800" b="0" strike="noStrike" spc="-1">
                <a:solidFill>
                  <a:srgbClr val="000000"/>
                </a:solidFill>
                <a:latin typeface="Arial"/>
                <a:ea typeface="Arial"/>
              </a:rPr>
              <a:t>Payoff matrix:      The tabular display of the payoffs to players under various alternatives is called the payoff matrix of the game.</a:t>
            </a:r>
            <a:endParaRPr lang="en-US" sz="1800" b="0" strike="noStrike" spc="-1">
              <a:solidFill>
                <a:srgbClr val="FFFFFF"/>
              </a:solidFill>
              <a:latin typeface="Arial"/>
            </a:endParaRPr>
          </a:p>
          <a:p>
            <a:pPr algn="just">
              <a:lnSpc>
                <a:spcPct val="100000"/>
              </a:lnSpc>
            </a:pPr>
            <a:endParaRPr lang="en-US" sz="1800" b="0" strike="noStrike" spc="-1">
              <a:solidFill>
                <a:srgbClr val="FFFFFF"/>
              </a:solidFill>
              <a:latin typeface="Arial"/>
            </a:endParaRPr>
          </a:p>
          <a:p>
            <a:pPr algn="just">
              <a:lnSpc>
                <a:spcPct val="100000"/>
              </a:lnSpc>
            </a:pPr>
            <a:r>
              <a:rPr lang="en-US" sz="1800" b="0" strike="noStrike" spc="-1">
                <a:solidFill>
                  <a:srgbClr val="000000"/>
                </a:solidFill>
                <a:latin typeface="Arial"/>
                <a:ea typeface="Arial"/>
              </a:rPr>
              <a:t>Pure strategy:       If the game is such that each player can identify one and only one strategy as the optimal strategy in each play of the game, then that strategy is referred to as the best strategy for that player and the game is referred to as a game of pure strategy or a pure game.</a:t>
            </a:r>
            <a:endParaRPr lang="en-US" sz="1800" b="0" strike="noStrike" spc="-1">
              <a:solidFill>
                <a:srgbClr val="FFFFFF"/>
              </a:solidFill>
              <a:latin typeface="Arial"/>
            </a:endParaRPr>
          </a:p>
          <a:p>
            <a:pPr algn="just">
              <a:lnSpc>
                <a:spcPct val="100000"/>
              </a:lnSpc>
            </a:pPr>
            <a:endParaRPr lang="en-US" sz="1800" b="0" strike="noStrike" spc="-1">
              <a:solidFill>
                <a:srgbClr val="FFFFFF"/>
              </a:solidFill>
              <a:latin typeface="Arial"/>
            </a:endParaRPr>
          </a:p>
          <a:p>
            <a:pPr algn="just">
              <a:lnSpc>
                <a:spcPct val="100000"/>
              </a:lnSpc>
            </a:pPr>
            <a:r>
              <a:rPr lang="en-US" sz="1800" b="0" strike="noStrike" spc="-1">
                <a:solidFill>
                  <a:srgbClr val="000000"/>
                </a:solidFill>
                <a:latin typeface="Arial"/>
                <a:ea typeface="Arial"/>
              </a:rPr>
              <a:t>Mixed strategy:       If there is no one specific strategy as the ‘best strategy’ for any player in a game, then the game is referred to as a game of mixed strategy or a mixed game. In such a game, each player has to choose different alternative courses of action from time to time.</a:t>
            </a:r>
            <a:endParaRPr lang="en-US" sz="1800" b="0" strike="noStrike" spc="-1">
              <a:solidFill>
                <a:srgbClr val="FFFFFF"/>
              </a:solidFill>
              <a:latin typeface="Arial"/>
            </a:endParaRPr>
          </a:p>
          <a:p>
            <a:pPr algn="just">
              <a:lnSpc>
                <a:spcPct val="100000"/>
              </a:lnSpc>
            </a:pPr>
            <a:endParaRPr lang="en-US" sz="1800" b="0" strike="noStrike" spc="-1">
              <a:solidFill>
                <a:srgbClr val="FFFFFF"/>
              </a:solidFill>
              <a:latin typeface="Arial"/>
            </a:endParaRPr>
          </a:p>
          <a:p>
            <a:pPr algn="just">
              <a:lnSpc>
                <a:spcPct val="100000"/>
              </a:lnSpc>
            </a:pPr>
            <a:r>
              <a:rPr lang="en-US" sz="1800" b="0" strike="noStrike" spc="-1">
                <a:solidFill>
                  <a:srgbClr val="000000"/>
                </a:solidFill>
                <a:latin typeface="Arial"/>
                <a:ea typeface="Arial"/>
              </a:rPr>
              <a:t>N-person game:      A game in which N-players take part is called an N-person game.</a:t>
            </a:r>
            <a:endParaRPr lang="en-US" sz="1800" b="0" strike="noStrike" spc="-1">
              <a:solidFill>
                <a:srgbClr val="FFFFFF"/>
              </a:solidFill>
              <a:latin typeface="Arial"/>
            </a:endParaRPr>
          </a:p>
        </p:txBody>
      </p:sp>
      <p:pic>
        <p:nvPicPr>
          <p:cNvPr id="73" name="Picture 3"/>
          <p:cNvPicPr/>
          <p:nvPr/>
        </p:nvPicPr>
        <p:blipFill>
          <a:blip r:embed="rId2"/>
          <a:stretch/>
        </p:blipFill>
        <p:spPr>
          <a:xfrm>
            <a:off x="6579360" y="189360"/>
            <a:ext cx="2374920" cy="1366200"/>
          </a:xfrm>
          <a:prstGeom prst="rect">
            <a:avLst/>
          </a:prstGeom>
          <a:ln w="9525">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diamond(in)">
                                      <p:cBhvr additive="repl">
                                        <p:cTn id="7" dur="20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buNone/>
            </a:pPr>
            <a:endParaRPr lang="en-US" sz="1800" b="0" strike="noStrike" spc="-1">
              <a:solidFill>
                <a:schemeClr val="lt1"/>
              </a:solidFill>
              <a:latin typeface="Roboto"/>
              <a:ea typeface="Roboto"/>
            </a:endParaRPr>
          </a:p>
        </p:txBody>
      </p:sp>
      <p:sp>
        <p:nvSpPr>
          <p:cNvPr id="75" name="TextBox 2"/>
          <p:cNvSpPr/>
          <p:nvPr/>
        </p:nvSpPr>
        <p:spPr>
          <a:xfrm>
            <a:off x="289080" y="1006200"/>
            <a:ext cx="8382240" cy="3931560"/>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algn="just">
              <a:lnSpc>
                <a:spcPct val="100000"/>
              </a:lnSpc>
            </a:pPr>
            <a:r>
              <a:rPr lang="en-US" sz="1800" b="0" strike="noStrike" spc="-1">
                <a:solidFill>
                  <a:srgbClr val="000000"/>
                </a:solidFill>
                <a:latin typeface="Arial"/>
                <a:ea typeface="Arial"/>
              </a:rPr>
              <a:t>Maximin-Minimax Principle :       The </a:t>
            </a:r>
            <a:r>
              <a:rPr lang="en-US" sz="1800" b="1" strike="noStrike" spc="-1">
                <a:solidFill>
                  <a:srgbClr val="FF0000"/>
                </a:solidFill>
                <a:latin typeface="Arial"/>
                <a:ea typeface="Arial"/>
              </a:rPr>
              <a:t>maximum of the minimum gains</a:t>
            </a:r>
            <a:r>
              <a:rPr lang="en-US" sz="1800" b="0" strike="noStrike" spc="-1">
                <a:solidFill>
                  <a:srgbClr val="000000"/>
                </a:solidFill>
                <a:latin typeface="Arial"/>
                <a:ea typeface="Arial"/>
              </a:rPr>
              <a:t> is called the maximin value of the game and the corresponding strategy is called the maximin strategy. Similarly the </a:t>
            </a:r>
            <a:r>
              <a:rPr lang="en-US" sz="1800" b="1" strike="noStrike" spc="-1">
                <a:solidFill>
                  <a:srgbClr val="FF0000"/>
                </a:solidFill>
                <a:latin typeface="Arial"/>
                <a:ea typeface="Arial"/>
              </a:rPr>
              <a:t>minimum of the maximum losses</a:t>
            </a:r>
            <a:r>
              <a:rPr lang="en-US" sz="1800" b="0" strike="noStrike" spc="-1">
                <a:solidFill>
                  <a:srgbClr val="000000"/>
                </a:solidFill>
                <a:latin typeface="Arial"/>
                <a:ea typeface="Arial"/>
              </a:rPr>
              <a:t> is called the minimax value of the game and the corresponding strategy is​ called the minimax strategy. ​</a:t>
            </a:r>
            <a:endParaRPr lang="en-US" sz="1800" b="0" strike="noStrike" spc="-1">
              <a:solidFill>
                <a:srgbClr val="FFFFFF"/>
              </a:solidFill>
              <a:latin typeface="Arial"/>
            </a:endParaRPr>
          </a:p>
          <a:p>
            <a:pPr algn="just">
              <a:lnSpc>
                <a:spcPct val="100000"/>
              </a:lnSpc>
            </a:pPr>
            <a:endParaRPr lang="en-US" sz="1800" b="0" strike="noStrike" spc="-1">
              <a:solidFill>
                <a:srgbClr val="FFFFFF"/>
              </a:solidFill>
              <a:latin typeface="Arial"/>
            </a:endParaRPr>
          </a:p>
          <a:p>
            <a:pPr algn="just">
              <a:lnSpc>
                <a:spcPct val="100000"/>
              </a:lnSpc>
            </a:pPr>
            <a:r>
              <a:rPr lang="en-US" sz="1800" b="0" strike="noStrike" spc="-1">
                <a:solidFill>
                  <a:srgbClr val="000000"/>
                </a:solidFill>
                <a:latin typeface="Arial"/>
                <a:ea typeface="Arial"/>
              </a:rPr>
              <a:t>Saddle point:      A saddle point of a game is that place in the payoff matrix </a:t>
            </a:r>
            <a:r>
              <a:rPr lang="en-US" sz="1800" b="1" strike="noStrike" spc="-1">
                <a:solidFill>
                  <a:srgbClr val="FF0000"/>
                </a:solidFill>
                <a:latin typeface="Arial"/>
                <a:ea typeface="Arial"/>
              </a:rPr>
              <a:t>where the maximum of the row minima is equal to the minimum of the column maxima</a:t>
            </a:r>
            <a:r>
              <a:rPr lang="en-US" sz="1800" b="0" strike="noStrike" spc="-1">
                <a:solidFill>
                  <a:srgbClr val="000000"/>
                </a:solidFill>
                <a:latin typeface="Arial"/>
                <a:ea typeface="Arial"/>
              </a:rPr>
              <a:t>. The payoff at the saddle point is called the value of the game and the corresponding strategies are called the pure strategies.</a:t>
            </a:r>
            <a:endParaRPr lang="en-US" sz="1800" b="0" strike="noStrike" spc="-1">
              <a:solidFill>
                <a:srgbClr val="FFFFFF"/>
              </a:solidFill>
              <a:latin typeface="Arial"/>
            </a:endParaRPr>
          </a:p>
          <a:p>
            <a:pPr algn="just">
              <a:lnSpc>
                <a:spcPct val="100000"/>
              </a:lnSpc>
            </a:pPr>
            <a:endParaRPr lang="en-US" sz="1800" b="0" strike="noStrike" spc="-1">
              <a:solidFill>
                <a:srgbClr val="FFFFFF"/>
              </a:solidFill>
              <a:latin typeface="Arial"/>
            </a:endParaRPr>
          </a:p>
          <a:p>
            <a:pPr algn="just">
              <a:lnSpc>
                <a:spcPct val="100000"/>
              </a:lnSpc>
            </a:pPr>
            <a:r>
              <a:rPr lang="en-US" sz="1800" b="0" strike="noStrike" spc="-1">
                <a:solidFill>
                  <a:srgbClr val="000000"/>
                </a:solidFill>
                <a:latin typeface="Arial"/>
                <a:ea typeface="Arial"/>
              </a:rPr>
              <a:t>Dominance:         One of the strategies of either player may be inferior to at least one of the remaining ones. The superior strategies are said to dominate the inferior ones. </a:t>
            </a:r>
            <a:endParaRPr lang="en-US" sz="1800" b="0" strike="noStrike" spc="-1">
              <a:solidFill>
                <a:srgbClr val="FFFFFF"/>
              </a:solidFill>
              <a:latin typeface="Arial"/>
            </a:endParaRPr>
          </a:p>
        </p:txBody>
      </p:sp>
      <p:pic>
        <p:nvPicPr>
          <p:cNvPr id="76" name="Picture 4"/>
          <p:cNvPicPr/>
          <p:nvPr/>
        </p:nvPicPr>
        <p:blipFill>
          <a:blip r:embed="rId2"/>
          <a:stretch/>
        </p:blipFill>
        <p:spPr>
          <a:xfrm>
            <a:off x="4628520" y="2420640"/>
            <a:ext cx="4220640" cy="1978560"/>
          </a:xfrm>
          <a:prstGeom prst="rect">
            <a:avLst/>
          </a:prstGeom>
          <a:ln w="9525">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checkerboard(across)">
                                      <p:cBhvr additive="repl">
                                        <p:cTn id="7" dur="500"/>
                                        <p:tgtEl>
                                          <p:spTgt spid="7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xit" presetSubtype="10" fill="hold" nodeType="clickEffect">
                                  <p:stCondLst>
                                    <p:cond delay="0"/>
                                  </p:stCondLst>
                                  <p:childTnLst>
                                    <p:animEffect transition="out" filter="checkerboard(across)">
                                      <p:cBhvr additive="repl">
                                        <p:cTn id="11" dur="500"/>
                                        <p:tgtEl>
                                          <p:spTgt spid="76"/>
                                        </p:tgtEl>
                                      </p:cBhvr>
                                    </p:animEffect>
                                    <p:set>
                                      <p:cBhvr>
                                        <p:cTn id="12" dur="1" fill="hold">
                                          <p:stCondLst>
                                            <p:cond delay="499"/>
                                          </p:stCondLst>
                                        </p:cTn>
                                        <p:tgtEl>
                                          <p:spTgt spid="7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buNone/>
            </a:pPr>
            <a:endParaRPr lang="en-US" sz="1800" b="0" strike="noStrike" spc="-1">
              <a:solidFill>
                <a:schemeClr val="lt1"/>
              </a:solidFill>
              <a:latin typeface="Roboto"/>
              <a:ea typeface="Roboto"/>
            </a:endParaRPr>
          </a:p>
        </p:txBody>
      </p:sp>
      <p:sp>
        <p:nvSpPr>
          <p:cNvPr id="78" name="Google Shape;92;p17"/>
          <p:cNvSpPr/>
          <p:nvPr/>
        </p:nvSpPr>
        <p:spPr>
          <a:xfrm>
            <a:off x="403200" y="905760"/>
            <a:ext cx="8298720" cy="40536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marL="457200" indent="-317520" algn="just">
              <a:lnSpc>
                <a:spcPct val="150000"/>
              </a:lnSpc>
              <a:buClr>
                <a:srgbClr val="000000"/>
              </a:buClr>
              <a:buFont typeface="Arial"/>
              <a:buChar char="●"/>
            </a:pPr>
            <a:r>
              <a:rPr lang="en" sz="1400" b="0" strike="noStrike" spc="-1">
                <a:solidFill>
                  <a:srgbClr val="000000"/>
                </a:solidFill>
                <a:latin typeface="Arial"/>
                <a:ea typeface="Arial"/>
              </a:rPr>
              <a:t>Game models are classified by the number of players, the sum of all payoffs, and the number of strategies employed. </a:t>
            </a:r>
            <a:endParaRPr lang="en-US" sz="1400" b="0" strike="noStrike" spc="-1">
              <a:solidFill>
                <a:srgbClr val="FFFFFF"/>
              </a:solidFill>
              <a:latin typeface="Arial"/>
            </a:endParaRPr>
          </a:p>
          <a:p>
            <a:pPr marL="457200" indent="-317520" algn="just">
              <a:lnSpc>
                <a:spcPct val="150000"/>
              </a:lnSpc>
              <a:buClr>
                <a:srgbClr val="000000"/>
              </a:buClr>
              <a:buFont typeface="Arial"/>
              <a:buChar char="●"/>
            </a:pPr>
            <a:r>
              <a:rPr lang="en" sz="1400" b="0" strike="noStrike" spc="-1">
                <a:solidFill>
                  <a:srgbClr val="000000"/>
                </a:solidFill>
                <a:latin typeface="Arial"/>
                <a:ea typeface="Arial"/>
              </a:rPr>
              <a:t>Due to the mathematical complexity of game theory, we limit the analysis in this module to games that are two person and zero sum. </a:t>
            </a:r>
            <a:endParaRPr lang="en-US" sz="1400" b="0" strike="noStrike" spc="-1">
              <a:solidFill>
                <a:srgbClr val="FFFFFF"/>
              </a:solidFill>
              <a:latin typeface="Arial"/>
            </a:endParaRPr>
          </a:p>
          <a:p>
            <a:pPr marL="457200" indent="-317520" algn="just">
              <a:lnSpc>
                <a:spcPct val="150000"/>
              </a:lnSpc>
              <a:buClr>
                <a:srgbClr val="000000"/>
              </a:buClr>
              <a:buFont typeface="Arial"/>
              <a:buChar char="●"/>
            </a:pPr>
            <a:r>
              <a:rPr lang="en" sz="1400" b="0" strike="noStrike" spc="-1">
                <a:solidFill>
                  <a:srgbClr val="000000"/>
                </a:solidFill>
                <a:latin typeface="Arial"/>
                <a:ea typeface="Arial"/>
              </a:rPr>
              <a:t>A two-person game is one in which only two parties can play—as in the case of a union and a company in a bargaining session. For simplicity, X and Y represent the two game players. </a:t>
            </a:r>
            <a:endParaRPr lang="en-US" sz="1400" b="0" strike="noStrike" spc="-1">
              <a:solidFill>
                <a:srgbClr val="FFFFFF"/>
              </a:solidFill>
              <a:latin typeface="Arial"/>
            </a:endParaRPr>
          </a:p>
          <a:p>
            <a:pPr marL="457200" indent="-317520" algn="just">
              <a:lnSpc>
                <a:spcPct val="150000"/>
              </a:lnSpc>
              <a:buClr>
                <a:srgbClr val="000000"/>
              </a:buClr>
              <a:buFont typeface="Arial"/>
              <a:buChar char="●"/>
            </a:pPr>
            <a:r>
              <a:rPr lang="en" sz="1400" b="0" strike="noStrike" spc="-1">
                <a:solidFill>
                  <a:srgbClr val="000000"/>
                </a:solidFill>
                <a:latin typeface="Arial"/>
                <a:ea typeface="Arial"/>
              </a:rPr>
              <a:t>Zero sum means that the sum of losses for one player must equal the sum of gains for the other  player. Thus, if X wins 20 points or dollars, Y loses 20 points or dollars. With any zero-sum game, the sum of the gains for one player is always equal to the sum of the losses for the other player. When you sum the gains and losses for both players, the result is zero—hence the name zero-sum games.</a:t>
            </a:r>
            <a:endParaRPr lang="en-US" sz="1400" b="0" strike="noStrike" spc="-1">
              <a:solidFill>
                <a:srgbClr val="FFFFFF"/>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buNone/>
            </a:pPr>
            <a:endParaRPr lang="en-US" sz="1800" b="0" strike="noStrike" spc="-1">
              <a:solidFill>
                <a:schemeClr val="lt1"/>
              </a:solidFill>
              <a:latin typeface="Roboto"/>
              <a:ea typeface="Roboto"/>
            </a:endParaRPr>
          </a:p>
        </p:txBody>
      </p:sp>
      <p:pic>
        <p:nvPicPr>
          <p:cNvPr id="80" name="Google Shape;98;p18"/>
          <p:cNvPicPr/>
          <p:nvPr/>
        </p:nvPicPr>
        <p:blipFill>
          <a:blip r:embed="rId2"/>
          <a:stretch/>
        </p:blipFill>
        <p:spPr>
          <a:xfrm>
            <a:off x="1684080" y="771480"/>
            <a:ext cx="5226120" cy="1800000"/>
          </a:xfrm>
          <a:prstGeom prst="rect">
            <a:avLst/>
          </a:prstGeom>
          <a:ln w="0">
            <a:noFill/>
          </a:ln>
        </p:spPr>
      </p:pic>
      <p:sp>
        <p:nvSpPr>
          <p:cNvPr id="81" name="Google Shape;99;p18"/>
          <p:cNvSpPr/>
          <p:nvPr/>
        </p:nvSpPr>
        <p:spPr>
          <a:xfrm>
            <a:off x="580320" y="2999880"/>
            <a:ext cx="7783560" cy="15559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a:lnSpc>
                <a:spcPct val="115000"/>
              </a:lnSpc>
              <a:tabLst>
                <a:tab pos="0" algn="l"/>
              </a:tabLst>
            </a:pPr>
            <a:r>
              <a:rPr lang="en" sz="1400" b="0" strike="noStrike" spc="-1">
                <a:solidFill>
                  <a:srgbClr val="000000"/>
                </a:solidFill>
                <a:latin typeface="Arial"/>
                <a:ea typeface="Arial"/>
              </a:rPr>
              <a:t>A positive number in Table 1 means that X wins and Y loses. A negative number means that Y wins and X loses. It is obvious from the table that the game favors competitor X, since all values are positive except one. If the game had favored player Y, the values in the table would have been negative. In other words, the game in Table 1 is biased against Y. However, since Y must play the game, he or she will play to minimize total losses. </a:t>
            </a:r>
            <a:endParaRPr lang="en-US" sz="1400" b="0" strike="noStrike" spc="-1">
              <a:solidFill>
                <a:srgbClr val="FFFFFF"/>
              </a:solidFill>
              <a:latin typeface="Arial"/>
            </a:endParaRPr>
          </a:p>
          <a:p>
            <a:pPr algn="just">
              <a:lnSpc>
                <a:spcPct val="115000"/>
              </a:lnSpc>
              <a:tabLst>
                <a:tab pos="0" algn="l"/>
              </a:tabLst>
            </a:pPr>
            <a:endParaRPr lang="en-US" sz="1400" b="0" strike="noStrike" spc="-1">
              <a:solidFill>
                <a:srgbClr val="FFFFFF"/>
              </a:solidFill>
              <a:latin typeface="Arial"/>
            </a:endParaRPr>
          </a:p>
          <a:p>
            <a:pPr algn="just">
              <a:lnSpc>
                <a:spcPct val="115000"/>
              </a:lnSpc>
              <a:tabLst>
                <a:tab pos="0" algn="l"/>
              </a:tabLst>
            </a:pPr>
            <a:r>
              <a:rPr lang="en" sz="1400" b="0" strike="noStrike" spc="-1">
                <a:solidFill>
                  <a:srgbClr val="000000"/>
                </a:solidFill>
                <a:latin typeface="Arial"/>
                <a:ea typeface="Arial"/>
              </a:rPr>
              <a:t>To do this, Player Y would use the minimax criterion, our next topic.</a:t>
            </a:r>
            <a:endParaRPr lang="en-US" sz="1400" b="0" strike="noStrike" spc="-1">
              <a:solidFill>
                <a:srgbClr val="FFFFFF"/>
              </a:solidFill>
              <a:latin typeface="Arial"/>
            </a:endParaRPr>
          </a:p>
        </p:txBody>
      </p:sp>
      <p:sp>
        <p:nvSpPr>
          <p:cNvPr id="82" name="Google Shape;100;p18"/>
          <p:cNvSpPr/>
          <p:nvPr/>
        </p:nvSpPr>
        <p:spPr>
          <a:xfrm>
            <a:off x="3322080" y="2571840"/>
            <a:ext cx="2999520" cy="3355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a:lnSpc>
                <a:spcPct val="100000"/>
              </a:lnSpc>
              <a:tabLst>
                <a:tab pos="0" algn="l"/>
              </a:tabLst>
            </a:pPr>
            <a:r>
              <a:rPr lang="en" sz="1400" b="0" strike="noStrike" spc="-1">
                <a:solidFill>
                  <a:srgbClr val="000000"/>
                </a:solidFill>
                <a:latin typeface="Arial"/>
                <a:ea typeface="Arial"/>
              </a:rPr>
              <a:t>Table 1</a:t>
            </a:r>
            <a:endParaRPr lang="en-US" sz="1400" b="0" strike="noStrike" spc="-1">
              <a:solidFill>
                <a:srgbClr val="FFFFFF"/>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buNone/>
            </a:pPr>
            <a:endParaRPr lang="en-US" sz="1800" b="0" strike="noStrike" spc="-1">
              <a:solidFill>
                <a:schemeClr val="lt1"/>
              </a:solidFill>
              <a:latin typeface="Roboto"/>
              <a:ea typeface="Roboto"/>
            </a:endParaRPr>
          </a:p>
        </p:txBody>
      </p:sp>
      <p:pic>
        <p:nvPicPr>
          <p:cNvPr id="84" name="Google Shape;106;p19"/>
          <p:cNvPicPr/>
          <p:nvPr/>
        </p:nvPicPr>
        <p:blipFill>
          <a:blip r:embed="rId2"/>
          <a:stretch/>
        </p:blipFill>
        <p:spPr>
          <a:xfrm>
            <a:off x="349200" y="792720"/>
            <a:ext cx="8324640" cy="4161960"/>
          </a:xfrm>
          <a:prstGeom prst="rect">
            <a:avLst/>
          </a:prstGeom>
          <a:ln w="0">
            <a:noFill/>
          </a:ln>
        </p:spPr>
      </p:pic>
      <p:pic>
        <p:nvPicPr>
          <p:cNvPr id="85" name="Google Shape;98;p18"/>
          <p:cNvPicPr/>
          <p:nvPr/>
        </p:nvPicPr>
        <p:blipFill>
          <a:blip r:embed="rId3"/>
          <a:stretch/>
        </p:blipFill>
        <p:spPr>
          <a:xfrm>
            <a:off x="4942440" y="140760"/>
            <a:ext cx="3938400" cy="1172520"/>
          </a:xfrm>
          <a:prstGeom prst="rect">
            <a:avLst/>
          </a:prstGeom>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1800" b="0" strike="noStrike" spc="-1">
                <a:solidFill>
                  <a:schemeClr val="lt1"/>
                </a:solidFill>
                <a:latin typeface="Roboto"/>
                <a:ea typeface="Roboto"/>
              </a:rPr>
              <a:t>     The Minimax Criterion</a:t>
            </a:r>
            <a:endParaRPr lang="en-US" sz="1800" b="0" strike="noStrike" spc="-1">
              <a:solidFill>
                <a:srgbClr val="000000"/>
              </a:solidFill>
              <a:latin typeface="Arial"/>
            </a:endParaRPr>
          </a:p>
        </p:txBody>
      </p:sp>
      <p:sp>
        <p:nvSpPr>
          <p:cNvPr id="87" name="Google Shape;112;p20"/>
          <p:cNvSpPr/>
          <p:nvPr/>
        </p:nvSpPr>
        <p:spPr>
          <a:xfrm>
            <a:off x="396360" y="700560"/>
            <a:ext cx="7810560" cy="11743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a:lnSpc>
                <a:spcPct val="115000"/>
              </a:lnSpc>
              <a:tabLst>
                <a:tab pos="0" algn="l"/>
              </a:tabLst>
            </a:pPr>
            <a:r>
              <a:rPr lang="en" sz="1400" b="0" strike="noStrike" spc="-1">
                <a:solidFill>
                  <a:srgbClr val="000000"/>
                </a:solidFill>
                <a:latin typeface="Arial"/>
                <a:ea typeface="Arial"/>
              </a:rPr>
              <a:t>For two-person, zero-sum games, there is a logical approach to finding the solution: In a zero-sum game, each person should choose the strategy that minimizes the maximum loss, called the minimax criterion. This is identical to maximizing one’s minimum gains, so for one player, this could be called the maximin criterion.</a:t>
            </a:r>
            <a:endParaRPr lang="en-US" sz="1400" b="0" strike="noStrike" spc="-1">
              <a:solidFill>
                <a:srgbClr val="FFFFFF"/>
              </a:solidFill>
              <a:latin typeface="Arial"/>
            </a:endParaRPr>
          </a:p>
        </p:txBody>
      </p:sp>
      <p:pic>
        <p:nvPicPr>
          <p:cNvPr id="88" name="Google Shape;113;p20"/>
          <p:cNvPicPr/>
          <p:nvPr/>
        </p:nvPicPr>
        <p:blipFill>
          <a:blip r:embed="rId2"/>
          <a:stretch/>
        </p:blipFill>
        <p:spPr>
          <a:xfrm>
            <a:off x="521640" y="1818360"/>
            <a:ext cx="3662640" cy="1261440"/>
          </a:xfrm>
          <a:prstGeom prst="rect">
            <a:avLst/>
          </a:prstGeom>
          <a:ln w="0">
            <a:noFill/>
          </a:ln>
        </p:spPr>
      </p:pic>
      <p:sp>
        <p:nvSpPr>
          <p:cNvPr id="89" name="Google Shape;114;p20"/>
          <p:cNvSpPr/>
          <p:nvPr/>
        </p:nvSpPr>
        <p:spPr>
          <a:xfrm>
            <a:off x="4414680" y="1818360"/>
            <a:ext cx="4322520" cy="29995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a:lnSpc>
                <a:spcPct val="115000"/>
              </a:lnSpc>
              <a:tabLst>
                <a:tab pos="0" algn="l"/>
              </a:tabLst>
            </a:pPr>
            <a:r>
              <a:rPr lang="en" sz="1400" b="0" strike="noStrike" spc="-1">
                <a:solidFill>
                  <a:srgbClr val="000000"/>
                </a:solidFill>
                <a:latin typeface="Arial"/>
                <a:ea typeface="Arial"/>
              </a:rPr>
              <a:t>Let us use the example in Table 1 to illustrate the minimax criterion. This is a two-person zero-sum game with the strategies for player Y given as the columns of the table. The values are gains for player X and losses for player Y. Player Y is looking at a maximum loss of 3 if strategy Y</a:t>
            </a:r>
            <a:r>
              <a:rPr lang="en" sz="1400" b="0" strike="noStrike" spc="-1" baseline="-25000">
                <a:solidFill>
                  <a:srgbClr val="000000"/>
                </a:solidFill>
                <a:latin typeface="Arial"/>
                <a:ea typeface="Arial"/>
              </a:rPr>
              <a:t>1</a:t>
            </a:r>
            <a:r>
              <a:rPr lang="en" sz="1400" b="0" strike="noStrike" spc="-1">
                <a:solidFill>
                  <a:srgbClr val="000000"/>
                </a:solidFill>
                <a:latin typeface="Arial"/>
                <a:ea typeface="Arial"/>
              </a:rPr>
              <a:t> is selected and a maximum loss of 5 if strategy Y</a:t>
            </a:r>
            <a:r>
              <a:rPr lang="en" sz="1400" b="0" strike="noStrike" spc="-1" baseline="-25000">
                <a:solidFill>
                  <a:srgbClr val="000000"/>
                </a:solidFill>
                <a:latin typeface="Arial"/>
                <a:ea typeface="Arial"/>
              </a:rPr>
              <a:t>2</a:t>
            </a:r>
            <a:r>
              <a:rPr lang="en" sz="1400" b="0" strike="noStrike" spc="-1">
                <a:solidFill>
                  <a:srgbClr val="000000"/>
                </a:solidFill>
                <a:latin typeface="Arial"/>
                <a:ea typeface="Arial"/>
              </a:rPr>
              <a:t> is selected. Thus, Player Y should select strategy Y</a:t>
            </a:r>
            <a:r>
              <a:rPr lang="en" sz="1400" b="0" strike="noStrike" spc="-1" baseline="-25000">
                <a:solidFill>
                  <a:srgbClr val="000000"/>
                </a:solidFill>
                <a:latin typeface="Arial"/>
                <a:ea typeface="Arial"/>
              </a:rPr>
              <a:t>1</a:t>
            </a:r>
            <a:r>
              <a:rPr lang="en" sz="1400" b="0" strike="noStrike" spc="-1">
                <a:solidFill>
                  <a:srgbClr val="000000"/>
                </a:solidFill>
                <a:latin typeface="Arial"/>
                <a:ea typeface="Arial"/>
              </a:rPr>
              <a:t>, which results in a maximum loss of 3 (the minimum of the maximum possible losses). This is called the upper value of the game. Table 2 illustrates this minimax approach.</a:t>
            </a:r>
            <a:endParaRPr lang="en-US" sz="1400" b="0" strike="noStrike" spc="-1">
              <a:solidFill>
                <a:srgbClr val="FFFFFF"/>
              </a:solidFill>
              <a:latin typeface="Arial"/>
            </a:endParaRPr>
          </a:p>
        </p:txBody>
      </p:sp>
      <p:pic>
        <p:nvPicPr>
          <p:cNvPr id="90" name="Google Shape;115;p20"/>
          <p:cNvPicPr/>
          <p:nvPr/>
        </p:nvPicPr>
        <p:blipFill>
          <a:blip r:embed="rId3"/>
          <a:stretch/>
        </p:blipFill>
        <p:spPr>
          <a:xfrm>
            <a:off x="521640" y="3332160"/>
            <a:ext cx="3552840" cy="1591560"/>
          </a:xfrm>
          <a:prstGeom prst="rect">
            <a:avLst/>
          </a:prstGeom>
          <a:ln w="0">
            <a:noFill/>
          </a:ln>
        </p:spPr>
      </p:pic>
      <p:sp>
        <p:nvSpPr>
          <p:cNvPr id="91" name="Google Shape;116;p20"/>
          <p:cNvSpPr/>
          <p:nvPr/>
        </p:nvSpPr>
        <p:spPr>
          <a:xfrm>
            <a:off x="2033640" y="3080160"/>
            <a:ext cx="748800" cy="2520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a:lnSpc>
                <a:spcPct val="100000"/>
              </a:lnSpc>
              <a:tabLst>
                <a:tab pos="0" algn="l"/>
              </a:tabLst>
            </a:pPr>
            <a:r>
              <a:rPr lang="en" sz="1100" b="0" strike="noStrike" spc="-1">
                <a:solidFill>
                  <a:srgbClr val="000000"/>
                </a:solidFill>
                <a:latin typeface="Arial"/>
                <a:ea typeface="Arial"/>
              </a:rPr>
              <a:t>Table 1</a:t>
            </a:r>
            <a:endParaRPr lang="en-US" sz="1100" b="0" strike="noStrike" spc="-1">
              <a:solidFill>
                <a:srgbClr val="FFFFFF"/>
              </a:solidFill>
              <a:latin typeface="Arial"/>
            </a:endParaRPr>
          </a:p>
        </p:txBody>
      </p:sp>
      <p:sp>
        <p:nvSpPr>
          <p:cNvPr id="92" name="Google Shape;117;p20"/>
          <p:cNvSpPr/>
          <p:nvPr/>
        </p:nvSpPr>
        <p:spPr>
          <a:xfrm>
            <a:off x="2033640" y="4761720"/>
            <a:ext cx="748800" cy="2520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a:lnSpc>
                <a:spcPct val="100000"/>
              </a:lnSpc>
              <a:tabLst>
                <a:tab pos="0" algn="l"/>
              </a:tabLst>
            </a:pPr>
            <a:r>
              <a:rPr lang="en" sz="1100" b="0" strike="noStrike" spc="-1">
                <a:solidFill>
                  <a:srgbClr val="000000"/>
                </a:solidFill>
                <a:latin typeface="Arial"/>
                <a:ea typeface="Arial"/>
              </a:rPr>
              <a:t>Table 2</a:t>
            </a:r>
            <a:endParaRPr lang="en-US" sz="1100" b="0" strike="noStrike" spc="-1">
              <a:solidFill>
                <a:srgbClr val="FFFFFF"/>
              </a:solid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anim calcmode="lin" valueType="num">
                                      <p:cBhvr additive="repl">
                                        <p:cTn id="7" dur="1000"/>
                                        <p:tgtEl>
                                          <p:spTgt spid="90"/>
                                        </p:tgtEl>
                                        <p:attrNameLst>
                                          <p:attrName>ppt_w</p:attrName>
                                        </p:attrNameLst>
                                      </p:cBhvr>
                                      <p:tavLst>
                                        <p:tav tm="0">
                                          <p:val>
                                            <p:strVal val="0"/>
                                          </p:val>
                                        </p:tav>
                                        <p:tav tm="100000">
                                          <p:val>
                                            <p:strVal val="#ppt_w"/>
                                          </p:val>
                                        </p:tav>
                                      </p:tavLst>
                                    </p:anim>
                                    <p:anim calcmode="lin" valueType="num">
                                      <p:cBhvr additive="repl">
                                        <p:cTn id="8" dur="1000"/>
                                        <p:tgtEl>
                                          <p:spTgt spid="9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Google Shape;123;p21"/>
          <p:cNvSpPr/>
          <p:nvPr/>
        </p:nvSpPr>
        <p:spPr>
          <a:xfrm>
            <a:off x="367920" y="757080"/>
            <a:ext cx="8411760" cy="41878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a:lnSpc>
                <a:spcPct val="115000"/>
              </a:lnSpc>
              <a:tabLst>
                <a:tab pos="0" algn="l"/>
              </a:tabLst>
            </a:pPr>
            <a:r>
              <a:rPr lang="en" sz="1400" b="0" strike="noStrike" spc="-1">
                <a:solidFill>
                  <a:srgbClr val="000000"/>
                </a:solidFill>
                <a:latin typeface="Arial"/>
                <a:ea typeface="Arial"/>
              </a:rPr>
              <a:t>In considering the maximin strategy for player X (whose strategies correspond to the rows of the table), let us look at the minimum payoff for each row. The payoffs are +3 for strategy and for strategy X</a:t>
            </a:r>
            <a:r>
              <a:rPr lang="en" sz="1400" b="0" strike="noStrike" spc="-1" baseline="-25000">
                <a:solidFill>
                  <a:srgbClr val="000000"/>
                </a:solidFill>
                <a:latin typeface="Arial"/>
                <a:ea typeface="Arial"/>
              </a:rPr>
              <a:t>1</a:t>
            </a:r>
            <a:r>
              <a:rPr lang="en" sz="1400" b="0" strike="noStrike" spc="-1">
                <a:solidFill>
                  <a:srgbClr val="000000"/>
                </a:solidFill>
                <a:latin typeface="Arial"/>
                <a:ea typeface="Arial"/>
              </a:rPr>
              <a:t> and -2 for strategy X</a:t>
            </a:r>
            <a:r>
              <a:rPr lang="en" sz="1400" b="0" strike="noStrike" spc="-1" baseline="-25000">
                <a:solidFill>
                  <a:srgbClr val="000000"/>
                </a:solidFill>
                <a:latin typeface="Arial"/>
                <a:ea typeface="Arial"/>
              </a:rPr>
              <a:t>2</a:t>
            </a:r>
            <a:r>
              <a:rPr lang="en" sz="1400" b="0" strike="noStrike" spc="-1">
                <a:solidFill>
                  <a:srgbClr val="000000"/>
                </a:solidFill>
                <a:latin typeface="Arial"/>
                <a:ea typeface="Arial"/>
              </a:rPr>
              <a:t>. The maximum of these minimums is +3, which means strategy X</a:t>
            </a:r>
            <a:r>
              <a:rPr lang="en" sz="1400" b="0" strike="noStrike" spc="-1" baseline="-25000">
                <a:solidFill>
                  <a:srgbClr val="000000"/>
                </a:solidFill>
                <a:latin typeface="Arial"/>
                <a:ea typeface="Arial"/>
              </a:rPr>
              <a:t>1</a:t>
            </a:r>
            <a:r>
              <a:rPr lang="en" sz="1400" b="0" strike="noStrike" spc="-1">
                <a:solidFill>
                  <a:srgbClr val="000000"/>
                </a:solidFill>
                <a:latin typeface="Arial"/>
                <a:ea typeface="Arial"/>
              </a:rPr>
              <a:t>, will be selected. This value (+3) is called the lower value of the game. </a:t>
            </a:r>
            <a:endParaRPr lang="en-US" sz="1400" b="0" strike="noStrike" spc="-1">
              <a:solidFill>
                <a:srgbClr val="FFFFFF"/>
              </a:solidFill>
              <a:latin typeface="Arial"/>
            </a:endParaRPr>
          </a:p>
          <a:p>
            <a:pPr algn="just">
              <a:lnSpc>
                <a:spcPct val="115000"/>
              </a:lnSpc>
              <a:tabLst>
                <a:tab pos="0" algn="l"/>
              </a:tabLst>
            </a:pPr>
            <a:endParaRPr lang="en-US" sz="1400" b="0" strike="noStrike" spc="-1">
              <a:solidFill>
                <a:srgbClr val="FFFFFF"/>
              </a:solidFill>
              <a:latin typeface="Arial"/>
            </a:endParaRPr>
          </a:p>
          <a:p>
            <a:pPr algn="just">
              <a:lnSpc>
                <a:spcPct val="115000"/>
              </a:lnSpc>
              <a:tabLst>
                <a:tab pos="0" algn="l"/>
              </a:tabLst>
            </a:pPr>
            <a:r>
              <a:rPr lang="en" sz="1400" b="0" strike="noStrike" spc="-1">
                <a:solidFill>
                  <a:srgbClr val="000000"/>
                </a:solidFill>
                <a:latin typeface="Arial"/>
                <a:ea typeface="Arial"/>
              </a:rPr>
              <a:t>If the upper and lower values of a game are the same, this number is called the value of the game, and an equilibrium or saddle point condition exists. For the game presented in Table 2, the value of the game is 3 because this is the value for both the upper and lower values. The value of the game is the average or expected game outcome if the game is played an infinite number of times.</a:t>
            </a:r>
            <a:endParaRPr lang="en-US" sz="1400" b="0" strike="noStrike" spc="-1">
              <a:solidFill>
                <a:srgbClr val="FFFFFF"/>
              </a:solidFill>
              <a:latin typeface="Arial"/>
            </a:endParaRPr>
          </a:p>
          <a:p>
            <a:pPr algn="just">
              <a:lnSpc>
                <a:spcPct val="115000"/>
              </a:lnSpc>
              <a:tabLst>
                <a:tab pos="0" algn="l"/>
              </a:tabLst>
            </a:pPr>
            <a:endParaRPr lang="en-US" sz="1400" b="0" strike="noStrike" spc="-1">
              <a:solidFill>
                <a:srgbClr val="FFFFFF"/>
              </a:solidFill>
              <a:latin typeface="Arial"/>
            </a:endParaRPr>
          </a:p>
          <a:p>
            <a:pPr algn="just">
              <a:lnSpc>
                <a:spcPct val="150000"/>
              </a:lnSpc>
              <a:tabLst>
                <a:tab pos="0" algn="l"/>
              </a:tabLst>
            </a:pPr>
            <a:r>
              <a:rPr lang="en" sz="1400" b="0" strike="noStrike" spc="-1">
                <a:solidFill>
                  <a:srgbClr val="000000"/>
                </a:solidFill>
                <a:latin typeface="Arial"/>
                <a:ea typeface="Arial"/>
              </a:rPr>
              <a:t>In implementing the </a:t>
            </a:r>
            <a:r>
              <a:rPr lang="en" sz="1400" b="0" strike="noStrike" spc="-1">
                <a:solidFill>
                  <a:srgbClr val="FF0000"/>
                </a:solidFill>
                <a:latin typeface="Arial"/>
                <a:ea typeface="Arial"/>
              </a:rPr>
              <a:t>minimax strategy</a:t>
            </a:r>
            <a:r>
              <a:rPr lang="en" sz="1400" b="0" strike="noStrike" spc="-1">
                <a:solidFill>
                  <a:srgbClr val="000000"/>
                </a:solidFill>
                <a:latin typeface="Arial"/>
                <a:ea typeface="Arial"/>
              </a:rPr>
              <a:t>, player </a:t>
            </a:r>
            <a:r>
              <a:rPr lang="en" sz="1400" b="0" strike="noStrike" spc="-1">
                <a:solidFill>
                  <a:srgbClr val="FF0000"/>
                </a:solidFill>
                <a:latin typeface="Arial"/>
                <a:ea typeface="Arial"/>
              </a:rPr>
              <a:t>Y will find the maximum value in each column and select the minimum of these maximums</a:t>
            </a:r>
            <a:r>
              <a:rPr lang="en" sz="1400" b="0" strike="noStrike" spc="-1">
                <a:solidFill>
                  <a:srgbClr val="000000"/>
                </a:solidFill>
                <a:latin typeface="Arial"/>
                <a:ea typeface="Arial"/>
              </a:rPr>
              <a:t>. In implementing the </a:t>
            </a:r>
            <a:r>
              <a:rPr lang="en" sz="1400" b="0" strike="noStrike" spc="-1">
                <a:solidFill>
                  <a:srgbClr val="FF0000"/>
                </a:solidFill>
                <a:latin typeface="Arial"/>
                <a:ea typeface="Arial"/>
              </a:rPr>
              <a:t>maximin strategy</a:t>
            </a:r>
            <a:r>
              <a:rPr lang="en" sz="1400" b="0" strike="noStrike" spc="-1">
                <a:solidFill>
                  <a:srgbClr val="000000"/>
                </a:solidFill>
                <a:latin typeface="Arial"/>
                <a:ea typeface="Arial"/>
              </a:rPr>
              <a:t>, player </a:t>
            </a:r>
            <a:r>
              <a:rPr lang="en" sz="1400" b="0" strike="noStrike" spc="-1">
                <a:solidFill>
                  <a:srgbClr val="FF0000"/>
                </a:solidFill>
                <a:latin typeface="Arial"/>
                <a:ea typeface="Arial"/>
              </a:rPr>
              <a:t>X will find the minimum value in each row and select the maximum of these minimums</a:t>
            </a:r>
            <a:r>
              <a:rPr lang="en" sz="1400" b="0" strike="noStrike" spc="-1">
                <a:solidFill>
                  <a:srgbClr val="000000"/>
                </a:solidFill>
                <a:latin typeface="Arial"/>
                <a:ea typeface="Arial"/>
              </a:rPr>
              <a:t>. When a saddle point is present, this approach will result in pure strategies for each player. Otherwise, the solution to the game will involve mixed strategies. These concepts are discussed in the following sections.</a:t>
            </a:r>
            <a:endParaRPr lang="en-US" sz="1400" b="0" strike="noStrike" spc="-1">
              <a:solidFill>
                <a:srgbClr val="FFFFFF"/>
              </a:solidFill>
              <a:latin typeface="Arial"/>
            </a:endParaRPr>
          </a:p>
          <a:p>
            <a:pPr algn="just">
              <a:lnSpc>
                <a:spcPct val="115000"/>
              </a:lnSpc>
              <a:tabLst>
                <a:tab pos="0" algn="l"/>
              </a:tabLst>
            </a:pPr>
            <a:endParaRPr lang="en-US" sz="1400" b="0" strike="noStrike" spc="-1">
              <a:solidFill>
                <a:srgbClr val="FFFFFF"/>
              </a:solidFill>
              <a:latin typeface="Arial"/>
            </a:endParaRPr>
          </a:p>
          <a:p>
            <a:pPr algn="just">
              <a:lnSpc>
                <a:spcPct val="115000"/>
              </a:lnSpc>
              <a:tabLst>
                <a:tab pos="0" algn="l"/>
              </a:tabLst>
            </a:pPr>
            <a:endParaRPr lang="en-US" sz="1400" b="0" strike="noStrike" spc="-1">
              <a:solidFill>
                <a:srgbClr val="FFFFFF"/>
              </a:solidFill>
              <a:latin typeface="Arial"/>
            </a:endParaRPr>
          </a:p>
          <a:p>
            <a:pPr>
              <a:lnSpc>
                <a:spcPct val="100000"/>
              </a:lnSpc>
              <a:tabLst>
                <a:tab pos="0" algn="l"/>
              </a:tabLst>
            </a:pPr>
            <a:endParaRPr lang="en-US" sz="1400" b="0" strike="noStrike" spc="-1">
              <a:solidFill>
                <a:srgbClr val="FFFFFF"/>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1800" b="0" strike="noStrike" spc="-1">
                <a:solidFill>
                  <a:schemeClr val="lt1"/>
                </a:solidFill>
                <a:latin typeface="Roboto"/>
                <a:ea typeface="Roboto"/>
              </a:rPr>
              <a:t>    Pure Strategy Games</a:t>
            </a:r>
            <a:endParaRPr lang="en-US" sz="1800" b="0" strike="noStrike" spc="-1">
              <a:solidFill>
                <a:srgbClr val="000000"/>
              </a:solidFill>
              <a:latin typeface="Arial"/>
            </a:endParaRPr>
          </a:p>
        </p:txBody>
      </p:sp>
      <p:sp>
        <p:nvSpPr>
          <p:cNvPr id="95" name="Google Shape;129;p22"/>
          <p:cNvSpPr/>
          <p:nvPr/>
        </p:nvSpPr>
        <p:spPr>
          <a:xfrm>
            <a:off x="1095120" y="870120"/>
            <a:ext cx="6234120" cy="13226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a:lnSpc>
                <a:spcPct val="115000"/>
              </a:lnSpc>
              <a:tabLst>
                <a:tab pos="0" algn="l"/>
              </a:tabLst>
            </a:pPr>
            <a:r>
              <a:rPr lang="en" sz="1400" b="0" strike="noStrike" spc="-1">
                <a:solidFill>
                  <a:srgbClr val="000000"/>
                </a:solidFill>
                <a:latin typeface="Arial"/>
                <a:ea typeface="Arial"/>
              </a:rPr>
              <a:t>When a saddle point is present, the strategy each player should follow will always be the same regardless of the other player’s strategy. This is called a pure strategy. </a:t>
            </a:r>
            <a:endParaRPr lang="en-US" sz="1400" b="0" strike="noStrike" spc="-1">
              <a:solidFill>
                <a:srgbClr val="FFFFFF"/>
              </a:solidFill>
              <a:latin typeface="Arial"/>
            </a:endParaRPr>
          </a:p>
          <a:p>
            <a:pPr algn="just">
              <a:lnSpc>
                <a:spcPct val="115000"/>
              </a:lnSpc>
              <a:tabLst>
                <a:tab pos="0" algn="l"/>
              </a:tabLst>
            </a:pPr>
            <a:r>
              <a:rPr lang="en" sz="1400" b="0" strike="noStrike" spc="-1">
                <a:solidFill>
                  <a:srgbClr val="000000"/>
                </a:solidFill>
                <a:latin typeface="Arial"/>
                <a:ea typeface="Arial"/>
              </a:rPr>
              <a:t>A saddle point is a situation in which both players are facing pure strategies.</a:t>
            </a:r>
            <a:endParaRPr lang="en-US" sz="1400" b="0" strike="noStrike" spc="-1">
              <a:solidFill>
                <a:srgbClr val="FFFFFF"/>
              </a:solidFill>
              <a:latin typeface="Arial"/>
            </a:endParaRPr>
          </a:p>
        </p:txBody>
      </p:sp>
      <p:pic>
        <p:nvPicPr>
          <p:cNvPr id="96" name="Google Shape;130;p22"/>
          <p:cNvPicPr/>
          <p:nvPr/>
        </p:nvPicPr>
        <p:blipFill>
          <a:blip r:embed="rId2"/>
          <a:stretch/>
        </p:blipFill>
        <p:spPr>
          <a:xfrm>
            <a:off x="1116360" y="2072880"/>
            <a:ext cx="6191640" cy="2729880"/>
          </a:xfrm>
          <a:prstGeom prst="rect">
            <a:avLst/>
          </a:prstGeom>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1800" b="0" strike="noStrike" spc="-1">
                <a:solidFill>
                  <a:schemeClr val="lt1"/>
                </a:solidFill>
                <a:latin typeface="Roboto"/>
                <a:ea typeface="Roboto"/>
              </a:rPr>
              <a:t>   Mixed Strategy Games</a:t>
            </a:r>
            <a:endParaRPr lang="en-US" sz="1800" b="0" strike="noStrike" spc="-1">
              <a:solidFill>
                <a:srgbClr val="000000"/>
              </a:solidFill>
              <a:latin typeface="Arial"/>
            </a:endParaRPr>
          </a:p>
        </p:txBody>
      </p:sp>
      <p:sp>
        <p:nvSpPr>
          <p:cNvPr id="98" name="Google Shape;136;p23"/>
          <p:cNvSpPr/>
          <p:nvPr/>
        </p:nvSpPr>
        <p:spPr>
          <a:xfrm>
            <a:off x="431640" y="749880"/>
            <a:ext cx="7753680" cy="29995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a:lnSpc>
                <a:spcPct val="115000"/>
              </a:lnSpc>
              <a:tabLst>
                <a:tab pos="0" algn="l"/>
              </a:tabLst>
            </a:pPr>
            <a:r>
              <a:rPr lang="en" sz="1400" b="0" strike="noStrike" spc="-1">
                <a:solidFill>
                  <a:srgbClr val="000000"/>
                </a:solidFill>
                <a:latin typeface="Arial"/>
                <a:ea typeface="Arial"/>
              </a:rPr>
              <a:t>When there is no saddle point, players will play each strategy for a certain percentage of the time. This is called a mixed strategy game. The most common way to solve a mixed strategy game is to use the expected gain or loss approach. The goal of this approach is for a player to play each strategy a particular percentage of the time so that the expected value of the game does not depend upon what the opponent does. This will only occur if the expected value of each strategy is the same.</a:t>
            </a:r>
            <a:endParaRPr lang="en-US" sz="1400" b="0" strike="noStrike" spc="-1">
              <a:solidFill>
                <a:srgbClr val="FFFFFF"/>
              </a:solidFill>
              <a:latin typeface="Arial"/>
            </a:endParaRPr>
          </a:p>
        </p:txBody>
      </p:sp>
      <p:pic>
        <p:nvPicPr>
          <p:cNvPr id="99" name="Google Shape;137;p23"/>
          <p:cNvPicPr/>
          <p:nvPr/>
        </p:nvPicPr>
        <p:blipFill>
          <a:blip r:embed="rId2"/>
          <a:stretch/>
        </p:blipFill>
        <p:spPr>
          <a:xfrm>
            <a:off x="1789200" y="2421360"/>
            <a:ext cx="5038200" cy="2161800"/>
          </a:xfrm>
          <a:prstGeom prst="rect">
            <a:avLst/>
          </a:prstGeom>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buNone/>
            </a:pPr>
            <a:endParaRPr lang="en-US" sz="1800" b="0" strike="noStrike" spc="-1">
              <a:solidFill>
                <a:schemeClr val="lt1"/>
              </a:solidFill>
              <a:latin typeface="Roboto"/>
              <a:ea typeface="Roboto"/>
            </a:endParaRPr>
          </a:p>
        </p:txBody>
      </p:sp>
      <p:pic>
        <p:nvPicPr>
          <p:cNvPr id="101" name="Google Shape;143;p24"/>
          <p:cNvPicPr/>
          <p:nvPr/>
        </p:nvPicPr>
        <p:blipFill>
          <a:blip r:embed="rId2"/>
          <a:stretch/>
        </p:blipFill>
        <p:spPr>
          <a:xfrm>
            <a:off x="506160" y="806760"/>
            <a:ext cx="8210160" cy="2352240"/>
          </a:xfrm>
          <a:prstGeom prst="rect">
            <a:avLst/>
          </a:prstGeom>
          <a:ln w="0">
            <a:noFill/>
          </a:ln>
        </p:spPr>
      </p:pic>
      <p:sp>
        <p:nvSpPr>
          <p:cNvPr id="102" name="Google Shape;144;p24"/>
          <p:cNvSpPr/>
          <p:nvPr/>
        </p:nvSpPr>
        <p:spPr>
          <a:xfrm>
            <a:off x="1427760" y="3205080"/>
            <a:ext cx="6367320" cy="9334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a:lnSpc>
                <a:spcPct val="100000"/>
              </a:lnSpc>
              <a:tabLst>
                <a:tab pos="0" algn="l"/>
              </a:tabLst>
            </a:pPr>
            <a:r>
              <a:rPr lang="en" sz="1400" b="0" strike="noStrike" spc="-1">
                <a:solidFill>
                  <a:srgbClr val="000000"/>
                </a:solidFill>
                <a:latin typeface="Arial"/>
                <a:ea typeface="Arial"/>
              </a:rPr>
              <a:t>     Game Table for Mixed Strategy Game with Percentages (P, Q) Shown</a:t>
            </a:r>
            <a:endParaRPr lang="en-US" sz="1400" b="0" strike="noStrike" spc="-1">
              <a:solidFill>
                <a:srgbClr val="FFFFFF"/>
              </a:solidFill>
              <a:latin typeface="Arial"/>
            </a:endParaRPr>
          </a:p>
        </p:txBody>
      </p:sp>
      <p:sp>
        <p:nvSpPr>
          <p:cNvPr id="103" name="Google Shape;145;p24"/>
          <p:cNvSpPr/>
          <p:nvPr/>
        </p:nvSpPr>
        <p:spPr>
          <a:xfrm>
            <a:off x="1514160" y="3247560"/>
            <a:ext cx="176760" cy="254520"/>
          </a:xfrm>
          <a:prstGeom prst="upArrow">
            <a:avLst>
              <a:gd name="adj1" fmla="val 50000"/>
              <a:gd name="adj2" fmla="val 50000"/>
            </a:avLst>
          </a:prstGeom>
          <a:solidFill>
            <a:schemeClr val="lt2"/>
          </a:solidFill>
          <a:ln w="9525">
            <a:solidFill>
              <a:srgbClr val="424242"/>
            </a:solidFill>
            <a:round/>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en-US" sz="1400" b="0" strike="noStrike" spc="-1">
              <a:solidFill>
                <a:srgbClr val="000000"/>
              </a:solidFill>
              <a:latin typeface="Arial"/>
              <a:ea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buNone/>
            </a:pPr>
            <a:endParaRPr lang="en-US" sz="1800" b="0" strike="noStrike" spc="-1">
              <a:solidFill>
                <a:schemeClr val="lt1"/>
              </a:solidFill>
              <a:latin typeface="Roboto"/>
              <a:ea typeface="Roboto"/>
            </a:endParaRPr>
          </a:p>
        </p:txBody>
      </p:sp>
      <p:sp>
        <p:nvSpPr>
          <p:cNvPr id="105" name="Google Shape;151;p25"/>
          <p:cNvSpPr/>
          <p:nvPr/>
        </p:nvSpPr>
        <p:spPr>
          <a:xfrm>
            <a:off x="537840" y="1018800"/>
            <a:ext cx="8065080" cy="33109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a:lnSpc>
                <a:spcPct val="100000"/>
              </a:lnSpc>
              <a:tabLst>
                <a:tab pos="0" algn="l"/>
              </a:tabLst>
            </a:pPr>
            <a:r>
              <a:rPr lang="en" sz="1400" b="0" strike="noStrike" spc="-1">
                <a:solidFill>
                  <a:srgbClr val="000000"/>
                </a:solidFill>
                <a:latin typeface="Arial"/>
                <a:ea typeface="Arial"/>
              </a:rPr>
              <a:t>Therefore, to solve this, we set these two expected values equal, as follows:</a:t>
            </a:r>
            <a:endParaRPr lang="en-US" sz="1400" b="0" strike="noStrike" spc="-1">
              <a:solidFill>
                <a:srgbClr val="FFFFFF"/>
              </a:solidFill>
              <a:latin typeface="Arial"/>
            </a:endParaRPr>
          </a:p>
          <a:p>
            <a:pPr algn="just">
              <a:lnSpc>
                <a:spcPct val="100000"/>
              </a:lnSpc>
              <a:tabLst>
                <a:tab pos="0" algn="l"/>
              </a:tabLst>
            </a:pPr>
            <a:endParaRPr lang="en-US" sz="1400" b="0" strike="noStrike" spc="-1">
              <a:solidFill>
                <a:srgbClr val="FFFFFF"/>
              </a:solidFill>
              <a:latin typeface="Arial"/>
            </a:endParaRPr>
          </a:p>
          <a:p>
            <a:pPr algn="ctr">
              <a:lnSpc>
                <a:spcPct val="100000"/>
              </a:lnSpc>
              <a:tabLst>
                <a:tab pos="0" algn="l"/>
              </a:tabLst>
            </a:pPr>
            <a:r>
              <a:rPr lang="en" sz="1400" b="0" i="1" strike="noStrike" spc="-1">
                <a:solidFill>
                  <a:srgbClr val="000000"/>
                </a:solidFill>
                <a:latin typeface="Arial"/>
                <a:ea typeface="Arial"/>
              </a:rPr>
              <a:t>4P + 2(1 - P) = 1P + 10(1 - P)</a:t>
            </a:r>
            <a:endParaRPr lang="en-US" sz="1400" b="0" strike="noStrike" spc="-1">
              <a:solidFill>
                <a:srgbClr val="FFFFFF"/>
              </a:solidFill>
              <a:latin typeface="Arial"/>
            </a:endParaRPr>
          </a:p>
          <a:p>
            <a:pPr algn="ctr">
              <a:lnSpc>
                <a:spcPct val="100000"/>
              </a:lnSpc>
              <a:tabLst>
                <a:tab pos="0" algn="l"/>
              </a:tabLst>
            </a:pPr>
            <a:endParaRPr lang="en-US" sz="1400" b="0" strike="noStrike" spc="-1">
              <a:solidFill>
                <a:srgbClr val="FFFFFF"/>
              </a:solidFill>
              <a:latin typeface="Arial"/>
            </a:endParaRPr>
          </a:p>
          <a:p>
            <a:pPr>
              <a:lnSpc>
                <a:spcPct val="100000"/>
              </a:lnSpc>
              <a:tabLst>
                <a:tab pos="0" algn="l"/>
              </a:tabLst>
            </a:pPr>
            <a:r>
              <a:rPr lang="en" sz="1400" b="0" strike="noStrike" spc="-1">
                <a:solidFill>
                  <a:srgbClr val="000000"/>
                </a:solidFill>
                <a:latin typeface="Arial"/>
                <a:ea typeface="Arial"/>
              </a:rPr>
              <a:t>Solving this for P, we have</a:t>
            </a:r>
            <a:endParaRPr lang="en-US" sz="1400" b="0" strike="noStrike" spc="-1">
              <a:solidFill>
                <a:srgbClr val="FFFFFF"/>
              </a:solidFill>
              <a:latin typeface="Arial"/>
            </a:endParaRPr>
          </a:p>
          <a:p>
            <a:pPr algn="ctr">
              <a:lnSpc>
                <a:spcPct val="100000"/>
              </a:lnSpc>
              <a:tabLst>
                <a:tab pos="0" algn="l"/>
              </a:tabLst>
            </a:pPr>
            <a:r>
              <a:rPr lang="en" sz="1400" b="0" i="1" strike="noStrike" spc="-1">
                <a:solidFill>
                  <a:srgbClr val="000000"/>
                </a:solidFill>
                <a:latin typeface="Arial"/>
                <a:ea typeface="Arial"/>
              </a:rPr>
              <a:t>P = 8/11</a:t>
            </a:r>
            <a:endParaRPr lang="en-US" sz="1400" b="0" strike="noStrike" spc="-1">
              <a:solidFill>
                <a:srgbClr val="FFFFFF"/>
              </a:solidFill>
              <a:latin typeface="Arial"/>
            </a:endParaRPr>
          </a:p>
          <a:p>
            <a:pPr>
              <a:lnSpc>
                <a:spcPct val="100000"/>
              </a:lnSpc>
              <a:tabLst>
                <a:tab pos="0" algn="l"/>
              </a:tabLst>
            </a:pPr>
            <a:r>
              <a:rPr lang="en" sz="1400" b="0" strike="noStrike" spc="-1">
                <a:solidFill>
                  <a:srgbClr val="000000"/>
                </a:solidFill>
                <a:latin typeface="Arial"/>
                <a:ea typeface="Arial"/>
              </a:rPr>
              <a:t>and</a:t>
            </a:r>
            <a:endParaRPr lang="en-US" sz="1400" b="0" strike="noStrike" spc="-1">
              <a:solidFill>
                <a:srgbClr val="FFFFFF"/>
              </a:solidFill>
              <a:latin typeface="Arial"/>
            </a:endParaRPr>
          </a:p>
          <a:p>
            <a:pPr algn="ctr">
              <a:lnSpc>
                <a:spcPct val="100000"/>
              </a:lnSpc>
              <a:tabLst>
                <a:tab pos="0" algn="l"/>
              </a:tabLst>
            </a:pPr>
            <a:r>
              <a:rPr lang="en" sz="1400" b="0" i="1" strike="noStrike" spc="-1">
                <a:solidFill>
                  <a:srgbClr val="000000"/>
                </a:solidFill>
                <a:latin typeface="Arial"/>
                <a:ea typeface="Arial"/>
              </a:rPr>
              <a:t>1 - P = 1 - 8/11 = 3/11</a:t>
            </a:r>
            <a:endParaRPr lang="en-US" sz="1400" b="0" strike="noStrike" spc="-1">
              <a:solidFill>
                <a:srgbClr val="FFFFFF"/>
              </a:solidFill>
              <a:latin typeface="Arial"/>
            </a:endParaRPr>
          </a:p>
          <a:p>
            <a:pPr algn="ctr">
              <a:lnSpc>
                <a:spcPct val="100000"/>
              </a:lnSpc>
              <a:tabLst>
                <a:tab pos="0" algn="l"/>
              </a:tabLst>
            </a:pPr>
            <a:endParaRPr lang="en-US" sz="1400" b="0" strike="noStrike" spc="-1">
              <a:solidFill>
                <a:srgbClr val="FFFFFF"/>
              </a:solidFill>
              <a:latin typeface="Arial"/>
            </a:endParaRPr>
          </a:p>
          <a:p>
            <a:pPr algn="just">
              <a:lnSpc>
                <a:spcPct val="115000"/>
              </a:lnSpc>
              <a:tabLst>
                <a:tab pos="0" algn="l"/>
              </a:tabLst>
            </a:pPr>
            <a:r>
              <a:rPr lang="en" sz="1400" b="0" strike="noStrike" spc="-1">
                <a:solidFill>
                  <a:srgbClr val="000000"/>
                </a:solidFill>
                <a:latin typeface="Arial"/>
                <a:ea typeface="Arial"/>
              </a:rPr>
              <a:t>Thus, 8/11 and 3/11 indicate how often player Y will choose strategies Y</a:t>
            </a:r>
            <a:r>
              <a:rPr lang="en" sz="1400" b="0" strike="noStrike" spc="-1" baseline="-25000">
                <a:solidFill>
                  <a:srgbClr val="000000"/>
                </a:solidFill>
                <a:latin typeface="Arial"/>
                <a:ea typeface="Arial"/>
              </a:rPr>
              <a:t>1</a:t>
            </a:r>
            <a:r>
              <a:rPr lang="en" sz="1400" b="0" strike="noStrike" spc="-1">
                <a:solidFill>
                  <a:srgbClr val="000000"/>
                </a:solidFill>
                <a:latin typeface="Arial"/>
                <a:ea typeface="Arial"/>
              </a:rPr>
              <a:t>and Y</a:t>
            </a:r>
            <a:r>
              <a:rPr lang="en" sz="1400" b="0" strike="noStrike" spc="-1" baseline="-25000">
                <a:solidFill>
                  <a:srgbClr val="000000"/>
                </a:solidFill>
                <a:latin typeface="Arial"/>
                <a:ea typeface="Arial"/>
              </a:rPr>
              <a:t>2</a:t>
            </a:r>
            <a:r>
              <a:rPr lang="en" sz="1400" b="0" strike="noStrike" spc="-1">
                <a:solidFill>
                  <a:srgbClr val="000000"/>
                </a:solidFill>
                <a:latin typeface="Arial"/>
                <a:ea typeface="Arial"/>
              </a:rPr>
              <a:t> respectively. The expected value computed with these percentages is</a:t>
            </a:r>
            <a:endParaRPr lang="en-US" sz="1400" b="0" strike="noStrike" spc="-1">
              <a:solidFill>
                <a:srgbClr val="FFFFFF"/>
              </a:solidFill>
              <a:latin typeface="Arial"/>
            </a:endParaRPr>
          </a:p>
          <a:p>
            <a:pPr algn="ctr">
              <a:lnSpc>
                <a:spcPct val="115000"/>
              </a:lnSpc>
              <a:tabLst>
                <a:tab pos="0" algn="l"/>
              </a:tabLst>
            </a:pPr>
            <a:endParaRPr lang="en-US" sz="1400" b="0" strike="noStrike" spc="-1">
              <a:solidFill>
                <a:srgbClr val="FFFFFF"/>
              </a:solidFill>
              <a:latin typeface="Arial"/>
            </a:endParaRPr>
          </a:p>
          <a:p>
            <a:pPr algn="ctr">
              <a:lnSpc>
                <a:spcPct val="115000"/>
              </a:lnSpc>
              <a:tabLst>
                <a:tab pos="0" algn="l"/>
              </a:tabLst>
            </a:pPr>
            <a:r>
              <a:rPr lang="en" sz="1400" b="0" i="1" strike="noStrike" spc="-1">
                <a:solidFill>
                  <a:srgbClr val="000000"/>
                </a:solidFill>
                <a:latin typeface="Arial"/>
                <a:ea typeface="Arial"/>
              </a:rPr>
              <a:t>1P + 10(1 - P) = 1(8/11) + 10(3/11) = 38/11 = 3.46</a:t>
            </a:r>
            <a:endParaRPr lang="en-US" sz="1400" b="0" strike="noStrike" spc="-1">
              <a:solidFill>
                <a:srgbClr val="FFFFFF"/>
              </a:solidFill>
              <a:latin typeface="Arial"/>
            </a:endParaRPr>
          </a:p>
          <a:p>
            <a:pPr>
              <a:lnSpc>
                <a:spcPct val="115000"/>
              </a:lnSpc>
              <a:tabLst>
                <a:tab pos="0" algn="l"/>
              </a:tabLst>
            </a:pPr>
            <a:endParaRPr lang="en-US" sz="1400" b="0" strike="noStrike" spc="-1">
              <a:solidFill>
                <a:srgbClr val="FFFFFF"/>
              </a:solidFill>
              <a:latin typeface="Arial"/>
            </a:endParaRPr>
          </a:p>
          <a:p>
            <a:pPr algn="just">
              <a:lnSpc>
                <a:spcPct val="115000"/>
              </a:lnSpc>
              <a:tabLst>
                <a:tab pos="0" algn="l"/>
              </a:tabLst>
            </a:pPr>
            <a:endParaRPr lang="en-US" sz="1400" b="0" strike="noStrike" spc="-1">
              <a:solidFill>
                <a:srgbClr val="FFFFFF"/>
              </a:solidFill>
              <a:latin typeface="Arial"/>
            </a:endParaRPr>
          </a:p>
          <a:p>
            <a:pPr algn="just">
              <a:lnSpc>
                <a:spcPct val="115000"/>
              </a:lnSpc>
              <a:tabLst>
                <a:tab pos="0" algn="l"/>
              </a:tabLst>
            </a:pPr>
            <a:endParaRPr lang="en-US" sz="1400" b="0" strike="noStrike" spc="-1">
              <a:solidFill>
                <a:srgbClr val="FFFFFF"/>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buNone/>
            </a:pPr>
            <a:endParaRPr lang="en-US" sz="1800" b="0" strike="noStrike" spc="-1">
              <a:solidFill>
                <a:schemeClr val="lt1"/>
              </a:solidFill>
              <a:latin typeface="Roboto"/>
              <a:ea typeface="Roboto"/>
            </a:endParaRPr>
          </a:p>
        </p:txBody>
      </p:sp>
      <p:sp>
        <p:nvSpPr>
          <p:cNvPr id="107" name="Google Shape;157;p26"/>
          <p:cNvSpPr/>
          <p:nvPr/>
        </p:nvSpPr>
        <p:spPr>
          <a:xfrm>
            <a:off x="502200" y="933840"/>
            <a:ext cx="7831440" cy="39333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a:lnSpc>
                <a:spcPct val="150000"/>
              </a:lnSpc>
              <a:tabLst>
                <a:tab pos="0" algn="l"/>
              </a:tabLst>
            </a:pPr>
            <a:r>
              <a:rPr lang="en" sz="1400" b="0" strike="noStrike" spc="-1">
                <a:solidFill>
                  <a:srgbClr val="000000"/>
                </a:solidFill>
                <a:latin typeface="Arial"/>
                <a:ea typeface="Arial"/>
              </a:rPr>
              <a:t>Performing a similar analysis for player X, we let Q be the percentage of the time that strategy is played and be the percentage of the time that strategy is played. Using these, we compute the expected gain shown in Table. We set these equal, as follows:</a:t>
            </a:r>
            <a:endParaRPr lang="en-US" sz="1400" b="0" strike="noStrike" spc="-1">
              <a:solidFill>
                <a:srgbClr val="FFFFFF"/>
              </a:solidFill>
              <a:latin typeface="Arial"/>
            </a:endParaRPr>
          </a:p>
          <a:p>
            <a:pPr algn="just">
              <a:lnSpc>
                <a:spcPct val="150000"/>
              </a:lnSpc>
              <a:tabLst>
                <a:tab pos="0" algn="l"/>
              </a:tabLst>
            </a:pPr>
            <a:endParaRPr lang="en-US" sz="1400" b="0" strike="noStrike" spc="-1">
              <a:solidFill>
                <a:srgbClr val="FFFFFF"/>
              </a:solidFill>
              <a:latin typeface="Arial"/>
            </a:endParaRPr>
          </a:p>
          <a:p>
            <a:pPr algn="ctr">
              <a:lnSpc>
                <a:spcPct val="115000"/>
              </a:lnSpc>
              <a:tabLst>
                <a:tab pos="0" algn="l"/>
              </a:tabLst>
            </a:pPr>
            <a:r>
              <a:rPr lang="en" sz="1400" b="0" i="1" strike="noStrike" spc="-1">
                <a:solidFill>
                  <a:srgbClr val="000000"/>
                </a:solidFill>
                <a:latin typeface="Arial"/>
                <a:ea typeface="Arial"/>
              </a:rPr>
              <a:t>4Q + 1(1 - Q) = 2Q + 10(1 - Q)</a:t>
            </a:r>
            <a:endParaRPr lang="en-US" sz="1400" b="0" strike="noStrike" spc="-1">
              <a:solidFill>
                <a:srgbClr val="FFFFFF"/>
              </a:solidFill>
              <a:latin typeface="Arial"/>
            </a:endParaRPr>
          </a:p>
          <a:p>
            <a:pPr>
              <a:lnSpc>
                <a:spcPct val="115000"/>
              </a:lnSpc>
              <a:tabLst>
                <a:tab pos="0" algn="l"/>
              </a:tabLst>
            </a:pPr>
            <a:r>
              <a:rPr lang="en" sz="1400" b="0" strike="noStrike" spc="-1">
                <a:solidFill>
                  <a:srgbClr val="000000"/>
                </a:solidFill>
                <a:latin typeface="Arial"/>
                <a:ea typeface="Arial"/>
              </a:rPr>
              <a:t>Solving for Q, we get</a:t>
            </a:r>
            <a:endParaRPr lang="en-US" sz="1400" b="0" strike="noStrike" spc="-1">
              <a:solidFill>
                <a:srgbClr val="FFFFFF"/>
              </a:solidFill>
              <a:latin typeface="Arial"/>
            </a:endParaRPr>
          </a:p>
          <a:p>
            <a:pPr algn="ctr">
              <a:lnSpc>
                <a:spcPct val="115000"/>
              </a:lnSpc>
              <a:tabLst>
                <a:tab pos="0" algn="l"/>
              </a:tabLst>
            </a:pPr>
            <a:r>
              <a:rPr lang="en" sz="1400" b="0" i="1" strike="noStrike" spc="-1">
                <a:solidFill>
                  <a:srgbClr val="000000"/>
                </a:solidFill>
                <a:latin typeface="Arial"/>
                <a:ea typeface="Arial"/>
              </a:rPr>
              <a:t>Q = 9/11</a:t>
            </a:r>
            <a:endParaRPr lang="en-US" sz="1400" b="0" strike="noStrike" spc="-1">
              <a:solidFill>
                <a:srgbClr val="FFFFFF"/>
              </a:solidFill>
              <a:latin typeface="Arial"/>
            </a:endParaRPr>
          </a:p>
          <a:p>
            <a:pPr>
              <a:lnSpc>
                <a:spcPct val="115000"/>
              </a:lnSpc>
              <a:tabLst>
                <a:tab pos="0" algn="l"/>
              </a:tabLst>
            </a:pPr>
            <a:r>
              <a:rPr lang="en" sz="1400" b="0" strike="noStrike" spc="-1">
                <a:solidFill>
                  <a:srgbClr val="000000"/>
                </a:solidFill>
                <a:latin typeface="Arial"/>
                <a:ea typeface="Arial"/>
              </a:rPr>
              <a:t>and</a:t>
            </a:r>
            <a:endParaRPr lang="en-US" sz="1400" b="0" strike="noStrike" spc="-1">
              <a:solidFill>
                <a:srgbClr val="FFFFFF"/>
              </a:solidFill>
              <a:latin typeface="Arial"/>
            </a:endParaRPr>
          </a:p>
          <a:p>
            <a:pPr algn="ctr">
              <a:lnSpc>
                <a:spcPct val="115000"/>
              </a:lnSpc>
              <a:tabLst>
                <a:tab pos="0" algn="l"/>
              </a:tabLst>
            </a:pPr>
            <a:r>
              <a:rPr lang="en" sz="1400" b="0" i="1" strike="noStrike" spc="-1">
                <a:solidFill>
                  <a:srgbClr val="000000"/>
                </a:solidFill>
                <a:latin typeface="Arial"/>
                <a:ea typeface="Arial"/>
              </a:rPr>
              <a:t>1 - Q = 2/11</a:t>
            </a:r>
            <a:endParaRPr lang="en-US" sz="1400" b="0" strike="noStrike" spc="-1">
              <a:solidFill>
                <a:srgbClr val="FFFFFF"/>
              </a:solidFill>
              <a:latin typeface="Arial"/>
            </a:endParaRPr>
          </a:p>
          <a:p>
            <a:pPr algn="ctr">
              <a:lnSpc>
                <a:spcPct val="115000"/>
              </a:lnSpc>
              <a:tabLst>
                <a:tab pos="0" algn="l"/>
              </a:tabLst>
            </a:pPr>
            <a:endParaRPr lang="en-US" sz="1400" b="0" strike="noStrike" spc="-1">
              <a:solidFill>
                <a:srgbClr val="FFFFFF"/>
              </a:solidFill>
              <a:latin typeface="Arial"/>
            </a:endParaRPr>
          </a:p>
          <a:p>
            <a:pPr algn="just">
              <a:lnSpc>
                <a:spcPct val="150000"/>
              </a:lnSpc>
              <a:tabLst>
                <a:tab pos="0" algn="l"/>
              </a:tabLst>
            </a:pPr>
            <a:r>
              <a:rPr lang="en" sz="1400" b="0" strike="noStrike" spc="-1">
                <a:solidFill>
                  <a:srgbClr val="000000"/>
                </a:solidFill>
                <a:latin typeface="Arial"/>
                <a:ea typeface="Arial"/>
              </a:rPr>
              <a:t>Thus, 9/11 and  2/11 indicate how often player X will choose strategies X1 and X2 respectively. The expected gains with these probabilities will also be 38/11, or 3.46.</a:t>
            </a:r>
            <a:endParaRPr lang="en-US" sz="1400" b="0" strike="noStrike" spc="-1">
              <a:solidFill>
                <a:srgbClr val="FFFFFF"/>
              </a:solidFill>
              <a:latin typeface="Arial"/>
            </a:endParaRPr>
          </a:p>
          <a:p>
            <a:pPr>
              <a:lnSpc>
                <a:spcPct val="115000"/>
              </a:lnSpc>
              <a:tabLst>
                <a:tab pos="0" algn="l"/>
              </a:tabLst>
            </a:pPr>
            <a:endParaRPr lang="en-US" sz="1400" b="0" strike="noStrike" spc="-1">
              <a:solidFill>
                <a:srgbClr val="FFFFFF"/>
              </a:solidFill>
              <a:latin typeface="Arial"/>
            </a:endParaRPr>
          </a:p>
          <a:p>
            <a:pPr algn="just">
              <a:lnSpc>
                <a:spcPct val="115000"/>
              </a:lnSpc>
              <a:tabLst>
                <a:tab pos="0" algn="l"/>
              </a:tabLst>
            </a:pPr>
            <a:endParaRPr lang="en-US" sz="1400" b="0" strike="noStrike" spc="-1">
              <a:solidFill>
                <a:srgbClr val="FFFFFF"/>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1800" b="0" strike="noStrike" spc="-1">
                <a:solidFill>
                  <a:schemeClr val="lt1"/>
                </a:solidFill>
                <a:latin typeface="Roboto"/>
                <a:ea typeface="Roboto"/>
              </a:rPr>
              <a:t>     Dominance</a:t>
            </a:r>
            <a:endParaRPr lang="en-US" sz="1800" b="0" strike="noStrike" spc="-1">
              <a:solidFill>
                <a:srgbClr val="000000"/>
              </a:solidFill>
              <a:latin typeface="Arial"/>
            </a:endParaRPr>
          </a:p>
        </p:txBody>
      </p:sp>
      <p:sp>
        <p:nvSpPr>
          <p:cNvPr id="109" name="Google Shape;163;p27"/>
          <p:cNvSpPr/>
          <p:nvPr/>
        </p:nvSpPr>
        <p:spPr>
          <a:xfrm>
            <a:off x="410400" y="702360"/>
            <a:ext cx="7895520" cy="2688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a:lnSpc>
                <a:spcPct val="115000"/>
              </a:lnSpc>
              <a:tabLst>
                <a:tab pos="0" algn="l"/>
              </a:tabLst>
            </a:pPr>
            <a:r>
              <a:rPr lang="en" sz="1400" b="0" strike="noStrike" spc="-1">
                <a:solidFill>
                  <a:srgbClr val="000000"/>
                </a:solidFill>
                <a:latin typeface="Arial"/>
                <a:ea typeface="Arial"/>
              </a:rPr>
              <a:t>The principle of dominance can be used to reduce the size of games by eliminating strategies that would never be played. A strategy for a player is said to be dominated if the player can always do as well or better playing another strategy. Any dominated strategy can be eliminated from the game. In other words, a strategy can be eliminated if all its game’s outcomes are the same or worse than the corresponding game outcomes of another strategy.</a:t>
            </a:r>
            <a:endParaRPr lang="en-US" sz="1400" b="0" strike="noStrike" spc="-1">
              <a:solidFill>
                <a:srgbClr val="FFFFFF"/>
              </a:solidFill>
              <a:latin typeface="Arial"/>
            </a:endParaRPr>
          </a:p>
          <a:p>
            <a:pPr algn="just">
              <a:lnSpc>
                <a:spcPct val="115000"/>
              </a:lnSpc>
              <a:tabLst>
                <a:tab pos="0" algn="l"/>
              </a:tabLst>
            </a:pPr>
            <a:r>
              <a:rPr lang="en" sz="1400" b="0" strike="noStrike" spc="-1">
                <a:solidFill>
                  <a:srgbClr val="000000"/>
                </a:solidFill>
                <a:latin typeface="Arial"/>
                <a:ea typeface="Arial"/>
              </a:rPr>
              <a:t>Using the principle of dominance, we reduce the size of the following game:</a:t>
            </a:r>
            <a:endParaRPr lang="en-US" sz="1400" b="0" strike="noStrike" spc="-1">
              <a:solidFill>
                <a:srgbClr val="FFFFFF"/>
              </a:solidFill>
              <a:latin typeface="Arial"/>
            </a:endParaRPr>
          </a:p>
        </p:txBody>
      </p:sp>
      <p:pic>
        <p:nvPicPr>
          <p:cNvPr id="110" name="Google Shape;164;p27"/>
          <p:cNvPicPr/>
          <p:nvPr/>
        </p:nvPicPr>
        <p:blipFill>
          <a:blip r:embed="rId2"/>
          <a:stretch/>
        </p:blipFill>
        <p:spPr>
          <a:xfrm>
            <a:off x="482760" y="2377440"/>
            <a:ext cx="1427040" cy="1097640"/>
          </a:xfrm>
          <a:prstGeom prst="rect">
            <a:avLst/>
          </a:prstGeom>
          <a:ln w="0">
            <a:noFill/>
          </a:ln>
        </p:spPr>
      </p:pic>
      <p:pic>
        <p:nvPicPr>
          <p:cNvPr id="111" name="Google Shape;165;p27"/>
          <p:cNvPicPr/>
          <p:nvPr/>
        </p:nvPicPr>
        <p:blipFill>
          <a:blip r:embed="rId3"/>
          <a:stretch/>
        </p:blipFill>
        <p:spPr>
          <a:xfrm>
            <a:off x="6806160" y="2377440"/>
            <a:ext cx="1566360" cy="929160"/>
          </a:xfrm>
          <a:prstGeom prst="rect">
            <a:avLst/>
          </a:prstGeom>
          <a:ln w="0">
            <a:noFill/>
          </a:ln>
        </p:spPr>
      </p:pic>
      <p:pic>
        <p:nvPicPr>
          <p:cNvPr id="112" name="Google Shape;166;p27"/>
          <p:cNvPicPr/>
          <p:nvPr/>
        </p:nvPicPr>
        <p:blipFill>
          <a:blip r:embed="rId4"/>
          <a:stretch/>
        </p:blipFill>
        <p:spPr>
          <a:xfrm>
            <a:off x="482760" y="3869640"/>
            <a:ext cx="3379680" cy="1174680"/>
          </a:xfrm>
          <a:prstGeom prst="rect">
            <a:avLst/>
          </a:prstGeom>
          <a:ln w="0">
            <a:noFill/>
          </a:ln>
        </p:spPr>
      </p:pic>
      <p:pic>
        <p:nvPicPr>
          <p:cNvPr id="113" name="Google Shape;167;p27"/>
          <p:cNvPicPr/>
          <p:nvPr/>
        </p:nvPicPr>
        <p:blipFill>
          <a:blip r:embed="rId5"/>
          <a:stretch/>
        </p:blipFill>
        <p:spPr>
          <a:xfrm>
            <a:off x="6643440" y="3869640"/>
            <a:ext cx="2040480" cy="1097640"/>
          </a:xfrm>
          <a:prstGeom prst="rect">
            <a:avLst/>
          </a:prstGeom>
          <a:ln w="0">
            <a:noFill/>
          </a:ln>
        </p:spPr>
      </p:pic>
      <p:sp>
        <p:nvSpPr>
          <p:cNvPr id="114" name="Google Shape;168;p27"/>
          <p:cNvSpPr/>
          <p:nvPr/>
        </p:nvSpPr>
        <p:spPr>
          <a:xfrm>
            <a:off x="2012760" y="2508840"/>
            <a:ext cx="4690440" cy="8352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a:lnSpc>
                <a:spcPct val="100000"/>
              </a:lnSpc>
              <a:tabLst>
                <a:tab pos="0" algn="l"/>
              </a:tabLst>
            </a:pPr>
            <a:r>
              <a:rPr lang="en" sz="1400" b="0" strike="noStrike" spc="-1">
                <a:solidFill>
                  <a:srgbClr val="000000"/>
                </a:solidFill>
                <a:latin typeface="Arial"/>
                <a:ea typeface="Arial"/>
              </a:rPr>
              <a:t>In this game, X</a:t>
            </a:r>
            <a:r>
              <a:rPr lang="en" sz="1400" b="0" strike="noStrike" spc="-1" baseline="-25000">
                <a:solidFill>
                  <a:srgbClr val="000000"/>
                </a:solidFill>
                <a:latin typeface="Arial"/>
                <a:ea typeface="Arial"/>
              </a:rPr>
              <a:t>3</a:t>
            </a:r>
            <a:r>
              <a:rPr lang="en" sz="1400" b="0" strike="noStrike" spc="-1">
                <a:solidFill>
                  <a:srgbClr val="000000"/>
                </a:solidFill>
                <a:latin typeface="Arial"/>
                <a:ea typeface="Arial"/>
              </a:rPr>
              <a:t> will never be played because X can always do better by playing X</a:t>
            </a:r>
            <a:r>
              <a:rPr lang="en" sz="1400" b="0" strike="noStrike" spc="-1" baseline="-25000">
                <a:solidFill>
                  <a:srgbClr val="000000"/>
                </a:solidFill>
                <a:latin typeface="Arial"/>
                <a:ea typeface="Arial"/>
              </a:rPr>
              <a:t>1</a:t>
            </a:r>
            <a:r>
              <a:rPr lang="en" sz="1400" b="0" strike="noStrike" spc="-1">
                <a:solidFill>
                  <a:srgbClr val="000000"/>
                </a:solidFill>
                <a:latin typeface="Arial"/>
                <a:ea typeface="Arial"/>
              </a:rPr>
              <a:t> or  X</a:t>
            </a:r>
            <a:r>
              <a:rPr lang="en" sz="1400" b="0" strike="noStrike" spc="-1" baseline="-25000">
                <a:solidFill>
                  <a:srgbClr val="000000"/>
                </a:solidFill>
                <a:latin typeface="Arial"/>
                <a:ea typeface="Arial"/>
              </a:rPr>
              <a:t>2</a:t>
            </a:r>
            <a:r>
              <a:rPr lang="en" sz="1400" b="0" strike="noStrike" spc="-1">
                <a:solidFill>
                  <a:srgbClr val="000000"/>
                </a:solidFill>
                <a:latin typeface="Arial"/>
                <a:ea typeface="Arial"/>
              </a:rPr>
              <a:t>. The new game is </a:t>
            </a:r>
            <a:endParaRPr lang="en-US" sz="1400" b="0" strike="noStrike" spc="-1">
              <a:solidFill>
                <a:srgbClr val="FFFFFF"/>
              </a:solidFill>
              <a:latin typeface="Arial"/>
            </a:endParaRPr>
          </a:p>
        </p:txBody>
      </p:sp>
      <p:sp>
        <p:nvSpPr>
          <p:cNvPr id="115" name="Google Shape;169;p27"/>
          <p:cNvSpPr/>
          <p:nvPr/>
        </p:nvSpPr>
        <p:spPr>
          <a:xfrm>
            <a:off x="6449760" y="2866320"/>
            <a:ext cx="263880" cy="119880"/>
          </a:xfrm>
          <a:prstGeom prst="rightArrow">
            <a:avLst>
              <a:gd name="adj1" fmla="val 50000"/>
              <a:gd name="adj2" fmla="val 50000"/>
            </a:avLst>
          </a:prstGeom>
          <a:solidFill>
            <a:schemeClr val="lt2"/>
          </a:solidFill>
          <a:ln w="9525">
            <a:solidFill>
              <a:srgbClr val="424242"/>
            </a:solidFill>
            <a:round/>
          </a:ln>
        </p:spPr>
        <p:style>
          <a:lnRef idx="0">
            <a:scrgbClr r="0" g="0" b="0"/>
          </a:lnRef>
          <a:fillRef idx="0">
            <a:scrgbClr r="0" g="0" b="0"/>
          </a:fillRef>
          <a:effectRef idx="0">
            <a:scrgbClr r="0" g="0" b="0"/>
          </a:effectRef>
          <a:fontRef idx="minor"/>
        </p:style>
        <p:txBody>
          <a:bodyPr tIns="29880" bIns="29880" anchor="ctr">
            <a:noAutofit/>
          </a:bodyPr>
          <a:lstStyle/>
          <a:p>
            <a:pPr>
              <a:lnSpc>
                <a:spcPct val="100000"/>
              </a:lnSpc>
              <a:tabLst>
                <a:tab pos="0" algn="l"/>
              </a:tabLst>
            </a:pPr>
            <a:endParaRPr lang="en-US" sz="1400" b="0" strike="noStrike" spc="-1">
              <a:solidFill>
                <a:srgbClr val="000000"/>
              </a:solidFill>
              <a:latin typeface="Arial"/>
              <a:ea typeface="Arial"/>
            </a:endParaRPr>
          </a:p>
        </p:txBody>
      </p:sp>
      <p:sp>
        <p:nvSpPr>
          <p:cNvPr id="116" name="Google Shape;170;p27"/>
          <p:cNvSpPr/>
          <p:nvPr/>
        </p:nvSpPr>
        <p:spPr>
          <a:xfrm>
            <a:off x="525240" y="3522960"/>
            <a:ext cx="2270520" cy="3463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 sz="1400" b="0" strike="noStrike" spc="-1">
                <a:solidFill>
                  <a:srgbClr val="000000"/>
                </a:solidFill>
                <a:latin typeface="Arial"/>
                <a:ea typeface="Arial"/>
              </a:rPr>
              <a:t>Here is another example:</a:t>
            </a:r>
            <a:endParaRPr lang="en-US" sz="1400" b="0" strike="noStrike" spc="-1">
              <a:solidFill>
                <a:srgbClr val="FFFFFF"/>
              </a:solidFill>
              <a:latin typeface="Arial"/>
            </a:endParaRPr>
          </a:p>
        </p:txBody>
      </p:sp>
      <p:sp>
        <p:nvSpPr>
          <p:cNvPr id="117" name="Google Shape;171;p27"/>
          <p:cNvSpPr/>
          <p:nvPr/>
        </p:nvSpPr>
        <p:spPr>
          <a:xfrm>
            <a:off x="3862800" y="3847680"/>
            <a:ext cx="2840400" cy="10609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a:lnSpc>
                <a:spcPct val="115000"/>
              </a:lnSpc>
              <a:tabLst>
                <a:tab pos="0" algn="l"/>
              </a:tabLst>
            </a:pPr>
            <a:r>
              <a:rPr lang="en" sz="1400" b="0" strike="noStrike" spc="-1">
                <a:solidFill>
                  <a:srgbClr val="000000"/>
                </a:solidFill>
                <a:latin typeface="Arial"/>
                <a:ea typeface="Arial"/>
              </a:rPr>
              <a:t>In this game, Y would never play Y</a:t>
            </a:r>
            <a:r>
              <a:rPr lang="en" sz="1400" b="0" strike="noStrike" spc="-1" baseline="-25000">
                <a:solidFill>
                  <a:srgbClr val="000000"/>
                </a:solidFill>
                <a:latin typeface="Arial"/>
                <a:ea typeface="Arial"/>
              </a:rPr>
              <a:t>2</a:t>
            </a:r>
            <a:r>
              <a:rPr lang="en" sz="1400" b="0" strike="noStrike" spc="-1">
                <a:solidFill>
                  <a:srgbClr val="000000"/>
                </a:solidFill>
                <a:latin typeface="Arial"/>
                <a:ea typeface="Arial"/>
              </a:rPr>
              <a:t> and Y</a:t>
            </a:r>
            <a:r>
              <a:rPr lang="en" sz="1400" b="0" strike="noStrike" spc="-1" baseline="-25000">
                <a:solidFill>
                  <a:srgbClr val="000000"/>
                </a:solidFill>
                <a:latin typeface="Arial"/>
                <a:ea typeface="Arial"/>
              </a:rPr>
              <a:t>3</a:t>
            </a:r>
            <a:r>
              <a:rPr lang="en" sz="1400" b="0" strike="noStrike" spc="-1">
                <a:solidFill>
                  <a:srgbClr val="000000"/>
                </a:solidFill>
                <a:latin typeface="Arial"/>
                <a:ea typeface="Arial"/>
              </a:rPr>
              <a:t> because Y could always do better playing Y</a:t>
            </a:r>
            <a:r>
              <a:rPr lang="en" sz="1400" b="0" strike="noStrike" spc="-1" baseline="-25000">
                <a:solidFill>
                  <a:srgbClr val="000000"/>
                </a:solidFill>
                <a:latin typeface="Arial"/>
                <a:ea typeface="Arial"/>
              </a:rPr>
              <a:t>1</a:t>
            </a:r>
            <a:r>
              <a:rPr lang="en" sz="1400" b="0" strike="noStrike" spc="-1">
                <a:solidFill>
                  <a:srgbClr val="000000"/>
                </a:solidFill>
                <a:latin typeface="Arial"/>
                <a:ea typeface="Arial"/>
              </a:rPr>
              <a:t> or Y</a:t>
            </a:r>
            <a:r>
              <a:rPr lang="en" sz="1400" b="0" strike="noStrike" spc="-1" baseline="-25000">
                <a:solidFill>
                  <a:srgbClr val="000000"/>
                </a:solidFill>
                <a:latin typeface="Arial"/>
                <a:ea typeface="Arial"/>
              </a:rPr>
              <a:t>4</a:t>
            </a:r>
            <a:endParaRPr lang="en-US" sz="1400" b="0" strike="noStrike" spc="-1">
              <a:solidFill>
                <a:srgbClr val="FFFFFF"/>
              </a:solidFill>
              <a:latin typeface="Arial"/>
            </a:endParaRPr>
          </a:p>
          <a:p>
            <a:pPr algn="just">
              <a:lnSpc>
                <a:spcPct val="115000"/>
              </a:lnSpc>
              <a:tabLst>
                <a:tab pos="0" algn="l"/>
              </a:tabLst>
            </a:pPr>
            <a:r>
              <a:rPr lang="en" sz="1400" b="0" strike="noStrike" spc="-1">
                <a:solidFill>
                  <a:srgbClr val="000000"/>
                </a:solidFill>
                <a:latin typeface="Arial"/>
                <a:ea typeface="Arial"/>
              </a:rPr>
              <a:t>The new game is</a:t>
            </a:r>
            <a:endParaRPr lang="en-US" sz="1400" b="0" strike="noStrike" spc="-1">
              <a:solidFill>
                <a:srgbClr val="FFFFFF"/>
              </a:solidFill>
              <a:latin typeface="Arial"/>
            </a:endParaRPr>
          </a:p>
        </p:txBody>
      </p:sp>
      <p:sp>
        <p:nvSpPr>
          <p:cNvPr id="118" name="Google Shape;172;p27"/>
          <p:cNvSpPr/>
          <p:nvPr/>
        </p:nvSpPr>
        <p:spPr>
          <a:xfrm>
            <a:off x="6185520" y="4744440"/>
            <a:ext cx="263880" cy="119880"/>
          </a:xfrm>
          <a:prstGeom prst="rightArrow">
            <a:avLst>
              <a:gd name="adj1" fmla="val 50000"/>
              <a:gd name="adj2" fmla="val 50000"/>
            </a:avLst>
          </a:prstGeom>
          <a:solidFill>
            <a:schemeClr val="lt2"/>
          </a:solidFill>
          <a:ln w="9525">
            <a:solidFill>
              <a:srgbClr val="424242"/>
            </a:solidFill>
            <a:round/>
          </a:ln>
        </p:spPr>
        <p:style>
          <a:lnRef idx="0">
            <a:scrgbClr r="0" g="0" b="0"/>
          </a:lnRef>
          <a:fillRef idx="0">
            <a:scrgbClr r="0" g="0" b="0"/>
          </a:fillRef>
          <a:effectRef idx="0">
            <a:scrgbClr r="0" g="0" b="0"/>
          </a:effectRef>
          <a:fontRef idx="minor"/>
        </p:style>
        <p:txBody>
          <a:bodyPr tIns="29880" bIns="29880" anchor="ctr">
            <a:noAutofit/>
          </a:bodyPr>
          <a:lstStyle/>
          <a:p>
            <a:pPr>
              <a:lnSpc>
                <a:spcPct val="100000"/>
              </a:lnSpc>
              <a:tabLst>
                <a:tab pos="0" algn="l"/>
              </a:tabLst>
            </a:pPr>
            <a:endParaRPr lang="en-US" sz="1400" b="0" strike="noStrike" spc="-1">
              <a:solidFill>
                <a:srgbClr val="000000"/>
              </a:solidFill>
              <a:latin typeface="Arial"/>
              <a:ea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1800" b="0" strike="noStrike" spc="-1">
                <a:solidFill>
                  <a:schemeClr val="lt1"/>
                </a:solidFill>
                <a:latin typeface="Roboto"/>
                <a:ea typeface="Roboto"/>
              </a:rPr>
              <a:t>    Summary</a:t>
            </a:r>
            <a:endParaRPr lang="en-US" sz="1800" b="0" strike="noStrike" spc="-1">
              <a:solidFill>
                <a:srgbClr val="000000"/>
              </a:solidFill>
              <a:latin typeface="Arial"/>
            </a:endParaRPr>
          </a:p>
        </p:txBody>
      </p:sp>
      <p:sp>
        <p:nvSpPr>
          <p:cNvPr id="120" name="Google Shape;178;p28"/>
          <p:cNvSpPr/>
          <p:nvPr/>
        </p:nvSpPr>
        <p:spPr>
          <a:xfrm>
            <a:off x="438480" y="962280"/>
            <a:ext cx="8178120" cy="36572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marL="457200" indent="-317520" algn="just">
              <a:lnSpc>
                <a:spcPct val="115000"/>
              </a:lnSpc>
              <a:buClr>
                <a:srgbClr val="000000"/>
              </a:buClr>
              <a:buFont typeface="Arial"/>
              <a:buChar char="●"/>
            </a:pPr>
            <a:r>
              <a:rPr lang="en" sz="1400" b="0" strike="noStrike" spc="-1">
                <a:solidFill>
                  <a:srgbClr val="000000"/>
                </a:solidFill>
                <a:latin typeface="Arial"/>
                <a:ea typeface="Arial"/>
              </a:rPr>
              <a:t>Game theory is the study of how optimal strategies are formulated in conflict. Because of the mathematical complexities of game theory, this module is limited to two-person and zero-sum games. </a:t>
            </a:r>
            <a:endParaRPr lang="en-US" sz="1400" b="0" strike="noStrike" spc="-1">
              <a:solidFill>
                <a:srgbClr val="FFFFFF"/>
              </a:solidFill>
              <a:latin typeface="Arial"/>
            </a:endParaRPr>
          </a:p>
          <a:p>
            <a:pPr marL="457200" indent="-317520" algn="just">
              <a:lnSpc>
                <a:spcPct val="115000"/>
              </a:lnSpc>
              <a:buClr>
                <a:srgbClr val="000000"/>
              </a:buClr>
              <a:buFont typeface="Arial"/>
              <a:buChar char="●"/>
            </a:pPr>
            <a:r>
              <a:rPr lang="en" sz="1400" b="0" strike="noStrike" spc="-1">
                <a:solidFill>
                  <a:srgbClr val="000000"/>
                </a:solidFill>
                <a:latin typeface="Arial"/>
                <a:ea typeface="Arial"/>
              </a:rPr>
              <a:t>A two-person game allows only two people or two groups to be involved in the game. Zero sum means that the sum of the losses for one player must equal the sum of the gains for the other player. The overall sum of the losses and gains for both players, in other words, must be zero.  </a:t>
            </a:r>
            <a:endParaRPr lang="en-US" sz="1400" b="0" strike="noStrike" spc="-1">
              <a:solidFill>
                <a:srgbClr val="FFFFFF"/>
              </a:solidFill>
              <a:latin typeface="Arial"/>
            </a:endParaRPr>
          </a:p>
          <a:p>
            <a:pPr marL="457200" indent="-317520" algn="just">
              <a:lnSpc>
                <a:spcPct val="115000"/>
              </a:lnSpc>
              <a:buClr>
                <a:srgbClr val="000000"/>
              </a:buClr>
              <a:buFont typeface="Arial"/>
              <a:buChar char="●"/>
            </a:pPr>
            <a:r>
              <a:rPr lang="en" sz="1400" b="0" strike="noStrike" spc="-1">
                <a:solidFill>
                  <a:srgbClr val="000000"/>
                </a:solidFill>
                <a:latin typeface="Arial"/>
                <a:ea typeface="Arial"/>
              </a:rPr>
              <a:t>Depending on the actual payoffs in the game and the size of the game, a number of solution techniques can be used. </a:t>
            </a:r>
            <a:endParaRPr lang="en-US" sz="1400" b="0" strike="noStrike" spc="-1">
              <a:solidFill>
                <a:srgbClr val="FFFFFF"/>
              </a:solidFill>
              <a:latin typeface="Arial"/>
            </a:endParaRPr>
          </a:p>
          <a:p>
            <a:pPr marL="457200" indent="-317520" algn="just">
              <a:lnSpc>
                <a:spcPct val="115000"/>
              </a:lnSpc>
              <a:buClr>
                <a:srgbClr val="000000"/>
              </a:buClr>
              <a:buFont typeface="Arial"/>
              <a:buChar char="●"/>
            </a:pPr>
            <a:r>
              <a:rPr lang="en" sz="1400" b="0" strike="noStrike" spc="-1">
                <a:solidFill>
                  <a:srgbClr val="000000"/>
                </a:solidFill>
                <a:latin typeface="Arial"/>
                <a:ea typeface="Arial"/>
              </a:rPr>
              <a:t>In a pure strategy game, strategies for the players can be obtained without making any calculations. </a:t>
            </a:r>
            <a:endParaRPr lang="en-US" sz="1400" b="0" strike="noStrike" spc="-1">
              <a:solidFill>
                <a:srgbClr val="FFFFFF"/>
              </a:solidFill>
              <a:latin typeface="Arial"/>
            </a:endParaRPr>
          </a:p>
          <a:p>
            <a:pPr marL="457200" indent="-317520" algn="just">
              <a:lnSpc>
                <a:spcPct val="115000"/>
              </a:lnSpc>
              <a:buClr>
                <a:srgbClr val="000000"/>
              </a:buClr>
              <a:buFont typeface="Arial"/>
              <a:buChar char="●"/>
            </a:pPr>
            <a:r>
              <a:rPr lang="en" sz="1400" b="0" strike="noStrike" spc="-1">
                <a:solidFill>
                  <a:srgbClr val="000000"/>
                </a:solidFill>
                <a:latin typeface="Arial"/>
                <a:ea typeface="Arial"/>
              </a:rPr>
              <a:t>When there is not a pure strategy, also called a saddle point, for both players, it is necessary to use other techniques, such as the mixed strategy approach, dominance, and a computer solution for games larger than 2 X 2.</a:t>
            </a:r>
            <a:endParaRPr lang="en-US" sz="1400" b="0" strike="noStrike" spc="-1">
              <a:solidFill>
                <a:srgbClr val="FFFFFF"/>
              </a:solidFill>
              <a:latin typeface="Arial"/>
            </a:endParaRPr>
          </a:p>
          <a:p>
            <a:pPr>
              <a:lnSpc>
                <a:spcPct val="100000"/>
              </a:lnSpc>
              <a:tabLst>
                <a:tab pos="0" algn="l"/>
              </a:tabLst>
            </a:pPr>
            <a:endParaRPr lang="en-US" sz="1400" b="0" strike="noStrike" spc="-1">
              <a:solidFill>
                <a:srgbClr val="FFFFFF"/>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1800" b="0" strike="noStrike" spc="-1">
                <a:solidFill>
                  <a:schemeClr val="lt1"/>
                </a:solidFill>
                <a:latin typeface="Roboto"/>
                <a:ea typeface="Roboto"/>
              </a:rPr>
              <a:t>     Glossary</a:t>
            </a:r>
            <a:endParaRPr lang="en-US" sz="1800" b="0" strike="noStrike" spc="-1">
              <a:solidFill>
                <a:srgbClr val="000000"/>
              </a:solidFill>
              <a:latin typeface="Arial"/>
            </a:endParaRPr>
          </a:p>
        </p:txBody>
      </p:sp>
      <p:sp>
        <p:nvSpPr>
          <p:cNvPr id="122" name="Google Shape;184;p29"/>
          <p:cNvSpPr/>
          <p:nvPr/>
        </p:nvSpPr>
        <p:spPr>
          <a:xfrm>
            <a:off x="389160" y="792360"/>
            <a:ext cx="8383320" cy="397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a:lnSpc>
                <a:spcPct val="150000"/>
              </a:lnSpc>
              <a:tabLst>
                <a:tab pos="0" algn="l"/>
              </a:tabLst>
            </a:pPr>
            <a:r>
              <a:rPr lang="en" sz="1400" b="1" strike="noStrike" spc="-1">
                <a:solidFill>
                  <a:srgbClr val="000000"/>
                </a:solidFill>
                <a:latin typeface="Arial"/>
                <a:ea typeface="Arial"/>
              </a:rPr>
              <a:t>Dominance</a:t>
            </a:r>
            <a:r>
              <a:rPr lang="en" sz="1400" b="0" strike="noStrike" spc="-1">
                <a:solidFill>
                  <a:srgbClr val="000000"/>
                </a:solidFill>
                <a:latin typeface="Arial"/>
                <a:ea typeface="Arial"/>
              </a:rPr>
              <a:t> 	A procedure that is used to reduce the size of the game.</a:t>
            </a:r>
            <a:endParaRPr lang="en-US" sz="1400" b="0" strike="noStrike" spc="-1">
              <a:solidFill>
                <a:srgbClr val="FFFFFF"/>
              </a:solidFill>
              <a:latin typeface="Arial"/>
            </a:endParaRPr>
          </a:p>
          <a:p>
            <a:pPr algn="just">
              <a:lnSpc>
                <a:spcPct val="150000"/>
              </a:lnSpc>
              <a:tabLst>
                <a:tab pos="0" algn="l"/>
              </a:tabLst>
            </a:pPr>
            <a:r>
              <a:rPr lang="en" sz="1400" b="1" strike="noStrike" spc="-1">
                <a:solidFill>
                  <a:srgbClr val="000000"/>
                </a:solidFill>
                <a:latin typeface="Arial"/>
                <a:ea typeface="Arial"/>
              </a:rPr>
              <a:t>Minimax Criterion	</a:t>
            </a:r>
            <a:r>
              <a:rPr lang="en" sz="1400" b="0" strike="noStrike" spc="-1">
                <a:solidFill>
                  <a:srgbClr val="000000"/>
                </a:solidFill>
                <a:latin typeface="Arial"/>
                <a:ea typeface="Arial"/>
              </a:rPr>
              <a:t> A criterion that minimizes one’s maximum losses. This is another way of solving a pure strategy game.</a:t>
            </a:r>
            <a:endParaRPr lang="en-US" sz="1400" b="0" strike="noStrike" spc="-1">
              <a:solidFill>
                <a:srgbClr val="FFFFFF"/>
              </a:solidFill>
              <a:latin typeface="Arial"/>
            </a:endParaRPr>
          </a:p>
          <a:p>
            <a:pPr algn="just">
              <a:lnSpc>
                <a:spcPct val="150000"/>
              </a:lnSpc>
              <a:tabLst>
                <a:tab pos="0" algn="l"/>
              </a:tabLst>
            </a:pPr>
            <a:r>
              <a:rPr lang="en" sz="1400" b="1" strike="noStrike" spc="-1">
                <a:solidFill>
                  <a:srgbClr val="000000"/>
                </a:solidFill>
                <a:latin typeface="Arial"/>
                <a:ea typeface="Arial"/>
              </a:rPr>
              <a:t>Mixed Strategy Game	</a:t>
            </a:r>
            <a:r>
              <a:rPr lang="en" sz="1400" b="0" strike="noStrike" spc="-1">
                <a:solidFill>
                  <a:srgbClr val="000000"/>
                </a:solidFill>
                <a:latin typeface="Arial"/>
                <a:ea typeface="Arial"/>
              </a:rPr>
              <a:t> A game in which the optimal strategy for both players involves playing more than one strategy over time. Each strategy is played a given percentage of the time.</a:t>
            </a:r>
            <a:endParaRPr lang="en-US" sz="1400" b="0" strike="noStrike" spc="-1">
              <a:solidFill>
                <a:srgbClr val="FFFFFF"/>
              </a:solidFill>
              <a:latin typeface="Arial"/>
            </a:endParaRPr>
          </a:p>
          <a:p>
            <a:pPr algn="just">
              <a:lnSpc>
                <a:spcPct val="150000"/>
              </a:lnSpc>
              <a:tabLst>
                <a:tab pos="0" algn="l"/>
              </a:tabLst>
            </a:pPr>
            <a:r>
              <a:rPr lang="en" sz="1400" b="1" strike="noStrike" spc="-1">
                <a:solidFill>
                  <a:srgbClr val="000000"/>
                </a:solidFill>
                <a:latin typeface="Arial"/>
                <a:ea typeface="Arial"/>
              </a:rPr>
              <a:t>Pure Strategy</a:t>
            </a:r>
            <a:r>
              <a:rPr lang="en" sz="1400" b="0" strike="noStrike" spc="-1">
                <a:solidFill>
                  <a:srgbClr val="000000"/>
                </a:solidFill>
                <a:latin typeface="Arial"/>
                <a:ea typeface="Arial"/>
              </a:rPr>
              <a:t> 	A game in which both players will always play just one strategy.</a:t>
            </a:r>
            <a:endParaRPr lang="en-US" sz="1400" b="0" strike="noStrike" spc="-1">
              <a:solidFill>
                <a:srgbClr val="FFFFFF"/>
              </a:solidFill>
              <a:latin typeface="Arial"/>
            </a:endParaRPr>
          </a:p>
          <a:p>
            <a:pPr algn="just">
              <a:lnSpc>
                <a:spcPct val="150000"/>
              </a:lnSpc>
              <a:tabLst>
                <a:tab pos="0" algn="l"/>
              </a:tabLst>
            </a:pPr>
            <a:r>
              <a:rPr lang="en" sz="1400" b="1" strike="noStrike" spc="-1">
                <a:solidFill>
                  <a:srgbClr val="000000"/>
                </a:solidFill>
                <a:latin typeface="Arial"/>
                <a:ea typeface="Arial"/>
              </a:rPr>
              <a:t>Saddle Point	</a:t>
            </a:r>
            <a:r>
              <a:rPr lang="en" sz="1400" b="0" strike="noStrike" spc="-1">
                <a:solidFill>
                  <a:srgbClr val="000000"/>
                </a:solidFill>
                <a:latin typeface="Arial"/>
                <a:ea typeface="Arial"/>
              </a:rPr>
              <a:t> Game A game that has a pure strategy.</a:t>
            </a:r>
            <a:endParaRPr lang="en-US" sz="1400" b="0" strike="noStrike" spc="-1">
              <a:solidFill>
                <a:srgbClr val="FFFFFF"/>
              </a:solidFill>
              <a:latin typeface="Arial"/>
            </a:endParaRPr>
          </a:p>
          <a:p>
            <a:pPr algn="just">
              <a:lnSpc>
                <a:spcPct val="150000"/>
              </a:lnSpc>
              <a:tabLst>
                <a:tab pos="0" algn="l"/>
              </a:tabLst>
            </a:pPr>
            <a:r>
              <a:rPr lang="en" sz="1400" b="1" strike="noStrike" spc="-1">
                <a:solidFill>
                  <a:srgbClr val="000000"/>
                </a:solidFill>
                <a:latin typeface="Arial"/>
                <a:ea typeface="Arial"/>
              </a:rPr>
              <a:t>Two-Person Game	</a:t>
            </a:r>
            <a:r>
              <a:rPr lang="en" sz="1400" b="0" strike="noStrike" spc="-1">
                <a:solidFill>
                  <a:srgbClr val="000000"/>
                </a:solidFill>
                <a:latin typeface="Arial"/>
                <a:ea typeface="Arial"/>
              </a:rPr>
              <a:t> A game that has only two players.</a:t>
            </a:r>
            <a:endParaRPr lang="en-US" sz="1400" b="0" strike="noStrike" spc="-1">
              <a:solidFill>
                <a:srgbClr val="FFFFFF"/>
              </a:solidFill>
              <a:latin typeface="Arial"/>
            </a:endParaRPr>
          </a:p>
          <a:p>
            <a:pPr algn="just">
              <a:lnSpc>
                <a:spcPct val="150000"/>
              </a:lnSpc>
              <a:tabLst>
                <a:tab pos="0" algn="l"/>
              </a:tabLst>
            </a:pPr>
            <a:r>
              <a:rPr lang="en" sz="1400" b="1" strike="noStrike" spc="-1">
                <a:solidFill>
                  <a:srgbClr val="000000"/>
                </a:solidFill>
                <a:latin typeface="Arial"/>
                <a:ea typeface="Arial"/>
              </a:rPr>
              <a:t>Value of the Game	</a:t>
            </a:r>
            <a:r>
              <a:rPr lang="en" sz="1400" b="0" strike="noStrike" spc="-1">
                <a:solidFill>
                  <a:srgbClr val="000000"/>
                </a:solidFill>
                <a:latin typeface="Arial"/>
                <a:ea typeface="Arial"/>
              </a:rPr>
              <a:t> The expected winnings of the game if the game is played a large number of times.</a:t>
            </a:r>
            <a:endParaRPr lang="en-US" sz="1400" b="0" strike="noStrike" spc="-1">
              <a:solidFill>
                <a:srgbClr val="FFFFFF"/>
              </a:solidFill>
              <a:latin typeface="Arial"/>
            </a:endParaRPr>
          </a:p>
          <a:p>
            <a:pPr algn="just">
              <a:lnSpc>
                <a:spcPct val="150000"/>
              </a:lnSpc>
              <a:tabLst>
                <a:tab pos="0" algn="l"/>
              </a:tabLst>
            </a:pPr>
            <a:r>
              <a:rPr lang="en" sz="1400" b="1" strike="noStrike" spc="-1">
                <a:solidFill>
                  <a:srgbClr val="000000"/>
                </a:solidFill>
                <a:latin typeface="Arial"/>
                <a:ea typeface="Arial"/>
              </a:rPr>
              <a:t>Zero-Sum Game	</a:t>
            </a:r>
            <a:r>
              <a:rPr lang="en" sz="1400" b="0" strike="noStrike" spc="-1">
                <a:solidFill>
                  <a:srgbClr val="000000"/>
                </a:solidFill>
                <a:latin typeface="Arial"/>
                <a:ea typeface="Arial"/>
              </a:rPr>
              <a:t> A game in which the losses for one player equal the gains for the other player.</a:t>
            </a:r>
            <a:endParaRPr lang="en-US" sz="1400" b="0" strike="noStrike" spc="-1">
              <a:solidFill>
                <a:srgbClr val="FFFFFF"/>
              </a:solidFill>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buNone/>
            </a:pPr>
            <a:endParaRPr lang="en-US" sz="1800" b="0" strike="noStrike" spc="-1">
              <a:solidFill>
                <a:schemeClr val="lt1"/>
              </a:solidFill>
              <a:latin typeface="Roboto"/>
              <a:ea typeface="Roboto"/>
            </a:endParaRPr>
          </a:p>
        </p:txBody>
      </p:sp>
      <p:pic>
        <p:nvPicPr>
          <p:cNvPr id="124" name="Google Shape;190;p30"/>
          <p:cNvPicPr/>
          <p:nvPr/>
        </p:nvPicPr>
        <p:blipFill>
          <a:blip r:embed="rId2"/>
          <a:stretch/>
        </p:blipFill>
        <p:spPr>
          <a:xfrm>
            <a:off x="385920" y="732600"/>
            <a:ext cx="7657920" cy="1980720"/>
          </a:xfrm>
          <a:prstGeom prst="rect">
            <a:avLst/>
          </a:prstGeom>
          <a:ln w="0">
            <a:noFill/>
          </a:ln>
        </p:spPr>
      </p:pic>
      <p:pic>
        <p:nvPicPr>
          <p:cNvPr id="125" name="Google Shape;191;p30"/>
          <p:cNvPicPr/>
          <p:nvPr/>
        </p:nvPicPr>
        <p:blipFill>
          <a:blip r:embed="rId3"/>
          <a:stretch/>
        </p:blipFill>
        <p:spPr>
          <a:xfrm>
            <a:off x="-17640" y="2829240"/>
            <a:ext cx="5761800" cy="1776240"/>
          </a:xfrm>
          <a:prstGeom prst="rect">
            <a:avLst/>
          </a:prstGeom>
          <a:ln w="0">
            <a:noFill/>
          </a:ln>
        </p:spPr>
      </p:pic>
      <p:pic>
        <p:nvPicPr>
          <p:cNvPr id="126" name="Google Shape;192;p30"/>
          <p:cNvPicPr/>
          <p:nvPr/>
        </p:nvPicPr>
        <p:blipFill>
          <a:blip r:embed="rId4"/>
          <a:stretch/>
        </p:blipFill>
        <p:spPr>
          <a:xfrm>
            <a:off x="5744880" y="2995200"/>
            <a:ext cx="3399120" cy="1743120"/>
          </a:xfrm>
          <a:prstGeom prst="rect">
            <a:avLst/>
          </a:prstGeom>
          <a:ln w="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anim calcmode="lin" valueType="num">
                                      <p:cBhvr additive="repl">
                                        <p:cTn id="7" dur="1000"/>
                                        <p:tgtEl>
                                          <p:spTgt spid="125"/>
                                        </p:tgtEl>
                                        <p:attrNameLst>
                                          <p:attrName>ppt_w</p:attrName>
                                        </p:attrNameLst>
                                      </p:cBhvr>
                                      <p:tavLst>
                                        <p:tav tm="0">
                                          <p:val>
                                            <p:strVal val="0"/>
                                          </p:val>
                                        </p:tav>
                                        <p:tav tm="100000">
                                          <p:val>
                                            <p:strVal val="#ppt_w"/>
                                          </p:val>
                                        </p:tav>
                                      </p:tavLst>
                                    </p:anim>
                                    <p:anim calcmode="lin" valueType="num">
                                      <p:cBhvr additive="repl">
                                        <p:cTn id="8" dur="1000"/>
                                        <p:tgtEl>
                                          <p:spTgt spid="125"/>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26"/>
                                        </p:tgtEl>
                                        <p:attrNameLst>
                                          <p:attrName>style.visibility</p:attrName>
                                        </p:attrNameLst>
                                      </p:cBhvr>
                                      <p:to>
                                        <p:strVal val="visible"/>
                                      </p:to>
                                    </p:set>
                                    <p:anim calcmode="lin" valueType="num">
                                      <p:cBhvr additive="repl">
                                        <p:cTn id="13" dur="1000"/>
                                        <p:tgtEl>
                                          <p:spTgt spid="126"/>
                                        </p:tgtEl>
                                        <p:attrNameLst>
                                          <p:attrName>ppt_w</p:attrName>
                                        </p:attrNameLst>
                                      </p:cBhvr>
                                      <p:tavLst>
                                        <p:tav tm="0">
                                          <p:val>
                                            <p:strVal val="0"/>
                                          </p:val>
                                        </p:tav>
                                        <p:tav tm="100000">
                                          <p:val>
                                            <p:strVal val="#ppt_w"/>
                                          </p:val>
                                        </p:tav>
                                      </p:tavLst>
                                    </p:anim>
                                    <p:anim calcmode="lin" valueType="num">
                                      <p:cBhvr additive="repl">
                                        <p:cTn id="14" dur="1000"/>
                                        <p:tgtEl>
                                          <p:spTgt spid="12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lnSpc>
                <a:spcPct val="100000"/>
              </a:lnSpc>
              <a:buNone/>
            </a:pPr>
            <a:r>
              <a:rPr lang="en-US" sz="1800" b="0" strike="noStrike" spc="-1">
                <a:solidFill>
                  <a:schemeClr val="lt1"/>
                </a:solidFill>
                <a:latin typeface="Roboto"/>
                <a:ea typeface="Roboto"/>
              </a:rPr>
              <a:t>By Using Oddments</a:t>
            </a:r>
            <a:endParaRPr lang="en-US" sz="1800" b="0" strike="noStrike" spc="-1">
              <a:solidFill>
                <a:srgbClr val="000000"/>
              </a:solidFill>
              <a:latin typeface="Arial"/>
            </a:endParaRPr>
          </a:p>
        </p:txBody>
      </p:sp>
      <p:pic>
        <p:nvPicPr>
          <p:cNvPr id="128" name="Google Shape;190;p30"/>
          <p:cNvPicPr/>
          <p:nvPr/>
        </p:nvPicPr>
        <p:blipFill>
          <a:blip r:embed="rId2"/>
          <a:stretch/>
        </p:blipFill>
        <p:spPr>
          <a:xfrm>
            <a:off x="385920" y="657720"/>
            <a:ext cx="7657920" cy="1980720"/>
          </a:xfrm>
          <a:prstGeom prst="rect">
            <a:avLst/>
          </a:prstGeom>
          <a:ln w="0">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98280" y="16200"/>
            <a:ext cx="8826120" cy="60228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1800" b="0" strike="noStrike" spc="-1">
                <a:solidFill>
                  <a:schemeClr val="lt1"/>
                </a:solidFill>
                <a:latin typeface="Roboto"/>
                <a:ea typeface="Roboto"/>
              </a:rPr>
              <a:t>    Practice work</a:t>
            </a:r>
            <a:endParaRPr lang="en-US" sz="1800" b="0" strike="noStrike" spc="-1">
              <a:solidFill>
                <a:srgbClr val="000000"/>
              </a:solidFill>
              <a:latin typeface="Arial"/>
            </a:endParaRPr>
          </a:p>
        </p:txBody>
      </p:sp>
      <p:sp>
        <p:nvSpPr>
          <p:cNvPr id="130" name="PlaceHolder 2"/>
          <p:cNvSpPr>
            <a:spLocks noGrp="1"/>
          </p:cNvSpPr>
          <p:nvPr>
            <p:ph/>
          </p:nvPr>
        </p:nvSpPr>
        <p:spPr>
          <a:xfrm>
            <a:off x="323280" y="693000"/>
            <a:ext cx="4458960" cy="754920"/>
          </a:xfrm>
          <a:prstGeom prst="rect">
            <a:avLst/>
          </a:prstGeom>
          <a:noFill/>
          <a:ln w="0">
            <a:noFill/>
          </a:ln>
        </p:spPr>
        <p:txBody>
          <a:bodyPr lIns="91440" tIns="91440" rIns="91440" bIns="91440" anchor="t">
            <a:noAutofit/>
          </a:bodyPr>
          <a:lstStyle/>
          <a:p>
            <a:pPr indent="0">
              <a:lnSpc>
                <a:spcPct val="150000"/>
              </a:lnSpc>
              <a:buNone/>
              <a:tabLst>
                <a:tab pos="0" algn="l"/>
              </a:tabLst>
            </a:pPr>
            <a:r>
              <a:rPr lang="en" sz="1350" b="1" strike="noStrike" spc="-1">
                <a:solidFill>
                  <a:srgbClr val="7682CC"/>
                </a:solidFill>
                <a:highlight>
                  <a:srgbClr val="FFFFFF"/>
                </a:highlight>
                <a:latin typeface="Verdana"/>
                <a:ea typeface="Verdana"/>
              </a:rPr>
              <a:t>Multiple Choice</a:t>
            </a:r>
            <a:endParaRPr lang="en-US" sz="1350" b="0" strike="noStrike" spc="-1">
              <a:solidFill>
                <a:srgbClr val="000000"/>
              </a:solidFill>
              <a:latin typeface="Arial"/>
            </a:endParaRPr>
          </a:p>
          <a:p>
            <a:pPr indent="0">
              <a:lnSpc>
                <a:spcPct val="115000"/>
              </a:lnSpc>
              <a:buNone/>
              <a:tabLst>
                <a:tab pos="0" algn="l"/>
              </a:tabLst>
            </a:pPr>
            <a:r>
              <a:rPr lang="en" sz="1800" b="0" u="sng" strike="noStrike" spc="-1">
                <a:solidFill>
                  <a:schemeClr val="hlink"/>
                </a:solidFill>
                <a:uFillTx/>
                <a:latin typeface="Roboto"/>
                <a:ea typeface="Roboto"/>
                <a:hlinkClick r:id="rId2"/>
              </a:rPr>
              <a:t>https://forms.gle/RyXCA682kmZ2KxqNA</a:t>
            </a:r>
            <a:endParaRPr lang="en-US" sz="1800" b="0" strike="noStrike" spc="-1">
              <a:solidFill>
                <a:srgbClr val="000000"/>
              </a:solidFill>
              <a:latin typeface="Arial"/>
            </a:endParaRPr>
          </a:p>
          <a:p>
            <a:pPr indent="0">
              <a:lnSpc>
                <a:spcPct val="115000"/>
              </a:lnSpc>
              <a:spcBef>
                <a:spcPts val="1599"/>
              </a:spcBef>
              <a:buNone/>
              <a:tabLst>
                <a:tab pos="0" algn="l"/>
              </a:tabLst>
            </a:pPr>
            <a:endParaRPr lang="en-US" sz="1800" b="0" strike="noStrike" spc="-1">
              <a:solidFill>
                <a:srgbClr val="000000"/>
              </a:solidFill>
              <a:latin typeface="Arial"/>
            </a:endParaRPr>
          </a:p>
          <a:p>
            <a:pPr indent="0">
              <a:lnSpc>
                <a:spcPct val="115000"/>
              </a:lnSpc>
              <a:spcBef>
                <a:spcPts val="1599"/>
              </a:spcBef>
              <a:buNone/>
              <a:tabLst>
                <a:tab pos="0" algn="l"/>
              </a:tabLst>
            </a:pPr>
            <a:endParaRPr lang="en-US" sz="1800" b="0" strike="noStrike" spc="-1">
              <a:solidFill>
                <a:srgbClr val="000000"/>
              </a:solidFill>
              <a:latin typeface="Arial"/>
            </a:endParaRPr>
          </a:p>
          <a:p>
            <a:pPr indent="0">
              <a:lnSpc>
                <a:spcPct val="115000"/>
              </a:lnSpc>
              <a:spcBef>
                <a:spcPts val="1599"/>
              </a:spcBef>
              <a:spcAft>
                <a:spcPts val="1599"/>
              </a:spcAft>
              <a:buNone/>
              <a:tabLst>
                <a:tab pos="0" algn="l"/>
              </a:tabLst>
            </a:pPr>
            <a:endParaRPr lang="en-US" sz="1800" b="0" strike="noStrike" spc="-1">
              <a:solidFill>
                <a:srgbClr val="000000"/>
              </a:solidFill>
              <a:latin typeface="Arial"/>
            </a:endParaRPr>
          </a:p>
        </p:txBody>
      </p:sp>
      <p:sp>
        <p:nvSpPr>
          <p:cNvPr id="131" name="PlaceHolder 3"/>
          <p:cNvSpPr>
            <a:spLocks noGrp="1"/>
          </p:cNvSpPr>
          <p:nvPr>
            <p:ph/>
          </p:nvPr>
        </p:nvSpPr>
        <p:spPr>
          <a:xfrm>
            <a:off x="4774320" y="689400"/>
            <a:ext cx="4139640" cy="1137240"/>
          </a:xfrm>
          <a:prstGeom prst="rect">
            <a:avLst/>
          </a:prstGeom>
          <a:noFill/>
          <a:ln w="0">
            <a:noFill/>
          </a:ln>
        </p:spPr>
        <p:txBody>
          <a:bodyPr lIns="91440" tIns="91440" rIns="91440" bIns="91440" anchor="t">
            <a:noAutofit/>
          </a:bodyPr>
          <a:lstStyle/>
          <a:p>
            <a:pPr indent="0">
              <a:lnSpc>
                <a:spcPct val="150000"/>
              </a:lnSpc>
              <a:buNone/>
              <a:tabLst>
                <a:tab pos="0" algn="l"/>
              </a:tabLst>
            </a:pPr>
            <a:r>
              <a:rPr lang="en" sz="1350" b="1" strike="noStrike" spc="-1">
                <a:solidFill>
                  <a:srgbClr val="7682CC"/>
                </a:solidFill>
                <a:highlight>
                  <a:srgbClr val="FFFFFF"/>
                </a:highlight>
                <a:latin typeface="Verdana"/>
                <a:ea typeface="Verdana"/>
              </a:rPr>
              <a:t>True or False</a:t>
            </a:r>
            <a:endParaRPr lang="en-US" sz="1350" b="0" strike="noStrike" spc="-1">
              <a:solidFill>
                <a:srgbClr val="000000"/>
              </a:solidFill>
              <a:latin typeface="Arial"/>
            </a:endParaRPr>
          </a:p>
          <a:p>
            <a:pPr indent="0">
              <a:lnSpc>
                <a:spcPct val="115000"/>
              </a:lnSpc>
              <a:buNone/>
              <a:tabLst>
                <a:tab pos="0" algn="l"/>
              </a:tabLst>
            </a:pPr>
            <a:r>
              <a:rPr lang="en" sz="1800" b="0" u="sng" strike="noStrike" spc="-1">
                <a:solidFill>
                  <a:schemeClr val="hlink"/>
                </a:solidFill>
                <a:uFillTx/>
                <a:latin typeface="Roboto"/>
                <a:ea typeface="Roboto"/>
                <a:hlinkClick r:id="rId3"/>
              </a:rPr>
              <a:t>https://forms.gle/DQgXpr2tjddgtbJF7</a:t>
            </a:r>
            <a:endParaRPr lang="en-US" sz="1800" b="0" strike="noStrike" spc="-1">
              <a:solidFill>
                <a:srgbClr val="000000"/>
              </a:solidFill>
              <a:latin typeface="Arial"/>
            </a:endParaRPr>
          </a:p>
          <a:p>
            <a:pPr indent="0">
              <a:lnSpc>
                <a:spcPct val="115000"/>
              </a:lnSpc>
              <a:spcBef>
                <a:spcPts val="1599"/>
              </a:spcBef>
              <a:buNone/>
              <a:tabLst>
                <a:tab pos="0" algn="l"/>
              </a:tabLst>
            </a:pPr>
            <a:endParaRPr lang="en-US" sz="1800" b="0" strike="noStrike" spc="-1">
              <a:solidFill>
                <a:srgbClr val="000000"/>
              </a:solidFill>
              <a:latin typeface="Arial"/>
            </a:endParaRPr>
          </a:p>
          <a:p>
            <a:pPr indent="0">
              <a:lnSpc>
                <a:spcPct val="115000"/>
              </a:lnSpc>
              <a:spcBef>
                <a:spcPts val="1599"/>
              </a:spcBef>
              <a:buNone/>
              <a:tabLst>
                <a:tab pos="0" algn="l"/>
              </a:tabLst>
            </a:pPr>
            <a:endParaRPr lang="en-US" sz="1800" b="0" strike="noStrike" spc="-1">
              <a:solidFill>
                <a:srgbClr val="000000"/>
              </a:solidFill>
              <a:latin typeface="Arial"/>
            </a:endParaRPr>
          </a:p>
          <a:p>
            <a:pPr indent="0">
              <a:lnSpc>
                <a:spcPct val="115000"/>
              </a:lnSpc>
              <a:spcBef>
                <a:spcPts val="1599"/>
              </a:spcBef>
              <a:spcAft>
                <a:spcPts val="1599"/>
              </a:spcAft>
              <a:buNone/>
              <a:tabLst>
                <a:tab pos="0" algn="l"/>
              </a:tabLst>
            </a:pPr>
            <a:endParaRPr lang="en-US" sz="1800" b="0" strike="noStrike" spc="-1">
              <a:solidFill>
                <a:srgbClr val="000000"/>
              </a:solidFill>
              <a:latin typeface="Arial"/>
            </a:endParaRPr>
          </a:p>
        </p:txBody>
      </p:sp>
      <p:sp>
        <p:nvSpPr>
          <p:cNvPr id="132" name="Google Shape;200;p31"/>
          <p:cNvSpPr/>
          <p:nvPr/>
        </p:nvSpPr>
        <p:spPr>
          <a:xfrm>
            <a:off x="4121640" y="1524960"/>
            <a:ext cx="1435680" cy="4100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a:lnSpc>
                <a:spcPct val="115000"/>
              </a:lnSpc>
              <a:spcAft>
                <a:spcPts val="1599"/>
              </a:spcAft>
              <a:tabLst>
                <a:tab pos="0" algn="l"/>
              </a:tabLst>
            </a:pPr>
            <a:r>
              <a:rPr lang="en" sz="1800" b="0" u="sng" strike="noStrike" spc="-1">
                <a:solidFill>
                  <a:schemeClr val="accent5"/>
                </a:solidFill>
                <a:uFillTx/>
                <a:latin typeface="Roboto"/>
                <a:ea typeface="Roboto"/>
                <a:hlinkClick r:id="rId4"/>
              </a:rPr>
              <a:t>Problems</a:t>
            </a:r>
            <a:endParaRPr lang="en-US" sz="1800" b="0" strike="noStrike" spc="-1">
              <a:solidFill>
                <a:srgbClr val="FFFFFF"/>
              </a:solidFill>
              <a:latin typeface="Arial"/>
            </a:endParaRPr>
          </a:p>
        </p:txBody>
      </p:sp>
      <p:sp>
        <p:nvSpPr>
          <p:cNvPr id="133" name="Google Shape;201;p31"/>
          <p:cNvSpPr/>
          <p:nvPr/>
        </p:nvSpPr>
        <p:spPr>
          <a:xfrm>
            <a:off x="524520" y="1956240"/>
            <a:ext cx="8103960" cy="27309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 sz="2500" b="0" strike="noStrike" spc="-1">
                <a:solidFill>
                  <a:srgbClr val="000000"/>
                </a:solidFill>
                <a:latin typeface="Roboto"/>
                <a:ea typeface="Roboto"/>
              </a:rPr>
              <a:t>Reference:</a:t>
            </a:r>
            <a:endParaRPr lang="en-US" sz="2500" b="0" strike="noStrike" spc="-1">
              <a:solidFill>
                <a:srgbClr val="FFFFFF"/>
              </a:solidFill>
              <a:latin typeface="Arial"/>
            </a:endParaRPr>
          </a:p>
          <a:p>
            <a:pPr>
              <a:lnSpc>
                <a:spcPct val="100000"/>
              </a:lnSpc>
              <a:tabLst>
                <a:tab pos="0" algn="l"/>
              </a:tabLst>
            </a:pPr>
            <a:endParaRPr lang="en-US" sz="1400" b="0" strike="noStrike" spc="-1">
              <a:solidFill>
                <a:srgbClr val="FFFFFF"/>
              </a:solidFill>
              <a:latin typeface="Arial"/>
            </a:endParaRPr>
          </a:p>
          <a:p>
            <a:pPr>
              <a:lnSpc>
                <a:spcPct val="100000"/>
              </a:lnSpc>
              <a:tabLst>
                <a:tab pos="0" algn="l"/>
              </a:tabLst>
            </a:pPr>
            <a:r>
              <a:rPr lang="en" sz="1300" b="0" u="sng" strike="noStrike" spc="-1">
                <a:solidFill>
                  <a:schemeClr val="dk1"/>
                </a:solidFill>
                <a:uFillTx/>
                <a:latin typeface="Arial"/>
                <a:ea typeface="Arial"/>
                <a:hlinkClick r:id="rId5"/>
              </a:rPr>
              <a:t>https://wps.pearsoned.co.uk/wps/media/objects/12987/13299709/rsh_qam11_module04.pdf</a:t>
            </a:r>
            <a:endParaRPr lang="en-US" sz="1300" b="0" strike="noStrike" spc="-1">
              <a:solidFill>
                <a:srgbClr val="FFFFFF"/>
              </a:solidFill>
              <a:latin typeface="Arial"/>
            </a:endParaRPr>
          </a:p>
          <a:p>
            <a:pPr>
              <a:lnSpc>
                <a:spcPct val="100000"/>
              </a:lnSpc>
              <a:tabLst>
                <a:tab pos="0" algn="l"/>
              </a:tabLst>
            </a:pPr>
            <a:endParaRPr lang="en-US" sz="1600" b="0" strike="noStrike" spc="-1">
              <a:solidFill>
                <a:srgbClr val="FFFFFF"/>
              </a:solidFill>
              <a:latin typeface="Arial"/>
            </a:endParaRPr>
          </a:p>
          <a:p>
            <a:pPr>
              <a:lnSpc>
                <a:spcPct val="115000"/>
              </a:lnSpc>
              <a:tabLst>
                <a:tab pos="0" algn="l"/>
              </a:tabLst>
            </a:pPr>
            <a:r>
              <a:rPr lang="en" sz="1300" b="0" strike="noStrike" spc="-1">
                <a:solidFill>
                  <a:schemeClr val="dk1"/>
                </a:solidFill>
                <a:latin typeface="Arial"/>
                <a:ea typeface="Arial"/>
              </a:rPr>
              <a:t>Game theory #1||Pure &amp; Mixed Strategy||in Operations research||Solved problem||By:- Kauserwise    </a:t>
            </a:r>
            <a:r>
              <a:rPr lang="en" sz="1300" b="0" u="sng" strike="noStrike" spc="-1">
                <a:solidFill>
                  <a:schemeClr val="dk1"/>
                </a:solidFill>
                <a:uFillTx/>
                <a:latin typeface="Arial"/>
                <a:ea typeface="Arial"/>
                <a:hlinkClick r:id="rId6"/>
              </a:rPr>
              <a:t>https://www.youtube.com/watch?v=fSuqTgnCVRg</a:t>
            </a:r>
            <a:endParaRPr lang="en-US" sz="1300" b="0" strike="noStrike" spc="-1">
              <a:solidFill>
                <a:srgbClr val="FFFFFF"/>
              </a:solidFill>
              <a:latin typeface="Arial"/>
            </a:endParaRPr>
          </a:p>
          <a:p>
            <a:pPr>
              <a:lnSpc>
                <a:spcPct val="115000"/>
              </a:lnSpc>
              <a:tabLst>
                <a:tab pos="0" algn="l"/>
              </a:tabLst>
            </a:pPr>
            <a:endParaRPr lang="en-US" sz="1300" b="0" strike="noStrike" spc="-1">
              <a:solidFill>
                <a:srgbClr val="FFFFFF"/>
              </a:solidFill>
              <a:latin typeface="Arial"/>
            </a:endParaRPr>
          </a:p>
          <a:p>
            <a:pPr>
              <a:lnSpc>
                <a:spcPct val="115000"/>
              </a:lnSpc>
              <a:tabLst>
                <a:tab pos="0" algn="l"/>
              </a:tabLst>
            </a:pPr>
            <a:r>
              <a:rPr lang="en-US" sz="1200" b="0" strike="noStrike" spc="-1">
                <a:solidFill>
                  <a:srgbClr val="000000"/>
                </a:solidFill>
                <a:latin typeface="Arial"/>
                <a:ea typeface="Arial"/>
              </a:rPr>
              <a:t>Lecture Series on Fundamentals of Operations Research by Prof. G. Srinivasan, Department of Management Studies, IIT Madras. For more details on NPTEL visit </a:t>
            </a:r>
            <a:r>
              <a:rPr lang="en-US" sz="1200" b="0" u="sng" strike="noStrike" spc="-1">
                <a:solidFill>
                  <a:srgbClr val="4FC3F7"/>
                </a:solidFill>
                <a:uFillTx/>
                <a:latin typeface="Arial"/>
                <a:ea typeface="Arial"/>
                <a:hlinkClick r:id="rId7"/>
              </a:rPr>
              <a:t>http://nptel.ac.in</a:t>
            </a:r>
            <a:endParaRPr lang="en-US" sz="1200" b="0" strike="noStrike" spc="-1">
              <a:solidFill>
                <a:srgbClr val="FFFFFF"/>
              </a:solidFill>
              <a:latin typeface="Arial"/>
            </a:endParaRPr>
          </a:p>
          <a:p>
            <a:pPr>
              <a:lnSpc>
                <a:spcPct val="115000"/>
              </a:lnSpc>
              <a:tabLst>
                <a:tab pos="0" algn="l"/>
              </a:tabLst>
            </a:pPr>
            <a:r>
              <a:rPr lang="en-US" sz="1200" b="0" u="sng" strike="noStrike" spc="-1">
                <a:solidFill>
                  <a:srgbClr val="4FC3F7"/>
                </a:solidFill>
                <a:uFillTx/>
                <a:latin typeface="Arial"/>
                <a:ea typeface="Arial"/>
                <a:hlinkClick r:id="rId8"/>
              </a:rPr>
              <a:t>https://www.youtube.com/watch?v=a2QgdDk4Xjw&amp;list=PLjc8ejfjpgTf0LaDEHgLB3gCHZYcNtsoX</a:t>
            </a:r>
            <a:endParaRPr lang="en-US" sz="1200" b="0" strike="noStrike" spc="-1">
              <a:solidFill>
                <a:srgbClr val="FFFFFF"/>
              </a:solidFill>
              <a:latin typeface="Arial"/>
            </a:endParaRPr>
          </a:p>
          <a:p>
            <a:pPr>
              <a:lnSpc>
                <a:spcPct val="115000"/>
              </a:lnSpc>
              <a:tabLst>
                <a:tab pos="0" algn="l"/>
              </a:tabLst>
            </a:pPr>
            <a:endParaRPr lang="en-US" sz="1300" b="0" strike="noStrike" spc="-1">
              <a:solidFill>
                <a:srgbClr val="FFFFFF"/>
              </a:solidFill>
              <a:latin typeface="Arial"/>
            </a:endParaRPr>
          </a:p>
          <a:p>
            <a:pPr>
              <a:lnSpc>
                <a:spcPct val="115000"/>
              </a:lnSpc>
              <a:tabLst>
                <a:tab pos="0" algn="l"/>
              </a:tabLst>
            </a:pPr>
            <a:endParaRPr lang="en-US" sz="1300" b="0" strike="noStrike" spc="-1">
              <a:solidFill>
                <a:srgbClr val="FFFFFF"/>
              </a:solidFill>
              <a:latin typeface="Arial"/>
            </a:endParaRPr>
          </a:p>
          <a:p>
            <a:pPr>
              <a:lnSpc>
                <a:spcPct val="115000"/>
              </a:lnSpc>
              <a:tabLst>
                <a:tab pos="0" algn="l"/>
              </a:tabLst>
            </a:pPr>
            <a:endParaRPr lang="en-US" sz="1300" b="0" strike="noStrike" spc="-1">
              <a:solidFill>
                <a:srgbClr val="FFFFFF"/>
              </a:solidFill>
              <a:latin typeface="Arial"/>
            </a:endParaRPr>
          </a:p>
          <a:p>
            <a:pPr>
              <a:lnSpc>
                <a:spcPct val="115000"/>
              </a:lnSpc>
              <a:tabLst>
                <a:tab pos="0" algn="l"/>
              </a:tabLst>
            </a:pPr>
            <a:endParaRPr lang="en-US" sz="1300" b="0" strike="noStrike" spc="-1">
              <a:solidFill>
                <a:srgbClr val="FFFFFF"/>
              </a:solidFill>
              <a:latin typeface="Arial"/>
            </a:endParaRPr>
          </a:p>
          <a:p>
            <a:pPr>
              <a:lnSpc>
                <a:spcPct val="115000"/>
              </a:lnSpc>
              <a:tabLst>
                <a:tab pos="0" algn="l"/>
              </a:tabLst>
            </a:pPr>
            <a:endParaRPr lang="en-US" sz="1100" b="0" strike="noStrike" spc="-1">
              <a:solidFill>
                <a:srgbClr val="FFFFFF"/>
              </a:solidFill>
              <a:latin typeface="Arial"/>
            </a:endParaRPr>
          </a:p>
          <a:p>
            <a:pPr>
              <a:lnSpc>
                <a:spcPct val="100000"/>
              </a:lnSpc>
              <a:tabLst>
                <a:tab pos="0" algn="l"/>
              </a:tabLst>
            </a:pPr>
            <a:endParaRPr lang="en-US" sz="1400" b="0" strike="noStrike" spc="-1">
              <a:solidFill>
                <a:srgbClr val="FFFFFF"/>
              </a:solidFill>
              <a:latin typeface="Arial"/>
            </a:endParaRPr>
          </a:p>
        </p:txBody>
      </p:sp>
    </p:spTree>
  </p:cSld>
  <p:clrMapOvr>
    <a:masterClrMapping/>
  </p:clrMapOvr>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14852</TotalTime>
  <Words>2778</Words>
  <Application>Microsoft Office PowerPoint</Application>
  <PresentationFormat>On-screen Show (16:9)</PresentationFormat>
  <Paragraphs>146</Paragraphs>
  <Slides>26</Slides>
  <Notes>0</Notes>
  <HiddenSlides>0</HiddenSlides>
  <MMClips>0</MMClips>
  <ScaleCrop>false</ScaleCrop>
  <HeadingPairs>
    <vt:vector size="6" baseType="variant">
      <vt:variant>
        <vt:lpstr>Fonts Used</vt:lpstr>
      </vt:variant>
      <vt:variant>
        <vt:i4>6</vt:i4>
      </vt:variant>
      <vt:variant>
        <vt:lpstr>Theme</vt:lpstr>
      </vt:variant>
      <vt:variant>
        <vt:i4>10</vt:i4>
      </vt:variant>
      <vt:variant>
        <vt:lpstr>Slide Titles</vt:lpstr>
      </vt:variant>
      <vt:variant>
        <vt:i4>26</vt:i4>
      </vt:variant>
    </vt:vector>
  </HeadingPairs>
  <TitlesOfParts>
    <vt:vector size="42" baseType="lpstr">
      <vt:lpstr>Arial</vt:lpstr>
      <vt:lpstr>Roboto</vt:lpstr>
      <vt:lpstr>Symbol</vt:lpstr>
      <vt:lpstr>Times New Roman</vt:lpstr>
      <vt:lpstr>Verdana</vt:lpstr>
      <vt:lpstr>Wingdings</vt:lpstr>
      <vt:lpstr>Material</vt:lpstr>
      <vt:lpstr>Material</vt:lpstr>
      <vt:lpstr>Material</vt:lpstr>
      <vt:lpstr>Material</vt:lpstr>
      <vt:lpstr>Material</vt:lpstr>
      <vt:lpstr>Material</vt:lpstr>
      <vt:lpstr>Material</vt:lpstr>
      <vt:lpstr>Material</vt:lpstr>
      <vt:lpstr>Material</vt:lpstr>
      <vt:lpstr>Material</vt:lpstr>
      <vt:lpstr>Module 05: Game Theory</vt:lpstr>
      <vt:lpstr>Detailed Contents</vt:lpstr>
      <vt:lpstr>The Prisoner's Dilemma</vt:lpstr>
      <vt:lpstr>  Objective</vt:lpstr>
      <vt:lpstr>   Introduction</vt:lpstr>
      <vt:lpstr>Managerial Applications of the Theory of Games</vt:lpstr>
      <vt:lpstr>PowerPoint Presentation</vt:lpstr>
      <vt:lpstr>Key concepts in the Theory of Games</vt:lpstr>
      <vt:lpstr>PowerPoint Presentation</vt:lpstr>
      <vt:lpstr>PowerPoint Presentation</vt:lpstr>
      <vt:lpstr>PowerPoint Presentation</vt:lpstr>
      <vt:lpstr>PowerPoint Presentation</vt:lpstr>
      <vt:lpstr>PowerPoint Presentation</vt:lpstr>
      <vt:lpstr>     The Minimax Criterion</vt:lpstr>
      <vt:lpstr>PowerPoint Presentation</vt:lpstr>
      <vt:lpstr>    Pure Strategy Games</vt:lpstr>
      <vt:lpstr>   Mixed Strategy Games</vt:lpstr>
      <vt:lpstr>PowerPoint Presentation</vt:lpstr>
      <vt:lpstr>PowerPoint Presentation</vt:lpstr>
      <vt:lpstr>PowerPoint Presentation</vt:lpstr>
      <vt:lpstr>     Dominance</vt:lpstr>
      <vt:lpstr>    Summary</vt:lpstr>
      <vt:lpstr>     Glossary</vt:lpstr>
      <vt:lpstr>PowerPoint Presentation</vt:lpstr>
      <vt:lpstr>By Using Oddments</vt:lpstr>
      <vt:lpstr>    Practice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05: Game Theory</dc:title>
  <dc:subject/>
  <dc:creator/>
  <dc:description/>
  <cp:lastModifiedBy>Ankit Jaiswal</cp:lastModifiedBy>
  <cp:revision>177</cp:revision>
  <dcterms:modified xsi:type="dcterms:W3CDTF">2026-07-17T05:39:22Z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19</vt:i4>
  </property>
  <property fmtid="{D5CDD505-2E9C-101B-9397-08002B2CF9AE}" pid="3" name="PresentationFormat">
    <vt:lpwstr>On-screen Show (16:9)</vt:lpwstr>
  </property>
  <property fmtid="{D5CDD505-2E9C-101B-9397-08002B2CF9AE}" pid="4" name="Slides">
    <vt:i4>26</vt:i4>
  </property>
</Properties>
</file>