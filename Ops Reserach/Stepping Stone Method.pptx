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36BF4-F540-2F98-97B6-433A7DD58EB3}" v="522" dt="2020-06-04T13:50:57.241"/>
    <p1510:client id="{BB569F4E-73F1-DA54-B7A8-0AA805D307F2}" v="12" dt="2021-08-04T09:34:23.084"/>
    <p1510:client id="{EACEDD0E-51D7-04E0-8AD7-EC36A297C16C}" v="147" dt="2020-06-04T11:43:48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4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pardeshi" userId="S::anand.pardeshi@fcrit.ac.in::4de9f4fb-1776-4d2c-ac4d-7159c8faa6e6" providerId="AD" clId="Web-{BB569F4E-73F1-DA54-B7A8-0AA805D307F2}"/>
    <pc:docChg chg="modSld">
      <pc:chgData name="anand pardeshi" userId="S::anand.pardeshi@fcrit.ac.in::4de9f4fb-1776-4d2c-ac4d-7159c8faa6e6" providerId="AD" clId="Web-{BB569F4E-73F1-DA54-B7A8-0AA805D307F2}" dt="2021-08-04T09:34:23.084" v="7" actId="20577"/>
      <pc:docMkLst>
        <pc:docMk/>
      </pc:docMkLst>
      <pc:sldChg chg="modSp">
        <pc:chgData name="anand pardeshi" userId="S::anand.pardeshi@fcrit.ac.in::4de9f4fb-1776-4d2c-ac4d-7159c8faa6e6" providerId="AD" clId="Web-{BB569F4E-73F1-DA54-B7A8-0AA805D307F2}" dt="2021-08-04T09:33:58.818" v="0" actId="20577"/>
        <pc:sldMkLst>
          <pc:docMk/>
          <pc:sldMk cId="109857222" sldId="256"/>
        </pc:sldMkLst>
        <pc:spChg chg="mod">
          <ac:chgData name="anand pardeshi" userId="S::anand.pardeshi@fcrit.ac.in::4de9f4fb-1776-4d2c-ac4d-7159c8faa6e6" providerId="AD" clId="Web-{BB569F4E-73F1-DA54-B7A8-0AA805D307F2}" dt="2021-08-04T09:33:58.818" v="0" actId="20577"/>
          <ac:spMkLst>
            <pc:docMk/>
            <pc:sldMk cId="109857222" sldId="256"/>
            <ac:spMk id="4" creationId="{8238F404-AAD1-440C-897D-A89460970FB1}"/>
          </ac:spMkLst>
        </pc:spChg>
      </pc:sldChg>
      <pc:sldChg chg="addSp modSp">
        <pc:chgData name="anand pardeshi" userId="S::anand.pardeshi@fcrit.ac.in::4de9f4fb-1776-4d2c-ac4d-7159c8faa6e6" providerId="AD" clId="Web-{BB569F4E-73F1-DA54-B7A8-0AA805D307F2}" dt="2021-08-04T09:34:23.084" v="7" actId="20577"/>
        <pc:sldMkLst>
          <pc:docMk/>
          <pc:sldMk cId="2066143271" sldId="266"/>
        </pc:sldMkLst>
        <pc:spChg chg="add mod">
          <ac:chgData name="anand pardeshi" userId="S::anand.pardeshi@fcrit.ac.in::4de9f4fb-1776-4d2c-ac4d-7159c8faa6e6" providerId="AD" clId="Web-{BB569F4E-73F1-DA54-B7A8-0AA805D307F2}" dt="2021-08-04T09:34:23.084" v="7" actId="20577"/>
          <ac:spMkLst>
            <pc:docMk/>
            <pc:sldMk cId="2066143271" sldId="266"/>
            <ac:spMk id="3" creationId="{312D35DA-6D50-479F-8873-BCB4E777E3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pPr/>
              <a:t>20/08/2021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refhttps/cbom.atozmath.com/example/CBOM/Transportation.aspx?he=e&amp;q=ss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universalteacherpublications.com/univ/ebooks/or/Ch5/stepst.ht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ea typeface="+mj-lt"/>
                <a:cs typeface="+mj-lt"/>
              </a:rPr>
              <a:t>Stepping Stone Method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8F404-AAD1-440C-897D-A89460970FB1}"/>
              </a:ext>
            </a:extLst>
          </p:cNvPr>
          <p:cNvSpPr txBox="1"/>
          <p:nvPr/>
        </p:nvSpPr>
        <p:spPr>
          <a:xfrm>
            <a:off x="2165230" y="5644551"/>
            <a:ext cx="95005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F1FD10-F707-49D1-B8CB-31F655DF25E3}"/>
              </a:ext>
            </a:extLst>
          </p:cNvPr>
          <p:cNvSpPr txBox="1"/>
          <p:nvPr/>
        </p:nvSpPr>
        <p:spPr>
          <a:xfrm>
            <a:off x="411192" y="281796"/>
            <a:ext cx="88967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  <a:cs typeface="Arial"/>
              </a:rPr>
              <a:t>Stepping Stone Method Steps (Rule)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9E4D55-FDEF-46CB-8ED3-C0F742F72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768693"/>
              </p:ext>
            </p:extLst>
          </p:nvPr>
        </p:nvGraphicFramePr>
        <p:xfrm>
          <a:off x="460075" y="963283"/>
          <a:ext cx="11572872" cy="535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3691100101"/>
                    </a:ext>
                  </a:extLst>
                </a:gridCol>
                <a:gridCol w="10493372">
                  <a:extLst>
                    <a:ext uri="{9D8B030D-6E8A-4147-A177-3AD203B41FA5}">
                      <a16:colId xmlns:a16="http://schemas.microsoft.com/office/drawing/2014/main" val="1185634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Step-1: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Find an initial basic feasible solution using any one of the three methods NWCM, LCM or VAM.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77806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Step-2: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1. Draw a closed path (or loop) from an unoccupied cell. The right angle turn in this path is allowed only at occupied cells and at the original unoccupied cell. Mark (+) and (-) sign alternatively at each corner, starting from the original unoccupied cell.</a:t>
                      </a:r>
                      <a:endParaRPr lang="en-US"/>
                    </a:p>
                    <a:p>
                      <a:pPr lvl="0" algn="just">
                        <a:buNone/>
                      </a:pPr>
                      <a:r>
                        <a:rPr lang="en-GB" sz="2000" dirty="0">
                          <a:effectLst/>
                          <a:latin typeface="Times New Roman"/>
                        </a:rPr>
                        <a:t>2. Add the transportation costs of each cell traced in the closed path. This is called net cost change.</a:t>
                      </a:r>
                    </a:p>
                    <a:p>
                      <a:pPr lvl="0" algn="just">
                        <a:buNone/>
                      </a:pPr>
                      <a:r>
                        <a:rPr lang="en-GB" sz="2000" dirty="0">
                          <a:effectLst/>
                          <a:latin typeface="Times New Roman"/>
                        </a:rPr>
                        <a:t>3. Repeat this for all other unoccupied cells.</a:t>
                      </a:r>
                      <a:endParaRPr lang="en-GB" dirty="0"/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87368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Step-3: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1. If all the net cost change are ≥0, an optimal solution has been reached. Now stop this procedure. </a:t>
                      </a:r>
                      <a:endParaRPr lang="en-US"/>
                    </a:p>
                    <a:p>
                      <a:pPr lvl="0" algn="just">
                        <a:buNone/>
                      </a:pPr>
                      <a:r>
                        <a:rPr lang="en-GB" sz="2000" dirty="0">
                          <a:effectLst/>
                          <a:latin typeface="Times New Roman"/>
                        </a:rPr>
                        <a:t>2. If not then select the unoccupied cell having the highest negative net cost change and draw a closed path.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195222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Step-4: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1. Select minimum allocated value among all negative position (-) on closed path</a:t>
                      </a:r>
                      <a:endParaRPr lang="en-US" dirty="0"/>
                    </a:p>
                    <a:p>
                      <a:pPr lvl="0" algn="just">
                        <a:buNone/>
                      </a:pPr>
                      <a:r>
                        <a:rPr lang="en-GB" sz="2000" dirty="0">
                          <a:effectLst/>
                          <a:latin typeface="Times New Roman"/>
                        </a:rPr>
                        <a:t>2. Assign this value to selected unoccupied cell (So unoccupied cell becomes occupied cell).</a:t>
                      </a:r>
                    </a:p>
                    <a:p>
                      <a:pPr lvl="0" algn="just">
                        <a:buNone/>
                      </a:pPr>
                      <a:r>
                        <a:rPr lang="en-GB" sz="2000" dirty="0">
                          <a:effectLst/>
                          <a:latin typeface="Times New Roman"/>
                        </a:rPr>
                        <a:t>3. Add this value to the other occupied cells marked with (+) sign.</a:t>
                      </a:r>
                      <a:endParaRPr lang="en-GB" dirty="0"/>
                    </a:p>
                    <a:p>
                      <a:pPr lvl="0" algn="just">
                        <a:buNone/>
                      </a:pPr>
                      <a:r>
                        <a:rPr lang="en-GB" sz="2000" dirty="0">
                          <a:effectLst/>
                          <a:latin typeface="Times New Roman"/>
                        </a:rPr>
                        <a:t>4. Subtract this value to the other occupied cells marked with (-) sign.</a:t>
                      </a:r>
                      <a:endParaRPr lang="en-GB" dirty="0"/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078885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Step-5: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dirty="0">
                          <a:effectLst/>
                          <a:latin typeface="Times New Roman"/>
                        </a:rPr>
                        <a:t>Repeat Step-2 to step-4 until optimal solution is obtained. This procedure stops when all net cost change ≥0 for unoccupied cells.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5279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81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10CBC-D643-43B2-B03E-7B565D6620F8}"/>
              </a:ext>
            </a:extLst>
          </p:cNvPr>
          <p:cNvSpPr txBox="1"/>
          <p:nvPr/>
        </p:nvSpPr>
        <p:spPr>
          <a:xfrm>
            <a:off x="483080" y="425570"/>
            <a:ext cx="1032006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Example-1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latin typeface="Arial"/>
                <a:cs typeface="Arial"/>
              </a:rPr>
              <a:t>Find Solution using Vogel's Approximation method, also find optimal solution using stepping stone method</a:t>
            </a:r>
            <a:endParaRPr lang="en-US" dirty="0"/>
          </a:p>
        </p:txBody>
      </p:sp>
      <p:pic>
        <p:nvPicPr>
          <p:cNvPr id="3" name="Picture 3" descr="A picture containing light, clock, mounted, room&#10;&#10;Description generated with very high confidence">
            <a:extLst>
              <a:ext uri="{FF2B5EF4-FFF2-40B4-BE49-F238E27FC236}">
                <a16:creationId xmlns:a16="http://schemas.microsoft.com/office/drawing/2014/main" id="{7CBDB8BF-E873-41C4-884F-4657AC707A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6383" r="606" b="-1064"/>
          <a:stretch/>
        </p:blipFill>
        <p:spPr>
          <a:xfrm>
            <a:off x="1291806" y="1717555"/>
            <a:ext cx="8055697" cy="442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08CB8A-1F71-427A-AD01-D9459AC97014}"/>
              </a:ext>
            </a:extLst>
          </p:cNvPr>
          <p:cNvSpPr txBox="1"/>
          <p:nvPr/>
        </p:nvSpPr>
        <p:spPr>
          <a:xfrm>
            <a:off x="497457" y="439948"/>
            <a:ext cx="994625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Solution: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Arial"/>
                <a:cs typeface="Arial"/>
              </a:rPr>
              <a:t>TOTAL number of supply constraints : 3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Arial"/>
                <a:cs typeface="Arial"/>
              </a:rPr>
              <a:t>TOTAL number of demand constraints : 4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Arial"/>
                <a:cs typeface="Arial"/>
              </a:rPr>
              <a:t>Problem Table is </a:t>
            </a:r>
            <a:endParaRPr lang="en-US" dirty="0"/>
          </a:p>
        </p:txBody>
      </p:sp>
      <p:pic>
        <p:nvPicPr>
          <p:cNvPr id="4" name="Picture 3" descr="A picture containing light, clock, mounted, room&#10;&#10;Description generated with very high confidence">
            <a:extLst>
              <a:ext uri="{FF2B5EF4-FFF2-40B4-BE49-F238E27FC236}">
                <a16:creationId xmlns:a16="http://schemas.microsoft.com/office/drawing/2014/main" id="{9EDA61EC-4B62-4590-AC25-119E861A96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6383" r="606" b="-1064"/>
          <a:stretch/>
        </p:blipFill>
        <p:spPr>
          <a:xfrm>
            <a:off x="5518750" y="279819"/>
            <a:ext cx="4260075" cy="2330155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11ABB8F-BF3F-46AF-890D-79B791B1593C}"/>
              </a:ext>
            </a:extLst>
          </p:cNvPr>
          <p:cNvSpPr/>
          <p:nvPr/>
        </p:nvSpPr>
        <p:spPr>
          <a:xfrm>
            <a:off x="2472531" y="1332005"/>
            <a:ext cx="661359" cy="244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10781-4A7A-4C76-98C9-B1190A09A144}"/>
              </a:ext>
            </a:extLst>
          </p:cNvPr>
          <p:cNvSpPr txBox="1"/>
          <p:nvPr/>
        </p:nvSpPr>
        <p:spPr>
          <a:xfrm>
            <a:off x="598098" y="3229155"/>
            <a:ext cx="3174520" cy="3139321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The maximum penalty, 22, occurs in column </a:t>
            </a:r>
            <a:r>
              <a:rPr lang="en-US" i="1">
                <a:latin typeface="Times New Roman"/>
                <a:cs typeface="Times New Roman"/>
              </a:rPr>
              <a:t>D</a:t>
            </a:r>
            <a:r>
              <a:rPr lang="en-US">
                <a:latin typeface="Times New Roman"/>
                <a:cs typeface="Times New Roman"/>
              </a:rPr>
              <a:t>2</a:t>
            </a:r>
            <a:r>
              <a:rPr lang="en-US">
                <a:latin typeface="Arial"/>
                <a:cs typeface="Arial"/>
              </a:rPr>
              <a:t>.</a:t>
            </a: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>
                <a:latin typeface="Arial"/>
                <a:cs typeface="Arial"/>
              </a:rPr>
              <a:t>The minimum </a:t>
            </a:r>
            <a:r>
              <a:rPr lang="en-US" i="1">
                <a:latin typeface="Times New Roman"/>
                <a:cs typeface="Times New Roman"/>
              </a:rPr>
              <a:t>cij</a:t>
            </a:r>
            <a:r>
              <a:rPr lang="en-US">
                <a:latin typeface="Arial"/>
                <a:cs typeface="Arial"/>
              </a:rPr>
              <a:t> in this column is </a:t>
            </a:r>
            <a:r>
              <a:rPr lang="en-US" i="1">
                <a:latin typeface="Times New Roman"/>
                <a:cs typeface="Times New Roman"/>
              </a:rPr>
              <a:t>c</a:t>
            </a:r>
            <a:r>
              <a:rPr lang="en-US">
                <a:latin typeface="Times New Roman"/>
                <a:cs typeface="Times New Roman"/>
              </a:rPr>
              <a:t>32</a:t>
            </a:r>
            <a:r>
              <a:rPr lang="en-US">
                <a:latin typeface="Arial"/>
                <a:cs typeface="Arial"/>
              </a:rPr>
              <a:t> = 8.</a:t>
            </a: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>
                <a:latin typeface="Arial"/>
                <a:cs typeface="Arial"/>
              </a:rPr>
              <a:t>The maximum allocation in this cell is min(18,8) = </a:t>
            </a:r>
            <a:r>
              <a:rPr lang="en-US" b="1">
                <a:latin typeface="Arial"/>
                <a:cs typeface="Arial"/>
              </a:rPr>
              <a:t>8</a:t>
            </a:r>
            <a:r>
              <a:rPr lang="en-US">
                <a:latin typeface="Arial"/>
                <a:cs typeface="Arial"/>
              </a:rPr>
              <a:t>.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Arial"/>
                <a:cs typeface="Arial"/>
              </a:rPr>
              <a:t>It satisfy demand of </a:t>
            </a:r>
            <a:r>
              <a:rPr lang="en-US" i="1">
                <a:latin typeface="Times New Roman"/>
                <a:cs typeface="Times New Roman"/>
              </a:rPr>
              <a:t>D</a:t>
            </a:r>
            <a:r>
              <a:rPr lang="en-US">
                <a:latin typeface="Times New Roman"/>
                <a:cs typeface="Times New Roman"/>
              </a:rPr>
              <a:t>2</a:t>
            </a:r>
            <a:r>
              <a:rPr lang="en-US">
                <a:latin typeface="Arial"/>
                <a:cs typeface="Arial"/>
              </a:rPr>
              <a:t> and adjust the supply of </a:t>
            </a:r>
            <a:r>
              <a:rPr lang="en-US" i="1">
                <a:latin typeface="Times New Roman"/>
                <a:cs typeface="Times New Roman"/>
              </a:rPr>
              <a:t>S</a:t>
            </a:r>
            <a:r>
              <a:rPr lang="en-US">
                <a:latin typeface="Times New Roman"/>
                <a:cs typeface="Times New Roman"/>
              </a:rPr>
              <a:t>3</a:t>
            </a:r>
            <a:r>
              <a:rPr lang="en-US">
                <a:latin typeface="Arial"/>
                <a:cs typeface="Arial"/>
              </a:rPr>
              <a:t> from 18 to 10 (18 - 8 = 10).</a:t>
            </a:r>
            <a:endParaRPr lang="en-US"/>
          </a:p>
        </p:txBody>
      </p:sp>
      <p:pic>
        <p:nvPicPr>
          <p:cNvPr id="8" name="Picture 8" descr="A picture containing train, outdoor, white, sitting&#10;&#10;Description generated with very high confidence">
            <a:extLst>
              <a:ext uri="{FF2B5EF4-FFF2-40B4-BE49-F238E27FC236}">
                <a16:creationId xmlns:a16="http://schemas.microsoft.com/office/drawing/2014/main" id="{F5BA1D13-FEE2-45C3-A0AA-FA1284F96D9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61758" y="3222649"/>
            <a:ext cx="7818407" cy="3245041"/>
          </a:xfrm>
          <a:prstGeom prst="rect">
            <a:avLst/>
          </a:prstGeom>
        </p:spPr>
      </p:pic>
      <p:pic>
        <p:nvPicPr>
          <p:cNvPr id="9" name="Picture 9" descr="A picture containing outdoor, white, light, train&#10;&#10;Description generated with very high confidence">
            <a:extLst>
              <a:ext uri="{FF2B5EF4-FFF2-40B4-BE49-F238E27FC236}">
                <a16:creationId xmlns:a16="http://schemas.microsoft.com/office/drawing/2014/main" id="{C1867F85-5112-46AC-AD4B-057E3809878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04249" y="3129267"/>
            <a:ext cx="8034067" cy="36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1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070D2F-9363-4E41-8CFE-725A08024152}"/>
              </a:ext>
            </a:extLst>
          </p:cNvPr>
          <p:cNvSpPr txBox="1"/>
          <p:nvPr/>
        </p:nvSpPr>
        <p:spPr>
          <a:xfrm>
            <a:off x="468702" y="296173"/>
            <a:ext cx="2743200" cy="3139321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The maximum penalty, 21, occurs in column D1.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minimum </a:t>
            </a:r>
            <a:r>
              <a:rPr lang="en-US" dirty="0" err="1"/>
              <a:t>cij</a:t>
            </a:r>
            <a:r>
              <a:rPr lang="en-US" dirty="0"/>
              <a:t> in this column is c11 = 19.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maximum allocation in this cell is min(7,5) = </a:t>
            </a:r>
            <a:r>
              <a:rPr lang="en-US" b="1" dirty="0"/>
              <a:t>5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satisfy demand of D1 and adjust the supply of S1 from 7 to 2 (7 - 5 = 2). </a:t>
            </a:r>
          </a:p>
        </p:txBody>
      </p:sp>
      <p:pic>
        <p:nvPicPr>
          <p:cNvPr id="3" name="Picture 3" descr="A picture containing white, sitting, train, light&#10;&#10;Description generated with very high confidence">
            <a:extLst>
              <a:ext uri="{FF2B5EF4-FFF2-40B4-BE49-F238E27FC236}">
                <a16:creationId xmlns:a16="http://schemas.microsoft.com/office/drawing/2014/main" id="{F43B153A-150E-442D-A319-EE4976DDB6E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64324" y="144978"/>
            <a:ext cx="6337540" cy="31318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2CD77-EC5F-42B0-8B7E-09C02AFE3383}"/>
              </a:ext>
            </a:extLst>
          </p:cNvPr>
          <p:cNvSpPr txBox="1"/>
          <p:nvPr/>
        </p:nvSpPr>
        <p:spPr>
          <a:xfrm>
            <a:off x="468702" y="3631721"/>
            <a:ext cx="2743200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The maximum penalty, 50, occurs in row S3.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minimum </a:t>
            </a:r>
            <a:r>
              <a:rPr lang="en-US" dirty="0" err="1"/>
              <a:t>cij</a:t>
            </a:r>
            <a:r>
              <a:rPr lang="en-US" dirty="0"/>
              <a:t> in this row is c34 = 20.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maximum allocation in this cell is min(10,14) = </a:t>
            </a:r>
            <a:r>
              <a:rPr lang="en-US" b="1" dirty="0"/>
              <a:t>10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satisfy supply of S3 and adjust the demand of D4 from 14 to 4 (14 - 10 = 4). </a:t>
            </a:r>
          </a:p>
        </p:txBody>
      </p:sp>
      <p:pic>
        <p:nvPicPr>
          <p:cNvPr id="5" name="Picture 5" descr="A close up of a white wall&#10;&#10;Description generated with high confidence">
            <a:extLst>
              <a:ext uri="{FF2B5EF4-FFF2-40B4-BE49-F238E27FC236}">
                <a16:creationId xmlns:a16="http://schemas.microsoft.com/office/drawing/2014/main" id="{473CAE0F-5B35-4329-8918-49EA2D5563D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4324" y="3525268"/>
            <a:ext cx="6251274" cy="31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7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CD776-9F5F-4567-BCF2-2A81E5C75241}"/>
              </a:ext>
            </a:extLst>
          </p:cNvPr>
          <p:cNvSpPr txBox="1"/>
          <p:nvPr/>
        </p:nvSpPr>
        <p:spPr>
          <a:xfrm>
            <a:off x="540589" y="296174"/>
            <a:ext cx="2743200" cy="3139321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The maximum penalty, 50, occurs in column D4.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minimum </a:t>
            </a:r>
            <a:r>
              <a:rPr lang="en-US" dirty="0" err="1"/>
              <a:t>cij</a:t>
            </a:r>
            <a:r>
              <a:rPr lang="en-US" dirty="0"/>
              <a:t> in this column is c14 = 10.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maximum allocation in this cell is min(2,4) = </a:t>
            </a:r>
            <a:r>
              <a:rPr lang="en-US" b="1" dirty="0"/>
              <a:t>2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satisfy supply of S1 and adjust the demand of D4 from 4 to 2 (4 - 2 = 2). </a:t>
            </a:r>
          </a:p>
        </p:txBody>
      </p:sp>
      <p:pic>
        <p:nvPicPr>
          <p:cNvPr id="3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439FD95F-361B-4652-A1C2-BE61D0D576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38136" y="199649"/>
            <a:ext cx="5446143" cy="3238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54B8BA-420C-4E46-B8A3-8D70730E0352}"/>
              </a:ext>
            </a:extLst>
          </p:cNvPr>
          <p:cNvSpPr txBox="1"/>
          <p:nvPr/>
        </p:nvSpPr>
        <p:spPr>
          <a:xfrm>
            <a:off x="540589" y="3531079"/>
            <a:ext cx="2743200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The maximum penalty, 60, occurs in column D4.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minimum </a:t>
            </a:r>
            <a:r>
              <a:rPr lang="en-US" dirty="0" err="1"/>
              <a:t>cij</a:t>
            </a:r>
            <a:r>
              <a:rPr lang="en-US" dirty="0"/>
              <a:t> in this column is c24 = 60.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maximum allocation in this cell is min(9,2) = </a:t>
            </a:r>
            <a:r>
              <a:rPr lang="en-US" b="1" dirty="0"/>
              <a:t>2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satisfy demand of D4 and adjust the supply of S2 from 9 to 7 (9 - 2 = 7). </a:t>
            </a:r>
          </a:p>
        </p:txBody>
      </p:sp>
      <p:pic>
        <p:nvPicPr>
          <p:cNvPr id="5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024CAD9D-81C7-4747-929B-4748C5420AC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38135" y="3528269"/>
            <a:ext cx="5374256" cy="32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9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69327-4635-4F5C-856A-4D5F7343A154}"/>
              </a:ext>
            </a:extLst>
          </p:cNvPr>
          <p:cNvSpPr txBox="1"/>
          <p:nvPr/>
        </p:nvSpPr>
        <p:spPr>
          <a:xfrm>
            <a:off x="626853" y="353683"/>
            <a:ext cx="2743200" cy="2862322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The maximum penalty, 40, occurs in row S2.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minimum </a:t>
            </a:r>
            <a:r>
              <a:rPr lang="en-US" dirty="0" err="1"/>
              <a:t>cij</a:t>
            </a:r>
            <a:r>
              <a:rPr lang="en-US" dirty="0"/>
              <a:t> in this row is c23 = 40.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maximum allocation in this cell is min(7,7) = </a:t>
            </a:r>
            <a:r>
              <a:rPr lang="en-US" b="1" dirty="0"/>
              <a:t>7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satisfy supply of S2 and demand of D3.</a:t>
            </a:r>
          </a:p>
        </p:txBody>
      </p:sp>
      <p:pic>
        <p:nvPicPr>
          <p:cNvPr id="3" name="Picture 3" descr="A screen shot of a smart phone&#10;&#10;Description generated with high confidence">
            <a:extLst>
              <a:ext uri="{FF2B5EF4-FFF2-40B4-BE49-F238E27FC236}">
                <a16:creationId xmlns:a16="http://schemas.microsoft.com/office/drawing/2014/main" id="{2D601D61-94FB-482D-BE02-743267E2243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4287" y="299092"/>
            <a:ext cx="7430218" cy="4477023"/>
          </a:xfrm>
          <a:prstGeom prst="rect">
            <a:avLst/>
          </a:prstGeom>
        </p:spPr>
      </p:pic>
      <p:pic>
        <p:nvPicPr>
          <p:cNvPr id="4" name="Picture 4" descr="A picture containing orange, room&#10;&#10;Description generated with very high confidence">
            <a:extLst>
              <a:ext uri="{FF2B5EF4-FFF2-40B4-BE49-F238E27FC236}">
                <a16:creationId xmlns:a16="http://schemas.microsoft.com/office/drawing/2014/main" id="{E6C753CD-A6E4-416E-93FD-F7642DDA969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6853" y="5183837"/>
            <a:ext cx="10780143" cy="133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4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7A3AA1-44C4-4CBE-8808-D86A411AD6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032449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DAB746-A9A3-4EC2-8997-5EB71BC964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16" b="33968"/>
          <a:stretch/>
        </p:blipFill>
        <p:spPr>
          <a:xfrm>
            <a:off x="0" y="1584458"/>
            <a:ext cx="12192000" cy="1393277"/>
          </a:xfrm>
          <a:custGeom>
            <a:avLst/>
            <a:gdLst>
              <a:gd name="connsiteX0" fmla="*/ 0 w 12192000"/>
              <a:gd name="connsiteY0" fmla="*/ 0 h 3049325"/>
              <a:gd name="connsiteX1" fmla="*/ 12192000 w 12192000"/>
              <a:gd name="connsiteY1" fmla="*/ 0 h 3049325"/>
              <a:gd name="connsiteX2" fmla="*/ 12192000 w 12192000"/>
              <a:gd name="connsiteY2" fmla="*/ 3049325 h 3049325"/>
              <a:gd name="connsiteX3" fmla="*/ 0 w 12192000"/>
              <a:gd name="connsiteY3" fmla="*/ 3049325 h 30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049325">
                <a:moveTo>
                  <a:pt x="0" y="0"/>
                </a:moveTo>
                <a:lnTo>
                  <a:pt x="12192000" y="0"/>
                </a:lnTo>
                <a:lnTo>
                  <a:pt x="12192000" y="3049325"/>
                </a:lnTo>
                <a:lnTo>
                  <a:pt x="0" y="3049325"/>
                </a:ln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4799BE-A649-400F-BA46-B12EC9EBF2A9}"/>
              </a:ext>
            </a:extLst>
          </p:cNvPr>
          <p:cNvSpPr txBox="1"/>
          <p:nvPr/>
        </p:nvSpPr>
        <p:spPr>
          <a:xfrm>
            <a:off x="473993" y="510856"/>
            <a:ext cx="5011473" cy="17739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Optimality test using 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stepping stone method...</a:t>
            </a:r>
            <a:endParaRPr lang="en-US" sz="2800" dirty="0">
              <a:solidFill>
                <a:srgbClr val="FFFFFF"/>
              </a:solidFill>
              <a:latin typeface="+mj-lt"/>
              <a:ea typeface="+mj-ea"/>
              <a:cs typeface="Calibri Light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Allocation Table is</a:t>
            </a:r>
            <a:endParaRPr lang="en-US" sz="2800" dirty="0">
              <a:solidFill>
                <a:srgbClr val="FFFFFF"/>
              </a:solidFill>
              <a:latin typeface="+mj-lt"/>
              <a:ea typeface="+mj-ea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20FAB-BAB0-41B1-BB8F-4006D67DF5FE}"/>
              </a:ext>
            </a:extLst>
          </p:cNvPr>
          <p:cNvSpPr txBox="1"/>
          <p:nvPr/>
        </p:nvSpPr>
        <p:spPr>
          <a:xfrm>
            <a:off x="6614434" y="280819"/>
            <a:ext cx="5172973" cy="17739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Iteration-1 of optimality test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rgbClr val="FFFFFF"/>
                </a:solidFill>
              </a:rPr>
              <a:t>1. Create closed loop for unoccupied cells, we get</a:t>
            </a:r>
            <a:endParaRPr lang="en-US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1C9E05-1ED5-4438-8E0F-382199749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2805364"/>
            <a:ext cx="12188952" cy="40526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close up of a white wall&#10;&#10;Description generated with high confidence">
            <a:extLst>
              <a:ext uri="{FF2B5EF4-FFF2-40B4-BE49-F238E27FC236}">
                <a16:creationId xmlns:a16="http://schemas.microsoft.com/office/drawing/2014/main" id="{52DF10F6-08CA-40C2-819F-663E9C17505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7433" y="2597936"/>
            <a:ext cx="5166360" cy="2684024"/>
          </a:xfrm>
          <a:prstGeom prst="rect">
            <a:avLst/>
          </a:prstGeom>
        </p:spPr>
      </p:pic>
      <p:pic>
        <p:nvPicPr>
          <p:cNvPr id="5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7EAC5F0-F169-4F44-A635-435E9B36A35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94283" y="2527950"/>
            <a:ext cx="6316548" cy="2823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DA04CC-7435-448B-AD8F-3BDEBEF58DC0}"/>
              </a:ext>
            </a:extLst>
          </p:cNvPr>
          <p:cNvSpPr txBox="1"/>
          <p:nvPr/>
        </p:nvSpPr>
        <p:spPr>
          <a:xfrm>
            <a:off x="310552" y="5515155"/>
            <a:ext cx="1134085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2.</a:t>
            </a:r>
            <a:r>
              <a:rPr lang="en-US" dirty="0"/>
              <a:t> Select the unoccupied cell having the highest negative net cost change i.e. cell S2D2=-18.</a:t>
            </a:r>
          </a:p>
          <a:p>
            <a:pPr algn="just"/>
            <a:r>
              <a:rPr lang="en-US" dirty="0"/>
              <a:t>and draw a closed path from S2D2.</a:t>
            </a:r>
          </a:p>
          <a:p>
            <a:pPr algn="just"/>
            <a:endParaRPr lang="en-US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37E1C-DD01-429A-9DB6-33113CAC8F77}"/>
              </a:ext>
            </a:extLst>
          </p:cNvPr>
          <p:cNvSpPr txBox="1"/>
          <p:nvPr/>
        </p:nvSpPr>
        <p:spPr>
          <a:xfrm>
            <a:off x="310551" y="6104627"/>
            <a:ext cx="90979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cs typeface="Segoe UI"/>
              </a:rPr>
              <a:t>Closed path is S2D2→S2D4→S3D4→S3D2​</a:t>
            </a:r>
          </a:p>
          <a:p>
            <a:pPr algn="just"/>
            <a:r>
              <a:rPr lang="en-US">
                <a:cs typeface="Segoe UI"/>
              </a:rPr>
              <a:t>Closed path and plus/minus allocation for current unoccupied cell S2D2</a:t>
            </a:r>
          </a:p>
        </p:txBody>
      </p:sp>
    </p:spTree>
    <p:extLst>
      <p:ext uri="{BB962C8B-B14F-4D97-AF65-F5344CB8AC3E}">
        <p14:creationId xmlns:p14="http://schemas.microsoft.com/office/powerpoint/2010/main" val="203254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257E9D-1A79-4E75-8008-E8AF6ED582EA}"/>
              </a:ext>
            </a:extLst>
          </p:cNvPr>
          <p:cNvSpPr txBox="1"/>
          <p:nvPr/>
        </p:nvSpPr>
        <p:spPr>
          <a:xfrm>
            <a:off x="468702" y="281796"/>
            <a:ext cx="4741652" cy="2614077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2.</a:t>
            </a:r>
            <a:r>
              <a:rPr lang="en-US"/>
              <a:t> Select the unoccupied cell having the highest negative net cost change i.e. cell S2D2=-18.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and draw a closed path from S2D2.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Closed path is S2D2→S2D4→S3D4→S3D2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Closed path and plus/minus allocation for current unoccupied cell S2D2</a:t>
            </a:r>
          </a:p>
        </p:txBody>
      </p:sp>
      <p:pic>
        <p:nvPicPr>
          <p:cNvPr id="3" name="Picture 3" descr="A picture containing light, close, dark, white&#10;&#10;Description generated with very high confidence">
            <a:extLst>
              <a:ext uri="{FF2B5EF4-FFF2-40B4-BE49-F238E27FC236}">
                <a16:creationId xmlns:a16="http://schemas.microsoft.com/office/drawing/2014/main" id="{EEF95E32-0F5D-4CF0-B849-96C1C9A0A8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28249" y="239016"/>
            <a:ext cx="6538822" cy="26562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C8E986-60CA-4304-888B-F09E5A01D2B4}"/>
              </a:ext>
            </a:extLst>
          </p:cNvPr>
          <p:cNvSpPr txBox="1"/>
          <p:nvPr/>
        </p:nvSpPr>
        <p:spPr>
          <a:xfrm>
            <a:off x="526211" y="3430438"/>
            <a:ext cx="3045124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3.</a:t>
            </a:r>
            <a:r>
              <a:rPr lang="en-US" sz="2400" dirty="0"/>
              <a:t> Minimum allocated value among all negative position </a:t>
            </a:r>
            <a:r>
              <a:rPr lang="en-US" sz="2400" b="1" dirty="0"/>
              <a:t>(-)</a:t>
            </a:r>
            <a:r>
              <a:rPr lang="en-US" sz="2400" dirty="0"/>
              <a:t> on closed path = 2</a:t>
            </a:r>
            <a:endParaRPr lang="en-US" sz="2400">
              <a:cs typeface="Calibri"/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Substract</a:t>
            </a:r>
            <a:r>
              <a:rPr lang="en-US" sz="2400" dirty="0"/>
              <a:t> 2 from all </a:t>
            </a:r>
            <a:r>
              <a:rPr lang="en-US" sz="2400" b="1" dirty="0"/>
              <a:t>(-)</a:t>
            </a:r>
            <a:r>
              <a:rPr lang="en-US" sz="2400" dirty="0"/>
              <a:t> and Add it to all </a:t>
            </a:r>
            <a:r>
              <a:rPr lang="en-US" sz="2400" b="1" dirty="0"/>
              <a:t>(+)</a:t>
            </a:r>
            <a:endParaRPr lang="en-US" sz="2400">
              <a:cs typeface="Calibri"/>
            </a:endParaRPr>
          </a:p>
        </p:txBody>
      </p:sp>
      <p:pic>
        <p:nvPicPr>
          <p:cNvPr id="5" name="Picture 5" descr="A close up of a device&#10;&#10;Description generated with high confidence">
            <a:extLst>
              <a:ext uri="{FF2B5EF4-FFF2-40B4-BE49-F238E27FC236}">
                <a16:creationId xmlns:a16="http://schemas.microsoft.com/office/drawing/2014/main" id="{040EC5C6-7B0E-4FE3-8B5E-2082B48D034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28249" y="3324342"/>
            <a:ext cx="6538822" cy="311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5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0D71E1-B9CD-4CE7-8018-A56AF5BDAF60}"/>
              </a:ext>
            </a:extLst>
          </p:cNvPr>
          <p:cNvSpPr txBox="1"/>
          <p:nvPr/>
        </p:nvSpPr>
        <p:spPr>
          <a:xfrm>
            <a:off x="411192" y="310551"/>
            <a:ext cx="94861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4.</a:t>
            </a:r>
            <a:r>
              <a:rPr lang="en-US" sz="2400" dirty="0"/>
              <a:t> Repeat the step 1 to 3, until an optimal solution is obtained.</a:t>
            </a:r>
            <a:endParaRPr lang="en-US" sz="2400" dirty="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105AE-DF0E-439D-B43C-8FB1211A1BD5}"/>
              </a:ext>
            </a:extLst>
          </p:cNvPr>
          <p:cNvSpPr txBox="1"/>
          <p:nvPr/>
        </p:nvSpPr>
        <p:spPr>
          <a:xfrm>
            <a:off x="411192" y="1115683"/>
            <a:ext cx="74733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Iteration-2 of optimality test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1.</a:t>
            </a:r>
            <a:r>
              <a:rPr lang="en-US" sz="2400" dirty="0"/>
              <a:t> Create closed loop for unoccupied cells, we get</a:t>
            </a:r>
            <a:endParaRPr lang="en-US" sz="2400" dirty="0">
              <a:cs typeface="Calibri"/>
            </a:endParaRPr>
          </a:p>
        </p:txBody>
      </p:sp>
      <p:pic>
        <p:nvPicPr>
          <p:cNvPr id="4" name="Picture 4" descr="A screen shot of a smart phone&#10;&#10;Description generated with high confidence">
            <a:extLst>
              <a:ext uri="{FF2B5EF4-FFF2-40B4-BE49-F238E27FC236}">
                <a16:creationId xmlns:a16="http://schemas.microsoft.com/office/drawing/2014/main" id="{88410F4C-E434-40AF-9DB4-3FD329989E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6248" y="3145563"/>
            <a:ext cx="10521349" cy="3399213"/>
          </a:xfrm>
          <a:prstGeom prst="rect">
            <a:avLst/>
          </a:prstGeom>
        </p:spPr>
      </p:pic>
      <p:pic>
        <p:nvPicPr>
          <p:cNvPr id="6" name="Picture 5" descr="A close up of a device&#10;&#10;Description generated with high confidence">
            <a:extLst>
              <a:ext uri="{FF2B5EF4-FFF2-40B4-BE49-F238E27FC236}">
                <a16:creationId xmlns:a16="http://schemas.microsoft.com/office/drawing/2014/main" id="{F3AFEBAC-A671-438B-96BE-BC429E13DC3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38514" y="822682"/>
            <a:ext cx="4741652" cy="225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6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AD1B07-E39D-4DA0-AF95-70C1EA9B837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latin typeface="+mj-lt"/>
                <a:ea typeface="+mj-ea"/>
                <a:cs typeface="+mj-cs"/>
              </a:rPr>
              <a:t>Since all net cost change ≥0</a:t>
            </a:r>
            <a:r>
              <a:rPr lang="en-US" sz="2800">
                <a:latin typeface="+mj-lt"/>
                <a:ea typeface="+mj-ea"/>
                <a:cs typeface="+mj-cs"/>
              </a:rPr>
              <a:t/>
            </a:r>
            <a:br>
              <a:rPr lang="en-US" sz="2800">
                <a:latin typeface="+mj-lt"/>
                <a:ea typeface="+mj-ea"/>
                <a:cs typeface="+mj-cs"/>
              </a:rPr>
            </a:br>
            <a:r>
              <a:rPr lang="en-US" sz="2800">
                <a:latin typeface="+mj-lt"/>
                <a:ea typeface="+mj-ea"/>
                <a:cs typeface="+mj-cs"/>
              </a:rPr>
              <a:t/>
            </a:r>
            <a:br>
              <a:rPr lang="en-US" sz="2800">
                <a:latin typeface="+mj-lt"/>
                <a:ea typeface="+mj-ea"/>
                <a:cs typeface="+mj-cs"/>
              </a:rPr>
            </a:br>
            <a:r>
              <a:rPr lang="en-US" sz="2800" dirty="0">
                <a:latin typeface="+mj-lt"/>
                <a:ea typeface="+mj-ea"/>
                <a:cs typeface="+mj-cs"/>
              </a:rPr>
              <a:t>So final optimal solution is arrived.</a:t>
            </a:r>
          </a:p>
        </p:txBody>
      </p:sp>
      <p:pic>
        <p:nvPicPr>
          <p:cNvPr id="4" name="Picture 4" descr="A close up of a white wall&#10;&#10;Description generated with high confidence">
            <a:extLst>
              <a:ext uri="{FF2B5EF4-FFF2-40B4-BE49-F238E27FC236}">
                <a16:creationId xmlns:a16="http://schemas.microsoft.com/office/drawing/2014/main" id="{ACAECA47-BC02-4E34-A3B8-A824D51EC28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35834" y="1878575"/>
            <a:ext cx="8019690" cy="39203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9107D1-9307-4848-9064-7138CD529C4F}"/>
              </a:ext>
            </a:extLst>
          </p:cNvPr>
          <p:cNvSpPr txBox="1"/>
          <p:nvPr/>
        </p:nvSpPr>
        <p:spPr>
          <a:xfrm>
            <a:off x="411193" y="5960852"/>
            <a:ext cx="105932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1" dirty="0"/>
              <a:t>The minimum total transportation cost =19×5+10×2+30×2+40×7+8×6+20×12=743</a:t>
            </a:r>
            <a:endParaRPr lang="en-US" sz="2400" b="1" i="1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D35DA-6D50-479F-8873-BCB4E777E3AF}"/>
              </a:ext>
            </a:extLst>
          </p:cNvPr>
          <p:cNvSpPr txBox="1"/>
          <p:nvPr/>
        </p:nvSpPr>
        <p:spPr>
          <a:xfrm>
            <a:off x="411192" y="6349041"/>
            <a:ext cx="107657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Ref: </a:t>
            </a:r>
            <a:r>
              <a:rPr lang="en-US" dirty="0">
                <a:solidFill>
                  <a:srgbClr val="0563C1"/>
                </a:solidFill>
                <a:cs typeface="Segoe UI"/>
                <a:hlinkClick r:id="rId3"/>
              </a:rPr>
              <a:t> https://cbom.atozmath.com/example/CBOM/Transportation.aspx?he=e&amp;q=ss</a:t>
            </a:r>
            <a:r>
              <a:rPr lang="en-US" dirty="0">
                <a:cs typeface="Calibr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06614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1F680-A27F-4166-A8CC-577E8BD5E2E9}"/>
              </a:ext>
            </a:extLst>
          </p:cNvPr>
          <p:cNvSpPr txBox="1"/>
          <p:nvPr/>
        </p:nvSpPr>
        <p:spPr>
          <a:xfrm>
            <a:off x="468702" y="166778"/>
            <a:ext cx="10636369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Example 1: Stepping Stone Method</a:t>
            </a:r>
            <a:endParaRPr lang="en-US" dirty="0"/>
          </a:p>
          <a:p>
            <a:pPr algn="just"/>
            <a:endParaRPr lang="en-US" sz="2400" b="1" dirty="0">
              <a:cs typeface="Calibri"/>
            </a:endParaRPr>
          </a:p>
          <a:p>
            <a:pPr algn="just"/>
            <a:r>
              <a:rPr lang="en-US" sz="2400" dirty="0"/>
              <a:t>A company has three factories A, B, and C with production capacity 700, 400, and 600 units per week respectively. These units are to be shipped to four depots D, E, F, and G with requirement of 400, 450, 350, and 500 units per week respectively. The transportation costs (in Rs.) per unit between factories and depots are given below:</a:t>
            </a:r>
            <a:endParaRPr lang="en-US" sz="2400">
              <a:cs typeface="Calibri" panose="020F0502020204030204"/>
            </a:endParaRPr>
          </a:p>
        </p:txBody>
      </p:sp>
      <p:pic>
        <p:nvPicPr>
          <p:cNvPr id="3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FE85175-12DC-44D5-AB05-A369141032C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05797" y="2470941"/>
            <a:ext cx="8738558" cy="3166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0F0436-5200-4836-8AB6-3D3A7D951B11}"/>
              </a:ext>
            </a:extLst>
          </p:cNvPr>
          <p:cNvSpPr txBox="1"/>
          <p:nvPr/>
        </p:nvSpPr>
        <p:spPr>
          <a:xfrm>
            <a:off x="468701" y="5845835"/>
            <a:ext cx="1111082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/>
              <a:t>The decision problem is to minimize the total transportation cost for all factory-depot shipping patterns.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5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3BF40-7FF2-44C9-8E39-E8C77A340414}"/>
              </a:ext>
            </a:extLst>
          </p:cNvPr>
          <p:cNvSpPr txBox="1"/>
          <p:nvPr/>
        </p:nvSpPr>
        <p:spPr>
          <a:xfrm>
            <a:off x="1963947" y="6003985"/>
            <a:ext cx="100468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Ref: </a:t>
            </a:r>
            <a:r>
              <a:rPr lang="en-US" dirty="0">
                <a:hlinkClick r:id="rId2"/>
              </a:rPr>
              <a:t>http://www.universalteacherpublications.com/univ/ebooks/or/Ch5/stepst.htm</a:t>
            </a:r>
            <a:endParaRPr lang="en-US"/>
          </a:p>
          <a:p>
            <a:endParaRPr lang="en-US" dirty="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00C08-B10C-4AF1-AB97-87E5E9ECBC83}"/>
              </a:ext>
            </a:extLst>
          </p:cNvPr>
          <p:cNvSpPr txBox="1"/>
          <p:nvPr/>
        </p:nvSpPr>
        <p:spPr>
          <a:xfrm>
            <a:off x="483079" y="411192"/>
            <a:ext cx="11326483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Solution.</a:t>
            </a:r>
          </a:p>
          <a:p>
            <a:r>
              <a:rPr lang="en-US"/>
              <a:t>An initial basic feasible solution is obtained by Matrix Minimum Method and is shown below in table 1.</a:t>
            </a:r>
          </a:p>
          <a:p>
            <a:r>
              <a:rPr lang="en-US">
                <a:ea typeface="+mn-lt"/>
                <a:cs typeface="+mn-lt"/>
              </a:rPr>
              <a:t>Here, m + n - 1 = 6. So the solution is not degenerate.</a:t>
            </a:r>
            <a:endParaRPr lang="en-US"/>
          </a:p>
          <a:p>
            <a:r>
              <a:rPr lang="en-US"/>
              <a:t>Initial basic feasible solution</a:t>
            </a:r>
          </a:p>
          <a:p>
            <a:r>
              <a:rPr lang="en-US">
                <a:ea typeface="+mn-lt"/>
                <a:cs typeface="+mn-lt"/>
              </a:rPr>
              <a:t>6 X 450 + 6 X 250 + 3 X 50 + 2 X 350 + 3 X 350 + 5 X 250 = 7350</a:t>
            </a:r>
            <a:endParaRPr lang="en-US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Since all the values of unoccupied cells are greater than or equal to zero, the solution obtained is </a:t>
            </a:r>
            <a:r>
              <a:rPr lang="en-US" b="1">
                <a:ea typeface="+mn-lt"/>
                <a:cs typeface="+mn-lt"/>
              </a:rPr>
              <a:t>optimal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Minimum transportation cost is: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6 X 450 + 6 X 250 + 3 X 50 + 2 X 350 + 3 X 350 + 5 X 250 = Rs. 7350</a:t>
            </a:r>
            <a:endParaRPr lang="en-US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AE659B8-12FE-4830-878D-9CDC07527E1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75758" y="2146328"/>
            <a:ext cx="8580407" cy="229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5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08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71CFA69A98247845C383A00253C40" ma:contentTypeVersion="2" ma:contentTypeDescription="Create a new document." ma:contentTypeScope="" ma:versionID="f72964e7bbe5712c818c7fedd9512191">
  <xsd:schema xmlns:xsd="http://www.w3.org/2001/XMLSchema" xmlns:xs="http://www.w3.org/2001/XMLSchema" xmlns:p="http://schemas.microsoft.com/office/2006/metadata/properties" xmlns:ns2="df63d6c3-3097-4dac-9e01-3e35a00a78b2" targetNamespace="http://schemas.microsoft.com/office/2006/metadata/properties" ma:root="true" ma:fieldsID="ddd1b32bd9dd0fd619750b9a6d7097df" ns2:_="">
    <xsd:import namespace="df63d6c3-3097-4dac-9e01-3e35a00a78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3d6c3-3097-4dac-9e01-3e35a00a78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19EBDF-7E09-4833-ACE3-66A7067F70D3}"/>
</file>

<file path=customXml/itemProps2.xml><?xml version="1.0" encoding="utf-8"?>
<ds:datastoreItem xmlns:ds="http://schemas.openxmlformats.org/officeDocument/2006/customXml" ds:itemID="{0A497E17-623E-424E-AEB3-AA3DC5E44B73}"/>
</file>

<file path=customXml/itemProps3.xml><?xml version="1.0" encoding="utf-8"?>
<ds:datastoreItem xmlns:ds="http://schemas.openxmlformats.org/officeDocument/2006/customXml" ds:itemID="{B545897A-1223-402B-A61D-1177125A81F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625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Times New Roman</vt:lpstr>
      <vt:lpstr>office theme</vt:lpstr>
      <vt:lpstr>Stepping Stone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anand pardeshi</cp:lastModifiedBy>
  <cp:revision>362</cp:revision>
  <dcterms:created xsi:type="dcterms:W3CDTF">2020-06-04T11:36:14Z</dcterms:created>
  <dcterms:modified xsi:type="dcterms:W3CDTF">2021-08-20T12:53:27Z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0x0101008BE71CFA69A98247845C383A00253C40</vt:lpwstr>
  </property>
</Properties>
</file>