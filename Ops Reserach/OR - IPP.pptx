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319" r:id="rId3"/>
    <p:sldId id="320" r:id="rId4"/>
    <p:sldId id="333" r:id="rId5"/>
    <p:sldId id="332" r:id="rId6"/>
    <p:sldId id="335" r:id="rId7"/>
    <p:sldId id="356" r:id="rId8"/>
    <p:sldId id="337" r:id="rId9"/>
    <p:sldId id="343" r:id="rId10"/>
    <p:sldId id="346" r:id="rId11"/>
    <p:sldId id="336" r:id="rId12"/>
    <p:sldId id="344" r:id="rId13"/>
    <p:sldId id="345" r:id="rId14"/>
    <p:sldId id="347" r:id="rId15"/>
    <p:sldId id="302" r:id="rId16"/>
    <p:sldId id="348" r:id="rId17"/>
    <p:sldId id="303" r:id="rId18"/>
    <p:sldId id="349" r:id="rId19"/>
    <p:sldId id="350" r:id="rId20"/>
    <p:sldId id="304" r:id="rId21"/>
    <p:sldId id="351" r:id="rId22"/>
    <p:sldId id="352" r:id="rId23"/>
    <p:sldId id="305" r:id="rId24"/>
    <p:sldId id="353" r:id="rId25"/>
    <p:sldId id="354" r:id="rId26"/>
    <p:sldId id="355" r:id="rId27"/>
    <p:sldId id="357" r:id="rId28"/>
    <p:sldId id="358" r:id="rId29"/>
    <p:sldId id="306" r:id="rId30"/>
    <p:sldId id="359" r:id="rId31"/>
    <p:sldId id="360" r:id="rId32"/>
    <p:sldId id="361" r:id="rId33"/>
    <p:sldId id="362" r:id="rId34"/>
    <p:sldId id="363" r:id="rId35"/>
    <p:sldId id="364" r:id="rId36"/>
    <p:sldId id="365" r:id="rId37"/>
    <p:sldId id="366" r:id="rId38"/>
    <p:sldId id="368" r:id="rId39"/>
    <p:sldId id="367" r:id="rId40"/>
    <p:sldId id="369" r:id="rId41"/>
    <p:sldId id="371" r:id="rId42"/>
    <p:sldId id="372" r:id="rId43"/>
    <p:sldId id="373" r:id="rId44"/>
    <p:sldId id="374" r:id="rId45"/>
    <p:sldId id="375" r:id="rId46"/>
    <p:sldId id="370"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39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CD826F-9897-47D3-B118-99C8713E43F5}" v="194" dt="2020-09-05T04:02:04.1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29" autoAdjust="0"/>
    <p:restoredTop sz="94660"/>
  </p:normalViewPr>
  <p:slideViewPr>
    <p:cSldViewPr snapToGrid="0">
      <p:cViewPr varScale="1">
        <p:scale>
          <a:sx n="70" d="100"/>
          <a:sy n="70" d="100"/>
        </p:scale>
        <p:origin x="7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esh Zemse" userId="f5579818-f47c-4551-9630-9efa4dd51d64" providerId="ADAL" clId="{75E2FDC4-12C8-4E15-A785-EA6934847F8A}"/>
  </pc:docChgLst>
  <pc:docChgLst>
    <pc:chgData name="Umesh Zemse" userId="f5579818-f47c-4551-9630-9efa4dd51d64" providerId="ADAL" clId="{ACCD826F-9897-47D3-B118-99C8713E43F5}"/>
    <pc:docChg chg="undo custSel mod modSld">
      <pc:chgData name="Umesh Zemse" userId="f5579818-f47c-4551-9630-9efa4dd51d64" providerId="ADAL" clId="{ACCD826F-9897-47D3-B118-99C8713E43F5}" dt="2020-09-05T04:02:04.133" v="251" actId="20577"/>
      <pc:docMkLst>
        <pc:docMk/>
      </pc:docMkLst>
      <pc:sldChg chg="addSp modSp modAnim">
        <pc:chgData name="Umesh Zemse" userId="f5579818-f47c-4551-9630-9efa4dd51d64" providerId="ADAL" clId="{ACCD826F-9897-47D3-B118-99C8713E43F5}" dt="2020-08-29T05:07:38.343" v="33" actId="20577"/>
        <pc:sldMkLst>
          <pc:docMk/>
          <pc:sldMk cId="3364231589" sldId="304"/>
        </pc:sldMkLst>
        <pc:spChg chg="add mod">
          <ac:chgData name="Umesh Zemse" userId="f5579818-f47c-4551-9630-9efa4dd51d64" providerId="ADAL" clId="{ACCD826F-9897-47D3-B118-99C8713E43F5}" dt="2020-08-29T05:04:20.153" v="17" actId="13926"/>
          <ac:spMkLst>
            <pc:docMk/>
            <pc:sldMk cId="3364231589" sldId="304"/>
            <ac:spMk id="11" creationId="{6FE27E1B-B1AB-49F3-81FE-F9908CDF16AF}"/>
          </ac:spMkLst>
        </pc:spChg>
        <pc:spChg chg="mod">
          <ac:chgData name="Umesh Zemse" userId="f5579818-f47c-4551-9630-9efa4dd51d64" providerId="ADAL" clId="{ACCD826F-9897-47D3-B118-99C8713E43F5}" dt="2020-08-29T05:07:38.343" v="33" actId="20577"/>
          <ac:spMkLst>
            <pc:docMk/>
            <pc:sldMk cId="3364231589" sldId="304"/>
            <ac:spMk id="33" creationId="{67ACAA63-9EB4-4712-944F-328428478153}"/>
          </ac:spMkLst>
        </pc:spChg>
      </pc:sldChg>
      <pc:sldChg chg="modSp">
        <pc:chgData name="Umesh Zemse" userId="f5579818-f47c-4551-9630-9efa4dd51d64" providerId="ADAL" clId="{ACCD826F-9897-47D3-B118-99C8713E43F5}" dt="2020-08-29T04:48:11.928" v="9" actId="20577"/>
        <pc:sldMkLst>
          <pc:docMk/>
          <pc:sldMk cId="463565985" sldId="335"/>
        </pc:sldMkLst>
        <pc:spChg chg="mod">
          <ac:chgData name="Umesh Zemse" userId="f5579818-f47c-4551-9630-9efa4dd51d64" providerId="ADAL" clId="{ACCD826F-9897-47D3-B118-99C8713E43F5}" dt="2020-08-29T04:48:11.928" v="9" actId="20577"/>
          <ac:spMkLst>
            <pc:docMk/>
            <pc:sldMk cId="463565985" sldId="335"/>
            <ac:spMk id="11" creationId="{00000000-0000-0000-0000-000000000000}"/>
          </ac:spMkLst>
        </pc:spChg>
      </pc:sldChg>
      <pc:sldChg chg="addSp delSp modSp">
        <pc:chgData name="Umesh Zemse" userId="f5579818-f47c-4551-9630-9efa4dd51d64" providerId="ADAL" clId="{ACCD826F-9897-47D3-B118-99C8713E43F5}" dt="2020-08-29T05:13:03.878" v="42" actId="167"/>
        <pc:sldMkLst>
          <pc:docMk/>
          <pc:sldMk cId="3660802174" sldId="352"/>
        </pc:sldMkLst>
        <pc:spChg chg="add mod ord">
          <ac:chgData name="Umesh Zemse" userId="f5579818-f47c-4551-9630-9efa4dd51d64" providerId="ADAL" clId="{ACCD826F-9897-47D3-B118-99C8713E43F5}" dt="2020-08-29T05:13:03.878" v="42" actId="167"/>
          <ac:spMkLst>
            <pc:docMk/>
            <pc:sldMk cId="3660802174" sldId="352"/>
            <ac:spMk id="3" creationId="{F7E47C84-6CD3-44C1-A5F5-588AD9D6EDE3}"/>
          </ac:spMkLst>
        </pc:spChg>
        <pc:spChg chg="add del mod">
          <ac:chgData name="Umesh Zemse" userId="f5579818-f47c-4551-9630-9efa4dd51d64" providerId="ADAL" clId="{ACCD826F-9897-47D3-B118-99C8713E43F5}" dt="2020-08-29T05:12:43.560" v="37"/>
          <ac:spMkLst>
            <pc:docMk/>
            <pc:sldMk cId="3660802174" sldId="352"/>
            <ac:spMk id="44" creationId="{D7FFD1AF-C38D-489B-B2C8-3092D1A5877C}"/>
          </ac:spMkLst>
        </pc:spChg>
      </pc:sldChg>
      <pc:sldChg chg="modSp">
        <pc:chgData name="Umesh Zemse" userId="f5579818-f47c-4551-9630-9efa4dd51d64" providerId="ADAL" clId="{ACCD826F-9897-47D3-B118-99C8713E43F5}" dt="2020-09-05T03:51:26.464" v="238" actId="20577"/>
        <pc:sldMkLst>
          <pc:docMk/>
          <pc:sldMk cId="3953021226" sldId="359"/>
        </pc:sldMkLst>
        <pc:spChg chg="mod">
          <ac:chgData name="Umesh Zemse" userId="f5579818-f47c-4551-9630-9efa4dd51d64" providerId="ADAL" clId="{ACCD826F-9897-47D3-B118-99C8713E43F5}" dt="2020-09-04T12:54:33.757" v="132" actId="20577"/>
          <ac:spMkLst>
            <pc:docMk/>
            <pc:sldMk cId="3953021226" sldId="359"/>
            <ac:spMk id="19" creationId="{83191F2E-93F3-448E-9E84-2BDBEFD7F2DA}"/>
          </ac:spMkLst>
        </pc:spChg>
        <pc:spChg chg="mod">
          <ac:chgData name="Umesh Zemse" userId="f5579818-f47c-4551-9630-9efa4dd51d64" providerId="ADAL" clId="{ACCD826F-9897-47D3-B118-99C8713E43F5}" dt="2020-09-04T12:54:14.943" v="91" actId="1036"/>
          <ac:spMkLst>
            <pc:docMk/>
            <pc:sldMk cId="3953021226" sldId="359"/>
            <ac:spMk id="20" creationId="{D0BC6DFF-066F-4457-8A15-E406EF01BB2A}"/>
          </ac:spMkLst>
        </pc:spChg>
        <pc:spChg chg="mod">
          <ac:chgData name="Umesh Zemse" userId="f5579818-f47c-4551-9630-9efa4dd51d64" providerId="ADAL" clId="{ACCD826F-9897-47D3-B118-99C8713E43F5}" dt="2020-09-05T03:51:26.464" v="238" actId="20577"/>
          <ac:spMkLst>
            <pc:docMk/>
            <pc:sldMk cId="3953021226" sldId="359"/>
            <ac:spMk id="23" creationId="{C24949D2-A777-47D3-AF86-DD7EA777A1D6}"/>
          </ac:spMkLst>
        </pc:spChg>
        <pc:spChg chg="mod">
          <ac:chgData name="Umesh Zemse" userId="f5579818-f47c-4551-9630-9efa4dd51d64" providerId="ADAL" clId="{ACCD826F-9897-47D3-B118-99C8713E43F5}" dt="2020-09-04T12:55:12.283" v="221" actId="1036"/>
          <ac:spMkLst>
            <pc:docMk/>
            <pc:sldMk cId="3953021226" sldId="359"/>
            <ac:spMk id="24" creationId="{E11819C1-99EC-411E-AB27-8C2233AC56A0}"/>
          </ac:spMkLst>
        </pc:spChg>
        <pc:graphicFrameChg chg="mod">
          <ac:chgData name="Umesh Zemse" userId="f5579818-f47c-4551-9630-9efa4dd51d64" providerId="ADAL" clId="{ACCD826F-9897-47D3-B118-99C8713E43F5}" dt="2020-09-04T12:54:14.943" v="91" actId="1036"/>
          <ac:graphicFrameMkLst>
            <pc:docMk/>
            <pc:sldMk cId="3953021226" sldId="359"/>
            <ac:graphicFrameMk id="2" creationId="{CCEB16C9-BFA9-4DD4-8303-B3E01D6037C5}"/>
          </ac:graphicFrameMkLst>
        </pc:graphicFrameChg>
        <pc:graphicFrameChg chg="mod">
          <ac:chgData name="Umesh Zemse" userId="f5579818-f47c-4551-9630-9efa4dd51d64" providerId="ADAL" clId="{ACCD826F-9897-47D3-B118-99C8713E43F5}" dt="2020-09-04T12:54:14.943" v="91" actId="1036"/>
          <ac:graphicFrameMkLst>
            <pc:docMk/>
            <pc:sldMk cId="3953021226" sldId="359"/>
            <ac:graphicFrameMk id="22" creationId="{0312AEA2-545D-4865-A8EA-0710D65152D0}"/>
          </ac:graphicFrameMkLst>
        </pc:graphicFrameChg>
        <pc:graphicFrameChg chg="mod">
          <ac:chgData name="Umesh Zemse" userId="f5579818-f47c-4551-9630-9efa4dd51d64" providerId="ADAL" clId="{ACCD826F-9897-47D3-B118-99C8713E43F5}" dt="2020-09-04T12:55:12.283" v="221" actId="1036"/>
          <ac:graphicFrameMkLst>
            <pc:docMk/>
            <pc:sldMk cId="3953021226" sldId="359"/>
            <ac:graphicFrameMk id="25" creationId="{D392B897-61BB-4569-8EEF-0390AA6C149A}"/>
          </ac:graphicFrameMkLst>
        </pc:graphicFrameChg>
        <pc:graphicFrameChg chg="mod modGraphic">
          <ac:chgData name="Umesh Zemse" userId="f5579818-f47c-4551-9630-9efa4dd51d64" providerId="ADAL" clId="{ACCD826F-9897-47D3-B118-99C8713E43F5}" dt="2020-09-04T12:56:40.601" v="227" actId="20577"/>
          <ac:graphicFrameMkLst>
            <pc:docMk/>
            <pc:sldMk cId="3953021226" sldId="359"/>
            <ac:graphicFrameMk id="26" creationId="{92293C82-6911-4C45-9294-6C94E37604FE}"/>
          </ac:graphicFrameMkLst>
        </pc:graphicFrameChg>
      </pc:sldChg>
      <pc:sldChg chg="addSp modSp modAnim">
        <pc:chgData name="Umesh Zemse" userId="f5579818-f47c-4551-9630-9efa4dd51d64" providerId="ADAL" clId="{ACCD826F-9897-47D3-B118-99C8713E43F5}" dt="2020-09-05T03:52:55.902" v="243"/>
        <pc:sldMkLst>
          <pc:docMk/>
          <pc:sldMk cId="840427127" sldId="360"/>
        </pc:sldMkLst>
        <pc:graphicFrameChg chg="add mod">
          <ac:chgData name="Umesh Zemse" userId="f5579818-f47c-4551-9630-9efa4dd51d64" providerId="ADAL" clId="{ACCD826F-9897-47D3-B118-99C8713E43F5}" dt="2020-09-05T03:52:37.261" v="240" actId="1076"/>
          <ac:graphicFrameMkLst>
            <pc:docMk/>
            <pc:sldMk cId="840427127" sldId="360"/>
            <ac:graphicFrameMk id="80" creationId="{6BBF50B0-024B-4842-9447-E02ABD0B67E0}"/>
          </ac:graphicFrameMkLst>
        </pc:graphicFrameChg>
        <pc:graphicFrameChg chg="add mod">
          <ac:chgData name="Umesh Zemse" userId="f5579818-f47c-4551-9630-9efa4dd51d64" providerId="ADAL" clId="{ACCD826F-9897-47D3-B118-99C8713E43F5}" dt="2020-09-05T03:52:37.261" v="240" actId="1076"/>
          <ac:graphicFrameMkLst>
            <pc:docMk/>
            <pc:sldMk cId="840427127" sldId="360"/>
            <ac:graphicFrameMk id="82" creationId="{BEDF602B-05CC-4B89-9250-7FE5EB7CC404}"/>
          </ac:graphicFrameMkLst>
        </pc:graphicFrameChg>
        <pc:graphicFrameChg chg="add mod">
          <ac:chgData name="Umesh Zemse" userId="f5579818-f47c-4551-9630-9efa4dd51d64" providerId="ADAL" clId="{ACCD826F-9897-47D3-B118-99C8713E43F5}" dt="2020-09-05T03:52:45.905" v="242" actId="1076"/>
          <ac:graphicFrameMkLst>
            <pc:docMk/>
            <pc:sldMk cId="840427127" sldId="360"/>
            <ac:graphicFrameMk id="83" creationId="{4778E009-AB67-457A-961B-6E946F869432}"/>
          </ac:graphicFrameMkLst>
        </pc:graphicFrameChg>
        <pc:graphicFrameChg chg="add mod">
          <ac:chgData name="Umesh Zemse" userId="f5579818-f47c-4551-9630-9efa4dd51d64" providerId="ADAL" clId="{ACCD826F-9897-47D3-B118-99C8713E43F5}" dt="2020-09-05T03:52:45.905" v="242" actId="1076"/>
          <ac:graphicFrameMkLst>
            <pc:docMk/>
            <pc:sldMk cId="840427127" sldId="360"/>
            <ac:graphicFrameMk id="86" creationId="{BD991A33-A3CD-41CA-B08E-02C01466612A}"/>
          </ac:graphicFrameMkLst>
        </pc:graphicFrameChg>
      </pc:sldChg>
      <pc:sldChg chg="modSp">
        <pc:chgData name="Umesh Zemse" userId="f5579818-f47c-4551-9630-9efa4dd51d64" providerId="ADAL" clId="{ACCD826F-9897-47D3-B118-99C8713E43F5}" dt="2020-09-05T04:02:04.133" v="251" actId="20577"/>
        <pc:sldMkLst>
          <pc:docMk/>
          <pc:sldMk cId="2826495310" sldId="361"/>
        </pc:sldMkLst>
        <pc:spChg chg="mod">
          <ac:chgData name="Umesh Zemse" userId="f5579818-f47c-4551-9630-9efa4dd51d64" providerId="ADAL" clId="{ACCD826F-9897-47D3-B118-99C8713E43F5}" dt="2020-09-05T04:02:04.133" v="251" actId="20577"/>
          <ac:spMkLst>
            <pc:docMk/>
            <pc:sldMk cId="2826495310" sldId="361"/>
            <ac:spMk id="44" creationId="{E293EAE6-7AEF-4D63-842F-8B60673C8315}"/>
          </ac:spMkLst>
        </pc:spChg>
      </pc:sldChg>
      <pc:sldChg chg="addSp delSp modSp mod setBg">
        <pc:chgData name="Umesh Zemse" userId="f5579818-f47c-4551-9630-9efa4dd51d64" providerId="ADAL" clId="{ACCD826F-9897-47D3-B118-99C8713E43F5}" dt="2020-09-04T13:53:17.942" v="236" actId="688"/>
        <pc:sldMkLst>
          <pc:docMk/>
          <pc:sldMk cId="860058439" sldId="370"/>
        </pc:sldMkLst>
        <pc:spChg chg="add del">
          <ac:chgData name="Umesh Zemse" userId="f5579818-f47c-4551-9630-9efa4dd51d64" providerId="ADAL" clId="{ACCD826F-9897-47D3-B118-99C8713E43F5}" dt="2020-09-04T13:52:22.401" v="229"/>
          <ac:spMkLst>
            <pc:docMk/>
            <pc:sldMk cId="860058439" sldId="370"/>
            <ac:spMk id="2" creationId="{EAA9C910-E4C7-46E3-89D4-36AF52D292E7}"/>
          </ac:spMkLst>
        </pc:spChg>
        <pc:grpChg chg="add">
          <ac:chgData name="Umesh Zemse" userId="f5579818-f47c-4551-9630-9efa4dd51d64" providerId="ADAL" clId="{ACCD826F-9897-47D3-B118-99C8713E43F5}" dt="2020-09-04T13:52:57.212" v="234" actId="26606"/>
          <ac:grpSpMkLst>
            <pc:docMk/>
            <pc:sldMk cId="860058439" sldId="370"/>
            <ac:grpSpMk id="9" creationId="{609316A9-990D-4EC3-A671-70EE5C1493A4}"/>
          </ac:grpSpMkLst>
        </pc:grpChg>
        <pc:picChg chg="add del mod">
          <ac:chgData name="Umesh Zemse" userId="f5579818-f47c-4551-9630-9efa4dd51d64" providerId="ADAL" clId="{ACCD826F-9897-47D3-B118-99C8713E43F5}" dt="2020-09-04T13:52:51.446" v="232" actId="478"/>
          <ac:picMkLst>
            <pc:docMk/>
            <pc:sldMk cId="860058439" sldId="370"/>
            <ac:picMk id="3" creationId="{5C89C123-4F22-46B1-B727-C95176AF881B}"/>
          </ac:picMkLst>
        </pc:picChg>
        <pc:picChg chg="add mod">
          <ac:chgData name="Umesh Zemse" userId="f5579818-f47c-4551-9630-9efa4dd51d64" providerId="ADAL" clId="{ACCD826F-9897-47D3-B118-99C8713E43F5}" dt="2020-09-04T13:53:17.942" v="236" actId="688"/>
          <ac:picMkLst>
            <pc:docMk/>
            <pc:sldMk cId="860058439" sldId="370"/>
            <ac:picMk id="4" creationId="{0566188A-4CC9-4D67-AC82-F34B93182A45}"/>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0622448132205782E-2"/>
          <c:y val="7.9453105449531145E-2"/>
          <c:w val="0.83929605357249959"/>
          <c:h val="0.81323491308196039"/>
        </c:manualLayout>
      </c:layout>
      <c:scatterChart>
        <c:scatterStyle val="smoothMarker"/>
        <c:varyColors val="0"/>
        <c:ser>
          <c:idx val="0"/>
          <c:order val="0"/>
          <c:tx>
            <c:strRef>
              <c:f>Sheet1!$B$1</c:f>
              <c:strCache>
                <c:ptCount val="1"/>
                <c:pt idx="0">
                  <c:v>Y-Values</c:v>
                </c:pt>
              </c:strCache>
            </c:strRef>
          </c:tx>
          <c:spPr>
            <a:ln w="22225" cap="rnd">
              <a:solidFill>
                <a:schemeClr val="accent1"/>
              </a:solid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xVal>
            <c:numRef>
              <c:f>Sheet1!$A$2:$A$7</c:f>
              <c:numCache>
                <c:formatCode>General</c:formatCode>
                <c:ptCount val="6"/>
                <c:pt idx="0">
                  <c:v>0</c:v>
                </c:pt>
                <c:pt idx="1">
                  <c:v>3</c:v>
                </c:pt>
                <c:pt idx="2">
                  <c:v>6</c:v>
                </c:pt>
                <c:pt idx="3">
                  <c:v>5</c:v>
                </c:pt>
                <c:pt idx="4">
                  <c:v>0</c:v>
                </c:pt>
                <c:pt idx="5">
                  <c:v>2</c:v>
                </c:pt>
              </c:numCache>
            </c:numRef>
          </c:xVal>
          <c:yVal>
            <c:numRef>
              <c:f>Sheet1!$B$2:$B$7</c:f>
              <c:numCache>
                <c:formatCode>General</c:formatCode>
                <c:ptCount val="6"/>
                <c:pt idx="0">
                  <c:v>2</c:v>
                </c:pt>
                <c:pt idx="1">
                  <c:v>3</c:v>
                </c:pt>
                <c:pt idx="2">
                  <c:v>4</c:v>
                </c:pt>
              </c:numCache>
            </c:numRef>
          </c:yVal>
          <c:smooth val="1"/>
          <c:extLst>
            <c:ext xmlns:c16="http://schemas.microsoft.com/office/drawing/2014/chart" uri="{C3380CC4-5D6E-409C-BE32-E72D297353CC}">
              <c16:uniqueId val="{00000000-472C-4AF9-A112-24553B1024F8}"/>
            </c:ext>
          </c:extLst>
        </c:ser>
        <c:ser>
          <c:idx val="1"/>
          <c:order val="1"/>
          <c:tx>
            <c:strRef>
              <c:f>Sheet1!$C$1</c:f>
              <c:strCache>
                <c:ptCount val="1"/>
                <c:pt idx="0">
                  <c:v>Y1</c:v>
                </c:pt>
              </c:strCache>
            </c:strRef>
          </c:tx>
          <c:spPr>
            <a:ln w="22225" cap="rnd">
              <a:solidFill>
                <a:schemeClr val="accent2"/>
              </a:solidFill>
            </a:ln>
            <a:effectLst>
              <a:glow rad="139700">
                <a:schemeClr val="accent2">
                  <a:satMod val="175000"/>
                  <a:alpha val="14000"/>
                </a:schemeClr>
              </a:glow>
            </a:effectLst>
          </c:spPr>
          <c:marker>
            <c:symbol val="circle"/>
            <c:size val="3"/>
            <c:spPr>
              <a:solidFill>
                <a:schemeClr val="accent2">
                  <a:lumMod val="60000"/>
                  <a:lumOff val="40000"/>
                </a:schemeClr>
              </a:solidFill>
              <a:ln>
                <a:noFill/>
              </a:ln>
              <a:effectLst>
                <a:glow rad="63500">
                  <a:schemeClr val="accent2">
                    <a:satMod val="175000"/>
                    <a:alpha val="25000"/>
                  </a:schemeClr>
                </a:glow>
              </a:effectLst>
            </c:spPr>
          </c:marker>
          <c:xVal>
            <c:numRef>
              <c:f>Sheet1!$A$2:$A$7</c:f>
              <c:numCache>
                <c:formatCode>General</c:formatCode>
                <c:ptCount val="6"/>
                <c:pt idx="0">
                  <c:v>0</c:v>
                </c:pt>
                <c:pt idx="1">
                  <c:v>3</c:v>
                </c:pt>
                <c:pt idx="2">
                  <c:v>6</c:v>
                </c:pt>
                <c:pt idx="3">
                  <c:v>5</c:v>
                </c:pt>
                <c:pt idx="4">
                  <c:v>0</c:v>
                </c:pt>
                <c:pt idx="5">
                  <c:v>2</c:v>
                </c:pt>
              </c:numCache>
            </c:numRef>
          </c:xVal>
          <c:yVal>
            <c:numRef>
              <c:f>Sheet1!$C$2:$C$7</c:f>
              <c:numCache>
                <c:formatCode>General</c:formatCode>
                <c:ptCount val="6"/>
                <c:pt idx="3">
                  <c:v>0</c:v>
                </c:pt>
                <c:pt idx="4">
                  <c:v>35</c:v>
                </c:pt>
                <c:pt idx="5">
                  <c:v>21</c:v>
                </c:pt>
              </c:numCache>
            </c:numRef>
          </c:yVal>
          <c:smooth val="1"/>
          <c:extLst>
            <c:ext xmlns:c16="http://schemas.microsoft.com/office/drawing/2014/chart" uri="{C3380CC4-5D6E-409C-BE32-E72D297353CC}">
              <c16:uniqueId val="{00000002-472C-4AF9-A112-24553B1024F8}"/>
            </c:ext>
          </c:extLst>
        </c:ser>
        <c:dLbls>
          <c:showLegendKey val="0"/>
          <c:showVal val="0"/>
          <c:showCatName val="0"/>
          <c:showSerName val="0"/>
          <c:showPercent val="0"/>
          <c:showBubbleSize val="0"/>
        </c:dLbls>
        <c:axId val="1063426160"/>
        <c:axId val="1064920928"/>
      </c:scatterChart>
      <c:valAx>
        <c:axId val="1063426160"/>
        <c:scaling>
          <c:orientation val="minMax"/>
        </c:scaling>
        <c:delete val="0"/>
        <c:axPos val="b"/>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4920928"/>
        <c:crosses val="autoZero"/>
        <c:crossBetween val="midCat"/>
      </c:valAx>
      <c:valAx>
        <c:axId val="1064920928"/>
        <c:scaling>
          <c:orientation val="minMax"/>
        </c:scaling>
        <c:delete val="0"/>
        <c:axPos val="l"/>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342616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0622448132205782E-2"/>
          <c:y val="7.9453105449531145E-2"/>
          <c:w val="0.83929605357249959"/>
          <c:h val="0.81323491308196039"/>
        </c:manualLayout>
      </c:layout>
      <c:scatterChart>
        <c:scatterStyle val="smoothMarker"/>
        <c:varyColors val="0"/>
        <c:ser>
          <c:idx val="0"/>
          <c:order val="0"/>
          <c:tx>
            <c:strRef>
              <c:f>Sheet1!$B$1</c:f>
              <c:strCache>
                <c:ptCount val="1"/>
                <c:pt idx="0">
                  <c:v>Y-Values</c:v>
                </c:pt>
              </c:strCache>
            </c:strRef>
          </c:tx>
          <c:spPr>
            <a:ln w="22225" cap="rnd">
              <a:solidFill>
                <a:schemeClr val="accent1"/>
              </a:solid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xVal>
            <c:numRef>
              <c:f>Sheet1!$A$2:$A$7</c:f>
              <c:numCache>
                <c:formatCode>General</c:formatCode>
                <c:ptCount val="6"/>
                <c:pt idx="0">
                  <c:v>0</c:v>
                </c:pt>
                <c:pt idx="1">
                  <c:v>3</c:v>
                </c:pt>
                <c:pt idx="2">
                  <c:v>6</c:v>
                </c:pt>
                <c:pt idx="3">
                  <c:v>5</c:v>
                </c:pt>
                <c:pt idx="4">
                  <c:v>0</c:v>
                </c:pt>
                <c:pt idx="5">
                  <c:v>2</c:v>
                </c:pt>
              </c:numCache>
            </c:numRef>
          </c:xVal>
          <c:yVal>
            <c:numRef>
              <c:f>Sheet1!$B$2:$B$7</c:f>
              <c:numCache>
                <c:formatCode>General</c:formatCode>
                <c:ptCount val="6"/>
                <c:pt idx="0">
                  <c:v>2</c:v>
                </c:pt>
                <c:pt idx="1">
                  <c:v>3</c:v>
                </c:pt>
                <c:pt idx="2">
                  <c:v>4</c:v>
                </c:pt>
              </c:numCache>
            </c:numRef>
          </c:yVal>
          <c:smooth val="1"/>
          <c:extLst>
            <c:ext xmlns:c16="http://schemas.microsoft.com/office/drawing/2014/chart" uri="{C3380CC4-5D6E-409C-BE32-E72D297353CC}">
              <c16:uniqueId val="{00000000-B192-466A-84B7-76F041CAD015}"/>
            </c:ext>
          </c:extLst>
        </c:ser>
        <c:ser>
          <c:idx val="1"/>
          <c:order val="1"/>
          <c:tx>
            <c:strRef>
              <c:f>Sheet1!$C$1</c:f>
              <c:strCache>
                <c:ptCount val="1"/>
                <c:pt idx="0">
                  <c:v>Y1</c:v>
                </c:pt>
              </c:strCache>
            </c:strRef>
          </c:tx>
          <c:spPr>
            <a:ln w="22225" cap="rnd">
              <a:solidFill>
                <a:schemeClr val="accent2"/>
              </a:solidFill>
            </a:ln>
            <a:effectLst>
              <a:glow rad="139700">
                <a:schemeClr val="accent2">
                  <a:satMod val="175000"/>
                  <a:alpha val="14000"/>
                </a:schemeClr>
              </a:glow>
            </a:effectLst>
          </c:spPr>
          <c:marker>
            <c:symbol val="circle"/>
            <c:size val="3"/>
            <c:spPr>
              <a:solidFill>
                <a:schemeClr val="accent2">
                  <a:lumMod val="60000"/>
                  <a:lumOff val="40000"/>
                </a:schemeClr>
              </a:solidFill>
              <a:ln>
                <a:noFill/>
              </a:ln>
              <a:effectLst>
                <a:glow rad="63500">
                  <a:schemeClr val="accent2">
                    <a:satMod val="175000"/>
                    <a:alpha val="25000"/>
                  </a:schemeClr>
                </a:glow>
              </a:effectLst>
            </c:spPr>
          </c:marker>
          <c:xVal>
            <c:numRef>
              <c:f>Sheet1!$A$2:$A$7</c:f>
              <c:numCache>
                <c:formatCode>General</c:formatCode>
                <c:ptCount val="6"/>
                <c:pt idx="0">
                  <c:v>0</c:v>
                </c:pt>
                <c:pt idx="1">
                  <c:v>3</c:v>
                </c:pt>
                <c:pt idx="2">
                  <c:v>6</c:v>
                </c:pt>
                <c:pt idx="3">
                  <c:v>5</c:v>
                </c:pt>
                <c:pt idx="4">
                  <c:v>0</c:v>
                </c:pt>
                <c:pt idx="5">
                  <c:v>2</c:v>
                </c:pt>
              </c:numCache>
            </c:numRef>
          </c:xVal>
          <c:yVal>
            <c:numRef>
              <c:f>Sheet1!$C$2:$C$7</c:f>
              <c:numCache>
                <c:formatCode>General</c:formatCode>
                <c:ptCount val="6"/>
                <c:pt idx="3">
                  <c:v>0</c:v>
                </c:pt>
                <c:pt idx="4">
                  <c:v>35</c:v>
                </c:pt>
                <c:pt idx="5">
                  <c:v>21</c:v>
                </c:pt>
              </c:numCache>
            </c:numRef>
          </c:yVal>
          <c:smooth val="1"/>
          <c:extLst>
            <c:ext xmlns:c16="http://schemas.microsoft.com/office/drawing/2014/chart" uri="{C3380CC4-5D6E-409C-BE32-E72D297353CC}">
              <c16:uniqueId val="{00000001-B192-466A-84B7-76F041CAD015}"/>
            </c:ext>
          </c:extLst>
        </c:ser>
        <c:dLbls>
          <c:showLegendKey val="0"/>
          <c:showVal val="0"/>
          <c:showCatName val="0"/>
          <c:showSerName val="0"/>
          <c:showPercent val="0"/>
          <c:showBubbleSize val="0"/>
        </c:dLbls>
        <c:axId val="1063426160"/>
        <c:axId val="1064920928"/>
      </c:scatterChart>
      <c:valAx>
        <c:axId val="1063426160"/>
        <c:scaling>
          <c:orientation val="minMax"/>
        </c:scaling>
        <c:delete val="0"/>
        <c:axPos val="b"/>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4920928"/>
        <c:crosses val="autoZero"/>
        <c:crossBetween val="midCat"/>
      </c:valAx>
      <c:valAx>
        <c:axId val="1064920928"/>
        <c:scaling>
          <c:orientation val="minMax"/>
        </c:scaling>
        <c:delete val="0"/>
        <c:axPos val="l"/>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342616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0622448132205782E-2"/>
          <c:y val="7.9453105449531145E-2"/>
          <c:w val="0.83929605357249959"/>
          <c:h val="0.81323491308196039"/>
        </c:manualLayout>
      </c:layout>
      <c:scatterChart>
        <c:scatterStyle val="smoothMarker"/>
        <c:varyColors val="0"/>
        <c:ser>
          <c:idx val="0"/>
          <c:order val="0"/>
          <c:tx>
            <c:strRef>
              <c:f>Sheet1!$B$1</c:f>
              <c:strCache>
                <c:ptCount val="1"/>
                <c:pt idx="0">
                  <c:v>Y-Values</c:v>
                </c:pt>
              </c:strCache>
            </c:strRef>
          </c:tx>
          <c:spPr>
            <a:ln w="22225" cap="rnd">
              <a:solidFill>
                <a:schemeClr val="accent1"/>
              </a:solid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xVal>
            <c:numRef>
              <c:f>Sheet1!$A$2:$A$9</c:f>
              <c:numCache>
                <c:formatCode>General</c:formatCode>
                <c:ptCount val="8"/>
                <c:pt idx="0">
                  <c:v>0</c:v>
                </c:pt>
                <c:pt idx="1">
                  <c:v>3</c:v>
                </c:pt>
                <c:pt idx="2">
                  <c:v>6</c:v>
                </c:pt>
                <c:pt idx="3">
                  <c:v>5</c:v>
                </c:pt>
                <c:pt idx="4">
                  <c:v>0</c:v>
                </c:pt>
                <c:pt idx="5">
                  <c:v>2</c:v>
                </c:pt>
                <c:pt idx="6">
                  <c:v>5</c:v>
                </c:pt>
                <c:pt idx="7">
                  <c:v>5</c:v>
                </c:pt>
              </c:numCache>
            </c:numRef>
          </c:xVal>
          <c:yVal>
            <c:numRef>
              <c:f>Sheet1!$B$2:$B$9</c:f>
              <c:numCache>
                <c:formatCode>General</c:formatCode>
                <c:ptCount val="8"/>
                <c:pt idx="0">
                  <c:v>2</c:v>
                </c:pt>
                <c:pt idx="1">
                  <c:v>3</c:v>
                </c:pt>
                <c:pt idx="2">
                  <c:v>4</c:v>
                </c:pt>
              </c:numCache>
            </c:numRef>
          </c:yVal>
          <c:smooth val="1"/>
          <c:extLst>
            <c:ext xmlns:c16="http://schemas.microsoft.com/office/drawing/2014/chart" uri="{C3380CC4-5D6E-409C-BE32-E72D297353CC}">
              <c16:uniqueId val="{00000000-472C-4AF9-A112-24553B1024F8}"/>
            </c:ext>
          </c:extLst>
        </c:ser>
        <c:ser>
          <c:idx val="1"/>
          <c:order val="1"/>
          <c:tx>
            <c:strRef>
              <c:f>Sheet1!$C$1</c:f>
              <c:strCache>
                <c:ptCount val="1"/>
                <c:pt idx="0">
                  <c:v>Y1</c:v>
                </c:pt>
              </c:strCache>
            </c:strRef>
          </c:tx>
          <c:spPr>
            <a:ln w="22225" cap="rnd">
              <a:solidFill>
                <a:schemeClr val="accent2"/>
              </a:solidFill>
            </a:ln>
            <a:effectLst>
              <a:glow rad="139700">
                <a:schemeClr val="accent2">
                  <a:satMod val="175000"/>
                  <a:alpha val="14000"/>
                </a:schemeClr>
              </a:glow>
            </a:effectLst>
          </c:spPr>
          <c:marker>
            <c:symbol val="circle"/>
            <c:size val="3"/>
            <c:spPr>
              <a:solidFill>
                <a:schemeClr val="accent2">
                  <a:lumMod val="60000"/>
                  <a:lumOff val="40000"/>
                </a:schemeClr>
              </a:solidFill>
              <a:ln>
                <a:noFill/>
              </a:ln>
              <a:effectLst>
                <a:glow rad="63500">
                  <a:schemeClr val="accent2">
                    <a:satMod val="175000"/>
                    <a:alpha val="25000"/>
                  </a:schemeClr>
                </a:glow>
              </a:effectLst>
            </c:spPr>
          </c:marker>
          <c:xVal>
            <c:numRef>
              <c:f>Sheet1!$A$2:$A$9</c:f>
              <c:numCache>
                <c:formatCode>General</c:formatCode>
                <c:ptCount val="8"/>
                <c:pt idx="0">
                  <c:v>0</c:v>
                </c:pt>
                <c:pt idx="1">
                  <c:v>3</c:v>
                </c:pt>
                <c:pt idx="2">
                  <c:v>6</c:v>
                </c:pt>
                <c:pt idx="3">
                  <c:v>5</c:v>
                </c:pt>
                <c:pt idx="4">
                  <c:v>0</c:v>
                </c:pt>
                <c:pt idx="5">
                  <c:v>2</c:v>
                </c:pt>
                <c:pt idx="6">
                  <c:v>5</c:v>
                </c:pt>
                <c:pt idx="7">
                  <c:v>5</c:v>
                </c:pt>
              </c:numCache>
            </c:numRef>
          </c:xVal>
          <c:yVal>
            <c:numRef>
              <c:f>Sheet1!$C$2:$C$9</c:f>
              <c:numCache>
                <c:formatCode>General</c:formatCode>
                <c:ptCount val="8"/>
                <c:pt idx="3">
                  <c:v>0</c:v>
                </c:pt>
                <c:pt idx="4">
                  <c:v>35</c:v>
                </c:pt>
                <c:pt idx="5">
                  <c:v>21</c:v>
                </c:pt>
              </c:numCache>
            </c:numRef>
          </c:yVal>
          <c:smooth val="1"/>
          <c:extLst>
            <c:ext xmlns:c16="http://schemas.microsoft.com/office/drawing/2014/chart" uri="{C3380CC4-5D6E-409C-BE32-E72D297353CC}">
              <c16:uniqueId val="{00000002-472C-4AF9-A112-24553B1024F8}"/>
            </c:ext>
          </c:extLst>
        </c:ser>
        <c:ser>
          <c:idx val="2"/>
          <c:order val="2"/>
          <c:tx>
            <c:strRef>
              <c:f>Sheet1!$D$1</c:f>
              <c:strCache>
                <c:ptCount val="1"/>
                <c:pt idx="0">
                  <c:v>Y2</c:v>
                </c:pt>
              </c:strCache>
            </c:strRef>
          </c:tx>
          <c:spPr>
            <a:ln w="22225" cap="rnd">
              <a:solidFill>
                <a:schemeClr val="accent3"/>
              </a:solidFill>
            </a:ln>
            <a:effectLst>
              <a:glow rad="139700">
                <a:schemeClr val="accent3">
                  <a:satMod val="175000"/>
                  <a:alpha val="14000"/>
                </a:schemeClr>
              </a:glow>
            </a:effectLst>
          </c:spPr>
          <c:marker>
            <c:symbol val="circle"/>
            <c:size val="3"/>
            <c:spPr>
              <a:solidFill>
                <a:schemeClr val="accent3">
                  <a:lumMod val="60000"/>
                  <a:lumOff val="40000"/>
                </a:schemeClr>
              </a:solidFill>
              <a:ln>
                <a:noFill/>
              </a:ln>
              <a:effectLst>
                <a:glow rad="63500">
                  <a:schemeClr val="accent3">
                    <a:satMod val="175000"/>
                    <a:alpha val="25000"/>
                  </a:schemeClr>
                </a:glow>
              </a:effectLst>
            </c:spPr>
          </c:marker>
          <c:xVal>
            <c:numRef>
              <c:f>Sheet1!$A$2:$A$9</c:f>
              <c:numCache>
                <c:formatCode>General</c:formatCode>
                <c:ptCount val="8"/>
                <c:pt idx="0">
                  <c:v>0</c:v>
                </c:pt>
                <c:pt idx="1">
                  <c:v>3</c:v>
                </c:pt>
                <c:pt idx="2">
                  <c:v>6</c:v>
                </c:pt>
                <c:pt idx="3">
                  <c:v>5</c:v>
                </c:pt>
                <c:pt idx="4">
                  <c:v>0</c:v>
                </c:pt>
                <c:pt idx="5">
                  <c:v>2</c:v>
                </c:pt>
                <c:pt idx="6">
                  <c:v>5</c:v>
                </c:pt>
                <c:pt idx="7">
                  <c:v>5</c:v>
                </c:pt>
              </c:numCache>
            </c:numRef>
          </c:xVal>
          <c:yVal>
            <c:numRef>
              <c:f>Sheet1!$D$2:$D$9</c:f>
              <c:numCache>
                <c:formatCode>General</c:formatCode>
                <c:ptCount val="8"/>
                <c:pt idx="6">
                  <c:v>35</c:v>
                </c:pt>
                <c:pt idx="7">
                  <c:v>0</c:v>
                </c:pt>
              </c:numCache>
            </c:numRef>
          </c:yVal>
          <c:smooth val="1"/>
          <c:extLst>
            <c:ext xmlns:c16="http://schemas.microsoft.com/office/drawing/2014/chart" uri="{C3380CC4-5D6E-409C-BE32-E72D297353CC}">
              <c16:uniqueId val="{00000000-5DFA-4385-8643-BC99A43A4C3A}"/>
            </c:ext>
          </c:extLst>
        </c:ser>
        <c:dLbls>
          <c:showLegendKey val="0"/>
          <c:showVal val="0"/>
          <c:showCatName val="0"/>
          <c:showSerName val="0"/>
          <c:showPercent val="0"/>
          <c:showBubbleSize val="0"/>
        </c:dLbls>
        <c:axId val="1063426160"/>
        <c:axId val="1064920928"/>
      </c:scatterChart>
      <c:valAx>
        <c:axId val="1063426160"/>
        <c:scaling>
          <c:orientation val="minMax"/>
        </c:scaling>
        <c:delete val="0"/>
        <c:axPos val="b"/>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4920928"/>
        <c:crosses val="autoZero"/>
        <c:crossBetween val="midCat"/>
      </c:valAx>
      <c:valAx>
        <c:axId val="1064920928"/>
        <c:scaling>
          <c:orientation val="minMax"/>
        </c:scaling>
        <c:delete val="0"/>
        <c:axPos val="l"/>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342616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0622448132205782E-2"/>
          <c:y val="7.9453105449531145E-2"/>
          <c:w val="0.83929605357249959"/>
          <c:h val="0.81323491308196039"/>
        </c:manualLayout>
      </c:layout>
      <c:scatterChart>
        <c:scatterStyle val="smoothMarker"/>
        <c:varyColors val="0"/>
        <c:ser>
          <c:idx val="0"/>
          <c:order val="0"/>
          <c:tx>
            <c:strRef>
              <c:f>Sheet1!$B$1</c:f>
              <c:strCache>
                <c:ptCount val="1"/>
                <c:pt idx="0">
                  <c:v>Y-Values</c:v>
                </c:pt>
              </c:strCache>
            </c:strRef>
          </c:tx>
          <c:spPr>
            <a:ln w="22225" cap="rnd">
              <a:solidFill>
                <a:schemeClr val="accent1"/>
              </a:solid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xVal>
            <c:numRef>
              <c:f>Sheet1!$A$2:$A$9</c:f>
              <c:numCache>
                <c:formatCode>General</c:formatCode>
                <c:ptCount val="8"/>
                <c:pt idx="0">
                  <c:v>0</c:v>
                </c:pt>
                <c:pt idx="1">
                  <c:v>3</c:v>
                </c:pt>
                <c:pt idx="2">
                  <c:v>6</c:v>
                </c:pt>
                <c:pt idx="3">
                  <c:v>5</c:v>
                </c:pt>
                <c:pt idx="4">
                  <c:v>0</c:v>
                </c:pt>
                <c:pt idx="5">
                  <c:v>2</c:v>
                </c:pt>
                <c:pt idx="6">
                  <c:v>4</c:v>
                </c:pt>
                <c:pt idx="7">
                  <c:v>4</c:v>
                </c:pt>
              </c:numCache>
            </c:numRef>
          </c:xVal>
          <c:yVal>
            <c:numRef>
              <c:f>Sheet1!$B$2:$B$9</c:f>
              <c:numCache>
                <c:formatCode>General</c:formatCode>
                <c:ptCount val="8"/>
                <c:pt idx="0">
                  <c:v>2</c:v>
                </c:pt>
                <c:pt idx="1">
                  <c:v>3</c:v>
                </c:pt>
                <c:pt idx="2">
                  <c:v>4</c:v>
                </c:pt>
              </c:numCache>
            </c:numRef>
          </c:yVal>
          <c:smooth val="1"/>
          <c:extLst>
            <c:ext xmlns:c16="http://schemas.microsoft.com/office/drawing/2014/chart" uri="{C3380CC4-5D6E-409C-BE32-E72D297353CC}">
              <c16:uniqueId val="{00000000-472C-4AF9-A112-24553B1024F8}"/>
            </c:ext>
          </c:extLst>
        </c:ser>
        <c:ser>
          <c:idx val="1"/>
          <c:order val="1"/>
          <c:tx>
            <c:strRef>
              <c:f>Sheet1!$C$1</c:f>
              <c:strCache>
                <c:ptCount val="1"/>
                <c:pt idx="0">
                  <c:v>Y1</c:v>
                </c:pt>
              </c:strCache>
            </c:strRef>
          </c:tx>
          <c:spPr>
            <a:ln w="22225" cap="rnd">
              <a:solidFill>
                <a:schemeClr val="accent2"/>
              </a:solidFill>
            </a:ln>
            <a:effectLst>
              <a:glow rad="139700">
                <a:schemeClr val="accent2">
                  <a:satMod val="175000"/>
                  <a:alpha val="14000"/>
                </a:schemeClr>
              </a:glow>
            </a:effectLst>
          </c:spPr>
          <c:marker>
            <c:symbol val="circle"/>
            <c:size val="3"/>
            <c:spPr>
              <a:solidFill>
                <a:schemeClr val="accent2">
                  <a:lumMod val="60000"/>
                  <a:lumOff val="40000"/>
                </a:schemeClr>
              </a:solidFill>
              <a:ln>
                <a:noFill/>
              </a:ln>
              <a:effectLst>
                <a:glow rad="63500">
                  <a:schemeClr val="accent2">
                    <a:satMod val="175000"/>
                    <a:alpha val="25000"/>
                  </a:schemeClr>
                </a:glow>
              </a:effectLst>
            </c:spPr>
          </c:marker>
          <c:xVal>
            <c:numRef>
              <c:f>Sheet1!$A$2:$A$9</c:f>
              <c:numCache>
                <c:formatCode>General</c:formatCode>
                <c:ptCount val="8"/>
                <c:pt idx="0">
                  <c:v>0</c:v>
                </c:pt>
                <c:pt idx="1">
                  <c:v>3</c:v>
                </c:pt>
                <c:pt idx="2">
                  <c:v>6</c:v>
                </c:pt>
                <c:pt idx="3">
                  <c:v>5</c:v>
                </c:pt>
                <c:pt idx="4">
                  <c:v>0</c:v>
                </c:pt>
                <c:pt idx="5">
                  <c:v>2</c:v>
                </c:pt>
                <c:pt idx="6">
                  <c:v>4</c:v>
                </c:pt>
                <c:pt idx="7">
                  <c:v>4</c:v>
                </c:pt>
              </c:numCache>
            </c:numRef>
          </c:xVal>
          <c:yVal>
            <c:numRef>
              <c:f>Sheet1!$C$2:$C$9</c:f>
              <c:numCache>
                <c:formatCode>General</c:formatCode>
                <c:ptCount val="8"/>
                <c:pt idx="3">
                  <c:v>0</c:v>
                </c:pt>
                <c:pt idx="4">
                  <c:v>35</c:v>
                </c:pt>
                <c:pt idx="5">
                  <c:v>21</c:v>
                </c:pt>
              </c:numCache>
            </c:numRef>
          </c:yVal>
          <c:smooth val="1"/>
          <c:extLst>
            <c:ext xmlns:c16="http://schemas.microsoft.com/office/drawing/2014/chart" uri="{C3380CC4-5D6E-409C-BE32-E72D297353CC}">
              <c16:uniqueId val="{00000002-472C-4AF9-A112-24553B1024F8}"/>
            </c:ext>
          </c:extLst>
        </c:ser>
        <c:ser>
          <c:idx val="2"/>
          <c:order val="2"/>
          <c:tx>
            <c:strRef>
              <c:f>Sheet1!$D$1</c:f>
              <c:strCache>
                <c:ptCount val="1"/>
                <c:pt idx="0">
                  <c:v>Y2</c:v>
                </c:pt>
              </c:strCache>
            </c:strRef>
          </c:tx>
          <c:spPr>
            <a:ln w="22225" cap="rnd">
              <a:solidFill>
                <a:schemeClr val="accent3"/>
              </a:solidFill>
            </a:ln>
            <a:effectLst>
              <a:glow rad="139700">
                <a:schemeClr val="accent3">
                  <a:satMod val="175000"/>
                  <a:alpha val="14000"/>
                </a:schemeClr>
              </a:glow>
            </a:effectLst>
          </c:spPr>
          <c:marker>
            <c:symbol val="circle"/>
            <c:size val="3"/>
            <c:spPr>
              <a:solidFill>
                <a:schemeClr val="accent3">
                  <a:lumMod val="60000"/>
                  <a:lumOff val="40000"/>
                </a:schemeClr>
              </a:solidFill>
              <a:ln>
                <a:noFill/>
              </a:ln>
              <a:effectLst>
                <a:glow rad="63500">
                  <a:schemeClr val="accent3">
                    <a:satMod val="175000"/>
                    <a:alpha val="25000"/>
                  </a:schemeClr>
                </a:glow>
              </a:effectLst>
            </c:spPr>
          </c:marker>
          <c:xVal>
            <c:numRef>
              <c:f>Sheet1!$A$2:$A$9</c:f>
              <c:numCache>
                <c:formatCode>General</c:formatCode>
                <c:ptCount val="8"/>
                <c:pt idx="0">
                  <c:v>0</c:v>
                </c:pt>
                <c:pt idx="1">
                  <c:v>3</c:v>
                </c:pt>
                <c:pt idx="2">
                  <c:v>6</c:v>
                </c:pt>
                <c:pt idx="3">
                  <c:v>5</c:v>
                </c:pt>
                <c:pt idx="4">
                  <c:v>0</c:v>
                </c:pt>
                <c:pt idx="5">
                  <c:v>2</c:v>
                </c:pt>
                <c:pt idx="6">
                  <c:v>4</c:v>
                </c:pt>
                <c:pt idx="7">
                  <c:v>4</c:v>
                </c:pt>
              </c:numCache>
            </c:numRef>
          </c:xVal>
          <c:yVal>
            <c:numRef>
              <c:f>Sheet1!$D$2:$D$9</c:f>
              <c:numCache>
                <c:formatCode>General</c:formatCode>
                <c:ptCount val="8"/>
                <c:pt idx="6">
                  <c:v>35</c:v>
                </c:pt>
                <c:pt idx="7">
                  <c:v>0</c:v>
                </c:pt>
              </c:numCache>
            </c:numRef>
          </c:yVal>
          <c:smooth val="1"/>
          <c:extLst>
            <c:ext xmlns:c16="http://schemas.microsoft.com/office/drawing/2014/chart" uri="{C3380CC4-5D6E-409C-BE32-E72D297353CC}">
              <c16:uniqueId val="{00000000-5DFA-4385-8643-BC99A43A4C3A}"/>
            </c:ext>
          </c:extLst>
        </c:ser>
        <c:dLbls>
          <c:showLegendKey val="0"/>
          <c:showVal val="0"/>
          <c:showCatName val="0"/>
          <c:showSerName val="0"/>
          <c:showPercent val="0"/>
          <c:showBubbleSize val="0"/>
        </c:dLbls>
        <c:axId val="1063426160"/>
        <c:axId val="1064920928"/>
      </c:scatterChart>
      <c:valAx>
        <c:axId val="1063426160"/>
        <c:scaling>
          <c:orientation val="minMax"/>
        </c:scaling>
        <c:delete val="0"/>
        <c:axPos val="b"/>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4920928"/>
        <c:crosses val="autoZero"/>
        <c:crossBetween val="midCat"/>
      </c:valAx>
      <c:valAx>
        <c:axId val="1064920928"/>
        <c:scaling>
          <c:orientation val="minMax"/>
        </c:scaling>
        <c:delete val="0"/>
        <c:axPos val="l"/>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342616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0622448132205782E-2"/>
          <c:y val="7.9453105449531145E-2"/>
          <c:w val="0.83929605357249959"/>
          <c:h val="0.81323491308196039"/>
        </c:manualLayout>
      </c:layout>
      <c:scatterChart>
        <c:scatterStyle val="smoothMarker"/>
        <c:varyColors val="0"/>
        <c:ser>
          <c:idx val="0"/>
          <c:order val="0"/>
          <c:tx>
            <c:strRef>
              <c:f>Sheet1!$B$1</c:f>
              <c:strCache>
                <c:ptCount val="1"/>
                <c:pt idx="0">
                  <c:v>Y-Values</c:v>
                </c:pt>
              </c:strCache>
            </c:strRef>
          </c:tx>
          <c:spPr>
            <a:ln w="22225" cap="rnd">
              <a:solidFill>
                <a:schemeClr val="accent1"/>
              </a:solid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xVal>
            <c:numRef>
              <c:f>Sheet1!$A$2:$A$11</c:f>
              <c:numCache>
                <c:formatCode>General</c:formatCode>
                <c:ptCount val="10"/>
                <c:pt idx="0">
                  <c:v>0</c:v>
                </c:pt>
                <c:pt idx="1">
                  <c:v>3</c:v>
                </c:pt>
                <c:pt idx="2">
                  <c:v>6</c:v>
                </c:pt>
                <c:pt idx="3">
                  <c:v>5</c:v>
                </c:pt>
                <c:pt idx="4">
                  <c:v>0</c:v>
                </c:pt>
                <c:pt idx="5">
                  <c:v>2</c:v>
                </c:pt>
                <c:pt idx="6">
                  <c:v>4</c:v>
                </c:pt>
                <c:pt idx="7">
                  <c:v>4</c:v>
                </c:pt>
                <c:pt idx="8">
                  <c:v>0</c:v>
                </c:pt>
                <c:pt idx="9">
                  <c:v>10</c:v>
                </c:pt>
              </c:numCache>
            </c:numRef>
          </c:xVal>
          <c:yVal>
            <c:numRef>
              <c:f>Sheet1!$B$2:$B$11</c:f>
              <c:numCache>
                <c:formatCode>General</c:formatCode>
                <c:ptCount val="10"/>
                <c:pt idx="0">
                  <c:v>2</c:v>
                </c:pt>
                <c:pt idx="1">
                  <c:v>3</c:v>
                </c:pt>
                <c:pt idx="2">
                  <c:v>4</c:v>
                </c:pt>
              </c:numCache>
            </c:numRef>
          </c:yVal>
          <c:smooth val="1"/>
          <c:extLst>
            <c:ext xmlns:c16="http://schemas.microsoft.com/office/drawing/2014/chart" uri="{C3380CC4-5D6E-409C-BE32-E72D297353CC}">
              <c16:uniqueId val="{00000000-472C-4AF9-A112-24553B1024F8}"/>
            </c:ext>
          </c:extLst>
        </c:ser>
        <c:ser>
          <c:idx val="1"/>
          <c:order val="1"/>
          <c:tx>
            <c:strRef>
              <c:f>Sheet1!$C$1</c:f>
              <c:strCache>
                <c:ptCount val="1"/>
                <c:pt idx="0">
                  <c:v>Y1</c:v>
                </c:pt>
              </c:strCache>
            </c:strRef>
          </c:tx>
          <c:spPr>
            <a:ln w="22225" cap="rnd">
              <a:solidFill>
                <a:schemeClr val="accent2"/>
              </a:solidFill>
            </a:ln>
            <a:effectLst>
              <a:glow rad="139700">
                <a:schemeClr val="accent2">
                  <a:satMod val="175000"/>
                  <a:alpha val="14000"/>
                </a:schemeClr>
              </a:glow>
            </a:effectLst>
          </c:spPr>
          <c:marker>
            <c:symbol val="circle"/>
            <c:size val="3"/>
            <c:spPr>
              <a:solidFill>
                <a:schemeClr val="accent2">
                  <a:lumMod val="60000"/>
                  <a:lumOff val="40000"/>
                </a:schemeClr>
              </a:solidFill>
              <a:ln>
                <a:noFill/>
              </a:ln>
              <a:effectLst>
                <a:glow rad="63500">
                  <a:schemeClr val="accent2">
                    <a:satMod val="175000"/>
                    <a:alpha val="25000"/>
                  </a:schemeClr>
                </a:glow>
              </a:effectLst>
            </c:spPr>
          </c:marker>
          <c:xVal>
            <c:numRef>
              <c:f>Sheet1!$A$2:$A$11</c:f>
              <c:numCache>
                <c:formatCode>General</c:formatCode>
                <c:ptCount val="10"/>
                <c:pt idx="0">
                  <c:v>0</c:v>
                </c:pt>
                <c:pt idx="1">
                  <c:v>3</c:v>
                </c:pt>
                <c:pt idx="2">
                  <c:v>6</c:v>
                </c:pt>
                <c:pt idx="3">
                  <c:v>5</c:v>
                </c:pt>
                <c:pt idx="4">
                  <c:v>0</c:v>
                </c:pt>
                <c:pt idx="5">
                  <c:v>2</c:v>
                </c:pt>
                <c:pt idx="6">
                  <c:v>4</c:v>
                </c:pt>
                <c:pt idx="7">
                  <c:v>4</c:v>
                </c:pt>
                <c:pt idx="8">
                  <c:v>0</c:v>
                </c:pt>
                <c:pt idx="9">
                  <c:v>10</c:v>
                </c:pt>
              </c:numCache>
            </c:numRef>
          </c:xVal>
          <c:yVal>
            <c:numRef>
              <c:f>Sheet1!$C$2:$C$11</c:f>
              <c:numCache>
                <c:formatCode>General</c:formatCode>
                <c:ptCount val="10"/>
                <c:pt idx="3">
                  <c:v>0</c:v>
                </c:pt>
                <c:pt idx="4">
                  <c:v>35</c:v>
                </c:pt>
                <c:pt idx="5">
                  <c:v>21</c:v>
                </c:pt>
              </c:numCache>
            </c:numRef>
          </c:yVal>
          <c:smooth val="1"/>
          <c:extLst>
            <c:ext xmlns:c16="http://schemas.microsoft.com/office/drawing/2014/chart" uri="{C3380CC4-5D6E-409C-BE32-E72D297353CC}">
              <c16:uniqueId val="{00000002-472C-4AF9-A112-24553B1024F8}"/>
            </c:ext>
          </c:extLst>
        </c:ser>
        <c:ser>
          <c:idx val="2"/>
          <c:order val="2"/>
          <c:tx>
            <c:strRef>
              <c:f>Sheet1!$D$1</c:f>
              <c:strCache>
                <c:ptCount val="1"/>
                <c:pt idx="0">
                  <c:v>Y2</c:v>
                </c:pt>
              </c:strCache>
            </c:strRef>
          </c:tx>
          <c:spPr>
            <a:ln w="22225" cap="rnd">
              <a:solidFill>
                <a:schemeClr val="accent3"/>
              </a:solidFill>
            </a:ln>
            <a:effectLst>
              <a:glow rad="139700">
                <a:schemeClr val="accent3">
                  <a:satMod val="175000"/>
                  <a:alpha val="14000"/>
                </a:schemeClr>
              </a:glow>
            </a:effectLst>
          </c:spPr>
          <c:marker>
            <c:symbol val="circle"/>
            <c:size val="3"/>
            <c:spPr>
              <a:solidFill>
                <a:schemeClr val="accent3">
                  <a:lumMod val="60000"/>
                  <a:lumOff val="40000"/>
                </a:schemeClr>
              </a:solidFill>
              <a:ln>
                <a:noFill/>
              </a:ln>
              <a:effectLst>
                <a:glow rad="63500">
                  <a:schemeClr val="accent3">
                    <a:satMod val="175000"/>
                    <a:alpha val="25000"/>
                  </a:schemeClr>
                </a:glow>
              </a:effectLst>
            </c:spPr>
          </c:marker>
          <c:xVal>
            <c:numRef>
              <c:f>Sheet1!$A$2:$A$11</c:f>
              <c:numCache>
                <c:formatCode>General</c:formatCode>
                <c:ptCount val="10"/>
                <c:pt idx="0">
                  <c:v>0</c:v>
                </c:pt>
                <c:pt idx="1">
                  <c:v>3</c:v>
                </c:pt>
                <c:pt idx="2">
                  <c:v>6</c:v>
                </c:pt>
                <c:pt idx="3">
                  <c:v>5</c:v>
                </c:pt>
                <c:pt idx="4">
                  <c:v>0</c:v>
                </c:pt>
                <c:pt idx="5">
                  <c:v>2</c:v>
                </c:pt>
                <c:pt idx="6">
                  <c:v>4</c:v>
                </c:pt>
                <c:pt idx="7">
                  <c:v>4</c:v>
                </c:pt>
                <c:pt idx="8">
                  <c:v>0</c:v>
                </c:pt>
                <c:pt idx="9">
                  <c:v>10</c:v>
                </c:pt>
              </c:numCache>
            </c:numRef>
          </c:xVal>
          <c:yVal>
            <c:numRef>
              <c:f>Sheet1!$D$2:$D$11</c:f>
              <c:numCache>
                <c:formatCode>General</c:formatCode>
                <c:ptCount val="10"/>
                <c:pt idx="6">
                  <c:v>35</c:v>
                </c:pt>
                <c:pt idx="7">
                  <c:v>0</c:v>
                </c:pt>
              </c:numCache>
            </c:numRef>
          </c:yVal>
          <c:smooth val="1"/>
          <c:extLst>
            <c:ext xmlns:c16="http://schemas.microsoft.com/office/drawing/2014/chart" uri="{C3380CC4-5D6E-409C-BE32-E72D297353CC}">
              <c16:uniqueId val="{00000000-5DFA-4385-8643-BC99A43A4C3A}"/>
            </c:ext>
          </c:extLst>
        </c:ser>
        <c:ser>
          <c:idx val="3"/>
          <c:order val="3"/>
          <c:tx>
            <c:strRef>
              <c:f>Sheet1!$E$1</c:f>
              <c:strCache>
                <c:ptCount val="1"/>
                <c:pt idx="0">
                  <c:v>Y3</c:v>
                </c:pt>
              </c:strCache>
            </c:strRef>
          </c:tx>
          <c:spPr>
            <a:ln w="22225" cap="rnd">
              <a:solidFill>
                <a:schemeClr val="accent4"/>
              </a:solidFill>
            </a:ln>
            <a:effectLst>
              <a:glow rad="139700">
                <a:schemeClr val="accent4">
                  <a:satMod val="175000"/>
                  <a:alpha val="14000"/>
                </a:schemeClr>
              </a:glow>
            </a:effectLst>
          </c:spPr>
          <c:marker>
            <c:symbol val="circle"/>
            <c:size val="3"/>
            <c:spPr>
              <a:solidFill>
                <a:schemeClr val="accent4">
                  <a:lumMod val="60000"/>
                  <a:lumOff val="40000"/>
                </a:schemeClr>
              </a:solidFill>
              <a:ln>
                <a:noFill/>
              </a:ln>
              <a:effectLst>
                <a:glow rad="63500">
                  <a:schemeClr val="accent4">
                    <a:satMod val="175000"/>
                    <a:alpha val="25000"/>
                  </a:schemeClr>
                </a:glow>
              </a:effectLst>
            </c:spPr>
          </c:marker>
          <c:xVal>
            <c:numRef>
              <c:f>Sheet1!$A$2:$A$11</c:f>
              <c:numCache>
                <c:formatCode>General</c:formatCode>
                <c:ptCount val="10"/>
                <c:pt idx="0">
                  <c:v>0</c:v>
                </c:pt>
                <c:pt idx="1">
                  <c:v>3</c:v>
                </c:pt>
                <c:pt idx="2">
                  <c:v>6</c:v>
                </c:pt>
                <c:pt idx="3">
                  <c:v>5</c:v>
                </c:pt>
                <c:pt idx="4">
                  <c:v>0</c:v>
                </c:pt>
                <c:pt idx="5">
                  <c:v>2</c:v>
                </c:pt>
                <c:pt idx="6">
                  <c:v>4</c:v>
                </c:pt>
                <c:pt idx="7">
                  <c:v>4</c:v>
                </c:pt>
                <c:pt idx="8">
                  <c:v>0</c:v>
                </c:pt>
                <c:pt idx="9">
                  <c:v>10</c:v>
                </c:pt>
              </c:numCache>
            </c:numRef>
          </c:xVal>
          <c:yVal>
            <c:numRef>
              <c:f>Sheet1!$E$2:$E$11</c:f>
              <c:numCache>
                <c:formatCode>General</c:formatCode>
                <c:ptCount val="10"/>
                <c:pt idx="8">
                  <c:v>4</c:v>
                </c:pt>
                <c:pt idx="9">
                  <c:v>4</c:v>
                </c:pt>
              </c:numCache>
            </c:numRef>
          </c:yVal>
          <c:smooth val="1"/>
          <c:extLst>
            <c:ext xmlns:c16="http://schemas.microsoft.com/office/drawing/2014/chart" uri="{C3380CC4-5D6E-409C-BE32-E72D297353CC}">
              <c16:uniqueId val="{00000000-2C1C-408B-A4DB-8263EA8193C2}"/>
            </c:ext>
          </c:extLst>
        </c:ser>
        <c:dLbls>
          <c:showLegendKey val="0"/>
          <c:showVal val="0"/>
          <c:showCatName val="0"/>
          <c:showSerName val="0"/>
          <c:showPercent val="0"/>
          <c:showBubbleSize val="0"/>
        </c:dLbls>
        <c:axId val="1063426160"/>
        <c:axId val="1064920928"/>
      </c:scatterChart>
      <c:valAx>
        <c:axId val="1063426160"/>
        <c:scaling>
          <c:orientation val="minMax"/>
        </c:scaling>
        <c:delete val="0"/>
        <c:axPos val="b"/>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4920928"/>
        <c:crosses val="autoZero"/>
        <c:crossBetween val="midCat"/>
      </c:valAx>
      <c:valAx>
        <c:axId val="1064920928"/>
        <c:scaling>
          <c:orientation val="minMax"/>
        </c:scaling>
        <c:delete val="0"/>
        <c:axPos val="l"/>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342616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0622448132205782E-2"/>
          <c:y val="7.9453105449531145E-2"/>
          <c:w val="0.83929605357249959"/>
          <c:h val="0.81323491308196039"/>
        </c:manualLayout>
      </c:layout>
      <c:scatterChart>
        <c:scatterStyle val="smoothMarker"/>
        <c:varyColors val="0"/>
        <c:ser>
          <c:idx val="0"/>
          <c:order val="0"/>
          <c:tx>
            <c:strRef>
              <c:f>Sheet1!$B$1</c:f>
              <c:strCache>
                <c:ptCount val="1"/>
                <c:pt idx="0">
                  <c:v>Y-Values</c:v>
                </c:pt>
              </c:strCache>
            </c:strRef>
          </c:tx>
          <c:spPr>
            <a:ln w="22225" cap="rnd">
              <a:solidFill>
                <a:schemeClr val="accent1"/>
              </a:solid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xVal>
            <c:numRef>
              <c:f>Sheet1!$A$2:$A$11</c:f>
              <c:numCache>
                <c:formatCode>General</c:formatCode>
                <c:ptCount val="10"/>
                <c:pt idx="0">
                  <c:v>0</c:v>
                </c:pt>
                <c:pt idx="1">
                  <c:v>3</c:v>
                </c:pt>
                <c:pt idx="2">
                  <c:v>6</c:v>
                </c:pt>
                <c:pt idx="3">
                  <c:v>5</c:v>
                </c:pt>
                <c:pt idx="4">
                  <c:v>0</c:v>
                </c:pt>
                <c:pt idx="5">
                  <c:v>2</c:v>
                </c:pt>
                <c:pt idx="6">
                  <c:v>4</c:v>
                </c:pt>
                <c:pt idx="7">
                  <c:v>4</c:v>
                </c:pt>
                <c:pt idx="8">
                  <c:v>0</c:v>
                </c:pt>
                <c:pt idx="9">
                  <c:v>10</c:v>
                </c:pt>
              </c:numCache>
            </c:numRef>
          </c:xVal>
          <c:yVal>
            <c:numRef>
              <c:f>Sheet1!$B$2:$B$11</c:f>
              <c:numCache>
                <c:formatCode>General</c:formatCode>
                <c:ptCount val="10"/>
                <c:pt idx="0">
                  <c:v>2</c:v>
                </c:pt>
                <c:pt idx="1">
                  <c:v>3</c:v>
                </c:pt>
                <c:pt idx="2">
                  <c:v>4</c:v>
                </c:pt>
              </c:numCache>
            </c:numRef>
          </c:yVal>
          <c:smooth val="1"/>
          <c:extLst>
            <c:ext xmlns:c16="http://schemas.microsoft.com/office/drawing/2014/chart" uri="{C3380CC4-5D6E-409C-BE32-E72D297353CC}">
              <c16:uniqueId val="{00000000-472C-4AF9-A112-24553B1024F8}"/>
            </c:ext>
          </c:extLst>
        </c:ser>
        <c:ser>
          <c:idx val="1"/>
          <c:order val="1"/>
          <c:tx>
            <c:strRef>
              <c:f>Sheet1!$C$1</c:f>
              <c:strCache>
                <c:ptCount val="1"/>
                <c:pt idx="0">
                  <c:v>Y1</c:v>
                </c:pt>
              </c:strCache>
            </c:strRef>
          </c:tx>
          <c:spPr>
            <a:ln w="22225" cap="rnd">
              <a:solidFill>
                <a:schemeClr val="accent2"/>
              </a:solidFill>
            </a:ln>
            <a:effectLst>
              <a:glow rad="139700">
                <a:schemeClr val="accent2">
                  <a:satMod val="175000"/>
                  <a:alpha val="14000"/>
                </a:schemeClr>
              </a:glow>
            </a:effectLst>
          </c:spPr>
          <c:marker>
            <c:symbol val="circle"/>
            <c:size val="3"/>
            <c:spPr>
              <a:solidFill>
                <a:schemeClr val="accent2">
                  <a:lumMod val="60000"/>
                  <a:lumOff val="40000"/>
                </a:schemeClr>
              </a:solidFill>
              <a:ln>
                <a:noFill/>
              </a:ln>
              <a:effectLst>
                <a:glow rad="63500">
                  <a:schemeClr val="accent2">
                    <a:satMod val="175000"/>
                    <a:alpha val="25000"/>
                  </a:schemeClr>
                </a:glow>
              </a:effectLst>
            </c:spPr>
          </c:marker>
          <c:xVal>
            <c:numRef>
              <c:f>Sheet1!$A$2:$A$11</c:f>
              <c:numCache>
                <c:formatCode>General</c:formatCode>
                <c:ptCount val="10"/>
                <c:pt idx="0">
                  <c:v>0</c:v>
                </c:pt>
                <c:pt idx="1">
                  <c:v>3</c:v>
                </c:pt>
                <c:pt idx="2">
                  <c:v>6</c:v>
                </c:pt>
                <c:pt idx="3">
                  <c:v>5</c:v>
                </c:pt>
                <c:pt idx="4">
                  <c:v>0</c:v>
                </c:pt>
                <c:pt idx="5">
                  <c:v>2</c:v>
                </c:pt>
                <c:pt idx="6">
                  <c:v>4</c:v>
                </c:pt>
                <c:pt idx="7">
                  <c:v>4</c:v>
                </c:pt>
                <c:pt idx="8">
                  <c:v>0</c:v>
                </c:pt>
                <c:pt idx="9">
                  <c:v>10</c:v>
                </c:pt>
              </c:numCache>
            </c:numRef>
          </c:xVal>
          <c:yVal>
            <c:numRef>
              <c:f>Sheet1!$C$2:$C$11</c:f>
              <c:numCache>
                <c:formatCode>General</c:formatCode>
                <c:ptCount val="10"/>
                <c:pt idx="3">
                  <c:v>0</c:v>
                </c:pt>
                <c:pt idx="4">
                  <c:v>35</c:v>
                </c:pt>
                <c:pt idx="5">
                  <c:v>21</c:v>
                </c:pt>
              </c:numCache>
            </c:numRef>
          </c:yVal>
          <c:smooth val="1"/>
          <c:extLst>
            <c:ext xmlns:c16="http://schemas.microsoft.com/office/drawing/2014/chart" uri="{C3380CC4-5D6E-409C-BE32-E72D297353CC}">
              <c16:uniqueId val="{00000002-472C-4AF9-A112-24553B1024F8}"/>
            </c:ext>
          </c:extLst>
        </c:ser>
        <c:ser>
          <c:idx val="2"/>
          <c:order val="2"/>
          <c:tx>
            <c:strRef>
              <c:f>Sheet1!$D$1</c:f>
              <c:strCache>
                <c:ptCount val="1"/>
                <c:pt idx="0">
                  <c:v>Y2</c:v>
                </c:pt>
              </c:strCache>
            </c:strRef>
          </c:tx>
          <c:spPr>
            <a:ln w="22225" cap="rnd">
              <a:solidFill>
                <a:schemeClr val="accent3"/>
              </a:solidFill>
            </a:ln>
            <a:effectLst>
              <a:glow rad="139700">
                <a:schemeClr val="accent3">
                  <a:satMod val="175000"/>
                  <a:alpha val="14000"/>
                </a:schemeClr>
              </a:glow>
            </a:effectLst>
          </c:spPr>
          <c:marker>
            <c:symbol val="circle"/>
            <c:size val="3"/>
            <c:spPr>
              <a:solidFill>
                <a:schemeClr val="accent3">
                  <a:lumMod val="60000"/>
                  <a:lumOff val="40000"/>
                </a:schemeClr>
              </a:solidFill>
              <a:ln>
                <a:noFill/>
              </a:ln>
              <a:effectLst>
                <a:glow rad="63500">
                  <a:schemeClr val="accent3">
                    <a:satMod val="175000"/>
                    <a:alpha val="25000"/>
                  </a:schemeClr>
                </a:glow>
              </a:effectLst>
            </c:spPr>
          </c:marker>
          <c:xVal>
            <c:numRef>
              <c:f>Sheet1!$A$2:$A$11</c:f>
              <c:numCache>
                <c:formatCode>General</c:formatCode>
                <c:ptCount val="10"/>
                <c:pt idx="0">
                  <c:v>0</c:v>
                </c:pt>
                <c:pt idx="1">
                  <c:v>3</c:v>
                </c:pt>
                <c:pt idx="2">
                  <c:v>6</c:v>
                </c:pt>
                <c:pt idx="3">
                  <c:v>5</c:v>
                </c:pt>
                <c:pt idx="4">
                  <c:v>0</c:v>
                </c:pt>
                <c:pt idx="5">
                  <c:v>2</c:v>
                </c:pt>
                <c:pt idx="6">
                  <c:v>4</c:v>
                </c:pt>
                <c:pt idx="7">
                  <c:v>4</c:v>
                </c:pt>
                <c:pt idx="8">
                  <c:v>0</c:v>
                </c:pt>
                <c:pt idx="9">
                  <c:v>10</c:v>
                </c:pt>
              </c:numCache>
            </c:numRef>
          </c:xVal>
          <c:yVal>
            <c:numRef>
              <c:f>Sheet1!$D$2:$D$11</c:f>
              <c:numCache>
                <c:formatCode>General</c:formatCode>
                <c:ptCount val="10"/>
                <c:pt idx="6">
                  <c:v>35</c:v>
                </c:pt>
                <c:pt idx="7">
                  <c:v>0</c:v>
                </c:pt>
              </c:numCache>
            </c:numRef>
          </c:yVal>
          <c:smooth val="1"/>
          <c:extLst>
            <c:ext xmlns:c16="http://schemas.microsoft.com/office/drawing/2014/chart" uri="{C3380CC4-5D6E-409C-BE32-E72D297353CC}">
              <c16:uniqueId val="{00000000-5DFA-4385-8643-BC99A43A4C3A}"/>
            </c:ext>
          </c:extLst>
        </c:ser>
        <c:ser>
          <c:idx val="3"/>
          <c:order val="3"/>
          <c:tx>
            <c:strRef>
              <c:f>Sheet1!$E$1</c:f>
              <c:strCache>
                <c:ptCount val="1"/>
                <c:pt idx="0">
                  <c:v>Y3</c:v>
                </c:pt>
              </c:strCache>
            </c:strRef>
          </c:tx>
          <c:spPr>
            <a:ln w="22225" cap="rnd">
              <a:solidFill>
                <a:schemeClr val="accent4"/>
              </a:solidFill>
            </a:ln>
            <a:effectLst>
              <a:glow rad="139700">
                <a:schemeClr val="accent4">
                  <a:satMod val="175000"/>
                  <a:alpha val="14000"/>
                </a:schemeClr>
              </a:glow>
            </a:effectLst>
          </c:spPr>
          <c:marker>
            <c:symbol val="circle"/>
            <c:size val="3"/>
            <c:spPr>
              <a:solidFill>
                <a:schemeClr val="accent4">
                  <a:lumMod val="60000"/>
                  <a:lumOff val="40000"/>
                </a:schemeClr>
              </a:solidFill>
              <a:ln>
                <a:noFill/>
              </a:ln>
              <a:effectLst>
                <a:glow rad="63500">
                  <a:schemeClr val="accent4">
                    <a:satMod val="175000"/>
                    <a:alpha val="25000"/>
                  </a:schemeClr>
                </a:glow>
              </a:effectLst>
            </c:spPr>
          </c:marker>
          <c:xVal>
            <c:numRef>
              <c:f>Sheet1!$A$2:$A$11</c:f>
              <c:numCache>
                <c:formatCode>General</c:formatCode>
                <c:ptCount val="10"/>
                <c:pt idx="0">
                  <c:v>0</c:v>
                </c:pt>
                <c:pt idx="1">
                  <c:v>3</c:v>
                </c:pt>
                <c:pt idx="2">
                  <c:v>6</c:v>
                </c:pt>
                <c:pt idx="3">
                  <c:v>5</c:v>
                </c:pt>
                <c:pt idx="4">
                  <c:v>0</c:v>
                </c:pt>
                <c:pt idx="5">
                  <c:v>2</c:v>
                </c:pt>
                <c:pt idx="6">
                  <c:v>4</c:v>
                </c:pt>
                <c:pt idx="7">
                  <c:v>4</c:v>
                </c:pt>
                <c:pt idx="8">
                  <c:v>0</c:v>
                </c:pt>
                <c:pt idx="9">
                  <c:v>10</c:v>
                </c:pt>
              </c:numCache>
            </c:numRef>
          </c:xVal>
          <c:yVal>
            <c:numRef>
              <c:f>Sheet1!$E$2:$E$11</c:f>
              <c:numCache>
                <c:formatCode>General</c:formatCode>
                <c:ptCount val="10"/>
                <c:pt idx="8">
                  <c:v>3</c:v>
                </c:pt>
                <c:pt idx="9">
                  <c:v>3</c:v>
                </c:pt>
              </c:numCache>
            </c:numRef>
          </c:yVal>
          <c:smooth val="1"/>
          <c:extLst>
            <c:ext xmlns:c16="http://schemas.microsoft.com/office/drawing/2014/chart" uri="{C3380CC4-5D6E-409C-BE32-E72D297353CC}">
              <c16:uniqueId val="{00000000-2C1C-408B-A4DB-8263EA8193C2}"/>
            </c:ext>
          </c:extLst>
        </c:ser>
        <c:dLbls>
          <c:showLegendKey val="0"/>
          <c:showVal val="0"/>
          <c:showCatName val="0"/>
          <c:showSerName val="0"/>
          <c:showPercent val="0"/>
          <c:showBubbleSize val="0"/>
        </c:dLbls>
        <c:axId val="1063426160"/>
        <c:axId val="1064920928"/>
      </c:scatterChart>
      <c:valAx>
        <c:axId val="1063426160"/>
        <c:scaling>
          <c:orientation val="minMax"/>
        </c:scaling>
        <c:delete val="0"/>
        <c:axPos val="b"/>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4920928"/>
        <c:crosses val="autoZero"/>
        <c:crossBetween val="midCat"/>
      </c:valAx>
      <c:valAx>
        <c:axId val="1064920928"/>
        <c:scaling>
          <c:orientation val="minMax"/>
        </c:scaling>
        <c:delete val="0"/>
        <c:axPos val="l"/>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06342616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9/5/2020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9/5/2020</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9/5/2020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3770" y="1876864"/>
            <a:ext cx="8596668" cy="3104271"/>
          </a:xfrm>
        </p:spPr>
        <p:txBody>
          <a:bodyPr>
            <a:normAutofit/>
          </a:bodyPr>
          <a:lstStyle/>
          <a:p>
            <a:pPr algn="ctr"/>
            <a:r>
              <a:rPr lang="en-US" sz="8000" dirty="0"/>
              <a:t>OPERATIONAL RESEARCH</a:t>
            </a:r>
            <a:endParaRPr lang="en-US" dirty="0"/>
          </a:p>
        </p:txBody>
      </p:sp>
    </p:spTree>
    <p:extLst>
      <p:ext uri="{BB962C8B-B14F-4D97-AF65-F5344CB8AC3E}">
        <p14:creationId xmlns:p14="http://schemas.microsoft.com/office/powerpoint/2010/main" val="1706110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146" y="2629485"/>
            <a:ext cx="8596668" cy="3033933"/>
          </a:xfrm>
        </p:spPr>
        <p:txBody>
          <a:bodyPr>
            <a:normAutofit/>
          </a:bodyPr>
          <a:lstStyle/>
          <a:p>
            <a:pPr algn="ctr"/>
            <a:r>
              <a:rPr lang="en-US" sz="6000" dirty="0">
                <a:solidFill>
                  <a:schemeClr val="tx1"/>
                </a:solidFill>
              </a:rPr>
              <a:t>Integer Programming Problem</a:t>
            </a:r>
          </a:p>
        </p:txBody>
      </p:sp>
    </p:spTree>
    <p:extLst>
      <p:ext uri="{BB962C8B-B14F-4D97-AF65-F5344CB8AC3E}">
        <p14:creationId xmlns:p14="http://schemas.microsoft.com/office/powerpoint/2010/main" val="225455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84514"/>
            <a:ext cx="8596668" cy="657635"/>
          </a:xfrm>
        </p:spPr>
        <p:txBody>
          <a:bodyPr/>
          <a:lstStyle/>
          <a:p>
            <a:r>
              <a:rPr lang="en-US" dirty="0"/>
              <a:t>Types of Integer Programming Problems</a:t>
            </a:r>
          </a:p>
        </p:txBody>
      </p:sp>
      <p:sp>
        <p:nvSpPr>
          <p:cNvPr id="3" name="Content Placeholder 2"/>
          <p:cNvSpPr>
            <a:spLocks noGrp="1"/>
          </p:cNvSpPr>
          <p:nvPr>
            <p:ph idx="1"/>
          </p:nvPr>
        </p:nvSpPr>
        <p:spPr>
          <a:xfrm>
            <a:off x="578860" y="1246188"/>
            <a:ext cx="9644640" cy="1057594"/>
          </a:xfrm>
        </p:spPr>
        <p:txBody>
          <a:bodyPr>
            <a:noAutofit/>
          </a:bodyPr>
          <a:lstStyle/>
          <a:p>
            <a:r>
              <a:rPr lang="en-US" sz="2400" b="1" dirty="0">
                <a:solidFill>
                  <a:schemeClr val="accent1">
                    <a:lumMod val="75000"/>
                  </a:schemeClr>
                </a:solidFill>
              </a:rPr>
              <a:t>Pure Integer Problems</a:t>
            </a:r>
          </a:p>
          <a:p>
            <a:pPr lvl="1"/>
            <a:r>
              <a:rPr lang="en-US" sz="2200" b="1" dirty="0">
                <a:solidFill>
                  <a:schemeClr val="tx1"/>
                </a:solidFill>
              </a:rPr>
              <a:t>Require that </a:t>
            </a:r>
            <a:r>
              <a:rPr lang="en-US" sz="2200" b="1" i="1" dirty="0">
                <a:solidFill>
                  <a:schemeClr val="tx1"/>
                </a:solidFill>
              </a:rPr>
              <a:t>all</a:t>
            </a:r>
            <a:r>
              <a:rPr lang="en-US" sz="2200" b="1" dirty="0">
                <a:solidFill>
                  <a:schemeClr val="tx1"/>
                </a:solidFill>
              </a:rPr>
              <a:t> decision variables have Integer Solutions</a:t>
            </a:r>
          </a:p>
        </p:txBody>
      </p:sp>
      <p:sp>
        <p:nvSpPr>
          <p:cNvPr id="21" name="Content Placeholder 2"/>
          <p:cNvSpPr txBox="1">
            <a:spLocks/>
          </p:cNvSpPr>
          <p:nvPr/>
        </p:nvSpPr>
        <p:spPr>
          <a:xfrm>
            <a:off x="578860" y="2561184"/>
            <a:ext cx="9644640" cy="105759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b="1" dirty="0">
                <a:solidFill>
                  <a:schemeClr val="accent1">
                    <a:lumMod val="75000"/>
                  </a:schemeClr>
                </a:solidFill>
              </a:rPr>
              <a:t>Mixed Integer Problems</a:t>
            </a:r>
          </a:p>
          <a:p>
            <a:pPr lvl="1"/>
            <a:r>
              <a:rPr lang="en-US" sz="2200" b="1" dirty="0">
                <a:solidFill>
                  <a:schemeClr val="tx1"/>
                </a:solidFill>
              </a:rPr>
              <a:t>Require some, but not all, of the decision variables to have integer values in final solutions, whereas others need not have integer values</a:t>
            </a:r>
          </a:p>
        </p:txBody>
      </p:sp>
      <p:sp>
        <p:nvSpPr>
          <p:cNvPr id="22" name="Content Placeholder 2"/>
          <p:cNvSpPr txBox="1">
            <a:spLocks/>
          </p:cNvSpPr>
          <p:nvPr/>
        </p:nvSpPr>
        <p:spPr>
          <a:xfrm>
            <a:off x="578860" y="4281127"/>
            <a:ext cx="9644640" cy="105759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b="1" dirty="0">
                <a:solidFill>
                  <a:schemeClr val="accent1">
                    <a:lumMod val="75000"/>
                  </a:schemeClr>
                </a:solidFill>
              </a:rPr>
              <a:t>0 &amp; 1 Integer Problems</a:t>
            </a:r>
          </a:p>
          <a:p>
            <a:pPr lvl="1"/>
            <a:r>
              <a:rPr lang="en-US" sz="2200" b="1" dirty="0">
                <a:solidFill>
                  <a:schemeClr val="tx1"/>
                </a:solidFill>
              </a:rPr>
              <a:t>Require Integer variables to have value of 0 or 1, such as situations in which decision variables are of YES or NO types</a:t>
            </a:r>
          </a:p>
        </p:txBody>
      </p:sp>
    </p:spTree>
    <p:extLst>
      <p:ext uri="{BB962C8B-B14F-4D97-AF65-F5344CB8AC3E}">
        <p14:creationId xmlns:p14="http://schemas.microsoft.com/office/powerpoint/2010/main" val="299100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build="p"/>
      <p:bldP spid="2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66BA8-C7D2-430B-AF51-A742068AB201}"/>
              </a:ext>
            </a:extLst>
          </p:cNvPr>
          <p:cNvSpPr>
            <a:spLocks noGrp="1"/>
          </p:cNvSpPr>
          <p:nvPr>
            <p:ph type="title"/>
          </p:nvPr>
        </p:nvSpPr>
        <p:spPr>
          <a:xfrm>
            <a:off x="577209" y="248679"/>
            <a:ext cx="8596668" cy="684628"/>
          </a:xfrm>
        </p:spPr>
        <p:txBody>
          <a:bodyPr/>
          <a:lstStyle/>
          <a:p>
            <a:r>
              <a:rPr lang="en-US" dirty="0"/>
              <a:t>Example – Pure Integer Problem</a:t>
            </a:r>
          </a:p>
        </p:txBody>
      </p:sp>
      <p:sp>
        <p:nvSpPr>
          <p:cNvPr id="13" name="Content Placeholder 2">
            <a:extLst>
              <a:ext uri="{FF2B5EF4-FFF2-40B4-BE49-F238E27FC236}">
                <a16:creationId xmlns:a16="http://schemas.microsoft.com/office/drawing/2014/main" id="{A2575247-0A2D-4241-BF91-188BB3B5F13E}"/>
              </a:ext>
            </a:extLst>
          </p:cNvPr>
          <p:cNvSpPr txBox="1">
            <a:spLocks/>
          </p:cNvSpPr>
          <p:nvPr/>
        </p:nvSpPr>
        <p:spPr>
          <a:xfrm>
            <a:off x="472705" y="1081224"/>
            <a:ext cx="10643785" cy="70644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The jewelry shop in the city specializes in ornaments and manager has planned to limit the use of diamonds to configuration of diamond rings, diamond earrings, and diamond necklaces. The three items require following specifications</a:t>
            </a:r>
            <a:endParaRPr lang="en-US" b="1" dirty="0">
              <a:solidFill>
                <a:srgbClr val="FF0000"/>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568548818"/>
              </p:ext>
            </p:extLst>
          </p:nvPr>
        </p:nvGraphicFramePr>
        <p:xfrm>
          <a:off x="1150382" y="2199994"/>
          <a:ext cx="8127999" cy="2225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pPr algn="ctr"/>
                      <a:r>
                        <a:rPr lang="en-US" dirty="0">
                          <a:solidFill>
                            <a:schemeClr val="accent2">
                              <a:lumMod val="50000"/>
                            </a:schemeClr>
                          </a:solidFill>
                        </a:rPr>
                        <a:t>Ornament</a:t>
                      </a:r>
                    </a:p>
                  </a:txBody>
                  <a:tcPr/>
                </a:tc>
                <a:tc gridSpan="2">
                  <a:txBody>
                    <a:bodyPr/>
                    <a:lstStyle/>
                    <a:p>
                      <a:pPr algn="ctr"/>
                      <a:r>
                        <a:rPr lang="en-US" dirty="0">
                          <a:solidFill>
                            <a:schemeClr val="accent2">
                              <a:lumMod val="50000"/>
                            </a:schemeClr>
                          </a:solidFill>
                        </a:rPr>
                        <a:t>Diamond</a:t>
                      </a:r>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endParaRPr lang="en-US"/>
                    </a:p>
                  </a:txBody>
                  <a:tcPr/>
                </a:tc>
                <a:tc>
                  <a:txBody>
                    <a:bodyPr/>
                    <a:lstStyle/>
                    <a:p>
                      <a:pPr algn="ctr"/>
                      <a:r>
                        <a:rPr lang="en-US" dirty="0"/>
                        <a:t>½ Carat</a:t>
                      </a:r>
                    </a:p>
                  </a:txBody>
                  <a:tcPr/>
                </a:tc>
                <a:tc>
                  <a:txBody>
                    <a:bodyPr/>
                    <a:lstStyle/>
                    <a:p>
                      <a:pPr algn="ctr"/>
                      <a:r>
                        <a:rPr lang="en-US" dirty="0"/>
                        <a:t>¼ Carat</a:t>
                      </a:r>
                    </a:p>
                  </a:txBody>
                  <a:tcPr/>
                </a:tc>
                <a:extLst>
                  <a:ext uri="{0D108BD9-81ED-4DB2-BD59-A6C34878D82A}">
                    <a16:rowId xmlns:a16="http://schemas.microsoft.com/office/drawing/2014/main" val="10001"/>
                  </a:ext>
                </a:extLst>
              </a:tr>
              <a:tr h="370840">
                <a:tc>
                  <a:txBody>
                    <a:bodyPr/>
                    <a:lstStyle/>
                    <a:p>
                      <a:pPr algn="ctr"/>
                      <a:r>
                        <a:rPr lang="en-US" dirty="0"/>
                        <a:t>Ring</a:t>
                      </a:r>
                    </a:p>
                  </a:txBody>
                  <a:tcPr/>
                </a:tc>
                <a:tc>
                  <a:txBody>
                    <a:bodyPr/>
                    <a:lstStyle/>
                    <a:p>
                      <a:pPr algn="ctr"/>
                      <a:r>
                        <a:rPr lang="en-US" dirty="0"/>
                        <a:t>4</a:t>
                      </a:r>
                    </a:p>
                  </a:txBody>
                  <a:tcPr/>
                </a:tc>
                <a:tc>
                  <a:txBody>
                    <a:bodyPr/>
                    <a:lstStyle/>
                    <a:p>
                      <a:pPr algn="ctr"/>
                      <a:r>
                        <a:rPr lang="en-US" dirty="0"/>
                        <a:t>6</a:t>
                      </a:r>
                    </a:p>
                  </a:txBody>
                  <a:tcPr/>
                </a:tc>
                <a:extLst>
                  <a:ext uri="{0D108BD9-81ED-4DB2-BD59-A6C34878D82A}">
                    <a16:rowId xmlns:a16="http://schemas.microsoft.com/office/drawing/2014/main" val="10002"/>
                  </a:ext>
                </a:extLst>
              </a:tr>
              <a:tr h="370840">
                <a:tc>
                  <a:txBody>
                    <a:bodyPr/>
                    <a:lstStyle/>
                    <a:p>
                      <a:pPr algn="ctr"/>
                      <a:r>
                        <a:rPr lang="en-US" dirty="0"/>
                        <a:t>Earring (Pair)</a:t>
                      </a:r>
                    </a:p>
                  </a:txBody>
                  <a:tcPr/>
                </a:tc>
                <a:tc>
                  <a:txBody>
                    <a:bodyPr/>
                    <a:lstStyle/>
                    <a:p>
                      <a:pPr algn="ctr"/>
                      <a:r>
                        <a:rPr lang="en-US" dirty="0"/>
                        <a:t>3</a:t>
                      </a:r>
                    </a:p>
                  </a:txBody>
                  <a:tcPr/>
                </a:tc>
                <a:tc>
                  <a:txBody>
                    <a:bodyPr/>
                    <a:lstStyle/>
                    <a:p>
                      <a:pPr algn="ctr"/>
                      <a:r>
                        <a:rPr lang="en-US" dirty="0"/>
                        <a:t>5</a:t>
                      </a:r>
                    </a:p>
                  </a:txBody>
                  <a:tcPr/>
                </a:tc>
                <a:extLst>
                  <a:ext uri="{0D108BD9-81ED-4DB2-BD59-A6C34878D82A}">
                    <a16:rowId xmlns:a16="http://schemas.microsoft.com/office/drawing/2014/main" val="10003"/>
                  </a:ext>
                </a:extLst>
              </a:tr>
              <a:tr h="370840">
                <a:tc>
                  <a:txBody>
                    <a:bodyPr/>
                    <a:lstStyle/>
                    <a:p>
                      <a:pPr algn="ctr"/>
                      <a:r>
                        <a:rPr lang="en-US" dirty="0"/>
                        <a:t>Necklace</a:t>
                      </a:r>
                    </a:p>
                  </a:txBody>
                  <a:tcPr/>
                </a:tc>
                <a:tc>
                  <a:txBody>
                    <a:bodyPr/>
                    <a:lstStyle/>
                    <a:p>
                      <a:pPr algn="ctr"/>
                      <a:r>
                        <a:rPr lang="en-US" dirty="0"/>
                        <a:t>10</a:t>
                      </a:r>
                    </a:p>
                  </a:txBody>
                  <a:tcPr/>
                </a:tc>
                <a:tc>
                  <a:txBody>
                    <a:bodyPr/>
                    <a:lstStyle/>
                    <a:p>
                      <a:pPr algn="ctr"/>
                      <a:r>
                        <a:rPr lang="en-US" dirty="0"/>
                        <a:t>9</a:t>
                      </a:r>
                    </a:p>
                  </a:txBody>
                  <a:tcPr/>
                </a:tc>
                <a:extLst>
                  <a:ext uri="{0D108BD9-81ED-4DB2-BD59-A6C34878D82A}">
                    <a16:rowId xmlns:a16="http://schemas.microsoft.com/office/drawing/2014/main" val="10004"/>
                  </a:ext>
                </a:extLst>
              </a:tr>
              <a:tr h="370840">
                <a:tc>
                  <a:txBody>
                    <a:bodyPr/>
                    <a:lstStyle/>
                    <a:p>
                      <a:pPr algn="ctr"/>
                      <a:r>
                        <a:rPr lang="en-US" b="1" dirty="0"/>
                        <a:t>Availability</a:t>
                      </a:r>
                    </a:p>
                  </a:txBody>
                  <a:tcPr>
                    <a:solidFill>
                      <a:schemeClr val="accent3">
                        <a:lumMod val="75000"/>
                      </a:schemeClr>
                    </a:solidFill>
                  </a:tcPr>
                </a:tc>
                <a:tc>
                  <a:txBody>
                    <a:bodyPr/>
                    <a:lstStyle/>
                    <a:p>
                      <a:pPr algn="ctr"/>
                      <a:r>
                        <a:rPr lang="en-US" b="1" dirty="0"/>
                        <a:t>150</a:t>
                      </a:r>
                    </a:p>
                  </a:txBody>
                  <a:tcPr>
                    <a:solidFill>
                      <a:schemeClr val="accent3">
                        <a:lumMod val="75000"/>
                      </a:schemeClr>
                    </a:solidFill>
                  </a:tcPr>
                </a:tc>
                <a:tc>
                  <a:txBody>
                    <a:bodyPr/>
                    <a:lstStyle/>
                    <a:p>
                      <a:pPr algn="ctr"/>
                      <a:r>
                        <a:rPr lang="en-US" b="1" dirty="0"/>
                        <a:t>160</a:t>
                      </a:r>
                    </a:p>
                  </a:txBody>
                  <a:tcPr>
                    <a:solidFill>
                      <a:schemeClr val="accent3">
                        <a:lumMod val="75000"/>
                      </a:schemeClr>
                    </a:solidFill>
                  </a:tcPr>
                </a:tc>
                <a:extLst>
                  <a:ext uri="{0D108BD9-81ED-4DB2-BD59-A6C34878D82A}">
                    <a16:rowId xmlns:a16="http://schemas.microsoft.com/office/drawing/2014/main" val="10005"/>
                  </a:ext>
                </a:extLst>
              </a:tr>
            </a:tbl>
          </a:graphicData>
        </a:graphic>
      </p:graphicFrame>
      <p:sp>
        <p:nvSpPr>
          <p:cNvPr id="64" name="Content Placeholder 2">
            <a:extLst>
              <a:ext uri="{FF2B5EF4-FFF2-40B4-BE49-F238E27FC236}">
                <a16:creationId xmlns:a16="http://schemas.microsoft.com/office/drawing/2014/main" id="{A2575247-0A2D-4241-BF91-188BB3B5F13E}"/>
              </a:ext>
            </a:extLst>
          </p:cNvPr>
          <p:cNvSpPr txBox="1">
            <a:spLocks/>
          </p:cNvSpPr>
          <p:nvPr/>
        </p:nvSpPr>
        <p:spPr>
          <a:xfrm>
            <a:off x="472705" y="4682219"/>
            <a:ext cx="10643785" cy="70644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The jeweler does not want to configure the items more than 50 items. The per unit profit for the rings is </a:t>
            </a:r>
            <a:r>
              <a:rPr lang="en-US" b="1" dirty="0" err="1"/>
              <a:t>Rs</a:t>
            </a:r>
            <a:r>
              <a:rPr lang="en-US" b="1" dirty="0"/>
              <a:t>. 1500, for earrings is </a:t>
            </a:r>
            <a:r>
              <a:rPr lang="en-US" b="1" dirty="0" err="1"/>
              <a:t>Rs</a:t>
            </a:r>
            <a:r>
              <a:rPr lang="en-US" b="1" dirty="0"/>
              <a:t>, 2400 and for necklace is Rs.3600. Formulate the problem for Maximizing Profit.  </a:t>
            </a:r>
            <a:endParaRPr lang="en-US" b="1" dirty="0">
              <a:solidFill>
                <a:srgbClr val="FF0000"/>
              </a:solidFill>
            </a:endParaRPr>
          </a:p>
        </p:txBody>
      </p:sp>
    </p:spTree>
    <p:extLst>
      <p:ext uri="{BB962C8B-B14F-4D97-AF65-F5344CB8AC3E}">
        <p14:creationId xmlns:p14="http://schemas.microsoft.com/office/powerpoint/2010/main" val="2464877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66BA8-C7D2-430B-AF51-A742068AB201}"/>
              </a:ext>
            </a:extLst>
          </p:cNvPr>
          <p:cNvSpPr>
            <a:spLocks noGrp="1"/>
          </p:cNvSpPr>
          <p:nvPr>
            <p:ph type="title"/>
          </p:nvPr>
        </p:nvSpPr>
        <p:spPr>
          <a:xfrm>
            <a:off x="577209" y="107999"/>
            <a:ext cx="8596668" cy="684628"/>
          </a:xfrm>
        </p:spPr>
        <p:txBody>
          <a:bodyPr/>
          <a:lstStyle/>
          <a:p>
            <a:r>
              <a:rPr lang="en-US" dirty="0"/>
              <a:t>Formulate</a:t>
            </a:r>
          </a:p>
        </p:txBody>
      </p:sp>
      <p:sp>
        <p:nvSpPr>
          <p:cNvPr id="54" name="Content Placeholder 2">
            <a:extLst>
              <a:ext uri="{FF2B5EF4-FFF2-40B4-BE49-F238E27FC236}">
                <a16:creationId xmlns:a16="http://schemas.microsoft.com/office/drawing/2014/main" id="{BAB6A89E-B9AA-45D5-BE68-0FCC193D4473}"/>
              </a:ext>
            </a:extLst>
          </p:cNvPr>
          <p:cNvSpPr txBox="1">
            <a:spLocks/>
          </p:cNvSpPr>
          <p:nvPr/>
        </p:nvSpPr>
        <p:spPr>
          <a:xfrm>
            <a:off x="575478" y="1215764"/>
            <a:ext cx="8385642" cy="70285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solidFill>
                  <a:schemeClr val="accent1">
                    <a:lumMod val="75000"/>
                  </a:schemeClr>
                </a:solidFill>
              </a:rPr>
              <a:t>Decision Variables: </a:t>
            </a:r>
          </a:p>
          <a:p>
            <a:pPr marL="0" indent="0">
              <a:buNone/>
            </a:pPr>
            <a:r>
              <a:rPr lang="en-US" b="1" dirty="0">
                <a:solidFill>
                  <a:schemeClr val="tx1"/>
                </a:solidFill>
              </a:rPr>
              <a:t>x1 – Number of diamond rings, x2 – Number of Pair of Earrings, x3 – Number of necklaces </a:t>
            </a:r>
          </a:p>
        </p:txBody>
      </p:sp>
      <p:sp>
        <p:nvSpPr>
          <p:cNvPr id="56" name="Content Placeholder 2">
            <a:extLst>
              <a:ext uri="{FF2B5EF4-FFF2-40B4-BE49-F238E27FC236}">
                <a16:creationId xmlns:a16="http://schemas.microsoft.com/office/drawing/2014/main" id="{67ACAA63-9EB4-4712-944F-328428478153}"/>
              </a:ext>
            </a:extLst>
          </p:cNvPr>
          <p:cNvSpPr txBox="1">
            <a:spLocks/>
          </p:cNvSpPr>
          <p:nvPr/>
        </p:nvSpPr>
        <p:spPr>
          <a:xfrm>
            <a:off x="2508072" y="3077058"/>
            <a:ext cx="6178728" cy="2653575"/>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 </a:t>
            </a:r>
            <a:r>
              <a:rPr lang="en-US" sz="2000" b="1" dirty="0">
                <a:solidFill>
                  <a:schemeClr val="tx1"/>
                </a:solidFill>
              </a:rPr>
              <a:t>Max Z = 1500 x1 + 2400 x2 + 3600 x3</a:t>
            </a:r>
          </a:p>
          <a:p>
            <a:pPr marL="0" indent="0">
              <a:buFont typeface="Wingdings 3" charset="2"/>
              <a:buNone/>
            </a:pPr>
            <a:r>
              <a:rPr lang="en-US" dirty="0"/>
              <a:t>Subject to</a:t>
            </a:r>
            <a:endParaRPr lang="en-US" b="1" dirty="0"/>
          </a:p>
          <a:p>
            <a:pPr marL="0" indent="0">
              <a:buFont typeface="Wingdings 3" charset="2"/>
              <a:buNone/>
            </a:pPr>
            <a:r>
              <a:rPr lang="en-US" sz="2000" i="1" dirty="0"/>
              <a:t>4 x1 + 3 x2 + 10 x3 &lt;= 150 (1/2 Carat Diamond)</a:t>
            </a:r>
          </a:p>
          <a:p>
            <a:pPr marL="0" indent="0">
              <a:buFont typeface="Wingdings 3" charset="2"/>
              <a:buNone/>
            </a:pPr>
            <a:r>
              <a:rPr lang="en-US" sz="2000" i="1" dirty="0"/>
              <a:t>6 x1 + 5 x2 + 9 x3 &lt;= 160 (1/4 Carat Diamond)</a:t>
            </a:r>
          </a:p>
          <a:p>
            <a:pPr marL="0" indent="0">
              <a:buFont typeface="Wingdings 3" charset="2"/>
              <a:buNone/>
            </a:pPr>
            <a:r>
              <a:rPr lang="en-US" sz="2000" i="1" dirty="0"/>
              <a:t>X1 + x2 +  x3 &lt;= 50 (Total number of items)</a:t>
            </a:r>
          </a:p>
          <a:p>
            <a:pPr marL="0" indent="0">
              <a:buFont typeface="Wingdings 3" charset="2"/>
              <a:buNone/>
            </a:pPr>
            <a:r>
              <a:rPr lang="en-US" sz="2000" i="1" dirty="0"/>
              <a:t>x1, x2 &amp; x3 &gt;= 0 and are integers</a:t>
            </a:r>
          </a:p>
        </p:txBody>
      </p:sp>
      <p:sp>
        <p:nvSpPr>
          <p:cNvPr id="10" name="Content Placeholder 2">
            <a:extLst>
              <a:ext uri="{FF2B5EF4-FFF2-40B4-BE49-F238E27FC236}">
                <a16:creationId xmlns:a16="http://schemas.microsoft.com/office/drawing/2014/main" id="{BAB6A89E-B9AA-45D5-BE68-0FCC193D4473}"/>
              </a:ext>
            </a:extLst>
          </p:cNvPr>
          <p:cNvSpPr txBox="1">
            <a:spLocks/>
          </p:cNvSpPr>
          <p:nvPr/>
        </p:nvSpPr>
        <p:spPr>
          <a:xfrm>
            <a:off x="575478" y="2539049"/>
            <a:ext cx="8385642" cy="70285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solidFill>
                  <a:schemeClr val="accent1">
                    <a:lumMod val="75000"/>
                  </a:schemeClr>
                </a:solidFill>
              </a:rPr>
              <a:t>Objective Function: </a:t>
            </a:r>
          </a:p>
        </p:txBody>
      </p:sp>
    </p:spTree>
    <p:extLst>
      <p:ext uri="{BB962C8B-B14F-4D97-AF65-F5344CB8AC3E}">
        <p14:creationId xmlns:p14="http://schemas.microsoft.com/office/powerpoint/2010/main" val="96969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6" grpId="0" animBg="1"/>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66BA8-C7D2-430B-AF51-A742068AB201}"/>
              </a:ext>
            </a:extLst>
          </p:cNvPr>
          <p:cNvSpPr>
            <a:spLocks noGrp="1"/>
          </p:cNvSpPr>
          <p:nvPr>
            <p:ph type="title"/>
          </p:nvPr>
        </p:nvSpPr>
        <p:spPr>
          <a:xfrm>
            <a:off x="577208" y="107999"/>
            <a:ext cx="9171703" cy="684628"/>
          </a:xfrm>
        </p:spPr>
        <p:txBody>
          <a:bodyPr>
            <a:normAutofit/>
          </a:bodyPr>
          <a:lstStyle/>
          <a:p>
            <a:r>
              <a:rPr lang="en-US" dirty="0"/>
              <a:t>Methods to Solve the IPP</a:t>
            </a:r>
          </a:p>
        </p:txBody>
      </p:sp>
      <p:sp>
        <p:nvSpPr>
          <p:cNvPr id="11" name="Content Placeholder 2"/>
          <p:cNvSpPr>
            <a:spLocks noGrp="1"/>
          </p:cNvSpPr>
          <p:nvPr>
            <p:ph idx="1"/>
          </p:nvPr>
        </p:nvSpPr>
        <p:spPr>
          <a:xfrm>
            <a:off x="578860" y="1246188"/>
            <a:ext cx="9644640" cy="1057594"/>
          </a:xfrm>
        </p:spPr>
        <p:txBody>
          <a:bodyPr>
            <a:noAutofit/>
          </a:bodyPr>
          <a:lstStyle/>
          <a:p>
            <a:r>
              <a:rPr lang="en-US" sz="2400" b="1" dirty="0">
                <a:solidFill>
                  <a:schemeClr val="accent1">
                    <a:lumMod val="75000"/>
                  </a:schemeClr>
                </a:solidFill>
              </a:rPr>
              <a:t>Cutting Plane Method </a:t>
            </a:r>
            <a:r>
              <a:rPr lang="en-US" b="1" dirty="0">
                <a:solidFill>
                  <a:schemeClr val="tx1"/>
                </a:solidFill>
              </a:rPr>
              <a:t>(also called </a:t>
            </a:r>
            <a:r>
              <a:rPr lang="en-US" b="1" dirty="0" err="1">
                <a:solidFill>
                  <a:schemeClr val="tx1"/>
                </a:solidFill>
              </a:rPr>
              <a:t>Gomory’s</a:t>
            </a:r>
            <a:r>
              <a:rPr lang="en-US" b="1" dirty="0">
                <a:solidFill>
                  <a:schemeClr val="tx1"/>
                </a:solidFill>
              </a:rPr>
              <a:t> Cutting Plane method)</a:t>
            </a:r>
            <a:endParaRPr lang="en-US" sz="2400" b="1" dirty="0">
              <a:solidFill>
                <a:schemeClr val="tx1"/>
              </a:solidFill>
            </a:endParaRPr>
          </a:p>
          <a:p>
            <a:pPr lvl="1"/>
            <a:r>
              <a:rPr lang="en-US" sz="2200" b="1" dirty="0">
                <a:solidFill>
                  <a:schemeClr val="tx1"/>
                </a:solidFill>
              </a:rPr>
              <a:t>Developed by Ralph </a:t>
            </a:r>
            <a:r>
              <a:rPr lang="en-US" sz="2200" b="1" dirty="0" err="1">
                <a:solidFill>
                  <a:schemeClr val="tx1"/>
                </a:solidFill>
              </a:rPr>
              <a:t>Gomory</a:t>
            </a:r>
            <a:endParaRPr lang="en-US" sz="2200" b="1" dirty="0">
              <a:solidFill>
                <a:schemeClr val="tx1"/>
              </a:solidFill>
            </a:endParaRPr>
          </a:p>
        </p:txBody>
      </p:sp>
      <p:sp>
        <p:nvSpPr>
          <p:cNvPr id="12" name="Content Placeholder 2"/>
          <p:cNvSpPr txBox="1">
            <a:spLocks/>
          </p:cNvSpPr>
          <p:nvPr/>
        </p:nvSpPr>
        <p:spPr>
          <a:xfrm>
            <a:off x="577208" y="2933473"/>
            <a:ext cx="9644640" cy="105759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b="1" dirty="0">
                <a:solidFill>
                  <a:schemeClr val="accent1">
                    <a:lumMod val="75000"/>
                  </a:schemeClr>
                </a:solidFill>
              </a:rPr>
              <a:t>Branch and Bound Method</a:t>
            </a:r>
          </a:p>
          <a:p>
            <a:pPr lvl="1"/>
            <a:r>
              <a:rPr lang="en-US" sz="2200" b="1" dirty="0">
                <a:solidFill>
                  <a:schemeClr val="tx1"/>
                </a:solidFill>
              </a:rPr>
              <a:t>Developed by A. H. Land and A. G. Doing</a:t>
            </a:r>
          </a:p>
        </p:txBody>
      </p:sp>
      <p:sp>
        <p:nvSpPr>
          <p:cNvPr id="13" name="Content Placeholder 2"/>
          <p:cNvSpPr txBox="1">
            <a:spLocks/>
          </p:cNvSpPr>
          <p:nvPr/>
        </p:nvSpPr>
        <p:spPr>
          <a:xfrm>
            <a:off x="578860" y="4620759"/>
            <a:ext cx="9644640" cy="105759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b="1" dirty="0">
                <a:solidFill>
                  <a:schemeClr val="accent1">
                    <a:lumMod val="75000"/>
                  </a:schemeClr>
                </a:solidFill>
              </a:rPr>
              <a:t>Addictive algorithm for Zero and One IPP</a:t>
            </a:r>
          </a:p>
          <a:p>
            <a:pPr lvl="1"/>
            <a:r>
              <a:rPr lang="en-US" sz="2200" b="1" dirty="0">
                <a:solidFill>
                  <a:schemeClr val="tx1"/>
                </a:solidFill>
              </a:rPr>
              <a:t>Developed by E. </a:t>
            </a:r>
            <a:r>
              <a:rPr lang="en-US" sz="2200" b="1" dirty="0" err="1">
                <a:solidFill>
                  <a:schemeClr val="tx1"/>
                </a:solidFill>
              </a:rPr>
              <a:t>Balas</a:t>
            </a:r>
            <a:endParaRPr lang="en-US" sz="2200" b="1" dirty="0">
              <a:solidFill>
                <a:schemeClr val="tx1"/>
              </a:solidFill>
            </a:endParaRPr>
          </a:p>
        </p:txBody>
      </p:sp>
    </p:spTree>
    <p:extLst>
      <p:ext uri="{BB962C8B-B14F-4D97-AF65-F5344CB8AC3E}">
        <p14:creationId xmlns:p14="http://schemas.microsoft.com/office/powerpoint/2010/main" val="46356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build="p"/>
      <p:bldP spid="1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146" y="2629485"/>
            <a:ext cx="8596668" cy="3033933"/>
          </a:xfrm>
        </p:spPr>
        <p:txBody>
          <a:bodyPr>
            <a:normAutofit/>
          </a:bodyPr>
          <a:lstStyle/>
          <a:p>
            <a:pPr algn="ctr"/>
            <a:r>
              <a:rPr lang="en-US" sz="6000" dirty="0" err="1">
                <a:solidFill>
                  <a:schemeClr val="tx1"/>
                </a:solidFill>
              </a:rPr>
              <a:t>Gomory’s</a:t>
            </a:r>
            <a:r>
              <a:rPr lang="en-US" sz="6000" dirty="0">
                <a:solidFill>
                  <a:schemeClr val="tx1"/>
                </a:solidFill>
              </a:rPr>
              <a:t> Cutting Plane Method</a:t>
            </a:r>
          </a:p>
        </p:txBody>
      </p:sp>
    </p:spTree>
    <p:extLst>
      <p:ext uri="{BB962C8B-B14F-4D97-AF65-F5344CB8AC3E}">
        <p14:creationId xmlns:p14="http://schemas.microsoft.com/office/powerpoint/2010/main" val="3892347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FA4A-9A42-4ABA-A216-AB6B01B616B7}"/>
              </a:ext>
            </a:extLst>
          </p:cNvPr>
          <p:cNvSpPr>
            <a:spLocks noGrp="1"/>
          </p:cNvSpPr>
          <p:nvPr>
            <p:ph type="title"/>
          </p:nvPr>
        </p:nvSpPr>
        <p:spPr>
          <a:xfrm>
            <a:off x="677334" y="138688"/>
            <a:ext cx="8596668" cy="731520"/>
          </a:xfrm>
        </p:spPr>
        <p:txBody>
          <a:bodyPr/>
          <a:lstStyle/>
          <a:p>
            <a:r>
              <a:rPr lang="en-US" dirty="0" err="1"/>
              <a:t>Gomory’s</a:t>
            </a:r>
            <a:r>
              <a:rPr lang="en-US" dirty="0"/>
              <a:t> Cutting Plane Method - Steps</a:t>
            </a:r>
          </a:p>
        </p:txBody>
      </p:sp>
      <p:sp>
        <p:nvSpPr>
          <p:cNvPr id="5" name="Content Placeholder 2">
            <a:extLst>
              <a:ext uri="{FF2B5EF4-FFF2-40B4-BE49-F238E27FC236}">
                <a16:creationId xmlns:a16="http://schemas.microsoft.com/office/drawing/2014/main" id="{BBFE4BD9-F884-4AB4-B8F8-5232F8DBD100}"/>
              </a:ext>
            </a:extLst>
          </p:cNvPr>
          <p:cNvSpPr txBox="1">
            <a:spLocks/>
          </p:cNvSpPr>
          <p:nvPr/>
        </p:nvSpPr>
        <p:spPr>
          <a:xfrm>
            <a:off x="677333" y="870208"/>
            <a:ext cx="9459443" cy="55168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a:pPr>
            <a:r>
              <a:rPr lang="en-US" b="1" dirty="0"/>
              <a:t>Normalize the Equation</a:t>
            </a:r>
          </a:p>
          <a:p>
            <a:pPr>
              <a:buFont typeface="+mj-lt"/>
              <a:buAutoNum type="arabicPeriod"/>
            </a:pPr>
            <a:r>
              <a:rPr lang="en-US" b="1" dirty="0"/>
              <a:t>Solve the problem using SIMPLEX method</a:t>
            </a:r>
          </a:p>
          <a:p>
            <a:pPr>
              <a:buFont typeface="+mj-lt"/>
              <a:buAutoNum type="arabicPeriod"/>
            </a:pPr>
            <a:r>
              <a:rPr lang="en-US" b="1" dirty="0"/>
              <a:t>If all the Basic Variables are Integers, then Optimality has reached. Go to Step 8</a:t>
            </a:r>
          </a:p>
          <a:p>
            <a:pPr>
              <a:buFont typeface="+mj-lt"/>
              <a:buAutoNum type="arabicPeriod"/>
            </a:pPr>
            <a:r>
              <a:rPr lang="en-US" b="1" dirty="0"/>
              <a:t>In case of Non Integer variables, Find the FRACTIONAL part of </a:t>
            </a:r>
            <a:r>
              <a:rPr lang="en-US" b="1" dirty="0">
                <a:solidFill>
                  <a:srgbClr val="00B0F0"/>
                </a:solidFill>
              </a:rPr>
              <a:t>f</a:t>
            </a:r>
            <a:r>
              <a:rPr lang="en-US" b="1" dirty="0">
                <a:solidFill>
                  <a:schemeClr val="tx1"/>
                </a:solidFill>
              </a:rPr>
              <a:t>, i.e. </a:t>
            </a:r>
            <a:r>
              <a:rPr lang="en-US" b="1" dirty="0">
                <a:solidFill>
                  <a:srgbClr val="00B0F0"/>
                </a:solidFill>
              </a:rPr>
              <a:t>bi = [bi] + fi</a:t>
            </a:r>
            <a:r>
              <a:rPr lang="en-US" b="1" dirty="0">
                <a:solidFill>
                  <a:schemeClr val="tx1"/>
                </a:solidFill>
              </a:rPr>
              <a:t>, where </a:t>
            </a:r>
            <a:r>
              <a:rPr lang="en-US" b="1" dirty="0">
                <a:solidFill>
                  <a:srgbClr val="00B0F0"/>
                </a:solidFill>
              </a:rPr>
              <a:t>bi</a:t>
            </a:r>
            <a:r>
              <a:rPr lang="en-US" b="1" dirty="0">
                <a:solidFill>
                  <a:schemeClr val="tx1"/>
                </a:solidFill>
              </a:rPr>
              <a:t> is Integer part and </a:t>
            </a:r>
            <a:r>
              <a:rPr lang="en-US" b="1" dirty="0">
                <a:solidFill>
                  <a:srgbClr val="00B0F0"/>
                </a:solidFill>
              </a:rPr>
              <a:t>fi</a:t>
            </a:r>
            <a:r>
              <a:rPr lang="en-US" b="1" dirty="0">
                <a:solidFill>
                  <a:schemeClr val="tx1"/>
                </a:solidFill>
              </a:rPr>
              <a:t> is FRACTIONAL part</a:t>
            </a:r>
          </a:p>
          <a:p>
            <a:pPr>
              <a:buFont typeface="+mj-lt"/>
              <a:buAutoNum type="arabicPeriod"/>
            </a:pPr>
            <a:r>
              <a:rPr lang="en-US" b="1" dirty="0">
                <a:solidFill>
                  <a:schemeClr val="tx1"/>
                </a:solidFill>
              </a:rPr>
              <a:t>Choose the </a:t>
            </a:r>
            <a:r>
              <a:rPr lang="en-US" b="1" dirty="0">
                <a:solidFill>
                  <a:srgbClr val="00B0F0"/>
                </a:solidFill>
              </a:rPr>
              <a:t>largest fraction</a:t>
            </a:r>
            <a:r>
              <a:rPr lang="en-US" b="1" dirty="0">
                <a:solidFill>
                  <a:schemeClr val="tx1"/>
                </a:solidFill>
              </a:rPr>
              <a:t> amongst various </a:t>
            </a:r>
            <a:r>
              <a:rPr lang="en-US" b="1" dirty="0">
                <a:solidFill>
                  <a:srgbClr val="00B0F0"/>
                </a:solidFill>
              </a:rPr>
              <a:t>fi</a:t>
            </a:r>
            <a:r>
              <a:rPr lang="en-US" b="1" dirty="0">
                <a:solidFill>
                  <a:schemeClr val="tx1"/>
                </a:solidFill>
              </a:rPr>
              <a:t>, i.e. Max (fi). Treat the constraint corresponding to the maximum fraction as the source row (Equation). </a:t>
            </a:r>
          </a:p>
          <a:p>
            <a:pPr>
              <a:buFont typeface="+mj-lt"/>
              <a:buAutoNum type="arabicPeriod"/>
            </a:pPr>
            <a:r>
              <a:rPr lang="en-US" b="1" dirty="0">
                <a:solidFill>
                  <a:schemeClr val="tx1"/>
                </a:solidFill>
              </a:rPr>
              <a:t>Based on the source equation, Develop an </a:t>
            </a:r>
            <a:r>
              <a:rPr lang="en-US" b="1" dirty="0">
                <a:solidFill>
                  <a:srgbClr val="00B0F0"/>
                </a:solidFill>
              </a:rPr>
              <a:t>Additional Constraint (</a:t>
            </a:r>
            <a:r>
              <a:rPr lang="en-US" b="1" dirty="0" err="1">
                <a:solidFill>
                  <a:srgbClr val="00B0F0"/>
                </a:solidFill>
              </a:rPr>
              <a:t>Goromy’s</a:t>
            </a:r>
            <a:r>
              <a:rPr lang="en-US" b="1" dirty="0">
                <a:solidFill>
                  <a:srgbClr val="00B0F0"/>
                </a:solidFill>
              </a:rPr>
              <a:t> Constraint/ fractional cut)</a:t>
            </a:r>
          </a:p>
          <a:p>
            <a:pPr marL="0" indent="0">
              <a:buNone/>
            </a:pPr>
            <a:r>
              <a:rPr lang="en-US" b="1" dirty="0">
                <a:solidFill>
                  <a:srgbClr val="00B0F0"/>
                </a:solidFill>
              </a:rPr>
              <a:t>       fi = Si – Summation ((fi)(Non-Basic Variables))</a:t>
            </a:r>
          </a:p>
          <a:p>
            <a:pPr>
              <a:buFont typeface="+mj-lt"/>
              <a:buAutoNum type="arabicPeriod" startAt="7"/>
            </a:pPr>
            <a:r>
              <a:rPr lang="en-US" b="1" dirty="0">
                <a:solidFill>
                  <a:schemeClr val="tx1"/>
                </a:solidFill>
              </a:rPr>
              <a:t>Add the fractional cut as last row in latest optimal table and proceed further using </a:t>
            </a:r>
            <a:r>
              <a:rPr lang="en-US" b="1" dirty="0">
                <a:solidFill>
                  <a:srgbClr val="00B0F0"/>
                </a:solidFill>
              </a:rPr>
              <a:t>DUAL SIMPLEX </a:t>
            </a:r>
            <a:r>
              <a:rPr lang="en-US" b="1" dirty="0">
                <a:solidFill>
                  <a:schemeClr val="tx1"/>
                </a:solidFill>
              </a:rPr>
              <a:t>method and find the new optimum solution. If new solution is Integer then go to Step 8 else go to Step 4</a:t>
            </a:r>
          </a:p>
          <a:p>
            <a:pPr>
              <a:buFont typeface="+mj-lt"/>
              <a:buAutoNum type="arabicPeriod" startAt="7"/>
            </a:pPr>
            <a:r>
              <a:rPr lang="en-US" b="1" dirty="0">
                <a:solidFill>
                  <a:schemeClr val="tx1"/>
                </a:solidFill>
              </a:rPr>
              <a:t>Stop the process and write Optimal solution</a:t>
            </a:r>
          </a:p>
          <a:p>
            <a:endParaRPr lang="en-US" b="1" dirty="0">
              <a:solidFill>
                <a:srgbClr val="FF0000"/>
              </a:solidFill>
            </a:endParaRPr>
          </a:p>
        </p:txBody>
      </p:sp>
      <p:sp>
        <p:nvSpPr>
          <p:cNvPr id="8" name="Rounded Rectangle 7"/>
          <p:cNvSpPr/>
          <p:nvPr/>
        </p:nvSpPr>
        <p:spPr>
          <a:xfrm>
            <a:off x="677332" y="825072"/>
            <a:ext cx="10228233" cy="465846"/>
          </a:xfrm>
          <a:prstGeom prst="roundRect">
            <a:avLst/>
          </a:prstGeom>
          <a:no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359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FA4A-9A42-4ABA-A216-AB6B01B616B7}"/>
              </a:ext>
            </a:extLst>
          </p:cNvPr>
          <p:cNvSpPr>
            <a:spLocks noGrp="1"/>
          </p:cNvSpPr>
          <p:nvPr>
            <p:ph type="title"/>
          </p:nvPr>
        </p:nvSpPr>
        <p:spPr>
          <a:xfrm>
            <a:off x="677333" y="138688"/>
            <a:ext cx="8936929" cy="731520"/>
          </a:xfrm>
        </p:spPr>
        <p:txBody>
          <a:bodyPr>
            <a:normAutofit/>
          </a:bodyPr>
          <a:lstStyle/>
          <a:p>
            <a:r>
              <a:rPr lang="en-US" dirty="0" err="1"/>
              <a:t>Gomory’s</a:t>
            </a:r>
            <a:r>
              <a:rPr lang="en-US" dirty="0"/>
              <a:t> Cutting Plane Method - Example</a:t>
            </a:r>
          </a:p>
        </p:txBody>
      </p:sp>
      <p:sp>
        <p:nvSpPr>
          <p:cNvPr id="4" name="Content Placeholder 2">
            <a:extLst>
              <a:ext uri="{FF2B5EF4-FFF2-40B4-BE49-F238E27FC236}">
                <a16:creationId xmlns:a16="http://schemas.microsoft.com/office/drawing/2014/main" id="{67ACAA63-9EB4-4712-944F-328428478153}"/>
              </a:ext>
            </a:extLst>
          </p:cNvPr>
          <p:cNvSpPr txBox="1">
            <a:spLocks/>
          </p:cNvSpPr>
          <p:nvPr/>
        </p:nvSpPr>
        <p:spPr>
          <a:xfrm>
            <a:off x="677333" y="1000063"/>
            <a:ext cx="3999170" cy="2653575"/>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 </a:t>
            </a:r>
            <a:r>
              <a:rPr lang="en-US" sz="2000" b="1" dirty="0">
                <a:solidFill>
                  <a:schemeClr val="tx1"/>
                </a:solidFill>
              </a:rPr>
              <a:t>Max Z = 2 x1 + 3 x2</a:t>
            </a:r>
          </a:p>
          <a:p>
            <a:pPr marL="0" indent="0">
              <a:buNone/>
            </a:pPr>
            <a:endParaRPr lang="en-US" sz="2000" b="1" dirty="0">
              <a:solidFill>
                <a:schemeClr val="tx1"/>
              </a:solidFill>
            </a:endParaRPr>
          </a:p>
          <a:p>
            <a:pPr marL="0" indent="0">
              <a:buFont typeface="Wingdings 3" charset="2"/>
              <a:buNone/>
            </a:pPr>
            <a:r>
              <a:rPr lang="en-US" dirty="0"/>
              <a:t>Subject to</a:t>
            </a:r>
            <a:endParaRPr lang="en-US" b="1" dirty="0"/>
          </a:p>
          <a:p>
            <a:pPr marL="0" indent="0">
              <a:buFont typeface="Wingdings 3" charset="2"/>
              <a:buNone/>
            </a:pPr>
            <a:r>
              <a:rPr lang="en-US" sz="2000" i="1" dirty="0"/>
              <a:t>2 x1 + 2 x2  &lt;= 7</a:t>
            </a:r>
          </a:p>
          <a:p>
            <a:pPr marL="0" indent="0">
              <a:buFont typeface="Wingdings 3" charset="2"/>
              <a:buNone/>
            </a:pPr>
            <a:r>
              <a:rPr lang="en-US" sz="2000" i="1" dirty="0"/>
              <a:t> x1 &lt;= 2</a:t>
            </a:r>
          </a:p>
          <a:p>
            <a:pPr marL="0" indent="0">
              <a:buFont typeface="Wingdings 3" charset="2"/>
              <a:buNone/>
            </a:pPr>
            <a:r>
              <a:rPr lang="en-US" sz="2000" i="1" dirty="0"/>
              <a:t> x2 &lt;= 2</a:t>
            </a:r>
          </a:p>
          <a:p>
            <a:pPr marL="0" indent="0">
              <a:buFont typeface="Wingdings 3" charset="2"/>
              <a:buNone/>
            </a:pPr>
            <a:r>
              <a:rPr lang="en-US" sz="2000" i="1" dirty="0"/>
              <a:t>x1, x2  &gt;= 0 and are integers</a:t>
            </a:r>
          </a:p>
        </p:txBody>
      </p:sp>
      <p:sp>
        <p:nvSpPr>
          <p:cNvPr id="6" name="Content Placeholder 2">
            <a:extLst>
              <a:ext uri="{FF2B5EF4-FFF2-40B4-BE49-F238E27FC236}">
                <a16:creationId xmlns:a16="http://schemas.microsoft.com/office/drawing/2014/main" id="{67ACAA63-9EB4-4712-944F-328428478153}"/>
              </a:ext>
            </a:extLst>
          </p:cNvPr>
          <p:cNvSpPr txBox="1">
            <a:spLocks/>
          </p:cNvSpPr>
          <p:nvPr/>
        </p:nvSpPr>
        <p:spPr>
          <a:xfrm>
            <a:off x="6154541" y="1000063"/>
            <a:ext cx="4952730" cy="2653575"/>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 </a:t>
            </a:r>
            <a:r>
              <a:rPr lang="en-US" sz="2000" b="1" dirty="0">
                <a:solidFill>
                  <a:schemeClr val="tx1"/>
                </a:solidFill>
              </a:rPr>
              <a:t>Max Z = 2 x1 + 3 x2 + 0S1 + 0S2 + 0S3</a:t>
            </a:r>
          </a:p>
          <a:p>
            <a:pPr marL="0" indent="0">
              <a:buNone/>
            </a:pPr>
            <a:endParaRPr lang="en-US" sz="2000" b="1" dirty="0">
              <a:solidFill>
                <a:schemeClr val="tx1"/>
              </a:solidFill>
            </a:endParaRPr>
          </a:p>
          <a:p>
            <a:pPr marL="0" indent="0">
              <a:buFont typeface="Wingdings 3" charset="2"/>
              <a:buNone/>
            </a:pPr>
            <a:r>
              <a:rPr lang="en-US" dirty="0"/>
              <a:t>Subject to</a:t>
            </a:r>
            <a:endParaRPr lang="en-US" b="1" dirty="0"/>
          </a:p>
          <a:p>
            <a:pPr marL="0" indent="0">
              <a:buNone/>
            </a:pPr>
            <a:r>
              <a:rPr lang="en-US" sz="2000" i="1" dirty="0"/>
              <a:t>2 x1 + 2 x2  + S1 = 7</a:t>
            </a:r>
          </a:p>
          <a:p>
            <a:pPr marL="0" indent="0">
              <a:buNone/>
            </a:pPr>
            <a:r>
              <a:rPr lang="en-US" sz="2000" i="1" dirty="0"/>
              <a:t> x1 + S2 = 2</a:t>
            </a:r>
          </a:p>
          <a:p>
            <a:pPr marL="0" indent="0">
              <a:buNone/>
            </a:pPr>
            <a:r>
              <a:rPr lang="en-US" sz="2000" i="1" dirty="0"/>
              <a:t> x2 + S3 = 2</a:t>
            </a:r>
          </a:p>
          <a:p>
            <a:pPr marL="0" indent="0">
              <a:buFont typeface="Wingdings 3" charset="2"/>
              <a:buNone/>
            </a:pPr>
            <a:r>
              <a:rPr lang="en-US" sz="2000" i="1" dirty="0"/>
              <a:t>x1, x2, S1, S2 &amp; S3 &gt;= 0</a:t>
            </a:r>
          </a:p>
        </p:txBody>
      </p:sp>
      <p:sp>
        <p:nvSpPr>
          <p:cNvPr id="7" name="Content Placeholder 2">
            <a:extLst>
              <a:ext uri="{FF2B5EF4-FFF2-40B4-BE49-F238E27FC236}">
                <a16:creationId xmlns:a16="http://schemas.microsoft.com/office/drawing/2014/main" id="{BAB6A89E-B9AA-45D5-BE68-0FCC193D4473}"/>
              </a:ext>
            </a:extLst>
          </p:cNvPr>
          <p:cNvSpPr txBox="1">
            <a:spLocks/>
          </p:cNvSpPr>
          <p:nvPr/>
        </p:nvSpPr>
        <p:spPr>
          <a:xfrm>
            <a:off x="4676503" y="2111771"/>
            <a:ext cx="1478038" cy="430156"/>
          </a:xfrm>
          <a:prstGeom prst="rect">
            <a:avLst/>
          </a:prstGeom>
        </p:spPr>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1400" b="1" dirty="0">
                <a:solidFill>
                  <a:schemeClr val="tx1"/>
                </a:solidFill>
              </a:rPr>
              <a:t>Normalized</a:t>
            </a:r>
          </a:p>
        </p:txBody>
      </p:sp>
    </p:spTree>
    <p:extLst>
      <p:ext uri="{BB962C8B-B14F-4D97-AF65-F5344CB8AC3E}">
        <p14:creationId xmlns:p14="http://schemas.microsoft.com/office/powerpoint/2010/main" val="114878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FA4A-9A42-4ABA-A216-AB6B01B616B7}"/>
              </a:ext>
            </a:extLst>
          </p:cNvPr>
          <p:cNvSpPr>
            <a:spLocks noGrp="1"/>
          </p:cNvSpPr>
          <p:nvPr>
            <p:ph type="title"/>
          </p:nvPr>
        </p:nvSpPr>
        <p:spPr>
          <a:xfrm>
            <a:off x="677334" y="138688"/>
            <a:ext cx="8596668" cy="731520"/>
          </a:xfrm>
        </p:spPr>
        <p:txBody>
          <a:bodyPr/>
          <a:lstStyle/>
          <a:p>
            <a:r>
              <a:rPr lang="en-US" dirty="0" err="1"/>
              <a:t>Gomory’s</a:t>
            </a:r>
            <a:r>
              <a:rPr lang="en-US" dirty="0"/>
              <a:t> Cutting Plane Method - Steps</a:t>
            </a:r>
          </a:p>
        </p:txBody>
      </p:sp>
      <p:sp>
        <p:nvSpPr>
          <p:cNvPr id="5" name="Content Placeholder 2">
            <a:extLst>
              <a:ext uri="{FF2B5EF4-FFF2-40B4-BE49-F238E27FC236}">
                <a16:creationId xmlns:a16="http://schemas.microsoft.com/office/drawing/2014/main" id="{BBFE4BD9-F884-4AB4-B8F8-5232F8DBD100}"/>
              </a:ext>
            </a:extLst>
          </p:cNvPr>
          <p:cNvSpPr txBox="1">
            <a:spLocks/>
          </p:cNvSpPr>
          <p:nvPr/>
        </p:nvSpPr>
        <p:spPr>
          <a:xfrm>
            <a:off x="677333" y="870208"/>
            <a:ext cx="9459443" cy="55168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a:pPr>
            <a:r>
              <a:rPr lang="en-US" b="1" dirty="0"/>
              <a:t>Normalize the Equation</a:t>
            </a:r>
          </a:p>
          <a:p>
            <a:pPr>
              <a:buFont typeface="+mj-lt"/>
              <a:buAutoNum type="arabicPeriod"/>
            </a:pPr>
            <a:r>
              <a:rPr lang="en-US" b="1" dirty="0"/>
              <a:t>Solve the problem using SIMPLEX method</a:t>
            </a:r>
          </a:p>
          <a:p>
            <a:pPr>
              <a:buFont typeface="+mj-lt"/>
              <a:buAutoNum type="arabicPeriod"/>
            </a:pPr>
            <a:r>
              <a:rPr lang="en-US" b="1" dirty="0"/>
              <a:t>If all the Basic Variables are Integers, then Optimality has reached. Go to Step 8</a:t>
            </a:r>
          </a:p>
          <a:p>
            <a:pPr>
              <a:buFont typeface="+mj-lt"/>
              <a:buAutoNum type="arabicPeriod"/>
            </a:pPr>
            <a:r>
              <a:rPr lang="en-US" b="1" dirty="0"/>
              <a:t>In case of Non Integer variables, Find the FRACTIONAL part of </a:t>
            </a:r>
            <a:r>
              <a:rPr lang="en-US" b="1" dirty="0">
                <a:solidFill>
                  <a:srgbClr val="00B0F0"/>
                </a:solidFill>
              </a:rPr>
              <a:t>f</a:t>
            </a:r>
            <a:r>
              <a:rPr lang="en-US" b="1" dirty="0">
                <a:solidFill>
                  <a:schemeClr val="tx1"/>
                </a:solidFill>
              </a:rPr>
              <a:t>, i.e. </a:t>
            </a:r>
            <a:r>
              <a:rPr lang="en-US" b="1" dirty="0">
                <a:solidFill>
                  <a:srgbClr val="00B0F0"/>
                </a:solidFill>
              </a:rPr>
              <a:t>bi = [bi] + fi</a:t>
            </a:r>
            <a:r>
              <a:rPr lang="en-US" b="1" dirty="0">
                <a:solidFill>
                  <a:schemeClr val="tx1"/>
                </a:solidFill>
              </a:rPr>
              <a:t>, where </a:t>
            </a:r>
            <a:r>
              <a:rPr lang="en-US" b="1" dirty="0">
                <a:solidFill>
                  <a:srgbClr val="00B0F0"/>
                </a:solidFill>
              </a:rPr>
              <a:t>bi</a:t>
            </a:r>
            <a:r>
              <a:rPr lang="en-US" b="1" dirty="0">
                <a:solidFill>
                  <a:schemeClr val="tx1"/>
                </a:solidFill>
              </a:rPr>
              <a:t> is Integer part and </a:t>
            </a:r>
            <a:r>
              <a:rPr lang="en-US" b="1" dirty="0">
                <a:solidFill>
                  <a:srgbClr val="00B0F0"/>
                </a:solidFill>
              </a:rPr>
              <a:t>fi</a:t>
            </a:r>
            <a:r>
              <a:rPr lang="en-US" b="1" dirty="0">
                <a:solidFill>
                  <a:schemeClr val="tx1"/>
                </a:solidFill>
              </a:rPr>
              <a:t> is FRACTIONAL part</a:t>
            </a:r>
          </a:p>
          <a:p>
            <a:pPr>
              <a:buFont typeface="+mj-lt"/>
              <a:buAutoNum type="arabicPeriod"/>
            </a:pPr>
            <a:r>
              <a:rPr lang="en-US" b="1" dirty="0">
                <a:solidFill>
                  <a:schemeClr val="tx1"/>
                </a:solidFill>
              </a:rPr>
              <a:t>Choose the </a:t>
            </a:r>
            <a:r>
              <a:rPr lang="en-US" b="1" dirty="0">
                <a:solidFill>
                  <a:srgbClr val="00B0F0"/>
                </a:solidFill>
              </a:rPr>
              <a:t>largest fraction</a:t>
            </a:r>
            <a:r>
              <a:rPr lang="en-US" b="1" dirty="0">
                <a:solidFill>
                  <a:schemeClr val="tx1"/>
                </a:solidFill>
              </a:rPr>
              <a:t> amongst various </a:t>
            </a:r>
            <a:r>
              <a:rPr lang="en-US" b="1" dirty="0">
                <a:solidFill>
                  <a:srgbClr val="00B0F0"/>
                </a:solidFill>
              </a:rPr>
              <a:t>fi</a:t>
            </a:r>
            <a:r>
              <a:rPr lang="en-US" b="1" dirty="0">
                <a:solidFill>
                  <a:schemeClr val="tx1"/>
                </a:solidFill>
              </a:rPr>
              <a:t>, i.e. Max (fi). Treat the constraint corresponding to the maximum fraction as the source row (Equation). </a:t>
            </a:r>
          </a:p>
          <a:p>
            <a:pPr>
              <a:buFont typeface="+mj-lt"/>
              <a:buAutoNum type="arabicPeriod"/>
            </a:pPr>
            <a:r>
              <a:rPr lang="en-US" b="1" dirty="0">
                <a:solidFill>
                  <a:schemeClr val="tx1"/>
                </a:solidFill>
              </a:rPr>
              <a:t>Based on the source equation, Develop an </a:t>
            </a:r>
            <a:r>
              <a:rPr lang="en-US" b="1" dirty="0">
                <a:solidFill>
                  <a:srgbClr val="00B0F0"/>
                </a:solidFill>
              </a:rPr>
              <a:t>Additional Constraint (</a:t>
            </a:r>
            <a:r>
              <a:rPr lang="en-US" b="1" dirty="0" err="1">
                <a:solidFill>
                  <a:srgbClr val="00B0F0"/>
                </a:solidFill>
              </a:rPr>
              <a:t>Goromy’s</a:t>
            </a:r>
            <a:r>
              <a:rPr lang="en-US" b="1" dirty="0">
                <a:solidFill>
                  <a:srgbClr val="00B0F0"/>
                </a:solidFill>
              </a:rPr>
              <a:t> Constraint/ fractional cut)</a:t>
            </a:r>
          </a:p>
          <a:p>
            <a:pPr marL="0" indent="0">
              <a:buNone/>
            </a:pPr>
            <a:r>
              <a:rPr lang="en-US" b="1" dirty="0">
                <a:solidFill>
                  <a:srgbClr val="00B0F0"/>
                </a:solidFill>
              </a:rPr>
              <a:t>       fi = Si – Summation ((fi)(Non-Basic Variables))</a:t>
            </a:r>
          </a:p>
          <a:p>
            <a:pPr>
              <a:buFont typeface="+mj-lt"/>
              <a:buAutoNum type="arabicPeriod" startAt="7"/>
            </a:pPr>
            <a:r>
              <a:rPr lang="en-US" b="1" dirty="0">
                <a:solidFill>
                  <a:schemeClr val="tx1"/>
                </a:solidFill>
              </a:rPr>
              <a:t>Add the fractional cut as last row in latest optimal table and proceed further using </a:t>
            </a:r>
            <a:r>
              <a:rPr lang="en-US" b="1" dirty="0">
                <a:solidFill>
                  <a:srgbClr val="00B0F0"/>
                </a:solidFill>
              </a:rPr>
              <a:t>DUAL SIMPLEX </a:t>
            </a:r>
            <a:r>
              <a:rPr lang="en-US" b="1" dirty="0">
                <a:solidFill>
                  <a:schemeClr val="tx1"/>
                </a:solidFill>
              </a:rPr>
              <a:t>method and find the new optimum solution. If new solution is Integer then go to Step 8 else go to Step 4</a:t>
            </a:r>
          </a:p>
          <a:p>
            <a:pPr>
              <a:buFont typeface="+mj-lt"/>
              <a:buAutoNum type="arabicPeriod" startAt="7"/>
            </a:pPr>
            <a:r>
              <a:rPr lang="en-US" b="1" dirty="0">
                <a:solidFill>
                  <a:schemeClr val="tx1"/>
                </a:solidFill>
              </a:rPr>
              <a:t>Stop the process and write Optimal solution</a:t>
            </a:r>
          </a:p>
          <a:p>
            <a:endParaRPr lang="en-US" b="1" dirty="0">
              <a:solidFill>
                <a:srgbClr val="FF0000"/>
              </a:solidFill>
            </a:endParaRPr>
          </a:p>
        </p:txBody>
      </p:sp>
      <p:sp>
        <p:nvSpPr>
          <p:cNvPr id="7" name="Rounded Rectangle 6"/>
          <p:cNvSpPr/>
          <p:nvPr/>
        </p:nvSpPr>
        <p:spPr>
          <a:xfrm>
            <a:off x="677332" y="1228483"/>
            <a:ext cx="10228233" cy="452399"/>
          </a:xfrm>
          <a:prstGeom prst="roundRect">
            <a:avLst/>
          </a:prstGeom>
          <a:no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9533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71E67375-E3EE-40B5-87CB-30E7A2D207D3}"/>
              </a:ext>
            </a:extLst>
          </p:cNvPr>
          <p:cNvSpPr/>
          <p:nvPr/>
        </p:nvSpPr>
        <p:spPr>
          <a:xfrm>
            <a:off x="4255669" y="1457533"/>
            <a:ext cx="806911" cy="43971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4CD2553B-114A-43DA-A238-B44DFBAD1650}"/>
              </a:ext>
            </a:extLst>
          </p:cNvPr>
          <p:cNvSpPr/>
          <p:nvPr/>
        </p:nvSpPr>
        <p:spPr>
          <a:xfrm>
            <a:off x="3018972" y="4008309"/>
            <a:ext cx="7756985" cy="5944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2C90F907-3B83-4F24-B3E9-103787B534F5}"/>
              </a:ext>
            </a:extLst>
          </p:cNvPr>
          <p:cNvGraphicFramePr>
            <a:graphicFrameLocks noGrp="1"/>
          </p:cNvGraphicFramePr>
          <p:nvPr>
            <p:extLst>
              <p:ext uri="{D42A27DB-BD31-4B8C-83A1-F6EECF244321}">
                <p14:modId xmlns:p14="http://schemas.microsoft.com/office/powerpoint/2010/main" val="3495898990"/>
              </p:ext>
            </p:extLst>
          </p:nvPr>
        </p:nvGraphicFramePr>
        <p:xfrm>
          <a:off x="911667" y="1564395"/>
          <a:ext cx="9603935" cy="4099076"/>
        </p:xfrm>
        <a:graphic>
          <a:graphicData uri="http://schemas.openxmlformats.org/drawingml/2006/table">
            <a:tbl>
              <a:tblPr firstRow="1" bandRow="1">
                <a:tableStyleId>{5940675A-B579-460E-94D1-54222C63F5DA}</a:tableStyleId>
              </a:tblPr>
              <a:tblGrid>
                <a:gridCol w="1067104">
                  <a:extLst>
                    <a:ext uri="{9D8B030D-6E8A-4147-A177-3AD203B41FA5}">
                      <a16:colId xmlns:a16="http://schemas.microsoft.com/office/drawing/2014/main" val="2905360103"/>
                    </a:ext>
                  </a:extLst>
                </a:gridCol>
                <a:gridCol w="1213200">
                  <a:extLst>
                    <a:ext uri="{9D8B030D-6E8A-4147-A177-3AD203B41FA5}">
                      <a16:colId xmlns:a16="http://schemas.microsoft.com/office/drawing/2014/main" val="3101827574"/>
                    </a:ext>
                  </a:extLst>
                </a:gridCol>
                <a:gridCol w="921007">
                  <a:extLst>
                    <a:ext uri="{9D8B030D-6E8A-4147-A177-3AD203B41FA5}">
                      <a16:colId xmlns:a16="http://schemas.microsoft.com/office/drawing/2014/main" val="3349711521"/>
                    </a:ext>
                  </a:extLst>
                </a:gridCol>
                <a:gridCol w="1067104">
                  <a:extLst>
                    <a:ext uri="{9D8B030D-6E8A-4147-A177-3AD203B41FA5}">
                      <a16:colId xmlns:a16="http://schemas.microsoft.com/office/drawing/2014/main" val="2361876258"/>
                    </a:ext>
                  </a:extLst>
                </a:gridCol>
                <a:gridCol w="1067104">
                  <a:extLst>
                    <a:ext uri="{9D8B030D-6E8A-4147-A177-3AD203B41FA5}">
                      <a16:colId xmlns:a16="http://schemas.microsoft.com/office/drawing/2014/main" val="3236378667"/>
                    </a:ext>
                  </a:extLst>
                </a:gridCol>
                <a:gridCol w="1067104">
                  <a:extLst>
                    <a:ext uri="{9D8B030D-6E8A-4147-A177-3AD203B41FA5}">
                      <a16:colId xmlns:a16="http://schemas.microsoft.com/office/drawing/2014/main" val="2968160148"/>
                    </a:ext>
                  </a:extLst>
                </a:gridCol>
                <a:gridCol w="1067104">
                  <a:extLst>
                    <a:ext uri="{9D8B030D-6E8A-4147-A177-3AD203B41FA5}">
                      <a16:colId xmlns:a16="http://schemas.microsoft.com/office/drawing/2014/main" val="1976915298"/>
                    </a:ext>
                  </a:extLst>
                </a:gridCol>
                <a:gridCol w="1067104">
                  <a:extLst>
                    <a:ext uri="{9D8B030D-6E8A-4147-A177-3AD203B41FA5}">
                      <a16:colId xmlns:a16="http://schemas.microsoft.com/office/drawing/2014/main" val="3368023288"/>
                    </a:ext>
                  </a:extLst>
                </a:gridCol>
                <a:gridCol w="1067104">
                  <a:extLst>
                    <a:ext uri="{9D8B030D-6E8A-4147-A177-3AD203B41FA5}">
                      <a16:colId xmlns:a16="http://schemas.microsoft.com/office/drawing/2014/main" val="20008"/>
                    </a:ext>
                  </a:extLst>
                </a:gridCol>
              </a:tblGrid>
              <a:tr h="665494">
                <a:tc>
                  <a:txBody>
                    <a:bodyPr/>
                    <a:lstStyle/>
                    <a:p>
                      <a:pPr algn="ctr"/>
                      <a:r>
                        <a:rPr lang="en-US" b="1" dirty="0"/>
                        <a:t>C Bi</a:t>
                      </a:r>
                    </a:p>
                  </a:txBody>
                  <a:tcPr anchor="ctr"/>
                </a:tc>
                <a:tc>
                  <a:txBody>
                    <a:bodyPr/>
                    <a:lstStyle/>
                    <a:p>
                      <a:pPr algn="ctr"/>
                      <a:r>
                        <a:rPr lang="en-US" b="1" dirty="0"/>
                        <a:t> </a:t>
                      </a:r>
                      <a:r>
                        <a:rPr lang="en-US" b="1" dirty="0" err="1"/>
                        <a:t>Cj</a:t>
                      </a: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endParaRPr lang="en-US"/>
                    </a:p>
                  </a:txBody>
                  <a:tcPr anchor="ctr"/>
                </a:tc>
                <a:tc>
                  <a:txBody>
                    <a:bodyPr/>
                    <a:lstStyle/>
                    <a:p>
                      <a:pPr algn="ctr"/>
                      <a:r>
                        <a:rPr lang="en-US" b="1" dirty="0"/>
                        <a:t>Solution</a:t>
                      </a:r>
                    </a:p>
                  </a:txBody>
                  <a:tcPr anchor="ctr"/>
                </a:tc>
                <a:tc>
                  <a:txBody>
                    <a:bodyPr/>
                    <a:lstStyle/>
                    <a:p>
                      <a:pPr algn="ctr"/>
                      <a:r>
                        <a:rPr lang="en-US" b="1" dirty="0"/>
                        <a:t>Ratio</a:t>
                      </a:r>
                    </a:p>
                  </a:txBody>
                  <a:tcPr anchor="ctr"/>
                </a:tc>
                <a:extLst>
                  <a:ext uri="{0D108BD9-81ED-4DB2-BD59-A6C34878D82A}">
                    <a16:rowId xmlns:a16="http://schemas.microsoft.com/office/drawing/2014/main" val="1702236699"/>
                  </a:ext>
                </a:extLst>
              </a:tr>
              <a:tr h="708611">
                <a:tc>
                  <a:txBody>
                    <a:bodyPr/>
                    <a:lstStyle/>
                    <a:p>
                      <a:pPr algn="ctr"/>
                      <a:endParaRPr lang="en-US" dirty="0"/>
                    </a:p>
                  </a:txBody>
                  <a:tcPr anchor="ctr"/>
                </a:tc>
                <a:tc>
                  <a:txBody>
                    <a:bodyPr/>
                    <a:lstStyle/>
                    <a:p>
                      <a:pPr algn="ctr"/>
                      <a:r>
                        <a:rPr lang="en-US" b="1" dirty="0"/>
                        <a:t>Basic Variables</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826453594"/>
                  </a:ext>
                </a:extLst>
              </a:tr>
              <a:tr h="62040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            </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071387229"/>
                  </a:ext>
                </a:extLst>
              </a:tr>
              <a:tr h="493486">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506384561"/>
                  </a:ext>
                </a:extLst>
              </a:tr>
              <a:tr h="5660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42950504"/>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710745653"/>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6"/>
                  </a:ext>
                </a:extLst>
              </a:tr>
            </a:tbl>
          </a:graphicData>
        </a:graphic>
      </p:graphicFrame>
      <p:sp>
        <p:nvSpPr>
          <p:cNvPr id="2" name="Title 1">
            <a:extLst>
              <a:ext uri="{FF2B5EF4-FFF2-40B4-BE49-F238E27FC236}">
                <a16:creationId xmlns:a16="http://schemas.microsoft.com/office/drawing/2014/main" id="{E0104F68-A9B6-4A9C-BD18-0301D1C829DB}"/>
              </a:ext>
            </a:extLst>
          </p:cNvPr>
          <p:cNvSpPr>
            <a:spLocks noGrp="1"/>
          </p:cNvSpPr>
          <p:nvPr>
            <p:ph type="title"/>
          </p:nvPr>
        </p:nvSpPr>
        <p:spPr>
          <a:xfrm>
            <a:off x="612325" y="295586"/>
            <a:ext cx="8596668" cy="783771"/>
          </a:xfrm>
        </p:spPr>
        <p:txBody>
          <a:bodyPr/>
          <a:lstStyle/>
          <a:p>
            <a:r>
              <a:rPr lang="en-US" dirty="0"/>
              <a:t>Develop Simplex Table 1</a:t>
            </a:r>
            <a:endParaRPr lang="en-US" dirty="0">
              <a:solidFill>
                <a:srgbClr val="FF0000"/>
              </a:solidFill>
            </a:endParaRPr>
          </a:p>
        </p:txBody>
      </p:sp>
      <p:sp>
        <p:nvSpPr>
          <p:cNvPr id="7" name="Rectangle 6">
            <a:extLst>
              <a:ext uri="{FF2B5EF4-FFF2-40B4-BE49-F238E27FC236}">
                <a16:creationId xmlns:a16="http://schemas.microsoft.com/office/drawing/2014/main" id="{C1CF63A2-5EB1-4F02-BAE7-B539E8E47C2C}"/>
              </a:ext>
            </a:extLst>
          </p:cNvPr>
          <p:cNvSpPr/>
          <p:nvPr/>
        </p:nvSpPr>
        <p:spPr>
          <a:xfrm>
            <a:off x="7918316" y="115095"/>
            <a:ext cx="4042145" cy="461665"/>
          </a:xfrm>
          <a:prstGeom prst="rect">
            <a:avLst/>
          </a:prstGeom>
        </p:spPr>
        <p:txBody>
          <a:bodyPr wrap="square">
            <a:spAutoFit/>
          </a:bodyPr>
          <a:lstStyle/>
          <a:p>
            <a:r>
              <a:rPr lang="en-US" sz="2400" i="1" dirty="0"/>
              <a:t>2 x1 + 2 x2  + S1 = 7</a:t>
            </a:r>
          </a:p>
        </p:txBody>
      </p:sp>
      <p:sp>
        <p:nvSpPr>
          <p:cNvPr id="9" name="Rectangle 8">
            <a:extLst>
              <a:ext uri="{FF2B5EF4-FFF2-40B4-BE49-F238E27FC236}">
                <a16:creationId xmlns:a16="http://schemas.microsoft.com/office/drawing/2014/main" id="{410D83FC-7940-402F-B5B0-F709D30A86A8}"/>
              </a:ext>
            </a:extLst>
          </p:cNvPr>
          <p:cNvSpPr/>
          <p:nvPr/>
        </p:nvSpPr>
        <p:spPr>
          <a:xfrm>
            <a:off x="3400869" y="1697022"/>
            <a:ext cx="5104502" cy="461665"/>
          </a:xfrm>
          <a:prstGeom prst="rect">
            <a:avLst/>
          </a:prstGeom>
        </p:spPr>
        <p:txBody>
          <a:bodyPr wrap="square">
            <a:spAutoFit/>
          </a:bodyPr>
          <a:lstStyle/>
          <a:p>
            <a:r>
              <a:rPr lang="en-US" sz="2400" i="1" dirty="0"/>
              <a:t> 2         3          0    	     0           0         </a:t>
            </a:r>
          </a:p>
        </p:txBody>
      </p:sp>
      <p:sp>
        <p:nvSpPr>
          <p:cNvPr id="11" name="Rectangle 10">
            <a:extLst>
              <a:ext uri="{FF2B5EF4-FFF2-40B4-BE49-F238E27FC236}">
                <a16:creationId xmlns:a16="http://schemas.microsoft.com/office/drawing/2014/main" id="{F37D74E3-585D-4E7D-90FB-90B97715A1C2}"/>
              </a:ext>
            </a:extLst>
          </p:cNvPr>
          <p:cNvSpPr/>
          <p:nvPr/>
        </p:nvSpPr>
        <p:spPr>
          <a:xfrm>
            <a:off x="3400868" y="2371750"/>
            <a:ext cx="5104502" cy="461665"/>
          </a:xfrm>
          <a:prstGeom prst="rect">
            <a:avLst/>
          </a:prstGeom>
        </p:spPr>
        <p:txBody>
          <a:bodyPr wrap="square">
            <a:spAutoFit/>
          </a:bodyPr>
          <a:lstStyle/>
          <a:p>
            <a:r>
              <a:rPr lang="en-US" sz="2400" i="1" dirty="0"/>
              <a:t> x1       x2        s1         s2        s3 </a:t>
            </a:r>
          </a:p>
        </p:txBody>
      </p:sp>
      <p:sp>
        <p:nvSpPr>
          <p:cNvPr id="12" name="Rectangle 11">
            <a:extLst>
              <a:ext uri="{FF2B5EF4-FFF2-40B4-BE49-F238E27FC236}">
                <a16:creationId xmlns:a16="http://schemas.microsoft.com/office/drawing/2014/main" id="{757A82B3-4AF2-4211-B555-0CE256758C51}"/>
              </a:ext>
            </a:extLst>
          </p:cNvPr>
          <p:cNvSpPr/>
          <p:nvPr/>
        </p:nvSpPr>
        <p:spPr>
          <a:xfrm>
            <a:off x="3400868" y="3003501"/>
            <a:ext cx="5104502" cy="461665"/>
          </a:xfrm>
          <a:prstGeom prst="rect">
            <a:avLst/>
          </a:prstGeom>
        </p:spPr>
        <p:txBody>
          <a:bodyPr wrap="square">
            <a:spAutoFit/>
          </a:bodyPr>
          <a:lstStyle/>
          <a:p>
            <a:r>
              <a:rPr lang="en-US" sz="2400" i="1" dirty="0"/>
              <a:t> 2         2          1         0          0</a:t>
            </a:r>
          </a:p>
        </p:txBody>
      </p:sp>
      <p:sp>
        <p:nvSpPr>
          <p:cNvPr id="13" name="Rectangle 12">
            <a:extLst>
              <a:ext uri="{FF2B5EF4-FFF2-40B4-BE49-F238E27FC236}">
                <a16:creationId xmlns:a16="http://schemas.microsoft.com/office/drawing/2014/main" id="{B09BCDD7-D76C-47F6-B1EB-32712B30B584}"/>
              </a:ext>
            </a:extLst>
          </p:cNvPr>
          <p:cNvSpPr/>
          <p:nvPr/>
        </p:nvSpPr>
        <p:spPr>
          <a:xfrm>
            <a:off x="854630" y="878868"/>
            <a:ext cx="9005649" cy="523220"/>
          </a:xfrm>
          <a:prstGeom prst="rect">
            <a:avLst/>
          </a:prstGeom>
        </p:spPr>
        <p:txBody>
          <a:bodyPr wrap="square">
            <a:spAutoFit/>
          </a:bodyPr>
          <a:lstStyle/>
          <a:p>
            <a:r>
              <a:rPr lang="en-US" sz="2800" b="1" dirty="0"/>
              <a:t>Max Z = 2 x1 + 3 x2 + 0S1 + 0S2 + 0S3</a:t>
            </a:r>
          </a:p>
        </p:txBody>
      </p:sp>
      <p:cxnSp>
        <p:nvCxnSpPr>
          <p:cNvPr id="15" name="Straight Arrow Connector 14">
            <a:extLst>
              <a:ext uri="{FF2B5EF4-FFF2-40B4-BE49-F238E27FC236}">
                <a16:creationId xmlns:a16="http://schemas.microsoft.com/office/drawing/2014/main" id="{410D4A1B-B99D-4B4E-ADFF-EB306D4999FF}"/>
              </a:ext>
            </a:extLst>
          </p:cNvPr>
          <p:cNvCxnSpPr/>
          <p:nvPr/>
        </p:nvCxnSpPr>
        <p:spPr>
          <a:xfrm>
            <a:off x="2336801" y="2115145"/>
            <a:ext cx="68217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548FD16-BD95-4D14-B781-9F8506602B86}"/>
              </a:ext>
            </a:extLst>
          </p:cNvPr>
          <p:cNvCxnSpPr>
            <a:cxnSpLocks/>
          </p:cNvCxnSpPr>
          <p:nvPr/>
        </p:nvCxnSpPr>
        <p:spPr>
          <a:xfrm>
            <a:off x="1172925" y="1710137"/>
            <a:ext cx="0" cy="3048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EAA07C5-7CB8-41BA-A3DB-4DA4310081CE}"/>
              </a:ext>
            </a:extLst>
          </p:cNvPr>
          <p:cNvSpPr/>
          <p:nvPr/>
        </p:nvSpPr>
        <p:spPr>
          <a:xfrm>
            <a:off x="2393491" y="2945444"/>
            <a:ext cx="568790" cy="461665"/>
          </a:xfrm>
          <a:prstGeom prst="rect">
            <a:avLst/>
          </a:prstGeom>
        </p:spPr>
        <p:txBody>
          <a:bodyPr wrap="square">
            <a:spAutoFit/>
          </a:bodyPr>
          <a:lstStyle/>
          <a:p>
            <a:r>
              <a:rPr lang="en-US" sz="2400" i="1" dirty="0"/>
              <a:t>s1</a:t>
            </a:r>
          </a:p>
        </p:txBody>
      </p:sp>
      <p:sp>
        <p:nvSpPr>
          <p:cNvPr id="23" name="Rectangle 22">
            <a:extLst>
              <a:ext uri="{FF2B5EF4-FFF2-40B4-BE49-F238E27FC236}">
                <a16:creationId xmlns:a16="http://schemas.microsoft.com/office/drawing/2014/main" id="{B929374A-8C0A-469C-9C8B-CA3690C3781C}"/>
              </a:ext>
            </a:extLst>
          </p:cNvPr>
          <p:cNvSpPr/>
          <p:nvPr/>
        </p:nvSpPr>
        <p:spPr>
          <a:xfrm>
            <a:off x="2373087" y="3573498"/>
            <a:ext cx="545652" cy="461665"/>
          </a:xfrm>
          <a:prstGeom prst="rect">
            <a:avLst/>
          </a:prstGeom>
        </p:spPr>
        <p:txBody>
          <a:bodyPr wrap="square">
            <a:spAutoFit/>
          </a:bodyPr>
          <a:lstStyle/>
          <a:p>
            <a:r>
              <a:rPr lang="en-US" sz="2400" i="1" dirty="0"/>
              <a:t>s2</a:t>
            </a:r>
          </a:p>
        </p:txBody>
      </p:sp>
      <p:sp>
        <p:nvSpPr>
          <p:cNvPr id="24" name="Rectangle 23">
            <a:extLst>
              <a:ext uri="{FF2B5EF4-FFF2-40B4-BE49-F238E27FC236}">
                <a16:creationId xmlns:a16="http://schemas.microsoft.com/office/drawing/2014/main" id="{4ADF7ACF-FD93-43D4-8E85-9985894350A9}"/>
              </a:ext>
            </a:extLst>
          </p:cNvPr>
          <p:cNvSpPr/>
          <p:nvPr/>
        </p:nvSpPr>
        <p:spPr>
          <a:xfrm>
            <a:off x="1291769" y="2913101"/>
            <a:ext cx="545652" cy="461665"/>
          </a:xfrm>
          <a:prstGeom prst="rect">
            <a:avLst/>
          </a:prstGeom>
        </p:spPr>
        <p:txBody>
          <a:bodyPr wrap="square">
            <a:spAutoFit/>
          </a:bodyPr>
          <a:lstStyle/>
          <a:p>
            <a:r>
              <a:rPr lang="en-US" sz="2400" i="1" dirty="0"/>
              <a:t>0</a:t>
            </a:r>
          </a:p>
        </p:txBody>
      </p:sp>
      <p:sp>
        <p:nvSpPr>
          <p:cNvPr id="25" name="Rectangle 24">
            <a:extLst>
              <a:ext uri="{FF2B5EF4-FFF2-40B4-BE49-F238E27FC236}">
                <a16:creationId xmlns:a16="http://schemas.microsoft.com/office/drawing/2014/main" id="{9E86616C-E86D-4453-A38C-BA3C33953E0C}"/>
              </a:ext>
            </a:extLst>
          </p:cNvPr>
          <p:cNvSpPr/>
          <p:nvPr/>
        </p:nvSpPr>
        <p:spPr>
          <a:xfrm>
            <a:off x="1269994" y="3529959"/>
            <a:ext cx="545652" cy="461665"/>
          </a:xfrm>
          <a:prstGeom prst="rect">
            <a:avLst/>
          </a:prstGeom>
        </p:spPr>
        <p:txBody>
          <a:bodyPr wrap="square">
            <a:spAutoFit/>
          </a:bodyPr>
          <a:lstStyle/>
          <a:p>
            <a:r>
              <a:rPr lang="en-US" sz="2400" i="1" dirty="0"/>
              <a:t>0</a:t>
            </a:r>
          </a:p>
        </p:txBody>
      </p:sp>
      <p:sp>
        <p:nvSpPr>
          <p:cNvPr id="26" name="Rectangle 25">
            <a:extLst>
              <a:ext uri="{FF2B5EF4-FFF2-40B4-BE49-F238E27FC236}">
                <a16:creationId xmlns:a16="http://schemas.microsoft.com/office/drawing/2014/main" id="{61767C4E-49EF-47CF-86DE-2F892C5C7B5A}"/>
              </a:ext>
            </a:extLst>
          </p:cNvPr>
          <p:cNvSpPr/>
          <p:nvPr/>
        </p:nvSpPr>
        <p:spPr>
          <a:xfrm>
            <a:off x="7918316" y="598275"/>
            <a:ext cx="3579138" cy="461665"/>
          </a:xfrm>
          <a:prstGeom prst="rect">
            <a:avLst/>
          </a:prstGeom>
        </p:spPr>
        <p:txBody>
          <a:bodyPr wrap="square">
            <a:spAutoFit/>
          </a:bodyPr>
          <a:lstStyle/>
          <a:p>
            <a:r>
              <a:rPr lang="en-US" sz="2400" i="1" dirty="0"/>
              <a:t>x1 + S2 = 2</a:t>
            </a:r>
          </a:p>
        </p:txBody>
      </p:sp>
      <p:sp>
        <p:nvSpPr>
          <p:cNvPr id="27" name="Rectangle 26">
            <a:extLst>
              <a:ext uri="{FF2B5EF4-FFF2-40B4-BE49-F238E27FC236}">
                <a16:creationId xmlns:a16="http://schemas.microsoft.com/office/drawing/2014/main" id="{B46BB860-9FCC-471B-B1DB-CC177706B8CB}"/>
              </a:ext>
            </a:extLst>
          </p:cNvPr>
          <p:cNvSpPr/>
          <p:nvPr/>
        </p:nvSpPr>
        <p:spPr>
          <a:xfrm>
            <a:off x="3350066" y="3547784"/>
            <a:ext cx="5155304" cy="461665"/>
          </a:xfrm>
          <a:prstGeom prst="rect">
            <a:avLst/>
          </a:prstGeom>
        </p:spPr>
        <p:txBody>
          <a:bodyPr wrap="square">
            <a:spAutoFit/>
          </a:bodyPr>
          <a:lstStyle/>
          <a:p>
            <a:r>
              <a:rPr lang="en-US" sz="2400" i="1" dirty="0"/>
              <a:t>  1         0         0         1          0</a:t>
            </a:r>
          </a:p>
        </p:txBody>
      </p:sp>
      <p:sp>
        <p:nvSpPr>
          <p:cNvPr id="28" name="Rectangle 27">
            <a:extLst>
              <a:ext uri="{FF2B5EF4-FFF2-40B4-BE49-F238E27FC236}">
                <a16:creationId xmlns:a16="http://schemas.microsoft.com/office/drawing/2014/main" id="{0D4EF912-F04E-42A7-AC8F-9EF06B662B91}"/>
              </a:ext>
            </a:extLst>
          </p:cNvPr>
          <p:cNvSpPr/>
          <p:nvPr/>
        </p:nvSpPr>
        <p:spPr>
          <a:xfrm>
            <a:off x="2305771" y="4617916"/>
            <a:ext cx="545652" cy="461665"/>
          </a:xfrm>
          <a:prstGeom prst="rect">
            <a:avLst/>
          </a:prstGeom>
        </p:spPr>
        <p:txBody>
          <a:bodyPr wrap="square">
            <a:spAutoFit/>
          </a:bodyPr>
          <a:lstStyle/>
          <a:p>
            <a:r>
              <a:rPr lang="en-US" sz="2400" i="1" dirty="0" err="1"/>
              <a:t>Zj</a:t>
            </a:r>
            <a:endParaRPr lang="en-US" sz="2400" i="1" dirty="0"/>
          </a:p>
        </p:txBody>
      </p:sp>
      <p:sp>
        <p:nvSpPr>
          <p:cNvPr id="31" name="Rectangle 30">
            <a:extLst>
              <a:ext uri="{FF2B5EF4-FFF2-40B4-BE49-F238E27FC236}">
                <a16:creationId xmlns:a16="http://schemas.microsoft.com/office/drawing/2014/main" id="{864F2EA2-D3FA-4B29-B824-58D41C0151C4}"/>
              </a:ext>
            </a:extLst>
          </p:cNvPr>
          <p:cNvSpPr/>
          <p:nvPr/>
        </p:nvSpPr>
        <p:spPr>
          <a:xfrm>
            <a:off x="3274130" y="4631274"/>
            <a:ext cx="6710549" cy="461665"/>
          </a:xfrm>
          <a:prstGeom prst="rect">
            <a:avLst/>
          </a:prstGeom>
        </p:spPr>
        <p:txBody>
          <a:bodyPr wrap="square">
            <a:spAutoFit/>
          </a:bodyPr>
          <a:lstStyle/>
          <a:p>
            <a:r>
              <a:rPr lang="en-US" sz="2400" i="1" dirty="0"/>
              <a:t>  0          0          0         0          0</a:t>
            </a:r>
          </a:p>
        </p:txBody>
      </p:sp>
      <p:sp>
        <p:nvSpPr>
          <p:cNvPr id="32" name="Rectangle 31">
            <a:extLst>
              <a:ext uri="{FF2B5EF4-FFF2-40B4-BE49-F238E27FC236}">
                <a16:creationId xmlns:a16="http://schemas.microsoft.com/office/drawing/2014/main" id="{0F04E717-3391-46C1-9958-6624DF084ED4}"/>
              </a:ext>
            </a:extLst>
          </p:cNvPr>
          <p:cNvSpPr/>
          <p:nvPr/>
        </p:nvSpPr>
        <p:spPr>
          <a:xfrm>
            <a:off x="2043147" y="5106560"/>
            <a:ext cx="1211943" cy="461665"/>
          </a:xfrm>
          <a:prstGeom prst="rect">
            <a:avLst/>
          </a:prstGeom>
        </p:spPr>
        <p:txBody>
          <a:bodyPr wrap="square">
            <a:spAutoFit/>
          </a:bodyPr>
          <a:lstStyle/>
          <a:p>
            <a:r>
              <a:rPr lang="en-US" sz="2400" i="1" dirty="0" err="1"/>
              <a:t>Cj</a:t>
            </a:r>
            <a:r>
              <a:rPr lang="en-US" sz="2400" i="1" dirty="0"/>
              <a:t> - </a:t>
            </a:r>
            <a:r>
              <a:rPr lang="en-US" sz="2400" i="1" dirty="0" err="1"/>
              <a:t>Zj</a:t>
            </a:r>
            <a:endParaRPr lang="en-US" sz="2400" i="1" dirty="0"/>
          </a:p>
        </p:txBody>
      </p:sp>
      <p:sp>
        <p:nvSpPr>
          <p:cNvPr id="33" name="Rectangle 32">
            <a:extLst>
              <a:ext uri="{FF2B5EF4-FFF2-40B4-BE49-F238E27FC236}">
                <a16:creationId xmlns:a16="http://schemas.microsoft.com/office/drawing/2014/main" id="{2B65CB3B-095B-4A91-A457-6D5825DEABD9}"/>
              </a:ext>
            </a:extLst>
          </p:cNvPr>
          <p:cNvSpPr/>
          <p:nvPr/>
        </p:nvSpPr>
        <p:spPr>
          <a:xfrm>
            <a:off x="3274130" y="5121073"/>
            <a:ext cx="6710549" cy="461665"/>
          </a:xfrm>
          <a:prstGeom prst="rect">
            <a:avLst/>
          </a:prstGeom>
        </p:spPr>
        <p:txBody>
          <a:bodyPr wrap="square">
            <a:spAutoFit/>
          </a:bodyPr>
          <a:lstStyle/>
          <a:p>
            <a:r>
              <a:rPr lang="en-US" sz="2400" i="1" dirty="0"/>
              <a:t>  2         3           0         0          0</a:t>
            </a:r>
          </a:p>
        </p:txBody>
      </p:sp>
      <p:sp>
        <p:nvSpPr>
          <p:cNvPr id="29" name="Content Placeholder 2">
            <a:extLst>
              <a:ext uri="{FF2B5EF4-FFF2-40B4-BE49-F238E27FC236}">
                <a16:creationId xmlns:a16="http://schemas.microsoft.com/office/drawing/2014/main" id="{6D549934-B5C7-4BE4-AFEE-E37A4572DD24}"/>
              </a:ext>
            </a:extLst>
          </p:cNvPr>
          <p:cNvSpPr>
            <a:spLocks noGrp="1"/>
          </p:cNvSpPr>
          <p:nvPr>
            <p:ph idx="1"/>
          </p:nvPr>
        </p:nvSpPr>
        <p:spPr>
          <a:xfrm>
            <a:off x="871440" y="5946401"/>
            <a:ext cx="6419202" cy="643545"/>
          </a:xfrm>
        </p:spPr>
        <p:txBody>
          <a:bodyPr>
            <a:normAutofit/>
          </a:bodyPr>
          <a:lstStyle/>
          <a:p>
            <a:pPr marL="0" indent="0">
              <a:buNone/>
            </a:pPr>
            <a:r>
              <a:rPr lang="en-US" sz="3200" dirty="0"/>
              <a:t>For Maximization All </a:t>
            </a:r>
            <a:r>
              <a:rPr lang="en-US" sz="3200" dirty="0" err="1"/>
              <a:t>Cj</a:t>
            </a:r>
            <a:r>
              <a:rPr lang="en-US" sz="3200" dirty="0"/>
              <a:t> – </a:t>
            </a:r>
            <a:r>
              <a:rPr lang="en-US" sz="3200" dirty="0" err="1"/>
              <a:t>Zj</a:t>
            </a:r>
            <a:r>
              <a:rPr lang="en-US" sz="3200" dirty="0"/>
              <a:t> &lt;= 0</a:t>
            </a:r>
            <a:endParaRPr lang="en-US" dirty="0"/>
          </a:p>
        </p:txBody>
      </p:sp>
      <p:sp>
        <p:nvSpPr>
          <p:cNvPr id="36" name="Speech Bubble: Oval 35">
            <a:extLst>
              <a:ext uri="{FF2B5EF4-FFF2-40B4-BE49-F238E27FC236}">
                <a16:creationId xmlns:a16="http://schemas.microsoft.com/office/drawing/2014/main" id="{980D3445-589B-43E6-AA02-43DA0A06A5D1}"/>
              </a:ext>
            </a:extLst>
          </p:cNvPr>
          <p:cNvSpPr/>
          <p:nvPr/>
        </p:nvSpPr>
        <p:spPr>
          <a:xfrm>
            <a:off x="4323994" y="5946273"/>
            <a:ext cx="2066919" cy="657365"/>
          </a:xfrm>
          <a:prstGeom prst="wedgeEllipseCallout">
            <a:avLst>
              <a:gd name="adj1" fmla="val -21774"/>
              <a:gd name="adj2" fmla="val -1374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Most Positive</a:t>
            </a:r>
          </a:p>
        </p:txBody>
      </p:sp>
      <p:sp>
        <p:nvSpPr>
          <p:cNvPr id="37" name="Speech Bubble: Oval 36">
            <a:extLst>
              <a:ext uri="{FF2B5EF4-FFF2-40B4-BE49-F238E27FC236}">
                <a16:creationId xmlns:a16="http://schemas.microsoft.com/office/drawing/2014/main" id="{60386F8E-DDD6-4679-8A97-1E5AD0262A95}"/>
              </a:ext>
            </a:extLst>
          </p:cNvPr>
          <p:cNvSpPr/>
          <p:nvPr/>
        </p:nvSpPr>
        <p:spPr>
          <a:xfrm>
            <a:off x="10328279" y="2874181"/>
            <a:ext cx="1722551" cy="657365"/>
          </a:xfrm>
          <a:prstGeom prst="wedgeEllipseCallout">
            <a:avLst>
              <a:gd name="adj1" fmla="val -56651"/>
              <a:gd name="adj2" fmla="val 1684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Least Positive</a:t>
            </a:r>
          </a:p>
        </p:txBody>
      </p:sp>
      <p:sp>
        <p:nvSpPr>
          <p:cNvPr id="38" name="Rectangle 37">
            <a:extLst>
              <a:ext uri="{FF2B5EF4-FFF2-40B4-BE49-F238E27FC236}">
                <a16:creationId xmlns:a16="http://schemas.microsoft.com/office/drawing/2014/main" id="{C6F83CCA-0248-4E65-AE79-34017C9C7D43}"/>
              </a:ext>
            </a:extLst>
          </p:cNvPr>
          <p:cNvSpPr/>
          <p:nvPr/>
        </p:nvSpPr>
        <p:spPr>
          <a:xfrm>
            <a:off x="8697423" y="2999669"/>
            <a:ext cx="545652" cy="461665"/>
          </a:xfrm>
          <a:prstGeom prst="rect">
            <a:avLst/>
          </a:prstGeom>
        </p:spPr>
        <p:txBody>
          <a:bodyPr wrap="square">
            <a:spAutoFit/>
          </a:bodyPr>
          <a:lstStyle/>
          <a:p>
            <a:r>
              <a:rPr lang="en-US" sz="2400" i="1" dirty="0"/>
              <a:t>7</a:t>
            </a:r>
          </a:p>
        </p:txBody>
      </p:sp>
      <p:sp>
        <p:nvSpPr>
          <p:cNvPr id="39" name="Rectangle 38">
            <a:extLst>
              <a:ext uri="{FF2B5EF4-FFF2-40B4-BE49-F238E27FC236}">
                <a16:creationId xmlns:a16="http://schemas.microsoft.com/office/drawing/2014/main" id="{ED484AD5-E75D-43EE-99F3-8E98AC6DD160}"/>
              </a:ext>
            </a:extLst>
          </p:cNvPr>
          <p:cNvSpPr/>
          <p:nvPr/>
        </p:nvSpPr>
        <p:spPr>
          <a:xfrm>
            <a:off x="8692384" y="3573498"/>
            <a:ext cx="545652" cy="461665"/>
          </a:xfrm>
          <a:prstGeom prst="rect">
            <a:avLst/>
          </a:prstGeom>
        </p:spPr>
        <p:txBody>
          <a:bodyPr wrap="square">
            <a:spAutoFit/>
          </a:bodyPr>
          <a:lstStyle/>
          <a:p>
            <a:r>
              <a:rPr lang="en-US" sz="2400" i="1" dirty="0"/>
              <a:t>2</a:t>
            </a:r>
          </a:p>
        </p:txBody>
      </p:sp>
      <p:sp>
        <p:nvSpPr>
          <p:cNvPr id="30" name="Rectangle 29">
            <a:extLst>
              <a:ext uri="{FF2B5EF4-FFF2-40B4-BE49-F238E27FC236}">
                <a16:creationId xmlns:a16="http://schemas.microsoft.com/office/drawing/2014/main" id="{61767C4E-49EF-47CF-86DE-2F892C5C7B5A}"/>
              </a:ext>
            </a:extLst>
          </p:cNvPr>
          <p:cNvSpPr/>
          <p:nvPr/>
        </p:nvSpPr>
        <p:spPr>
          <a:xfrm>
            <a:off x="7805735" y="1067031"/>
            <a:ext cx="3579138" cy="461665"/>
          </a:xfrm>
          <a:prstGeom prst="rect">
            <a:avLst/>
          </a:prstGeom>
        </p:spPr>
        <p:txBody>
          <a:bodyPr wrap="square">
            <a:spAutoFit/>
          </a:bodyPr>
          <a:lstStyle/>
          <a:p>
            <a:r>
              <a:rPr lang="en-US" sz="2400" i="1" dirty="0"/>
              <a:t> x2 + S3 = 2</a:t>
            </a:r>
          </a:p>
        </p:txBody>
      </p:sp>
      <p:sp>
        <p:nvSpPr>
          <p:cNvPr id="40" name="Rectangle 39">
            <a:extLst>
              <a:ext uri="{FF2B5EF4-FFF2-40B4-BE49-F238E27FC236}">
                <a16:creationId xmlns:a16="http://schemas.microsoft.com/office/drawing/2014/main" id="{B929374A-8C0A-469C-9C8B-CA3690C3781C}"/>
              </a:ext>
            </a:extLst>
          </p:cNvPr>
          <p:cNvSpPr/>
          <p:nvPr/>
        </p:nvSpPr>
        <p:spPr>
          <a:xfrm>
            <a:off x="2373087" y="4069923"/>
            <a:ext cx="545652" cy="461665"/>
          </a:xfrm>
          <a:prstGeom prst="rect">
            <a:avLst/>
          </a:prstGeom>
        </p:spPr>
        <p:txBody>
          <a:bodyPr wrap="square">
            <a:spAutoFit/>
          </a:bodyPr>
          <a:lstStyle/>
          <a:p>
            <a:r>
              <a:rPr lang="en-US" sz="2400" i="1" dirty="0"/>
              <a:t>s3</a:t>
            </a:r>
          </a:p>
        </p:txBody>
      </p:sp>
      <p:sp>
        <p:nvSpPr>
          <p:cNvPr id="41" name="Rectangle 40">
            <a:extLst>
              <a:ext uri="{FF2B5EF4-FFF2-40B4-BE49-F238E27FC236}">
                <a16:creationId xmlns:a16="http://schemas.microsoft.com/office/drawing/2014/main" id="{B46BB860-9FCC-471B-B1DB-CC177706B8CB}"/>
              </a:ext>
            </a:extLst>
          </p:cNvPr>
          <p:cNvSpPr/>
          <p:nvPr/>
        </p:nvSpPr>
        <p:spPr>
          <a:xfrm>
            <a:off x="3311757" y="4114410"/>
            <a:ext cx="5193613" cy="461665"/>
          </a:xfrm>
          <a:prstGeom prst="rect">
            <a:avLst/>
          </a:prstGeom>
        </p:spPr>
        <p:txBody>
          <a:bodyPr wrap="square">
            <a:spAutoFit/>
          </a:bodyPr>
          <a:lstStyle/>
          <a:p>
            <a:r>
              <a:rPr lang="en-US" sz="2400" i="1" dirty="0"/>
              <a:t>  0         1          0         0          1</a:t>
            </a:r>
          </a:p>
        </p:txBody>
      </p:sp>
      <p:sp>
        <p:nvSpPr>
          <p:cNvPr id="42" name="Rectangle 41">
            <a:extLst>
              <a:ext uri="{FF2B5EF4-FFF2-40B4-BE49-F238E27FC236}">
                <a16:creationId xmlns:a16="http://schemas.microsoft.com/office/drawing/2014/main" id="{9E86616C-E86D-4453-A38C-BA3C33953E0C}"/>
              </a:ext>
            </a:extLst>
          </p:cNvPr>
          <p:cNvSpPr/>
          <p:nvPr/>
        </p:nvSpPr>
        <p:spPr>
          <a:xfrm>
            <a:off x="1245902" y="4124454"/>
            <a:ext cx="545652" cy="461665"/>
          </a:xfrm>
          <a:prstGeom prst="rect">
            <a:avLst/>
          </a:prstGeom>
        </p:spPr>
        <p:txBody>
          <a:bodyPr wrap="square">
            <a:spAutoFit/>
          </a:bodyPr>
          <a:lstStyle/>
          <a:p>
            <a:r>
              <a:rPr lang="en-US" sz="2400" i="1" dirty="0"/>
              <a:t>0</a:t>
            </a:r>
          </a:p>
        </p:txBody>
      </p:sp>
      <p:sp>
        <p:nvSpPr>
          <p:cNvPr id="43" name="Rectangle 42">
            <a:extLst>
              <a:ext uri="{FF2B5EF4-FFF2-40B4-BE49-F238E27FC236}">
                <a16:creationId xmlns:a16="http://schemas.microsoft.com/office/drawing/2014/main" id="{ED484AD5-E75D-43EE-99F3-8E98AC6DD160}"/>
              </a:ext>
            </a:extLst>
          </p:cNvPr>
          <p:cNvSpPr/>
          <p:nvPr/>
        </p:nvSpPr>
        <p:spPr>
          <a:xfrm>
            <a:off x="8692384" y="4156251"/>
            <a:ext cx="545652" cy="461665"/>
          </a:xfrm>
          <a:prstGeom prst="rect">
            <a:avLst/>
          </a:prstGeom>
        </p:spPr>
        <p:txBody>
          <a:bodyPr wrap="square">
            <a:spAutoFit/>
          </a:bodyPr>
          <a:lstStyle/>
          <a:p>
            <a:r>
              <a:rPr lang="en-US" sz="2400" i="1" dirty="0"/>
              <a:t>2</a:t>
            </a:r>
          </a:p>
        </p:txBody>
      </p:sp>
      <p:sp>
        <p:nvSpPr>
          <p:cNvPr id="44" name="Rectangle 43">
            <a:extLst>
              <a:ext uri="{FF2B5EF4-FFF2-40B4-BE49-F238E27FC236}">
                <a16:creationId xmlns:a16="http://schemas.microsoft.com/office/drawing/2014/main" id="{C6F83CCA-0248-4E65-AE79-34017C9C7D43}"/>
              </a:ext>
            </a:extLst>
          </p:cNvPr>
          <p:cNvSpPr/>
          <p:nvPr/>
        </p:nvSpPr>
        <p:spPr>
          <a:xfrm>
            <a:off x="9617199" y="2977778"/>
            <a:ext cx="795388" cy="461665"/>
          </a:xfrm>
          <a:prstGeom prst="rect">
            <a:avLst/>
          </a:prstGeom>
        </p:spPr>
        <p:txBody>
          <a:bodyPr wrap="square">
            <a:spAutoFit/>
          </a:bodyPr>
          <a:lstStyle/>
          <a:p>
            <a:r>
              <a:rPr lang="en-US" sz="2400" i="1" dirty="0"/>
              <a:t>7/2</a:t>
            </a:r>
          </a:p>
        </p:txBody>
      </p:sp>
      <p:sp>
        <p:nvSpPr>
          <p:cNvPr id="45" name="Rectangle 44">
            <a:extLst>
              <a:ext uri="{FF2B5EF4-FFF2-40B4-BE49-F238E27FC236}">
                <a16:creationId xmlns:a16="http://schemas.microsoft.com/office/drawing/2014/main" id="{ED484AD5-E75D-43EE-99F3-8E98AC6DD160}"/>
              </a:ext>
            </a:extLst>
          </p:cNvPr>
          <p:cNvSpPr/>
          <p:nvPr/>
        </p:nvSpPr>
        <p:spPr>
          <a:xfrm>
            <a:off x="9505949" y="3584849"/>
            <a:ext cx="1144563" cy="369332"/>
          </a:xfrm>
          <a:prstGeom prst="rect">
            <a:avLst/>
          </a:prstGeom>
        </p:spPr>
        <p:txBody>
          <a:bodyPr wrap="square">
            <a:spAutoFit/>
          </a:bodyPr>
          <a:lstStyle/>
          <a:p>
            <a:r>
              <a:rPr lang="en-US" i="1" dirty="0"/>
              <a:t>Infinity</a:t>
            </a:r>
            <a:endParaRPr lang="en-US" sz="2400" i="1" dirty="0"/>
          </a:p>
        </p:txBody>
      </p:sp>
      <p:sp>
        <p:nvSpPr>
          <p:cNvPr id="46" name="Rectangle 45">
            <a:extLst>
              <a:ext uri="{FF2B5EF4-FFF2-40B4-BE49-F238E27FC236}">
                <a16:creationId xmlns:a16="http://schemas.microsoft.com/office/drawing/2014/main" id="{ED484AD5-E75D-43EE-99F3-8E98AC6DD160}"/>
              </a:ext>
            </a:extLst>
          </p:cNvPr>
          <p:cNvSpPr/>
          <p:nvPr/>
        </p:nvSpPr>
        <p:spPr>
          <a:xfrm>
            <a:off x="9742067" y="4121016"/>
            <a:ext cx="545652" cy="461665"/>
          </a:xfrm>
          <a:prstGeom prst="rect">
            <a:avLst/>
          </a:prstGeom>
        </p:spPr>
        <p:txBody>
          <a:bodyPr wrap="square">
            <a:spAutoFit/>
          </a:bodyPr>
          <a:lstStyle/>
          <a:p>
            <a:r>
              <a:rPr lang="en-US" sz="2400" i="1" dirty="0"/>
              <a:t>2</a:t>
            </a:r>
          </a:p>
        </p:txBody>
      </p:sp>
    </p:spTree>
    <p:extLst>
      <p:ext uri="{BB962C8B-B14F-4D97-AF65-F5344CB8AC3E}">
        <p14:creationId xmlns:p14="http://schemas.microsoft.com/office/powerpoint/2010/main" val="2872762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71E67375-E3EE-40B5-87CB-30E7A2D207D3}"/>
              </a:ext>
            </a:extLst>
          </p:cNvPr>
          <p:cNvSpPr/>
          <p:nvPr/>
        </p:nvSpPr>
        <p:spPr>
          <a:xfrm>
            <a:off x="3197032" y="1443020"/>
            <a:ext cx="806911" cy="43971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4CD2553B-114A-43DA-A238-B44DFBAD1650}"/>
              </a:ext>
            </a:extLst>
          </p:cNvPr>
          <p:cNvSpPr/>
          <p:nvPr/>
        </p:nvSpPr>
        <p:spPr>
          <a:xfrm>
            <a:off x="2962281" y="2960101"/>
            <a:ext cx="7756985" cy="5944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2C90F907-3B83-4F24-B3E9-103787B534F5}"/>
              </a:ext>
            </a:extLst>
          </p:cNvPr>
          <p:cNvGraphicFramePr>
            <a:graphicFrameLocks noGrp="1"/>
          </p:cNvGraphicFramePr>
          <p:nvPr/>
        </p:nvGraphicFramePr>
        <p:xfrm>
          <a:off x="911667" y="1564395"/>
          <a:ext cx="9603935" cy="4099076"/>
        </p:xfrm>
        <a:graphic>
          <a:graphicData uri="http://schemas.openxmlformats.org/drawingml/2006/table">
            <a:tbl>
              <a:tblPr firstRow="1" bandRow="1">
                <a:tableStyleId>{5940675A-B579-460E-94D1-54222C63F5DA}</a:tableStyleId>
              </a:tblPr>
              <a:tblGrid>
                <a:gridCol w="1067104">
                  <a:extLst>
                    <a:ext uri="{9D8B030D-6E8A-4147-A177-3AD203B41FA5}">
                      <a16:colId xmlns:a16="http://schemas.microsoft.com/office/drawing/2014/main" val="2905360103"/>
                    </a:ext>
                  </a:extLst>
                </a:gridCol>
                <a:gridCol w="1213200">
                  <a:extLst>
                    <a:ext uri="{9D8B030D-6E8A-4147-A177-3AD203B41FA5}">
                      <a16:colId xmlns:a16="http://schemas.microsoft.com/office/drawing/2014/main" val="3101827574"/>
                    </a:ext>
                  </a:extLst>
                </a:gridCol>
                <a:gridCol w="921007">
                  <a:extLst>
                    <a:ext uri="{9D8B030D-6E8A-4147-A177-3AD203B41FA5}">
                      <a16:colId xmlns:a16="http://schemas.microsoft.com/office/drawing/2014/main" val="3349711521"/>
                    </a:ext>
                  </a:extLst>
                </a:gridCol>
                <a:gridCol w="1067104">
                  <a:extLst>
                    <a:ext uri="{9D8B030D-6E8A-4147-A177-3AD203B41FA5}">
                      <a16:colId xmlns:a16="http://schemas.microsoft.com/office/drawing/2014/main" val="2361876258"/>
                    </a:ext>
                  </a:extLst>
                </a:gridCol>
                <a:gridCol w="1067104">
                  <a:extLst>
                    <a:ext uri="{9D8B030D-6E8A-4147-A177-3AD203B41FA5}">
                      <a16:colId xmlns:a16="http://schemas.microsoft.com/office/drawing/2014/main" val="3236378667"/>
                    </a:ext>
                  </a:extLst>
                </a:gridCol>
                <a:gridCol w="1067104">
                  <a:extLst>
                    <a:ext uri="{9D8B030D-6E8A-4147-A177-3AD203B41FA5}">
                      <a16:colId xmlns:a16="http://schemas.microsoft.com/office/drawing/2014/main" val="2968160148"/>
                    </a:ext>
                  </a:extLst>
                </a:gridCol>
                <a:gridCol w="1067104">
                  <a:extLst>
                    <a:ext uri="{9D8B030D-6E8A-4147-A177-3AD203B41FA5}">
                      <a16:colId xmlns:a16="http://schemas.microsoft.com/office/drawing/2014/main" val="1976915298"/>
                    </a:ext>
                  </a:extLst>
                </a:gridCol>
                <a:gridCol w="1067104">
                  <a:extLst>
                    <a:ext uri="{9D8B030D-6E8A-4147-A177-3AD203B41FA5}">
                      <a16:colId xmlns:a16="http://schemas.microsoft.com/office/drawing/2014/main" val="3368023288"/>
                    </a:ext>
                  </a:extLst>
                </a:gridCol>
                <a:gridCol w="1067104">
                  <a:extLst>
                    <a:ext uri="{9D8B030D-6E8A-4147-A177-3AD203B41FA5}">
                      <a16:colId xmlns:a16="http://schemas.microsoft.com/office/drawing/2014/main" val="20008"/>
                    </a:ext>
                  </a:extLst>
                </a:gridCol>
              </a:tblGrid>
              <a:tr h="665494">
                <a:tc>
                  <a:txBody>
                    <a:bodyPr/>
                    <a:lstStyle/>
                    <a:p>
                      <a:pPr algn="ctr"/>
                      <a:r>
                        <a:rPr lang="en-US" b="1" dirty="0"/>
                        <a:t>C Bi</a:t>
                      </a:r>
                    </a:p>
                  </a:txBody>
                  <a:tcPr anchor="ctr"/>
                </a:tc>
                <a:tc>
                  <a:txBody>
                    <a:bodyPr/>
                    <a:lstStyle/>
                    <a:p>
                      <a:pPr algn="ctr"/>
                      <a:r>
                        <a:rPr lang="en-US" b="1" dirty="0"/>
                        <a:t> </a:t>
                      </a:r>
                      <a:r>
                        <a:rPr lang="en-US" b="1" dirty="0" err="1"/>
                        <a:t>Cj</a:t>
                      </a: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endParaRPr lang="en-US"/>
                    </a:p>
                  </a:txBody>
                  <a:tcPr anchor="ctr"/>
                </a:tc>
                <a:tc>
                  <a:txBody>
                    <a:bodyPr/>
                    <a:lstStyle/>
                    <a:p>
                      <a:pPr algn="ctr"/>
                      <a:r>
                        <a:rPr lang="en-US" b="1" dirty="0"/>
                        <a:t>Solution</a:t>
                      </a:r>
                    </a:p>
                  </a:txBody>
                  <a:tcPr anchor="ctr"/>
                </a:tc>
                <a:tc>
                  <a:txBody>
                    <a:bodyPr/>
                    <a:lstStyle/>
                    <a:p>
                      <a:pPr algn="ctr"/>
                      <a:r>
                        <a:rPr lang="en-US" b="1" dirty="0"/>
                        <a:t>Ratio</a:t>
                      </a:r>
                    </a:p>
                  </a:txBody>
                  <a:tcPr anchor="ctr"/>
                </a:tc>
                <a:extLst>
                  <a:ext uri="{0D108BD9-81ED-4DB2-BD59-A6C34878D82A}">
                    <a16:rowId xmlns:a16="http://schemas.microsoft.com/office/drawing/2014/main" val="1702236699"/>
                  </a:ext>
                </a:extLst>
              </a:tr>
              <a:tr h="708611">
                <a:tc>
                  <a:txBody>
                    <a:bodyPr/>
                    <a:lstStyle/>
                    <a:p>
                      <a:pPr algn="ctr"/>
                      <a:endParaRPr lang="en-US" dirty="0"/>
                    </a:p>
                  </a:txBody>
                  <a:tcPr anchor="ctr"/>
                </a:tc>
                <a:tc>
                  <a:txBody>
                    <a:bodyPr/>
                    <a:lstStyle/>
                    <a:p>
                      <a:pPr algn="ctr"/>
                      <a:r>
                        <a:rPr lang="en-US" b="1" dirty="0"/>
                        <a:t>Basic Variables</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826453594"/>
                  </a:ext>
                </a:extLst>
              </a:tr>
              <a:tr h="62040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            </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071387229"/>
                  </a:ext>
                </a:extLst>
              </a:tr>
              <a:tr h="493486">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506384561"/>
                  </a:ext>
                </a:extLst>
              </a:tr>
              <a:tr h="5660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42950504"/>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710745653"/>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6"/>
                  </a:ext>
                </a:extLst>
              </a:tr>
            </a:tbl>
          </a:graphicData>
        </a:graphic>
      </p:graphicFrame>
      <p:sp>
        <p:nvSpPr>
          <p:cNvPr id="2" name="Title 1">
            <a:extLst>
              <a:ext uri="{FF2B5EF4-FFF2-40B4-BE49-F238E27FC236}">
                <a16:creationId xmlns:a16="http://schemas.microsoft.com/office/drawing/2014/main" id="{E0104F68-A9B6-4A9C-BD18-0301D1C829DB}"/>
              </a:ext>
            </a:extLst>
          </p:cNvPr>
          <p:cNvSpPr>
            <a:spLocks noGrp="1"/>
          </p:cNvSpPr>
          <p:nvPr>
            <p:ph type="title"/>
          </p:nvPr>
        </p:nvSpPr>
        <p:spPr>
          <a:xfrm>
            <a:off x="612325" y="295586"/>
            <a:ext cx="8596668" cy="783771"/>
          </a:xfrm>
        </p:spPr>
        <p:txBody>
          <a:bodyPr/>
          <a:lstStyle/>
          <a:p>
            <a:r>
              <a:rPr lang="en-US" dirty="0"/>
              <a:t>Develop Simplex Table 2</a:t>
            </a:r>
            <a:endParaRPr lang="en-US" dirty="0">
              <a:solidFill>
                <a:srgbClr val="FF0000"/>
              </a:solidFill>
            </a:endParaRPr>
          </a:p>
        </p:txBody>
      </p:sp>
      <p:sp>
        <p:nvSpPr>
          <p:cNvPr id="7" name="Rectangle 6">
            <a:extLst>
              <a:ext uri="{FF2B5EF4-FFF2-40B4-BE49-F238E27FC236}">
                <a16:creationId xmlns:a16="http://schemas.microsoft.com/office/drawing/2014/main" id="{C1CF63A2-5EB1-4F02-BAE7-B539E8E47C2C}"/>
              </a:ext>
            </a:extLst>
          </p:cNvPr>
          <p:cNvSpPr/>
          <p:nvPr/>
        </p:nvSpPr>
        <p:spPr>
          <a:xfrm>
            <a:off x="7918316" y="115095"/>
            <a:ext cx="4042145" cy="461665"/>
          </a:xfrm>
          <a:prstGeom prst="rect">
            <a:avLst/>
          </a:prstGeom>
        </p:spPr>
        <p:txBody>
          <a:bodyPr wrap="square">
            <a:spAutoFit/>
          </a:bodyPr>
          <a:lstStyle/>
          <a:p>
            <a:r>
              <a:rPr lang="en-US" sz="2400" i="1" dirty="0"/>
              <a:t>2 x1 + 2 x2  + S1 = 7</a:t>
            </a:r>
          </a:p>
        </p:txBody>
      </p:sp>
      <p:sp>
        <p:nvSpPr>
          <p:cNvPr id="9" name="Rectangle 8">
            <a:extLst>
              <a:ext uri="{FF2B5EF4-FFF2-40B4-BE49-F238E27FC236}">
                <a16:creationId xmlns:a16="http://schemas.microsoft.com/office/drawing/2014/main" id="{410D83FC-7940-402F-B5B0-F709D30A86A8}"/>
              </a:ext>
            </a:extLst>
          </p:cNvPr>
          <p:cNvSpPr/>
          <p:nvPr/>
        </p:nvSpPr>
        <p:spPr>
          <a:xfrm>
            <a:off x="3400869" y="1697022"/>
            <a:ext cx="5104502" cy="461665"/>
          </a:xfrm>
          <a:prstGeom prst="rect">
            <a:avLst/>
          </a:prstGeom>
        </p:spPr>
        <p:txBody>
          <a:bodyPr wrap="square">
            <a:spAutoFit/>
          </a:bodyPr>
          <a:lstStyle/>
          <a:p>
            <a:r>
              <a:rPr lang="en-US" sz="2400" i="1" dirty="0"/>
              <a:t> 2         3          0    	     0           0         </a:t>
            </a:r>
          </a:p>
        </p:txBody>
      </p:sp>
      <p:sp>
        <p:nvSpPr>
          <p:cNvPr id="11" name="Rectangle 10">
            <a:extLst>
              <a:ext uri="{FF2B5EF4-FFF2-40B4-BE49-F238E27FC236}">
                <a16:creationId xmlns:a16="http://schemas.microsoft.com/office/drawing/2014/main" id="{F37D74E3-585D-4E7D-90FB-90B97715A1C2}"/>
              </a:ext>
            </a:extLst>
          </p:cNvPr>
          <p:cNvSpPr/>
          <p:nvPr/>
        </p:nvSpPr>
        <p:spPr>
          <a:xfrm>
            <a:off x="3400868" y="2371750"/>
            <a:ext cx="5104502" cy="461665"/>
          </a:xfrm>
          <a:prstGeom prst="rect">
            <a:avLst/>
          </a:prstGeom>
        </p:spPr>
        <p:txBody>
          <a:bodyPr wrap="square">
            <a:spAutoFit/>
          </a:bodyPr>
          <a:lstStyle/>
          <a:p>
            <a:r>
              <a:rPr lang="en-US" sz="2400" i="1" dirty="0"/>
              <a:t> x1       x2        s1         s2        s3 </a:t>
            </a:r>
          </a:p>
        </p:txBody>
      </p:sp>
      <p:sp>
        <p:nvSpPr>
          <p:cNvPr id="12" name="Rectangle 11">
            <a:extLst>
              <a:ext uri="{FF2B5EF4-FFF2-40B4-BE49-F238E27FC236}">
                <a16:creationId xmlns:a16="http://schemas.microsoft.com/office/drawing/2014/main" id="{757A82B3-4AF2-4211-B555-0CE256758C51}"/>
              </a:ext>
            </a:extLst>
          </p:cNvPr>
          <p:cNvSpPr/>
          <p:nvPr/>
        </p:nvSpPr>
        <p:spPr>
          <a:xfrm>
            <a:off x="3400868" y="3003501"/>
            <a:ext cx="5104502" cy="461665"/>
          </a:xfrm>
          <a:prstGeom prst="rect">
            <a:avLst/>
          </a:prstGeom>
        </p:spPr>
        <p:txBody>
          <a:bodyPr wrap="square">
            <a:spAutoFit/>
          </a:bodyPr>
          <a:lstStyle/>
          <a:p>
            <a:r>
              <a:rPr lang="en-US" sz="2400" i="1" dirty="0"/>
              <a:t> 2         0          1         0          -2</a:t>
            </a:r>
          </a:p>
        </p:txBody>
      </p:sp>
      <p:sp>
        <p:nvSpPr>
          <p:cNvPr id="13" name="Rectangle 12">
            <a:extLst>
              <a:ext uri="{FF2B5EF4-FFF2-40B4-BE49-F238E27FC236}">
                <a16:creationId xmlns:a16="http://schemas.microsoft.com/office/drawing/2014/main" id="{B09BCDD7-D76C-47F6-B1EB-32712B30B584}"/>
              </a:ext>
            </a:extLst>
          </p:cNvPr>
          <p:cNvSpPr/>
          <p:nvPr/>
        </p:nvSpPr>
        <p:spPr>
          <a:xfrm>
            <a:off x="854630" y="878868"/>
            <a:ext cx="9005649" cy="523220"/>
          </a:xfrm>
          <a:prstGeom prst="rect">
            <a:avLst/>
          </a:prstGeom>
        </p:spPr>
        <p:txBody>
          <a:bodyPr wrap="square">
            <a:spAutoFit/>
          </a:bodyPr>
          <a:lstStyle/>
          <a:p>
            <a:r>
              <a:rPr lang="en-US" sz="2800" b="1" dirty="0"/>
              <a:t>Max Z = 2 x1 + 3 x2 + S1 + S2 + S3</a:t>
            </a:r>
          </a:p>
        </p:txBody>
      </p:sp>
      <p:cxnSp>
        <p:nvCxnSpPr>
          <p:cNvPr id="15" name="Straight Arrow Connector 14">
            <a:extLst>
              <a:ext uri="{FF2B5EF4-FFF2-40B4-BE49-F238E27FC236}">
                <a16:creationId xmlns:a16="http://schemas.microsoft.com/office/drawing/2014/main" id="{410D4A1B-B99D-4B4E-ADFF-EB306D4999FF}"/>
              </a:ext>
            </a:extLst>
          </p:cNvPr>
          <p:cNvCxnSpPr/>
          <p:nvPr/>
        </p:nvCxnSpPr>
        <p:spPr>
          <a:xfrm>
            <a:off x="2336801" y="2115145"/>
            <a:ext cx="68217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548FD16-BD95-4D14-B781-9F8506602B86}"/>
              </a:ext>
            </a:extLst>
          </p:cNvPr>
          <p:cNvCxnSpPr>
            <a:cxnSpLocks/>
          </p:cNvCxnSpPr>
          <p:nvPr/>
        </p:nvCxnSpPr>
        <p:spPr>
          <a:xfrm>
            <a:off x="1172925" y="1710137"/>
            <a:ext cx="0" cy="3048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EAA07C5-7CB8-41BA-A3DB-4DA4310081CE}"/>
              </a:ext>
            </a:extLst>
          </p:cNvPr>
          <p:cNvSpPr/>
          <p:nvPr/>
        </p:nvSpPr>
        <p:spPr>
          <a:xfrm>
            <a:off x="2393491" y="2945444"/>
            <a:ext cx="568790" cy="461665"/>
          </a:xfrm>
          <a:prstGeom prst="rect">
            <a:avLst/>
          </a:prstGeom>
        </p:spPr>
        <p:txBody>
          <a:bodyPr wrap="square">
            <a:spAutoFit/>
          </a:bodyPr>
          <a:lstStyle/>
          <a:p>
            <a:r>
              <a:rPr lang="en-US" sz="2400" i="1" dirty="0"/>
              <a:t>s1</a:t>
            </a:r>
          </a:p>
        </p:txBody>
      </p:sp>
      <p:sp>
        <p:nvSpPr>
          <p:cNvPr id="23" name="Rectangle 22">
            <a:extLst>
              <a:ext uri="{FF2B5EF4-FFF2-40B4-BE49-F238E27FC236}">
                <a16:creationId xmlns:a16="http://schemas.microsoft.com/office/drawing/2014/main" id="{B929374A-8C0A-469C-9C8B-CA3690C3781C}"/>
              </a:ext>
            </a:extLst>
          </p:cNvPr>
          <p:cNvSpPr/>
          <p:nvPr/>
        </p:nvSpPr>
        <p:spPr>
          <a:xfrm>
            <a:off x="2373087" y="3573498"/>
            <a:ext cx="545652" cy="461665"/>
          </a:xfrm>
          <a:prstGeom prst="rect">
            <a:avLst/>
          </a:prstGeom>
        </p:spPr>
        <p:txBody>
          <a:bodyPr wrap="square">
            <a:spAutoFit/>
          </a:bodyPr>
          <a:lstStyle/>
          <a:p>
            <a:r>
              <a:rPr lang="en-US" sz="2400" i="1" dirty="0"/>
              <a:t>s2</a:t>
            </a:r>
          </a:p>
        </p:txBody>
      </p:sp>
      <p:sp>
        <p:nvSpPr>
          <p:cNvPr id="24" name="Rectangle 23">
            <a:extLst>
              <a:ext uri="{FF2B5EF4-FFF2-40B4-BE49-F238E27FC236}">
                <a16:creationId xmlns:a16="http://schemas.microsoft.com/office/drawing/2014/main" id="{4ADF7ACF-FD93-43D4-8E85-9985894350A9}"/>
              </a:ext>
            </a:extLst>
          </p:cNvPr>
          <p:cNvSpPr/>
          <p:nvPr/>
        </p:nvSpPr>
        <p:spPr>
          <a:xfrm>
            <a:off x="1291769" y="2913101"/>
            <a:ext cx="545652" cy="461665"/>
          </a:xfrm>
          <a:prstGeom prst="rect">
            <a:avLst/>
          </a:prstGeom>
        </p:spPr>
        <p:txBody>
          <a:bodyPr wrap="square">
            <a:spAutoFit/>
          </a:bodyPr>
          <a:lstStyle/>
          <a:p>
            <a:r>
              <a:rPr lang="en-US" sz="2400" i="1" dirty="0"/>
              <a:t>0</a:t>
            </a:r>
          </a:p>
        </p:txBody>
      </p:sp>
      <p:sp>
        <p:nvSpPr>
          <p:cNvPr id="25" name="Rectangle 24">
            <a:extLst>
              <a:ext uri="{FF2B5EF4-FFF2-40B4-BE49-F238E27FC236}">
                <a16:creationId xmlns:a16="http://schemas.microsoft.com/office/drawing/2014/main" id="{9E86616C-E86D-4453-A38C-BA3C33953E0C}"/>
              </a:ext>
            </a:extLst>
          </p:cNvPr>
          <p:cNvSpPr/>
          <p:nvPr/>
        </p:nvSpPr>
        <p:spPr>
          <a:xfrm>
            <a:off x="1269994" y="3529959"/>
            <a:ext cx="545652" cy="461665"/>
          </a:xfrm>
          <a:prstGeom prst="rect">
            <a:avLst/>
          </a:prstGeom>
        </p:spPr>
        <p:txBody>
          <a:bodyPr wrap="square">
            <a:spAutoFit/>
          </a:bodyPr>
          <a:lstStyle/>
          <a:p>
            <a:r>
              <a:rPr lang="en-US" sz="2400" i="1" dirty="0"/>
              <a:t>0</a:t>
            </a:r>
          </a:p>
        </p:txBody>
      </p:sp>
      <p:sp>
        <p:nvSpPr>
          <p:cNvPr id="26" name="Rectangle 25">
            <a:extLst>
              <a:ext uri="{FF2B5EF4-FFF2-40B4-BE49-F238E27FC236}">
                <a16:creationId xmlns:a16="http://schemas.microsoft.com/office/drawing/2014/main" id="{61767C4E-49EF-47CF-86DE-2F892C5C7B5A}"/>
              </a:ext>
            </a:extLst>
          </p:cNvPr>
          <p:cNvSpPr/>
          <p:nvPr/>
        </p:nvSpPr>
        <p:spPr>
          <a:xfrm>
            <a:off x="7918316" y="598275"/>
            <a:ext cx="3579138" cy="461665"/>
          </a:xfrm>
          <a:prstGeom prst="rect">
            <a:avLst/>
          </a:prstGeom>
        </p:spPr>
        <p:txBody>
          <a:bodyPr wrap="square">
            <a:spAutoFit/>
          </a:bodyPr>
          <a:lstStyle/>
          <a:p>
            <a:r>
              <a:rPr lang="en-US" sz="2400" i="1" dirty="0"/>
              <a:t>x1 + S2 = 2</a:t>
            </a:r>
          </a:p>
        </p:txBody>
      </p:sp>
      <p:sp>
        <p:nvSpPr>
          <p:cNvPr id="27" name="Rectangle 26">
            <a:extLst>
              <a:ext uri="{FF2B5EF4-FFF2-40B4-BE49-F238E27FC236}">
                <a16:creationId xmlns:a16="http://schemas.microsoft.com/office/drawing/2014/main" id="{B46BB860-9FCC-471B-B1DB-CC177706B8CB}"/>
              </a:ext>
            </a:extLst>
          </p:cNvPr>
          <p:cNvSpPr/>
          <p:nvPr/>
        </p:nvSpPr>
        <p:spPr>
          <a:xfrm>
            <a:off x="3350066" y="3547784"/>
            <a:ext cx="5155304" cy="461665"/>
          </a:xfrm>
          <a:prstGeom prst="rect">
            <a:avLst/>
          </a:prstGeom>
        </p:spPr>
        <p:txBody>
          <a:bodyPr wrap="square">
            <a:spAutoFit/>
          </a:bodyPr>
          <a:lstStyle/>
          <a:p>
            <a:r>
              <a:rPr lang="en-US" sz="2400" i="1" dirty="0"/>
              <a:t>  1         0         0         1          -1</a:t>
            </a:r>
          </a:p>
        </p:txBody>
      </p:sp>
      <p:sp>
        <p:nvSpPr>
          <p:cNvPr id="28" name="Rectangle 27">
            <a:extLst>
              <a:ext uri="{FF2B5EF4-FFF2-40B4-BE49-F238E27FC236}">
                <a16:creationId xmlns:a16="http://schemas.microsoft.com/office/drawing/2014/main" id="{0D4EF912-F04E-42A7-AC8F-9EF06B662B91}"/>
              </a:ext>
            </a:extLst>
          </p:cNvPr>
          <p:cNvSpPr/>
          <p:nvPr/>
        </p:nvSpPr>
        <p:spPr>
          <a:xfrm>
            <a:off x="2305771" y="4617916"/>
            <a:ext cx="545652" cy="461665"/>
          </a:xfrm>
          <a:prstGeom prst="rect">
            <a:avLst/>
          </a:prstGeom>
        </p:spPr>
        <p:txBody>
          <a:bodyPr wrap="square">
            <a:spAutoFit/>
          </a:bodyPr>
          <a:lstStyle/>
          <a:p>
            <a:r>
              <a:rPr lang="en-US" sz="2400" i="1" dirty="0" err="1"/>
              <a:t>Zj</a:t>
            </a:r>
            <a:endParaRPr lang="en-US" sz="2400" i="1" dirty="0"/>
          </a:p>
        </p:txBody>
      </p:sp>
      <p:sp>
        <p:nvSpPr>
          <p:cNvPr id="31" name="Rectangle 30">
            <a:extLst>
              <a:ext uri="{FF2B5EF4-FFF2-40B4-BE49-F238E27FC236}">
                <a16:creationId xmlns:a16="http://schemas.microsoft.com/office/drawing/2014/main" id="{864F2EA2-D3FA-4B29-B824-58D41C0151C4}"/>
              </a:ext>
            </a:extLst>
          </p:cNvPr>
          <p:cNvSpPr/>
          <p:nvPr/>
        </p:nvSpPr>
        <p:spPr>
          <a:xfrm>
            <a:off x="3274130" y="4631274"/>
            <a:ext cx="6710549" cy="461665"/>
          </a:xfrm>
          <a:prstGeom prst="rect">
            <a:avLst/>
          </a:prstGeom>
        </p:spPr>
        <p:txBody>
          <a:bodyPr wrap="square">
            <a:spAutoFit/>
          </a:bodyPr>
          <a:lstStyle/>
          <a:p>
            <a:r>
              <a:rPr lang="en-US" sz="2400" i="1" dirty="0"/>
              <a:t>  0          3          0         0          3         6</a:t>
            </a:r>
          </a:p>
        </p:txBody>
      </p:sp>
      <p:sp>
        <p:nvSpPr>
          <p:cNvPr id="32" name="Rectangle 31">
            <a:extLst>
              <a:ext uri="{FF2B5EF4-FFF2-40B4-BE49-F238E27FC236}">
                <a16:creationId xmlns:a16="http://schemas.microsoft.com/office/drawing/2014/main" id="{0F04E717-3391-46C1-9958-6624DF084ED4}"/>
              </a:ext>
            </a:extLst>
          </p:cNvPr>
          <p:cNvSpPr/>
          <p:nvPr/>
        </p:nvSpPr>
        <p:spPr>
          <a:xfrm>
            <a:off x="2043147" y="5106560"/>
            <a:ext cx="1211943" cy="461665"/>
          </a:xfrm>
          <a:prstGeom prst="rect">
            <a:avLst/>
          </a:prstGeom>
        </p:spPr>
        <p:txBody>
          <a:bodyPr wrap="square">
            <a:spAutoFit/>
          </a:bodyPr>
          <a:lstStyle/>
          <a:p>
            <a:r>
              <a:rPr lang="en-US" sz="2400" i="1" dirty="0" err="1"/>
              <a:t>Cj</a:t>
            </a:r>
            <a:r>
              <a:rPr lang="en-US" sz="2400" i="1" dirty="0"/>
              <a:t> - </a:t>
            </a:r>
            <a:r>
              <a:rPr lang="en-US" sz="2400" i="1" dirty="0" err="1"/>
              <a:t>Zj</a:t>
            </a:r>
            <a:endParaRPr lang="en-US" sz="2400" i="1" dirty="0"/>
          </a:p>
        </p:txBody>
      </p:sp>
      <p:sp>
        <p:nvSpPr>
          <p:cNvPr id="33" name="Rectangle 32">
            <a:extLst>
              <a:ext uri="{FF2B5EF4-FFF2-40B4-BE49-F238E27FC236}">
                <a16:creationId xmlns:a16="http://schemas.microsoft.com/office/drawing/2014/main" id="{2B65CB3B-095B-4A91-A457-6D5825DEABD9}"/>
              </a:ext>
            </a:extLst>
          </p:cNvPr>
          <p:cNvSpPr/>
          <p:nvPr/>
        </p:nvSpPr>
        <p:spPr>
          <a:xfrm>
            <a:off x="3274130" y="5121073"/>
            <a:ext cx="6710549" cy="461665"/>
          </a:xfrm>
          <a:prstGeom prst="rect">
            <a:avLst/>
          </a:prstGeom>
        </p:spPr>
        <p:txBody>
          <a:bodyPr wrap="square">
            <a:spAutoFit/>
          </a:bodyPr>
          <a:lstStyle/>
          <a:p>
            <a:r>
              <a:rPr lang="en-US" sz="2400" i="1" dirty="0"/>
              <a:t>  2          0         0         0          -3</a:t>
            </a:r>
          </a:p>
        </p:txBody>
      </p:sp>
      <p:sp>
        <p:nvSpPr>
          <p:cNvPr id="29" name="Content Placeholder 2">
            <a:extLst>
              <a:ext uri="{FF2B5EF4-FFF2-40B4-BE49-F238E27FC236}">
                <a16:creationId xmlns:a16="http://schemas.microsoft.com/office/drawing/2014/main" id="{6D549934-B5C7-4BE4-AFEE-E37A4572DD24}"/>
              </a:ext>
            </a:extLst>
          </p:cNvPr>
          <p:cNvSpPr>
            <a:spLocks noGrp="1"/>
          </p:cNvSpPr>
          <p:nvPr>
            <p:ph idx="1"/>
          </p:nvPr>
        </p:nvSpPr>
        <p:spPr>
          <a:xfrm>
            <a:off x="871440" y="5946401"/>
            <a:ext cx="6419202" cy="643545"/>
          </a:xfrm>
        </p:spPr>
        <p:txBody>
          <a:bodyPr>
            <a:normAutofit/>
          </a:bodyPr>
          <a:lstStyle/>
          <a:p>
            <a:pPr marL="0" indent="0">
              <a:buNone/>
            </a:pPr>
            <a:r>
              <a:rPr lang="en-US" sz="3200" dirty="0"/>
              <a:t>For Maximization All </a:t>
            </a:r>
            <a:r>
              <a:rPr lang="en-US" sz="3200" dirty="0" err="1"/>
              <a:t>Cj</a:t>
            </a:r>
            <a:r>
              <a:rPr lang="en-US" sz="3200" dirty="0"/>
              <a:t> – </a:t>
            </a:r>
            <a:r>
              <a:rPr lang="en-US" sz="3200" dirty="0" err="1"/>
              <a:t>Zj</a:t>
            </a:r>
            <a:r>
              <a:rPr lang="en-US" sz="3200" dirty="0"/>
              <a:t> &lt;= 0</a:t>
            </a:r>
            <a:endParaRPr lang="en-US" dirty="0"/>
          </a:p>
        </p:txBody>
      </p:sp>
      <p:sp>
        <p:nvSpPr>
          <p:cNvPr id="36" name="Speech Bubble: Oval 35">
            <a:extLst>
              <a:ext uri="{FF2B5EF4-FFF2-40B4-BE49-F238E27FC236}">
                <a16:creationId xmlns:a16="http://schemas.microsoft.com/office/drawing/2014/main" id="{980D3445-589B-43E6-AA02-43DA0A06A5D1}"/>
              </a:ext>
            </a:extLst>
          </p:cNvPr>
          <p:cNvSpPr/>
          <p:nvPr/>
        </p:nvSpPr>
        <p:spPr>
          <a:xfrm>
            <a:off x="3222209" y="6090150"/>
            <a:ext cx="2066919" cy="657365"/>
          </a:xfrm>
          <a:prstGeom prst="wedgeEllipseCallout">
            <a:avLst>
              <a:gd name="adj1" fmla="val -21774"/>
              <a:gd name="adj2" fmla="val -1374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Most Positive</a:t>
            </a:r>
          </a:p>
        </p:txBody>
      </p:sp>
      <p:sp>
        <p:nvSpPr>
          <p:cNvPr id="37" name="Speech Bubble: Oval 36">
            <a:extLst>
              <a:ext uri="{FF2B5EF4-FFF2-40B4-BE49-F238E27FC236}">
                <a16:creationId xmlns:a16="http://schemas.microsoft.com/office/drawing/2014/main" id="{60386F8E-DDD6-4679-8A97-1E5AD0262A95}"/>
              </a:ext>
            </a:extLst>
          </p:cNvPr>
          <p:cNvSpPr/>
          <p:nvPr/>
        </p:nvSpPr>
        <p:spPr>
          <a:xfrm>
            <a:off x="10412587" y="1833980"/>
            <a:ext cx="1722551" cy="657365"/>
          </a:xfrm>
          <a:prstGeom prst="wedgeEllipseCallout">
            <a:avLst>
              <a:gd name="adj1" fmla="val -56651"/>
              <a:gd name="adj2" fmla="val 1684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Least Positive</a:t>
            </a:r>
          </a:p>
        </p:txBody>
      </p:sp>
      <p:sp>
        <p:nvSpPr>
          <p:cNvPr id="38" name="Rectangle 37">
            <a:extLst>
              <a:ext uri="{FF2B5EF4-FFF2-40B4-BE49-F238E27FC236}">
                <a16:creationId xmlns:a16="http://schemas.microsoft.com/office/drawing/2014/main" id="{C6F83CCA-0248-4E65-AE79-34017C9C7D43}"/>
              </a:ext>
            </a:extLst>
          </p:cNvPr>
          <p:cNvSpPr/>
          <p:nvPr/>
        </p:nvSpPr>
        <p:spPr>
          <a:xfrm>
            <a:off x="8697423" y="2999669"/>
            <a:ext cx="545652" cy="461665"/>
          </a:xfrm>
          <a:prstGeom prst="rect">
            <a:avLst/>
          </a:prstGeom>
        </p:spPr>
        <p:txBody>
          <a:bodyPr wrap="square">
            <a:spAutoFit/>
          </a:bodyPr>
          <a:lstStyle/>
          <a:p>
            <a:r>
              <a:rPr lang="en-US" sz="2400" i="1" dirty="0"/>
              <a:t>3</a:t>
            </a:r>
          </a:p>
        </p:txBody>
      </p:sp>
      <p:sp>
        <p:nvSpPr>
          <p:cNvPr id="39" name="Rectangle 38">
            <a:extLst>
              <a:ext uri="{FF2B5EF4-FFF2-40B4-BE49-F238E27FC236}">
                <a16:creationId xmlns:a16="http://schemas.microsoft.com/office/drawing/2014/main" id="{ED484AD5-E75D-43EE-99F3-8E98AC6DD160}"/>
              </a:ext>
            </a:extLst>
          </p:cNvPr>
          <p:cNvSpPr/>
          <p:nvPr/>
        </p:nvSpPr>
        <p:spPr>
          <a:xfrm>
            <a:off x="8692384" y="3573498"/>
            <a:ext cx="545652" cy="461665"/>
          </a:xfrm>
          <a:prstGeom prst="rect">
            <a:avLst/>
          </a:prstGeom>
        </p:spPr>
        <p:txBody>
          <a:bodyPr wrap="square">
            <a:spAutoFit/>
          </a:bodyPr>
          <a:lstStyle/>
          <a:p>
            <a:r>
              <a:rPr lang="en-US" sz="2400" i="1" dirty="0"/>
              <a:t>2</a:t>
            </a:r>
          </a:p>
        </p:txBody>
      </p:sp>
      <p:sp>
        <p:nvSpPr>
          <p:cNvPr id="30" name="Rectangle 29">
            <a:extLst>
              <a:ext uri="{FF2B5EF4-FFF2-40B4-BE49-F238E27FC236}">
                <a16:creationId xmlns:a16="http://schemas.microsoft.com/office/drawing/2014/main" id="{61767C4E-49EF-47CF-86DE-2F892C5C7B5A}"/>
              </a:ext>
            </a:extLst>
          </p:cNvPr>
          <p:cNvSpPr/>
          <p:nvPr/>
        </p:nvSpPr>
        <p:spPr>
          <a:xfrm>
            <a:off x="7805735" y="1067031"/>
            <a:ext cx="3579138" cy="461665"/>
          </a:xfrm>
          <a:prstGeom prst="rect">
            <a:avLst/>
          </a:prstGeom>
        </p:spPr>
        <p:txBody>
          <a:bodyPr wrap="square">
            <a:spAutoFit/>
          </a:bodyPr>
          <a:lstStyle/>
          <a:p>
            <a:r>
              <a:rPr lang="en-US" sz="2400" i="1" dirty="0"/>
              <a:t> x2 + S3 = 2</a:t>
            </a:r>
          </a:p>
        </p:txBody>
      </p:sp>
      <p:sp>
        <p:nvSpPr>
          <p:cNvPr id="40" name="Rectangle 39">
            <a:extLst>
              <a:ext uri="{FF2B5EF4-FFF2-40B4-BE49-F238E27FC236}">
                <a16:creationId xmlns:a16="http://schemas.microsoft.com/office/drawing/2014/main" id="{B929374A-8C0A-469C-9C8B-CA3690C3781C}"/>
              </a:ext>
            </a:extLst>
          </p:cNvPr>
          <p:cNvSpPr/>
          <p:nvPr/>
        </p:nvSpPr>
        <p:spPr>
          <a:xfrm>
            <a:off x="2373087" y="4069923"/>
            <a:ext cx="545652" cy="461665"/>
          </a:xfrm>
          <a:prstGeom prst="rect">
            <a:avLst/>
          </a:prstGeom>
        </p:spPr>
        <p:txBody>
          <a:bodyPr wrap="square">
            <a:spAutoFit/>
          </a:bodyPr>
          <a:lstStyle/>
          <a:p>
            <a:r>
              <a:rPr lang="en-US" sz="2400" i="1" dirty="0"/>
              <a:t>x2</a:t>
            </a:r>
          </a:p>
        </p:txBody>
      </p:sp>
      <p:sp>
        <p:nvSpPr>
          <p:cNvPr id="41" name="Rectangle 40">
            <a:extLst>
              <a:ext uri="{FF2B5EF4-FFF2-40B4-BE49-F238E27FC236}">
                <a16:creationId xmlns:a16="http://schemas.microsoft.com/office/drawing/2014/main" id="{B46BB860-9FCC-471B-B1DB-CC177706B8CB}"/>
              </a:ext>
            </a:extLst>
          </p:cNvPr>
          <p:cNvSpPr/>
          <p:nvPr/>
        </p:nvSpPr>
        <p:spPr>
          <a:xfrm>
            <a:off x="3311757" y="4114410"/>
            <a:ext cx="5193613" cy="461665"/>
          </a:xfrm>
          <a:prstGeom prst="rect">
            <a:avLst/>
          </a:prstGeom>
        </p:spPr>
        <p:txBody>
          <a:bodyPr wrap="square">
            <a:spAutoFit/>
          </a:bodyPr>
          <a:lstStyle/>
          <a:p>
            <a:r>
              <a:rPr lang="en-US" sz="2400" i="1" dirty="0"/>
              <a:t>  0         1          0         0          1</a:t>
            </a:r>
          </a:p>
        </p:txBody>
      </p:sp>
      <p:sp>
        <p:nvSpPr>
          <p:cNvPr id="42" name="Rectangle 41">
            <a:extLst>
              <a:ext uri="{FF2B5EF4-FFF2-40B4-BE49-F238E27FC236}">
                <a16:creationId xmlns:a16="http://schemas.microsoft.com/office/drawing/2014/main" id="{9E86616C-E86D-4453-A38C-BA3C33953E0C}"/>
              </a:ext>
            </a:extLst>
          </p:cNvPr>
          <p:cNvSpPr/>
          <p:nvPr/>
        </p:nvSpPr>
        <p:spPr>
          <a:xfrm>
            <a:off x="1245902" y="4124454"/>
            <a:ext cx="545652" cy="461665"/>
          </a:xfrm>
          <a:prstGeom prst="rect">
            <a:avLst/>
          </a:prstGeom>
        </p:spPr>
        <p:txBody>
          <a:bodyPr wrap="square">
            <a:spAutoFit/>
          </a:bodyPr>
          <a:lstStyle/>
          <a:p>
            <a:r>
              <a:rPr lang="en-US" sz="2400" i="1" dirty="0"/>
              <a:t>3</a:t>
            </a:r>
          </a:p>
        </p:txBody>
      </p:sp>
      <p:sp>
        <p:nvSpPr>
          <p:cNvPr id="43" name="Rectangle 42">
            <a:extLst>
              <a:ext uri="{FF2B5EF4-FFF2-40B4-BE49-F238E27FC236}">
                <a16:creationId xmlns:a16="http://schemas.microsoft.com/office/drawing/2014/main" id="{ED484AD5-E75D-43EE-99F3-8E98AC6DD160}"/>
              </a:ext>
            </a:extLst>
          </p:cNvPr>
          <p:cNvSpPr/>
          <p:nvPr/>
        </p:nvSpPr>
        <p:spPr>
          <a:xfrm>
            <a:off x="8692384" y="4156251"/>
            <a:ext cx="545652" cy="461665"/>
          </a:xfrm>
          <a:prstGeom prst="rect">
            <a:avLst/>
          </a:prstGeom>
        </p:spPr>
        <p:txBody>
          <a:bodyPr wrap="square">
            <a:spAutoFit/>
          </a:bodyPr>
          <a:lstStyle/>
          <a:p>
            <a:r>
              <a:rPr lang="en-US" sz="2400" i="1" dirty="0"/>
              <a:t>2</a:t>
            </a:r>
          </a:p>
        </p:txBody>
      </p:sp>
      <p:sp>
        <p:nvSpPr>
          <p:cNvPr id="44" name="Rectangle 43">
            <a:extLst>
              <a:ext uri="{FF2B5EF4-FFF2-40B4-BE49-F238E27FC236}">
                <a16:creationId xmlns:a16="http://schemas.microsoft.com/office/drawing/2014/main" id="{C6F83CCA-0248-4E65-AE79-34017C9C7D43}"/>
              </a:ext>
            </a:extLst>
          </p:cNvPr>
          <p:cNvSpPr/>
          <p:nvPr/>
        </p:nvSpPr>
        <p:spPr>
          <a:xfrm>
            <a:off x="9617199" y="2977778"/>
            <a:ext cx="795388" cy="461665"/>
          </a:xfrm>
          <a:prstGeom prst="rect">
            <a:avLst/>
          </a:prstGeom>
        </p:spPr>
        <p:txBody>
          <a:bodyPr wrap="square">
            <a:spAutoFit/>
          </a:bodyPr>
          <a:lstStyle/>
          <a:p>
            <a:r>
              <a:rPr lang="en-US" sz="2400" i="1" dirty="0"/>
              <a:t>3/2</a:t>
            </a:r>
          </a:p>
        </p:txBody>
      </p:sp>
      <p:sp>
        <p:nvSpPr>
          <p:cNvPr id="45" name="Rectangle 44">
            <a:extLst>
              <a:ext uri="{FF2B5EF4-FFF2-40B4-BE49-F238E27FC236}">
                <a16:creationId xmlns:a16="http://schemas.microsoft.com/office/drawing/2014/main" id="{ED484AD5-E75D-43EE-99F3-8E98AC6DD160}"/>
              </a:ext>
            </a:extLst>
          </p:cNvPr>
          <p:cNvSpPr/>
          <p:nvPr/>
        </p:nvSpPr>
        <p:spPr>
          <a:xfrm>
            <a:off x="9505949" y="3584849"/>
            <a:ext cx="1144563" cy="461665"/>
          </a:xfrm>
          <a:prstGeom prst="rect">
            <a:avLst/>
          </a:prstGeom>
        </p:spPr>
        <p:txBody>
          <a:bodyPr wrap="square">
            <a:spAutoFit/>
          </a:bodyPr>
          <a:lstStyle/>
          <a:p>
            <a:r>
              <a:rPr lang="en-US" i="1" dirty="0"/>
              <a:t>   </a:t>
            </a:r>
            <a:r>
              <a:rPr lang="en-US" sz="2400" i="1" dirty="0"/>
              <a:t>2</a:t>
            </a:r>
          </a:p>
        </p:txBody>
      </p:sp>
      <p:sp>
        <p:nvSpPr>
          <p:cNvPr id="46" name="Rectangle 45">
            <a:extLst>
              <a:ext uri="{FF2B5EF4-FFF2-40B4-BE49-F238E27FC236}">
                <a16:creationId xmlns:a16="http://schemas.microsoft.com/office/drawing/2014/main" id="{ED484AD5-E75D-43EE-99F3-8E98AC6DD160}"/>
              </a:ext>
            </a:extLst>
          </p:cNvPr>
          <p:cNvSpPr/>
          <p:nvPr/>
        </p:nvSpPr>
        <p:spPr>
          <a:xfrm>
            <a:off x="9505949" y="4153874"/>
            <a:ext cx="1148615" cy="369332"/>
          </a:xfrm>
          <a:prstGeom prst="rect">
            <a:avLst/>
          </a:prstGeom>
        </p:spPr>
        <p:txBody>
          <a:bodyPr wrap="square">
            <a:spAutoFit/>
          </a:bodyPr>
          <a:lstStyle/>
          <a:p>
            <a:r>
              <a:rPr lang="en-US" i="1" dirty="0"/>
              <a:t>Infinity</a:t>
            </a:r>
          </a:p>
        </p:txBody>
      </p:sp>
    </p:spTree>
    <p:extLst>
      <p:ext uri="{BB962C8B-B14F-4D97-AF65-F5344CB8AC3E}">
        <p14:creationId xmlns:p14="http://schemas.microsoft.com/office/powerpoint/2010/main" val="55032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90F907-3B83-4F24-B3E9-103787B534F5}"/>
              </a:ext>
            </a:extLst>
          </p:cNvPr>
          <p:cNvGraphicFramePr>
            <a:graphicFrameLocks noGrp="1"/>
          </p:cNvGraphicFramePr>
          <p:nvPr/>
        </p:nvGraphicFramePr>
        <p:xfrm>
          <a:off x="911667" y="1564395"/>
          <a:ext cx="9603935" cy="4099076"/>
        </p:xfrm>
        <a:graphic>
          <a:graphicData uri="http://schemas.openxmlformats.org/drawingml/2006/table">
            <a:tbl>
              <a:tblPr firstRow="1" bandRow="1">
                <a:tableStyleId>{5940675A-B579-460E-94D1-54222C63F5DA}</a:tableStyleId>
              </a:tblPr>
              <a:tblGrid>
                <a:gridCol w="1067104">
                  <a:extLst>
                    <a:ext uri="{9D8B030D-6E8A-4147-A177-3AD203B41FA5}">
                      <a16:colId xmlns:a16="http://schemas.microsoft.com/office/drawing/2014/main" val="2905360103"/>
                    </a:ext>
                  </a:extLst>
                </a:gridCol>
                <a:gridCol w="1213200">
                  <a:extLst>
                    <a:ext uri="{9D8B030D-6E8A-4147-A177-3AD203B41FA5}">
                      <a16:colId xmlns:a16="http://schemas.microsoft.com/office/drawing/2014/main" val="3101827574"/>
                    </a:ext>
                  </a:extLst>
                </a:gridCol>
                <a:gridCol w="921007">
                  <a:extLst>
                    <a:ext uri="{9D8B030D-6E8A-4147-A177-3AD203B41FA5}">
                      <a16:colId xmlns:a16="http://schemas.microsoft.com/office/drawing/2014/main" val="3349711521"/>
                    </a:ext>
                  </a:extLst>
                </a:gridCol>
                <a:gridCol w="1067104">
                  <a:extLst>
                    <a:ext uri="{9D8B030D-6E8A-4147-A177-3AD203B41FA5}">
                      <a16:colId xmlns:a16="http://schemas.microsoft.com/office/drawing/2014/main" val="2361876258"/>
                    </a:ext>
                  </a:extLst>
                </a:gridCol>
                <a:gridCol w="1067104">
                  <a:extLst>
                    <a:ext uri="{9D8B030D-6E8A-4147-A177-3AD203B41FA5}">
                      <a16:colId xmlns:a16="http://schemas.microsoft.com/office/drawing/2014/main" val="3236378667"/>
                    </a:ext>
                  </a:extLst>
                </a:gridCol>
                <a:gridCol w="1067104">
                  <a:extLst>
                    <a:ext uri="{9D8B030D-6E8A-4147-A177-3AD203B41FA5}">
                      <a16:colId xmlns:a16="http://schemas.microsoft.com/office/drawing/2014/main" val="2968160148"/>
                    </a:ext>
                  </a:extLst>
                </a:gridCol>
                <a:gridCol w="1067104">
                  <a:extLst>
                    <a:ext uri="{9D8B030D-6E8A-4147-A177-3AD203B41FA5}">
                      <a16:colId xmlns:a16="http://schemas.microsoft.com/office/drawing/2014/main" val="1976915298"/>
                    </a:ext>
                  </a:extLst>
                </a:gridCol>
                <a:gridCol w="1067104">
                  <a:extLst>
                    <a:ext uri="{9D8B030D-6E8A-4147-A177-3AD203B41FA5}">
                      <a16:colId xmlns:a16="http://schemas.microsoft.com/office/drawing/2014/main" val="3368023288"/>
                    </a:ext>
                  </a:extLst>
                </a:gridCol>
                <a:gridCol w="1067104">
                  <a:extLst>
                    <a:ext uri="{9D8B030D-6E8A-4147-A177-3AD203B41FA5}">
                      <a16:colId xmlns:a16="http://schemas.microsoft.com/office/drawing/2014/main" val="20008"/>
                    </a:ext>
                  </a:extLst>
                </a:gridCol>
              </a:tblGrid>
              <a:tr h="665494">
                <a:tc>
                  <a:txBody>
                    <a:bodyPr/>
                    <a:lstStyle/>
                    <a:p>
                      <a:pPr algn="ctr"/>
                      <a:r>
                        <a:rPr lang="en-US" b="1" dirty="0"/>
                        <a:t>C Bi</a:t>
                      </a:r>
                    </a:p>
                  </a:txBody>
                  <a:tcPr anchor="ctr"/>
                </a:tc>
                <a:tc>
                  <a:txBody>
                    <a:bodyPr/>
                    <a:lstStyle/>
                    <a:p>
                      <a:pPr algn="ctr"/>
                      <a:r>
                        <a:rPr lang="en-US" b="1" dirty="0"/>
                        <a:t> </a:t>
                      </a:r>
                      <a:r>
                        <a:rPr lang="en-US" b="1" dirty="0" err="1"/>
                        <a:t>Cj</a:t>
                      </a: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endParaRPr lang="en-US"/>
                    </a:p>
                  </a:txBody>
                  <a:tcPr anchor="ctr"/>
                </a:tc>
                <a:tc>
                  <a:txBody>
                    <a:bodyPr/>
                    <a:lstStyle/>
                    <a:p>
                      <a:pPr algn="ctr"/>
                      <a:r>
                        <a:rPr lang="en-US" b="1" dirty="0"/>
                        <a:t>Solution</a:t>
                      </a:r>
                    </a:p>
                  </a:txBody>
                  <a:tcPr anchor="ctr"/>
                </a:tc>
                <a:tc>
                  <a:txBody>
                    <a:bodyPr/>
                    <a:lstStyle/>
                    <a:p>
                      <a:pPr algn="ctr"/>
                      <a:r>
                        <a:rPr lang="en-US" b="1" dirty="0"/>
                        <a:t>Ratio</a:t>
                      </a:r>
                    </a:p>
                  </a:txBody>
                  <a:tcPr anchor="ctr"/>
                </a:tc>
                <a:extLst>
                  <a:ext uri="{0D108BD9-81ED-4DB2-BD59-A6C34878D82A}">
                    <a16:rowId xmlns:a16="http://schemas.microsoft.com/office/drawing/2014/main" val="1702236699"/>
                  </a:ext>
                </a:extLst>
              </a:tr>
              <a:tr h="708611">
                <a:tc>
                  <a:txBody>
                    <a:bodyPr/>
                    <a:lstStyle/>
                    <a:p>
                      <a:pPr algn="ctr"/>
                      <a:endParaRPr lang="en-US" dirty="0"/>
                    </a:p>
                  </a:txBody>
                  <a:tcPr anchor="ctr"/>
                </a:tc>
                <a:tc>
                  <a:txBody>
                    <a:bodyPr/>
                    <a:lstStyle/>
                    <a:p>
                      <a:pPr algn="ctr"/>
                      <a:r>
                        <a:rPr lang="en-US" b="1" dirty="0"/>
                        <a:t>Basic Variables</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826453594"/>
                  </a:ext>
                </a:extLst>
              </a:tr>
              <a:tr h="62040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            </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071387229"/>
                  </a:ext>
                </a:extLst>
              </a:tr>
              <a:tr h="493486">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506384561"/>
                  </a:ext>
                </a:extLst>
              </a:tr>
              <a:tr h="5660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42950504"/>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710745653"/>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6"/>
                  </a:ext>
                </a:extLst>
              </a:tr>
            </a:tbl>
          </a:graphicData>
        </a:graphic>
      </p:graphicFrame>
      <p:sp>
        <p:nvSpPr>
          <p:cNvPr id="2" name="Title 1">
            <a:extLst>
              <a:ext uri="{FF2B5EF4-FFF2-40B4-BE49-F238E27FC236}">
                <a16:creationId xmlns:a16="http://schemas.microsoft.com/office/drawing/2014/main" id="{E0104F68-A9B6-4A9C-BD18-0301D1C829DB}"/>
              </a:ext>
            </a:extLst>
          </p:cNvPr>
          <p:cNvSpPr>
            <a:spLocks noGrp="1"/>
          </p:cNvSpPr>
          <p:nvPr>
            <p:ph type="title"/>
          </p:nvPr>
        </p:nvSpPr>
        <p:spPr>
          <a:xfrm>
            <a:off x="612325" y="295586"/>
            <a:ext cx="8596668" cy="783771"/>
          </a:xfrm>
        </p:spPr>
        <p:txBody>
          <a:bodyPr/>
          <a:lstStyle/>
          <a:p>
            <a:r>
              <a:rPr lang="en-US" dirty="0"/>
              <a:t>Develop Simplex Table 3</a:t>
            </a:r>
            <a:endParaRPr lang="en-US" dirty="0">
              <a:solidFill>
                <a:srgbClr val="FF0000"/>
              </a:solidFill>
            </a:endParaRPr>
          </a:p>
        </p:txBody>
      </p:sp>
      <p:sp>
        <p:nvSpPr>
          <p:cNvPr id="7" name="Rectangle 6">
            <a:extLst>
              <a:ext uri="{FF2B5EF4-FFF2-40B4-BE49-F238E27FC236}">
                <a16:creationId xmlns:a16="http://schemas.microsoft.com/office/drawing/2014/main" id="{C1CF63A2-5EB1-4F02-BAE7-B539E8E47C2C}"/>
              </a:ext>
            </a:extLst>
          </p:cNvPr>
          <p:cNvSpPr/>
          <p:nvPr/>
        </p:nvSpPr>
        <p:spPr>
          <a:xfrm>
            <a:off x="7918316" y="115095"/>
            <a:ext cx="4042145" cy="461665"/>
          </a:xfrm>
          <a:prstGeom prst="rect">
            <a:avLst/>
          </a:prstGeom>
        </p:spPr>
        <p:txBody>
          <a:bodyPr wrap="square">
            <a:spAutoFit/>
          </a:bodyPr>
          <a:lstStyle/>
          <a:p>
            <a:r>
              <a:rPr lang="en-US" sz="2400" i="1" dirty="0"/>
              <a:t>2 x1 + 2 x2  + S1 = 7</a:t>
            </a:r>
          </a:p>
        </p:txBody>
      </p:sp>
      <p:sp>
        <p:nvSpPr>
          <p:cNvPr id="9" name="Rectangle 8">
            <a:extLst>
              <a:ext uri="{FF2B5EF4-FFF2-40B4-BE49-F238E27FC236}">
                <a16:creationId xmlns:a16="http://schemas.microsoft.com/office/drawing/2014/main" id="{410D83FC-7940-402F-B5B0-F709D30A86A8}"/>
              </a:ext>
            </a:extLst>
          </p:cNvPr>
          <p:cNvSpPr/>
          <p:nvPr/>
        </p:nvSpPr>
        <p:spPr>
          <a:xfrm>
            <a:off x="3400869" y="1697022"/>
            <a:ext cx="5104502" cy="461665"/>
          </a:xfrm>
          <a:prstGeom prst="rect">
            <a:avLst/>
          </a:prstGeom>
        </p:spPr>
        <p:txBody>
          <a:bodyPr wrap="square">
            <a:spAutoFit/>
          </a:bodyPr>
          <a:lstStyle/>
          <a:p>
            <a:r>
              <a:rPr lang="en-US" sz="2400" i="1" dirty="0"/>
              <a:t> 2         3          0    	     0           0         </a:t>
            </a:r>
          </a:p>
        </p:txBody>
      </p:sp>
      <p:sp>
        <p:nvSpPr>
          <p:cNvPr id="11" name="Rectangle 10">
            <a:extLst>
              <a:ext uri="{FF2B5EF4-FFF2-40B4-BE49-F238E27FC236}">
                <a16:creationId xmlns:a16="http://schemas.microsoft.com/office/drawing/2014/main" id="{F37D74E3-585D-4E7D-90FB-90B97715A1C2}"/>
              </a:ext>
            </a:extLst>
          </p:cNvPr>
          <p:cNvSpPr/>
          <p:nvPr/>
        </p:nvSpPr>
        <p:spPr>
          <a:xfrm>
            <a:off x="3400868" y="2371750"/>
            <a:ext cx="5104502" cy="461665"/>
          </a:xfrm>
          <a:prstGeom prst="rect">
            <a:avLst/>
          </a:prstGeom>
        </p:spPr>
        <p:txBody>
          <a:bodyPr wrap="square">
            <a:spAutoFit/>
          </a:bodyPr>
          <a:lstStyle/>
          <a:p>
            <a:r>
              <a:rPr lang="en-US" sz="2400" i="1" dirty="0"/>
              <a:t> x1       x2        s1         s2        s3 </a:t>
            </a:r>
          </a:p>
        </p:txBody>
      </p:sp>
      <p:sp>
        <p:nvSpPr>
          <p:cNvPr id="12" name="Rectangle 11">
            <a:extLst>
              <a:ext uri="{FF2B5EF4-FFF2-40B4-BE49-F238E27FC236}">
                <a16:creationId xmlns:a16="http://schemas.microsoft.com/office/drawing/2014/main" id="{757A82B3-4AF2-4211-B555-0CE256758C51}"/>
              </a:ext>
            </a:extLst>
          </p:cNvPr>
          <p:cNvSpPr/>
          <p:nvPr/>
        </p:nvSpPr>
        <p:spPr>
          <a:xfrm>
            <a:off x="3400868" y="3003501"/>
            <a:ext cx="5104502" cy="461665"/>
          </a:xfrm>
          <a:prstGeom prst="rect">
            <a:avLst/>
          </a:prstGeom>
        </p:spPr>
        <p:txBody>
          <a:bodyPr wrap="square">
            <a:spAutoFit/>
          </a:bodyPr>
          <a:lstStyle/>
          <a:p>
            <a:r>
              <a:rPr lang="en-US" sz="2400" i="1" dirty="0"/>
              <a:t> 1         0         1/2       0          -1</a:t>
            </a:r>
          </a:p>
        </p:txBody>
      </p:sp>
      <p:sp>
        <p:nvSpPr>
          <p:cNvPr id="13" name="Rectangle 12">
            <a:extLst>
              <a:ext uri="{FF2B5EF4-FFF2-40B4-BE49-F238E27FC236}">
                <a16:creationId xmlns:a16="http://schemas.microsoft.com/office/drawing/2014/main" id="{B09BCDD7-D76C-47F6-B1EB-32712B30B584}"/>
              </a:ext>
            </a:extLst>
          </p:cNvPr>
          <p:cNvSpPr/>
          <p:nvPr/>
        </p:nvSpPr>
        <p:spPr>
          <a:xfrm>
            <a:off x="854630" y="878868"/>
            <a:ext cx="9005649" cy="523220"/>
          </a:xfrm>
          <a:prstGeom prst="rect">
            <a:avLst/>
          </a:prstGeom>
        </p:spPr>
        <p:txBody>
          <a:bodyPr wrap="square">
            <a:spAutoFit/>
          </a:bodyPr>
          <a:lstStyle/>
          <a:p>
            <a:r>
              <a:rPr lang="en-US" sz="2800" b="1" dirty="0"/>
              <a:t>Max Z = 2 x1 + 3 x2 + S1 + S2 + S3</a:t>
            </a:r>
          </a:p>
        </p:txBody>
      </p:sp>
      <p:cxnSp>
        <p:nvCxnSpPr>
          <p:cNvPr id="15" name="Straight Arrow Connector 14">
            <a:extLst>
              <a:ext uri="{FF2B5EF4-FFF2-40B4-BE49-F238E27FC236}">
                <a16:creationId xmlns:a16="http://schemas.microsoft.com/office/drawing/2014/main" id="{410D4A1B-B99D-4B4E-ADFF-EB306D4999FF}"/>
              </a:ext>
            </a:extLst>
          </p:cNvPr>
          <p:cNvCxnSpPr/>
          <p:nvPr/>
        </p:nvCxnSpPr>
        <p:spPr>
          <a:xfrm>
            <a:off x="2336801" y="2115145"/>
            <a:ext cx="68217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548FD16-BD95-4D14-B781-9F8506602B86}"/>
              </a:ext>
            </a:extLst>
          </p:cNvPr>
          <p:cNvCxnSpPr>
            <a:cxnSpLocks/>
          </p:cNvCxnSpPr>
          <p:nvPr/>
        </p:nvCxnSpPr>
        <p:spPr>
          <a:xfrm>
            <a:off x="1172925" y="1710137"/>
            <a:ext cx="0" cy="3048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EAA07C5-7CB8-41BA-A3DB-4DA4310081CE}"/>
              </a:ext>
            </a:extLst>
          </p:cNvPr>
          <p:cNvSpPr/>
          <p:nvPr/>
        </p:nvSpPr>
        <p:spPr>
          <a:xfrm>
            <a:off x="2393491" y="2945444"/>
            <a:ext cx="568790" cy="461665"/>
          </a:xfrm>
          <a:prstGeom prst="rect">
            <a:avLst/>
          </a:prstGeom>
        </p:spPr>
        <p:txBody>
          <a:bodyPr wrap="square">
            <a:spAutoFit/>
          </a:bodyPr>
          <a:lstStyle/>
          <a:p>
            <a:r>
              <a:rPr lang="en-US" sz="2400" i="1" dirty="0"/>
              <a:t>x1</a:t>
            </a:r>
          </a:p>
        </p:txBody>
      </p:sp>
      <p:sp>
        <p:nvSpPr>
          <p:cNvPr id="23" name="Rectangle 22">
            <a:extLst>
              <a:ext uri="{FF2B5EF4-FFF2-40B4-BE49-F238E27FC236}">
                <a16:creationId xmlns:a16="http://schemas.microsoft.com/office/drawing/2014/main" id="{B929374A-8C0A-469C-9C8B-CA3690C3781C}"/>
              </a:ext>
            </a:extLst>
          </p:cNvPr>
          <p:cNvSpPr/>
          <p:nvPr/>
        </p:nvSpPr>
        <p:spPr>
          <a:xfrm>
            <a:off x="2373087" y="3573498"/>
            <a:ext cx="545652" cy="461665"/>
          </a:xfrm>
          <a:prstGeom prst="rect">
            <a:avLst/>
          </a:prstGeom>
        </p:spPr>
        <p:txBody>
          <a:bodyPr wrap="square">
            <a:spAutoFit/>
          </a:bodyPr>
          <a:lstStyle/>
          <a:p>
            <a:r>
              <a:rPr lang="en-US" sz="2400" i="1" dirty="0"/>
              <a:t>s2</a:t>
            </a:r>
          </a:p>
        </p:txBody>
      </p:sp>
      <p:sp>
        <p:nvSpPr>
          <p:cNvPr id="24" name="Rectangle 23">
            <a:extLst>
              <a:ext uri="{FF2B5EF4-FFF2-40B4-BE49-F238E27FC236}">
                <a16:creationId xmlns:a16="http://schemas.microsoft.com/office/drawing/2014/main" id="{4ADF7ACF-FD93-43D4-8E85-9985894350A9}"/>
              </a:ext>
            </a:extLst>
          </p:cNvPr>
          <p:cNvSpPr/>
          <p:nvPr/>
        </p:nvSpPr>
        <p:spPr>
          <a:xfrm>
            <a:off x="1291769" y="2913101"/>
            <a:ext cx="545652" cy="461665"/>
          </a:xfrm>
          <a:prstGeom prst="rect">
            <a:avLst/>
          </a:prstGeom>
        </p:spPr>
        <p:txBody>
          <a:bodyPr wrap="square">
            <a:spAutoFit/>
          </a:bodyPr>
          <a:lstStyle/>
          <a:p>
            <a:r>
              <a:rPr lang="en-US" sz="2400" i="1" dirty="0"/>
              <a:t>2</a:t>
            </a:r>
          </a:p>
        </p:txBody>
      </p:sp>
      <p:sp>
        <p:nvSpPr>
          <p:cNvPr id="25" name="Rectangle 24">
            <a:extLst>
              <a:ext uri="{FF2B5EF4-FFF2-40B4-BE49-F238E27FC236}">
                <a16:creationId xmlns:a16="http://schemas.microsoft.com/office/drawing/2014/main" id="{9E86616C-E86D-4453-A38C-BA3C33953E0C}"/>
              </a:ext>
            </a:extLst>
          </p:cNvPr>
          <p:cNvSpPr/>
          <p:nvPr/>
        </p:nvSpPr>
        <p:spPr>
          <a:xfrm>
            <a:off x="1269994" y="3529959"/>
            <a:ext cx="545652" cy="461665"/>
          </a:xfrm>
          <a:prstGeom prst="rect">
            <a:avLst/>
          </a:prstGeom>
        </p:spPr>
        <p:txBody>
          <a:bodyPr wrap="square">
            <a:spAutoFit/>
          </a:bodyPr>
          <a:lstStyle/>
          <a:p>
            <a:r>
              <a:rPr lang="en-US" sz="2400" i="1" dirty="0"/>
              <a:t>0</a:t>
            </a:r>
          </a:p>
        </p:txBody>
      </p:sp>
      <p:sp>
        <p:nvSpPr>
          <p:cNvPr id="26" name="Rectangle 25">
            <a:extLst>
              <a:ext uri="{FF2B5EF4-FFF2-40B4-BE49-F238E27FC236}">
                <a16:creationId xmlns:a16="http://schemas.microsoft.com/office/drawing/2014/main" id="{61767C4E-49EF-47CF-86DE-2F892C5C7B5A}"/>
              </a:ext>
            </a:extLst>
          </p:cNvPr>
          <p:cNvSpPr/>
          <p:nvPr/>
        </p:nvSpPr>
        <p:spPr>
          <a:xfrm>
            <a:off x="7918316" y="598275"/>
            <a:ext cx="3579138" cy="461665"/>
          </a:xfrm>
          <a:prstGeom prst="rect">
            <a:avLst/>
          </a:prstGeom>
        </p:spPr>
        <p:txBody>
          <a:bodyPr wrap="square">
            <a:spAutoFit/>
          </a:bodyPr>
          <a:lstStyle/>
          <a:p>
            <a:r>
              <a:rPr lang="en-US" sz="2400" i="1" dirty="0"/>
              <a:t>x1 + S2 = 2</a:t>
            </a:r>
          </a:p>
        </p:txBody>
      </p:sp>
      <p:sp>
        <p:nvSpPr>
          <p:cNvPr id="27" name="Rectangle 26">
            <a:extLst>
              <a:ext uri="{FF2B5EF4-FFF2-40B4-BE49-F238E27FC236}">
                <a16:creationId xmlns:a16="http://schemas.microsoft.com/office/drawing/2014/main" id="{B46BB860-9FCC-471B-B1DB-CC177706B8CB}"/>
              </a:ext>
            </a:extLst>
          </p:cNvPr>
          <p:cNvSpPr/>
          <p:nvPr/>
        </p:nvSpPr>
        <p:spPr>
          <a:xfrm>
            <a:off x="3350066" y="3547784"/>
            <a:ext cx="5155304" cy="461665"/>
          </a:xfrm>
          <a:prstGeom prst="rect">
            <a:avLst/>
          </a:prstGeom>
        </p:spPr>
        <p:txBody>
          <a:bodyPr wrap="square">
            <a:spAutoFit/>
          </a:bodyPr>
          <a:lstStyle/>
          <a:p>
            <a:r>
              <a:rPr lang="en-US" sz="2400" i="1" dirty="0"/>
              <a:t> 0         0         -1/2      1          1</a:t>
            </a:r>
          </a:p>
        </p:txBody>
      </p:sp>
      <p:sp>
        <p:nvSpPr>
          <p:cNvPr id="28" name="Rectangle 27">
            <a:extLst>
              <a:ext uri="{FF2B5EF4-FFF2-40B4-BE49-F238E27FC236}">
                <a16:creationId xmlns:a16="http://schemas.microsoft.com/office/drawing/2014/main" id="{0D4EF912-F04E-42A7-AC8F-9EF06B662B91}"/>
              </a:ext>
            </a:extLst>
          </p:cNvPr>
          <p:cNvSpPr/>
          <p:nvPr/>
        </p:nvSpPr>
        <p:spPr>
          <a:xfrm>
            <a:off x="2305771" y="4617916"/>
            <a:ext cx="545652" cy="461665"/>
          </a:xfrm>
          <a:prstGeom prst="rect">
            <a:avLst/>
          </a:prstGeom>
        </p:spPr>
        <p:txBody>
          <a:bodyPr wrap="square">
            <a:spAutoFit/>
          </a:bodyPr>
          <a:lstStyle/>
          <a:p>
            <a:r>
              <a:rPr lang="en-US" sz="2400" i="1" dirty="0" err="1"/>
              <a:t>Zj</a:t>
            </a:r>
            <a:endParaRPr lang="en-US" sz="2400" i="1" dirty="0"/>
          </a:p>
        </p:txBody>
      </p:sp>
      <p:sp>
        <p:nvSpPr>
          <p:cNvPr id="31" name="Rectangle 30">
            <a:extLst>
              <a:ext uri="{FF2B5EF4-FFF2-40B4-BE49-F238E27FC236}">
                <a16:creationId xmlns:a16="http://schemas.microsoft.com/office/drawing/2014/main" id="{864F2EA2-D3FA-4B29-B824-58D41C0151C4}"/>
              </a:ext>
            </a:extLst>
          </p:cNvPr>
          <p:cNvSpPr/>
          <p:nvPr/>
        </p:nvSpPr>
        <p:spPr>
          <a:xfrm>
            <a:off x="3274130" y="4631274"/>
            <a:ext cx="6710549" cy="461665"/>
          </a:xfrm>
          <a:prstGeom prst="rect">
            <a:avLst/>
          </a:prstGeom>
        </p:spPr>
        <p:txBody>
          <a:bodyPr wrap="square">
            <a:spAutoFit/>
          </a:bodyPr>
          <a:lstStyle/>
          <a:p>
            <a:r>
              <a:rPr lang="en-US" sz="2400" i="1" dirty="0"/>
              <a:t>  2         3          1         0          1          9</a:t>
            </a:r>
          </a:p>
        </p:txBody>
      </p:sp>
      <p:sp>
        <p:nvSpPr>
          <p:cNvPr id="32" name="Rectangle 31">
            <a:extLst>
              <a:ext uri="{FF2B5EF4-FFF2-40B4-BE49-F238E27FC236}">
                <a16:creationId xmlns:a16="http://schemas.microsoft.com/office/drawing/2014/main" id="{0F04E717-3391-46C1-9958-6624DF084ED4}"/>
              </a:ext>
            </a:extLst>
          </p:cNvPr>
          <p:cNvSpPr/>
          <p:nvPr/>
        </p:nvSpPr>
        <p:spPr>
          <a:xfrm>
            <a:off x="2043147" y="5106560"/>
            <a:ext cx="1211943" cy="461665"/>
          </a:xfrm>
          <a:prstGeom prst="rect">
            <a:avLst/>
          </a:prstGeom>
        </p:spPr>
        <p:txBody>
          <a:bodyPr wrap="square">
            <a:spAutoFit/>
          </a:bodyPr>
          <a:lstStyle/>
          <a:p>
            <a:r>
              <a:rPr lang="en-US" sz="2400" i="1" dirty="0" err="1"/>
              <a:t>Cj</a:t>
            </a:r>
            <a:r>
              <a:rPr lang="en-US" sz="2400" i="1" dirty="0"/>
              <a:t> - </a:t>
            </a:r>
            <a:r>
              <a:rPr lang="en-US" sz="2400" i="1" dirty="0" err="1"/>
              <a:t>Zj</a:t>
            </a:r>
            <a:endParaRPr lang="en-US" sz="2400" i="1" dirty="0"/>
          </a:p>
        </p:txBody>
      </p:sp>
      <p:sp>
        <p:nvSpPr>
          <p:cNvPr id="33" name="Rectangle 32">
            <a:extLst>
              <a:ext uri="{FF2B5EF4-FFF2-40B4-BE49-F238E27FC236}">
                <a16:creationId xmlns:a16="http://schemas.microsoft.com/office/drawing/2014/main" id="{2B65CB3B-095B-4A91-A457-6D5825DEABD9}"/>
              </a:ext>
            </a:extLst>
          </p:cNvPr>
          <p:cNvSpPr/>
          <p:nvPr/>
        </p:nvSpPr>
        <p:spPr>
          <a:xfrm>
            <a:off x="3274130" y="5121073"/>
            <a:ext cx="6710549" cy="461665"/>
          </a:xfrm>
          <a:prstGeom prst="rect">
            <a:avLst/>
          </a:prstGeom>
        </p:spPr>
        <p:txBody>
          <a:bodyPr wrap="square">
            <a:spAutoFit/>
          </a:bodyPr>
          <a:lstStyle/>
          <a:p>
            <a:r>
              <a:rPr lang="en-US" sz="2400" i="1" dirty="0"/>
              <a:t>  0          0         -1         0         -1</a:t>
            </a:r>
          </a:p>
        </p:txBody>
      </p:sp>
      <p:sp>
        <p:nvSpPr>
          <p:cNvPr id="29" name="Content Placeholder 2">
            <a:extLst>
              <a:ext uri="{FF2B5EF4-FFF2-40B4-BE49-F238E27FC236}">
                <a16:creationId xmlns:a16="http://schemas.microsoft.com/office/drawing/2014/main" id="{6D549934-B5C7-4BE4-AFEE-E37A4572DD24}"/>
              </a:ext>
            </a:extLst>
          </p:cNvPr>
          <p:cNvSpPr>
            <a:spLocks noGrp="1"/>
          </p:cNvSpPr>
          <p:nvPr>
            <p:ph idx="1"/>
          </p:nvPr>
        </p:nvSpPr>
        <p:spPr>
          <a:xfrm>
            <a:off x="981550" y="5840678"/>
            <a:ext cx="6419202" cy="643545"/>
          </a:xfrm>
        </p:spPr>
        <p:txBody>
          <a:bodyPr>
            <a:normAutofit/>
          </a:bodyPr>
          <a:lstStyle/>
          <a:p>
            <a:pPr marL="0" indent="0">
              <a:buNone/>
            </a:pPr>
            <a:r>
              <a:rPr lang="en-US" sz="3200" dirty="0"/>
              <a:t>For Maximization All </a:t>
            </a:r>
            <a:r>
              <a:rPr lang="en-US" sz="3200" dirty="0" err="1"/>
              <a:t>Cj</a:t>
            </a:r>
            <a:r>
              <a:rPr lang="en-US" sz="3200" dirty="0"/>
              <a:t> – </a:t>
            </a:r>
            <a:r>
              <a:rPr lang="en-US" sz="3200" dirty="0" err="1"/>
              <a:t>Zj</a:t>
            </a:r>
            <a:r>
              <a:rPr lang="en-US" sz="3200" dirty="0"/>
              <a:t> &lt;= 0</a:t>
            </a:r>
            <a:endParaRPr lang="en-US" dirty="0"/>
          </a:p>
        </p:txBody>
      </p:sp>
      <p:sp>
        <p:nvSpPr>
          <p:cNvPr id="38" name="Rectangle 37">
            <a:extLst>
              <a:ext uri="{FF2B5EF4-FFF2-40B4-BE49-F238E27FC236}">
                <a16:creationId xmlns:a16="http://schemas.microsoft.com/office/drawing/2014/main" id="{C6F83CCA-0248-4E65-AE79-34017C9C7D43}"/>
              </a:ext>
            </a:extLst>
          </p:cNvPr>
          <p:cNvSpPr/>
          <p:nvPr/>
        </p:nvSpPr>
        <p:spPr>
          <a:xfrm>
            <a:off x="8572815" y="3019316"/>
            <a:ext cx="737705" cy="461665"/>
          </a:xfrm>
          <a:prstGeom prst="rect">
            <a:avLst/>
          </a:prstGeom>
        </p:spPr>
        <p:txBody>
          <a:bodyPr wrap="square">
            <a:spAutoFit/>
          </a:bodyPr>
          <a:lstStyle/>
          <a:p>
            <a:r>
              <a:rPr lang="en-US" sz="2400" i="1" dirty="0"/>
              <a:t>3/2</a:t>
            </a:r>
          </a:p>
        </p:txBody>
      </p:sp>
      <p:sp>
        <p:nvSpPr>
          <p:cNvPr id="39" name="Rectangle 38">
            <a:extLst>
              <a:ext uri="{FF2B5EF4-FFF2-40B4-BE49-F238E27FC236}">
                <a16:creationId xmlns:a16="http://schemas.microsoft.com/office/drawing/2014/main" id="{ED484AD5-E75D-43EE-99F3-8E98AC6DD160}"/>
              </a:ext>
            </a:extLst>
          </p:cNvPr>
          <p:cNvSpPr/>
          <p:nvPr/>
        </p:nvSpPr>
        <p:spPr>
          <a:xfrm>
            <a:off x="8558427" y="3573498"/>
            <a:ext cx="813565" cy="461665"/>
          </a:xfrm>
          <a:prstGeom prst="rect">
            <a:avLst/>
          </a:prstGeom>
        </p:spPr>
        <p:txBody>
          <a:bodyPr wrap="square">
            <a:spAutoFit/>
          </a:bodyPr>
          <a:lstStyle/>
          <a:p>
            <a:r>
              <a:rPr lang="en-US" sz="2400" i="1" dirty="0"/>
              <a:t>1/2</a:t>
            </a:r>
          </a:p>
        </p:txBody>
      </p:sp>
      <p:sp>
        <p:nvSpPr>
          <p:cNvPr id="30" name="Rectangle 29">
            <a:extLst>
              <a:ext uri="{FF2B5EF4-FFF2-40B4-BE49-F238E27FC236}">
                <a16:creationId xmlns:a16="http://schemas.microsoft.com/office/drawing/2014/main" id="{61767C4E-49EF-47CF-86DE-2F892C5C7B5A}"/>
              </a:ext>
            </a:extLst>
          </p:cNvPr>
          <p:cNvSpPr/>
          <p:nvPr/>
        </p:nvSpPr>
        <p:spPr>
          <a:xfrm>
            <a:off x="7805735" y="1067031"/>
            <a:ext cx="3579138" cy="461665"/>
          </a:xfrm>
          <a:prstGeom prst="rect">
            <a:avLst/>
          </a:prstGeom>
        </p:spPr>
        <p:txBody>
          <a:bodyPr wrap="square">
            <a:spAutoFit/>
          </a:bodyPr>
          <a:lstStyle/>
          <a:p>
            <a:r>
              <a:rPr lang="en-US" sz="2400" i="1" dirty="0"/>
              <a:t> x2 + S3 = 2</a:t>
            </a:r>
          </a:p>
        </p:txBody>
      </p:sp>
      <p:sp>
        <p:nvSpPr>
          <p:cNvPr id="40" name="Rectangle 39">
            <a:extLst>
              <a:ext uri="{FF2B5EF4-FFF2-40B4-BE49-F238E27FC236}">
                <a16:creationId xmlns:a16="http://schemas.microsoft.com/office/drawing/2014/main" id="{B929374A-8C0A-469C-9C8B-CA3690C3781C}"/>
              </a:ext>
            </a:extLst>
          </p:cNvPr>
          <p:cNvSpPr/>
          <p:nvPr/>
        </p:nvSpPr>
        <p:spPr>
          <a:xfrm>
            <a:off x="2373087" y="4069923"/>
            <a:ext cx="545652" cy="461665"/>
          </a:xfrm>
          <a:prstGeom prst="rect">
            <a:avLst/>
          </a:prstGeom>
        </p:spPr>
        <p:txBody>
          <a:bodyPr wrap="square">
            <a:spAutoFit/>
          </a:bodyPr>
          <a:lstStyle/>
          <a:p>
            <a:r>
              <a:rPr lang="en-US" sz="2400" i="1" dirty="0"/>
              <a:t>x2</a:t>
            </a:r>
          </a:p>
        </p:txBody>
      </p:sp>
      <p:sp>
        <p:nvSpPr>
          <p:cNvPr id="41" name="Rectangle 40">
            <a:extLst>
              <a:ext uri="{FF2B5EF4-FFF2-40B4-BE49-F238E27FC236}">
                <a16:creationId xmlns:a16="http://schemas.microsoft.com/office/drawing/2014/main" id="{B46BB860-9FCC-471B-B1DB-CC177706B8CB}"/>
              </a:ext>
            </a:extLst>
          </p:cNvPr>
          <p:cNvSpPr/>
          <p:nvPr/>
        </p:nvSpPr>
        <p:spPr>
          <a:xfrm>
            <a:off x="3311757" y="4114410"/>
            <a:ext cx="5193613" cy="461665"/>
          </a:xfrm>
          <a:prstGeom prst="rect">
            <a:avLst/>
          </a:prstGeom>
        </p:spPr>
        <p:txBody>
          <a:bodyPr wrap="square">
            <a:spAutoFit/>
          </a:bodyPr>
          <a:lstStyle/>
          <a:p>
            <a:r>
              <a:rPr lang="en-US" sz="2400" i="1" dirty="0"/>
              <a:t>  0         1          0         0          1</a:t>
            </a:r>
          </a:p>
        </p:txBody>
      </p:sp>
      <p:sp>
        <p:nvSpPr>
          <p:cNvPr id="42" name="Rectangle 41">
            <a:extLst>
              <a:ext uri="{FF2B5EF4-FFF2-40B4-BE49-F238E27FC236}">
                <a16:creationId xmlns:a16="http://schemas.microsoft.com/office/drawing/2014/main" id="{9E86616C-E86D-4453-A38C-BA3C33953E0C}"/>
              </a:ext>
            </a:extLst>
          </p:cNvPr>
          <p:cNvSpPr/>
          <p:nvPr/>
        </p:nvSpPr>
        <p:spPr>
          <a:xfrm>
            <a:off x="1245902" y="4124454"/>
            <a:ext cx="545652" cy="461665"/>
          </a:xfrm>
          <a:prstGeom prst="rect">
            <a:avLst/>
          </a:prstGeom>
        </p:spPr>
        <p:txBody>
          <a:bodyPr wrap="square">
            <a:spAutoFit/>
          </a:bodyPr>
          <a:lstStyle/>
          <a:p>
            <a:r>
              <a:rPr lang="en-US" sz="2400" i="1" dirty="0"/>
              <a:t>3</a:t>
            </a:r>
          </a:p>
        </p:txBody>
      </p:sp>
      <p:sp>
        <p:nvSpPr>
          <p:cNvPr id="43" name="Rectangle 42">
            <a:extLst>
              <a:ext uri="{FF2B5EF4-FFF2-40B4-BE49-F238E27FC236}">
                <a16:creationId xmlns:a16="http://schemas.microsoft.com/office/drawing/2014/main" id="{ED484AD5-E75D-43EE-99F3-8E98AC6DD160}"/>
              </a:ext>
            </a:extLst>
          </p:cNvPr>
          <p:cNvSpPr/>
          <p:nvPr/>
        </p:nvSpPr>
        <p:spPr>
          <a:xfrm>
            <a:off x="8692384" y="4156251"/>
            <a:ext cx="545652" cy="461665"/>
          </a:xfrm>
          <a:prstGeom prst="rect">
            <a:avLst/>
          </a:prstGeom>
        </p:spPr>
        <p:txBody>
          <a:bodyPr wrap="square">
            <a:spAutoFit/>
          </a:bodyPr>
          <a:lstStyle/>
          <a:p>
            <a:r>
              <a:rPr lang="en-US" sz="2400" i="1" dirty="0"/>
              <a:t>2</a:t>
            </a:r>
          </a:p>
        </p:txBody>
      </p:sp>
      <p:sp>
        <p:nvSpPr>
          <p:cNvPr id="44" name="Rectangle 43">
            <a:extLst>
              <a:ext uri="{FF2B5EF4-FFF2-40B4-BE49-F238E27FC236}">
                <a16:creationId xmlns:a16="http://schemas.microsoft.com/office/drawing/2014/main" id="{C6F83CCA-0248-4E65-AE79-34017C9C7D43}"/>
              </a:ext>
            </a:extLst>
          </p:cNvPr>
          <p:cNvSpPr/>
          <p:nvPr/>
        </p:nvSpPr>
        <p:spPr>
          <a:xfrm>
            <a:off x="9617199" y="2977778"/>
            <a:ext cx="795388" cy="461665"/>
          </a:xfrm>
          <a:prstGeom prst="rect">
            <a:avLst/>
          </a:prstGeom>
        </p:spPr>
        <p:txBody>
          <a:bodyPr wrap="square">
            <a:spAutoFit/>
          </a:bodyPr>
          <a:lstStyle/>
          <a:p>
            <a:r>
              <a:rPr lang="en-US" sz="2400" i="1" dirty="0"/>
              <a:t>3/2</a:t>
            </a:r>
          </a:p>
        </p:txBody>
      </p:sp>
      <p:sp>
        <p:nvSpPr>
          <p:cNvPr id="45" name="Rectangle 44">
            <a:extLst>
              <a:ext uri="{FF2B5EF4-FFF2-40B4-BE49-F238E27FC236}">
                <a16:creationId xmlns:a16="http://schemas.microsoft.com/office/drawing/2014/main" id="{ED484AD5-E75D-43EE-99F3-8E98AC6DD160}"/>
              </a:ext>
            </a:extLst>
          </p:cNvPr>
          <p:cNvSpPr/>
          <p:nvPr/>
        </p:nvSpPr>
        <p:spPr>
          <a:xfrm>
            <a:off x="9505949" y="3584849"/>
            <a:ext cx="1144563" cy="461665"/>
          </a:xfrm>
          <a:prstGeom prst="rect">
            <a:avLst/>
          </a:prstGeom>
        </p:spPr>
        <p:txBody>
          <a:bodyPr wrap="square">
            <a:spAutoFit/>
          </a:bodyPr>
          <a:lstStyle/>
          <a:p>
            <a:r>
              <a:rPr lang="en-US" i="1" dirty="0"/>
              <a:t>   </a:t>
            </a:r>
            <a:r>
              <a:rPr lang="en-US" sz="2400" i="1" dirty="0"/>
              <a:t>2</a:t>
            </a:r>
          </a:p>
        </p:txBody>
      </p:sp>
      <p:sp>
        <p:nvSpPr>
          <p:cNvPr id="46" name="Rectangle 45">
            <a:extLst>
              <a:ext uri="{FF2B5EF4-FFF2-40B4-BE49-F238E27FC236}">
                <a16:creationId xmlns:a16="http://schemas.microsoft.com/office/drawing/2014/main" id="{ED484AD5-E75D-43EE-99F3-8E98AC6DD160}"/>
              </a:ext>
            </a:extLst>
          </p:cNvPr>
          <p:cNvSpPr/>
          <p:nvPr/>
        </p:nvSpPr>
        <p:spPr>
          <a:xfrm>
            <a:off x="9505949" y="4153874"/>
            <a:ext cx="1148615" cy="369332"/>
          </a:xfrm>
          <a:prstGeom prst="rect">
            <a:avLst/>
          </a:prstGeom>
        </p:spPr>
        <p:txBody>
          <a:bodyPr wrap="square">
            <a:spAutoFit/>
          </a:bodyPr>
          <a:lstStyle/>
          <a:p>
            <a:r>
              <a:rPr lang="en-US" i="1" dirty="0"/>
              <a:t>Infinity</a:t>
            </a:r>
          </a:p>
        </p:txBody>
      </p:sp>
      <p:sp>
        <p:nvSpPr>
          <p:cNvPr id="47" name="Content Placeholder 2">
            <a:extLst>
              <a:ext uri="{FF2B5EF4-FFF2-40B4-BE49-F238E27FC236}">
                <a16:creationId xmlns:a16="http://schemas.microsoft.com/office/drawing/2014/main" id="{92C81DC3-B0B3-4EEA-A8F9-16F859BAEAA4}"/>
              </a:ext>
            </a:extLst>
          </p:cNvPr>
          <p:cNvSpPr txBox="1">
            <a:spLocks/>
          </p:cNvSpPr>
          <p:nvPr/>
        </p:nvSpPr>
        <p:spPr>
          <a:xfrm>
            <a:off x="9426222" y="5076858"/>
            <a:ext cx="2050385" cy="139096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800" dirty="0"/>
              <a:t> </a:t>
            </a:r>
            <a:r>
              <a:rPr lang="en-US" sz="2000" dirty="0"/>
              <a:t>x1 = 3/2</a:t>
            </a:r>
          </a:p>
          <a:p>
            <a:r>
              <a:rPr lang="en-US" sz="2000" dirty="0"/>
              <a:t> x2 = 2</a:t>
            </a:r>
          </a:p>
          <a:p>
            <a:r>
              <a:rPr lang="en-US" sz="2000" i="1" dirty="0"/>
              <a:t> Z = 9</a:t>
            </a:r>
          </a:p>
        </p:txBody>
      </p:sp>
    </p:spTree>
    <p:extLst>
      <p:ext uri="{BB962C8B-B14F-4D97-AF65-F5344CB8AC3E}">
        <p14:creationId xmlns:p14="http://schemas.microsoft.com/office/powerpoint/2010/main" val="2311052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FA4A-9A42-4ABA-A216-AB6B01B616B7}"/>
              </a:ext>
            </a:extLst>
          </p:cNvPr>
          <p:cNvSpPr>
            <a:spLocks noGrp="1"/>
          </p:cNvSpPr>
          <p:nvPr>
            <p:ph type="title"/>
          </p:nvPr>
        </p:nvSpPr>
        <p:spPr>
          <a:xfrm>
            <a:off x="677334" y="138688"/>
            <a:ext cx="8596668" cy="731520"/>
          </a:xfrm>
        </p:spPr>
        <p:txBody>
          <a:bodyPr/>
          <a:lstStyle/>
          <a:p>
            <a:r>
              <a:rPr lang="en-US" dirty="0" err="1"/>
              <a:t>Gomory’s</a:t>
            </a:r>
            <a:r>
              <a:rPr lang="en-US" dirty="0"/>
              <a:t> Cutting Plane Method - Steps</a:t>
            </a:r>
          </a:p>
        </p:txBody>
      </p:sp>
      <p:sp>
        <p:nvSpPr>
          <p:cNvPr id="5" name="Content Placeholder 2">
            <a:extLst>
              <a:ext uri="{FF2B5EF4-FFF2-40B4-BE49-F238E27FC236}">
                <a16:creationId xmlns:a16="http://schemas.microsoft.com/office/drawing/2014/main" id="{BBFE4BD9-F884-4AB4-B8F8-5232F8DBD100}"/>
              </a:ext>
            </a:extLst>
          </p:cNvPr>
          <p:cNvSpPr txBox="1">
            <a:spLocks/>
          </p:cNvSpPr>
          <p:nvPr/>
        </p:nvSpPr>
        <p:spPr>
          <a:xfrm>
            <a:off x="677333" y="870208"/>
            <a:ext cx="9459443" cy="55168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a:pPr>
            <a:r>
              <a:rPr lang="en-US" b="1" dirty="0"/>
              <a:t>Normalize the Equation</a:t>
            </a:r>
          </a:p>
          <a:p>
            <a:pPr>
              <a:buFont typeface="+mj-lt"/>
              <a:buAutoNum type="arabicPeriod"/>
            </a:pPr>
            <a:r>
              <a:rPr lang="en-US" b="1" dirty="0"/>
              <a:t>Solve the problem using SIMPLEX method</a:t>
            </a:r>
          </a:p>
          <a:p>
            <a:pPr>
              <a:buFont typeface="+mj-lt"/>
              <a:buAutoNum type="arabicPeriod"/>
            </a:pPr>
            <a:r>
              <a:rPr lang="en-US" b="1" dirty="0"/>
              <a:t>If all the Basic Variables are Integers, then Optimality has reached. Go to Step 8</a:t>
            </a:r>
          </a:p>
          <a:p>
            <a:pPr>
              <a:buFont typeface="+mj-lt"/>
              <a:buAutoNum type="arabicPeriod"/>
            </a:pPr>
            <a:r>
              <a:rPr lang="en-US" b="1" dirty="0"/>
              <a:t>In case of Non Integer variables, Find the FRACTIONAL part of </a:t>
            </a:r>
            <a:r>
              <a:rPr lang="en-US" b="1" dirty="0">
                <a:solidFill>
                  <a:srgbClr val="00B0F0"/>
                </a:solidFill>
              </a:rPr>
              <a:t>f</a:t>
            </a:r>
            <a:r>
              <a:rPr lang="en-US" b="1" dirty="0">
                <a:solidFill>
                  <a:schemeClr val="tx1"/>
                </a:solidFill>
              </a:rPr>
              <a:t>, i.e. </a:t>
            </a:r>
            <a:r>
              <a:rPr lang="en-US" b="1" dirty="0">
                <a:solidFill>
                  <a:srgbClr val="00B0F0"/>
                </a:solidFill>
              </a:rPr>
              <a:t>bi = [bi] + fi</a:t>
            </a:r>
            <a:r>
              <a:rPr lang="en-US" b="1" dirty="0">
                <a:solidFill>
                  <a:schemeClr val="tx1"/>
                </a:solidFill>
              </a:rPr>
              <a:t>, where </a:t>
            </a:r>
            <a:r>
              <a:rPr lang="en-US" b="1" dirty="0">
                <a:solidFill>
                  <a:srgbClr val="00B0F0"/>
                </a:solidFill>
              </a:rPr>
              <a:t>bi</a:t>
            </a:r>
            <a:r>
              <a:rPr lang="en-US" b="1" dirty="0">
                <a:solidFill>
                  <a:schemeClr val="tx1"/>
                </a:solidFill>
              </a:rPr>
              <a:t> is Integer part and </a:t>
            </a:r>
            <a:r>
              <a:rPr lang="en-US" b="1" dirty="0">
                <a:solidFill>
                  <a:srgbClr val="00B0F0"/>
                </a:solidFill>
              </a:rPr>
              <a:t>fi</a:t>
            </a:r>
            <a:r>
              <a:rPr lang="en-US" b="1" dirty="0">
                <a:solidFill>
                  <a:schemeClr val="tx1"/>
                </a:solidFill>
              </a:rPr>
              <a:t> is FRACTIONAL part</a:t>
            </a:r>
          </a:p>
          <a:p>
            <a:pPr>
              <a:buFont typeface="+mj-lt"/>
              <a:buAutoNum type="arabicPeriod"/>
            </a:pPr>
            <a:r>
              <a:rPr lang="en-US" b="1" dirty="0">
                <a:solidFill>
                  <a:schemeClr val="tx1"/>
                </a:solidFill>
              </a:rPr>
              <a:t>Choose the </a:t>
            </a:r>
            <a:r>
              <a:rPr lang="en-US" b="1" dirty="0">
                <a:solidFill>
                  <a:srgbClr val="00B0F0"/>
                </a:solidFill>
              </a:rPr>
              <a:t>largest fraction</a:t>
            </a:r>
            <a:r>
              <a:rPr lang="en-US" b="1" dirty="0">
                <a:solidFill>
                  <a:schemeClr val="tx1"/>
                </a:solidFill>
              </a:rPr>
              <a:t> amongst various </a:t>
            </a:r>
            <a:r>
              <a:rPr lang="en-US" b="1" dirty="0">
                <a:solidFill>
                  <a:srgbClr val="00B0F0"/>
                </a:solidFill>
              </a:rPr>
              <a:t>fi</a:t>
            </a:r>
            <a:r>
              <a:rPr lang="en-US" b="1" dirty="0">
                <a:solidFill>
                  <a:schemeClr val="tx1"/>
                </a:solidFill>
              </a:rPr>
              <a:t>, i.e. Max (fi). Treat the constraint corresponding to the maximum fraction as the source row (Equation). </a:t>
            </a:r>
          </a:p>
          <a:p>
            <a:pPr>
              <a:buFont typeface="+mj-lt"/>
              <a:buAutoNum type="arabicPeriod"/>
            </a:pPr>
            <a:r>
              <a:rPr lang="en-US" b="1" dirty="0">
                <a:solidFill>
                  <a:schemeClr val="tx1"/>
                </a:solidFill>
              </a:rPr>
              <a:t>Based on the source equation, Develop an </a:t>
            </a:r>
            <a:r>
              <a:rPr lang="en-US" b="1" dirty="0">
                <a:solidFill>
                  <a:srgbClr val="00B0F0"/>
                </a:solidFill>
              </a:rPr>
              <a:t>Additional Constraint (</a:t>
            </a:r>
            <a:r>
              <a:rPr lang="en-US" b="1" dirty="0" err="1">
                <a:solidFill>
                  <a:srgbClr val="00B0F0"/>
                </a:solidFill>
              </a:rPr>
              <a:t>Goromy’s</a:t>
            </a:r>
            <a:r>
              <a:rPr lang="en-US" b="1" dirty="0">
                <a:solidFill>
                  <a:srgbClr val="00B0F0"/>
                </a:solidFill>
              </a:rPr>
              <a:t> Constraint/ fractional cut)</a:t>
            </a:r>
          </a:p>
          <a:p>
            <a:pPr marL="0" indent="0">
              <a:buNone/>
            </a:pPr>
            <a:r>
              <a:rPr lang="en-US" b="1" dirty="0">
                <a:solidFill>
                  <a:srgbClr val="00B0F0"/>
                </a:solidFill>
              </a:rPr>
              <a:t>       fi = Si – Summation ((fi)(Non-Basic Variables))</a:t>
            </a:r>
          </a:p>
          <a:p>
            <a:pPr>
              <a:buFont typeface="+mj-lt"/>
              <a:buAutoNum type="arabicPeriod" startAt="7"/>
            </a:pPr>
            <a:r>
              <a:rPr lang="en-US" b="1" dirty="0">
                <a:solidFill>
                  <a:schemeClr val="tx1"/>
                </a:solidFill>
              </a:rPr>
              <a:t>Add the fractional cut as last row in latest optimal table and proceed further using </a:t>
            </a:r>
            <a:r>
              <a:rPr lang="en-US" b="1" dirty="0">
                <a:solidFill>
                  <a:srgbClr val="00B0F0"/>
                </a:solidFill>
              </a:rPr>
              <a:t>DUAL SIMPLEX </a:t>
            </a:r>
            <a:r>
              <a:rPr lang="en-US" b="1" dirty="0">
                <a:solidFill>
                  <a:schemeClr val="tx1"/>
                </a:solidFill>
              </a:rPr>
              <a:t>method and find the new optimum solution. If new solution is Integer then go to Step 8 else go to Step 4</a:t>
            </a:r>
          </a:p>
          <a:p>
            <a:pPr>
              <a:buFont typeface="+mj-lt"/>
              <a:buAutoNum type="arabicPeriod" startAt="7"/>
            </a:pPr>
            <a:r>
              <a:rPr lang="en-US" b="1" dirty="0">
                <a:solidFill>
                  <a:schemeClr val="tx1"/>
                </a:solidFill>
              </a:rPr>
              <a:t>Stop the process and write Optimal solution</a:t>
            </a:r>
          </a:p>
          <a:p>
            <a:endParaRPr lang="en-US" b="1" dirty="0">
              <a:solidFill>
                <a:srgbClr val="FF0000"/>
              </a:solidFill>
            </a:endParaRPr>
          </a:p>
        </p:txBody>
      </p:sp>
      <p:sp>
        <p:nvSpPr>
          <p:cNvPr id="7" name="Content Placeholder 2">
            <a:extLst>
              <a:ext uri="{FF2B5EF4-FFF2-40B4-BE49-F238E27FC236}">
                <a16:creationId xmlns:a16="http://schemas.microsoft.com/office/drawing/2014/main" id="{92C81DC3-B0B3-4EEA-A8F9-16F859BAEAA4}"/>
              </a:ext>
            </a:extLst>
          </p:cNvPr>
          <p:cNvSpPr txBox="1">
            <a:spLocks/>
          </p:cNvSpPr>
          <p:nvPr/>
        </p:nvSpPr>
        <p:spPr>
          <a:xfrm>
            <a:off x="9327890" y="300675"/>
            <a:ext cx="2050385" cy="1390961"/>
          </a:xfrm>
          <a:prstGeom prst="rect">
            <a:avLst/>
          </a:prstGeom>
          <a:solidFill>
            <a:schemeClr val="accent1">
              <a:lumMod val="40000"/>
              <a:lumOff val="60000"/>
            </a:schemeClr>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800" dirty="0"/>
              <a:t> </a:t>
            </a:r>
            <a:r>
              <a:rPr lang="en-US" sz="2000" dirty="0"/>
              <a:t>x1 = 3/2</a:t>
            </a:r>
          </a:p>
          <a:p>
            <a:r>
              <a:rPr lang="en-US" sz="2000" dirty="0"/>
              <a:t> x2 = 2</a:t>
            </a:r>
          </a:p>
          <a:p>
            <a:r>
              <a:rPr lang="en-US" sz="2000" i="1" dirty="0"/>
              <a:t> Z = 9</a:t>
            </a:r>
          </a:p>
        </p:txBody>
      </p:sp>
      <p:sp>
        <p:nvSpPr>
          <p:cNvPr id="9" name="Rounded Rectangle 8"/>
          <p:cNvSpPr/>
          <p:nvPr/>
        </p:nvSpPr>
        <p:spPr>
          <a:xfrm>
            <a:off x="677332" y="1628462"/>
            <a:ext cx="10228233" cy="469279"/>
          </a:xfrm>
          <a:prstGeom prst="roundRect">
            <a:avLst/>
          </a:prstGeom>
          <a:no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77331" y="2127213"/>
            <a:ext cx="10228233" cy="540061"/>
          </a:xfrm>
          <a:prstGeom prst="roundRect">
            <a:avLst/>
          </a:prstGeom>
          <a:no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66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9" grpId="1"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BFE4BD9-F884-4AB4-B8F8-5232F8DBD100}"/>
              </a:ext>
            </a:extLst>
          </p:cNvPr>
          <p:cNvSpPr txBox="1">
            <a:spLocks/>
          </p:cNvSpPr>
          <p:nvPr/>
        </p:nvSpPr>
        <p:spPr>
          <a:xfrm>
            <a:off x="677333" y="870209"/>
            <a:ext cx="9459443" cy="62241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startAt="4"/>
            </a:pPr>
            <a:r>
              <a:rPr lang="en-US" b="1" dirty="0"/>
              <a:t>In case of Non Integer variables, Find the FRACTIONAL part of </a:t>
            </a:r>
            <a:r>
              <a:rPr lang="en-US" b="1" dirty="0">
                <a:solidFill>
                  <a:srgbClr val="00B0F0"/>
                </a:solidFill>
              </a:rPr>
              <a:t>f</a:t>
            </a:r>
            <a:r>
              <a:rPr lang="en-US" b="1" dirty="0">
                <a:solidFill>
                  <a:schemeClr val="tx1"/>
                </a:solidFill>
              </a:rPr>
              <a:t>, i.e. </a:t>
            </a:r>
            <a:r>
              <a:rPr lang="en-US" b="1" dirty="0">
                <a:solidFill>
                  <a:srgbClr val="00B0F0"/>
                </a:solidFill>
              </a:rPr>
              <a:t>bi = [bi] + fi</a:t>
            </a:r>
            <a:r>
              <a:rPr lang="en-US" b="1" dirty="0">
                <a:solidFill>
                  <a:schemeClr val="tx1"/>
                </a:solidFill>
              </a:rPr>
              <a:t>, where </a:t>
            </a:r>
            <a:r>
              <a:rPr lang="en-US" b="1" dirty="0">
                <a:solidFill>
                  <a:srgbClr val="00B0F0"/>
                </a:solidFill>
              </a:rPr>
              <a:t>bi</a:t>
            </a:r>
            <a:r>
              <a:rPr lang="en-US" b="1" dirty="0">
                <a:solidFill>
                  <a:schemeClr val="tx1"/>
                </a:solidFill>
              </a:rPr>
              <a:t> is Integer part and </a:t>
            </a:r>
            <a:r>
              <a:rPr lang="en-US" b="1" dirty="0">
                <a:solidFill>
                  <a:srgbClr val="00B0F0"/>
                </a:solidFill>
              </a:rPr>
              <a:t>fi</a:t>
            </a:r>
            <a:r>
              <a:rPr lang="en-US" b="1" dirty="0">
                <a:solidFill>
                  <a:schemeClr val="tx1"/>
                </a:solidFill>
              </a:rPr>
              <a:t> is FRACTIONAL part</a:t>
            </a:r>
          </a:p>
        </p:txBody>
      </p:sp>
      <p:sp>
        <p:nvSpPr>
          <p:cNvPr id="3" name="Title 1">
            <a:extLst>
              <a:ext uri="{FF2B5EF4-FFF2-40B4-BE49-F238E27FC236}">
                <a16:creationId xmlns:a16="http://schemas.microsoft.com/office/drawing/2014/main" id="{4076FA4A-9A42-4ABA-A216-AB6B01B616B7}"/>
              </a:ext>
            </a:extLst>
          </p:cNvPr>
          <p:cNvSpPr>
            <a:spLocks noGrp="1"/>
          </p:cNvSpPr>
          <p:nvPr>
            <p:ph type="title"/>
          </p:nvPr>
        </p:nvSpPr>
        <p:spPr>
          <a:xfrm>
            <a:off x="677334" y="138688"/>
            <a:ext cx="8596668" cy="731520"/>
          </a:xfrm>
        </p:spPr>
        <p:txBody>
          <a:bodyPr/>
          <a:lstStyle/>
          <a:p>
            <a:r>
              <a:rPr lang="en-US" dirty="0"/>
              <a:t>Step 4 </a:t>
            </a:r>
          </a:p>
        </p:txBody>
      </p:sp>
      <p:sp>
        <p:nvSpPr>
          <p:cNvPr id="5" name="Content Placeholder 2">
            <a:extLst>
              <a:ext uri="{FF2B5EF4-FFF2-40B4-BE49-F238E27FC236}">
                <a16:creationId xmlns:a16="http://schemas.microsoft.com/office/drawing/2014/main" id="{92C81DC3-B0B3-4EEA-A8F9-16F859BAEAA4}"/>
              </a:ext>
            </a:extLst>
          </p:cNvPr>
          <p:cNvSpPr txBox="1">
            <a:spLocks/>
          </p:cNvSpPr>
          <p:nvPr/>
        </p:nvSpPr>
        <p:spPr>
          <a:xfrm>
            <a:off x="968224" y="1803254"/>
            <a:ext cx="2050385" cy="1390961"/>
          </a:xfrm>
          <a:prstGeom prst="rect">
            <a:avLst/>
          </a:prstGeom>
          <a:no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800" dirty="0"/>
              <a:t> </a:t>
            </a:r>
            <a:r>
              <a:rPr lang="en-US" sz="2000" dirty="0"/>
              <a:t>x1 = 3/2</a:t>
            </a:r>
          </a:p>
          <a:p>
            <a:r>
              <a:rPr lang="en-US" sz="2000" dirty="0"/>
              <a:t> x2 = 2</a:t>
            </a:r>
          </a:p>
          <a:p>
            <a:r>
              <a:rPr lang="en-US" sz="2000" i="1" dirty="0"/>
              <a:t> Z = 9</a:t>
            </a:r>
          </a:p>
        </p:txBody>
      </p:sp>
      <p:grpSp>
        <p:nvGrpSpPr>
          <p:cNvPr id="11" name="Group 10"/>
          <p:cNvGrpSpPr/>
          <p:nvPr/>
        </p:nvGrpSpPr>
        <p:grpSpPr>
          <a:xfrm>
            <a:off x="3018609" y="2031180"/>
            <a:ext cx="1391977" cy="935107"/>
            <a:chOff x="3047700" y="2019480"/>
            <a:chExt cx="1391977" cy="935107"/>
          </a:xfrm>
        </p:grpSpPr>
        <p:sp>
          <p:nvSpPr>
            <p:cNvPr id="4" name="Content Placeholder 2">
              <a:extLst>
                <a:ext uri="{FF2B5EF4-FFF2-40B4-BE49-F238E27FC236}">
                  <a16:creationId xmlns:a16="http://schemas.microsoft.com/office/drawing/2014/main" id="{92C81DC3-B0B3-4EEA-A8F9-16F859BAEAA4}"/>
                </a:ext>
              </a:extLst>
            </p:cNvPr>
            <p:cNvSpPr txBox="1">
              <a:spLocks/>
            </p:cNvSpPr>
            <p:nvPr/>
          </p:nvSpPr>
          <p:spPr>
            <a:xfrm>
              <a:off x="3047700" y="2235705"/>
              <a:ext cx="1147370" cy="479255"/>
            </a:xfrm>
            <a:prstGeom prst="rect">
              <a:avLst/>
            </a:prstGeom>
            <a:noFill/>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fx1 = 1 +</a:t>
              </a:r>
            </a:p>
          </p:txBody>
        </p:sp>
        <p:sp>
          <p:nvSpPr>
            <p:cNvPr id="6" name="Content Placeholder 2">
              <a:extLst>
                <a:ext uri="{FF2B5EF4-FFF2-40B4-BE49-F238E27FC236}">
                  <a16:creationId xmlns:a16="http://schemas.microsoft.com/office/drawing/2014/main" id="{92C81DC3-B0B3-4EEA-A8F9-16F859BAEAA4}"/>
                </a:ext>
              </a:extLst>
            </p:cNvPr>
            <p:cNvSpPr txBox="1">
              <a:spLocks/>
            </p:cNvSpPr>
            <p:nvPr/>
          </p:nvSpPr>
          <p:spPr>
            <a:xfrm>
              <a:off x="4143234" y="2019480"/>
              <a:ext cx="258942" cy="479255"/>
            </a:xfrm>
            <a:prstGeom prst="rect">
              <a:avLst/>
            </a:prstGeom>
            <a:no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1</a:t>
              </a:r>
            </a:p>
          </p:txBody>
        </p:sp>
        <p:sp>
          <p:nvSpPr>
            <p:cNvPr id="7" name="Content Placeholder 2">
              <a:extLst>
                <a:ext uri="{FF2B5EF4-FFF2-40B4-BE49-F238E27FC236}">
                  <a16:creationId xmlns:a16="http://schemas.microsoft.com/office/drawing/2014/main" id="{92C81DC3-B0B3-4EEA-A8F9-16F859BAEAA4}"/>
                </a:ext>
              </a:extLst>
            </p:cNvPr>
            <p:cNvSpPr txBox="1">
              <a:spLocks/>
            </p:cNvSpPr>
            <p:nvPr/>
          </p:nvSpPr>
          <p:spPr>
            <a:xfrm>
              <a:off x="4143234" y="2475332"/>
              <a:ext cx="258942" cy="479255"/>
            </a:xfrm>
            <a:prstGeom prst="rect">
              <a:avLst/>
            </a:prstGeom>
            <a:no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2</a:t>
              </a:r>
            </a:p>
          </p:txBody>
        </p:sp>
        <p:cxnSp>
          <p:nvCxnSpPr>
            <p:cNvPr id="8" name="Straight Connector 7"/>
            <p:cNvCxnSpPr/>
            <p:nvPr/>
          </p:nvCxnSpPr>
          <p:spPr>
            <a:xfrm>
              <a:off x="4159521" y="2452915"/>
              <a:ext cx="2801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Content Placeholder 2">
            <a:extLst>
              <a:ext uri="{FF2B5EF4-FFF2-40B4-BE49-F238E27FC236}">
                <a16:creationId xmlns:a16="http://schemas.microsoft.com/office/drawing/2014/main" id="{92C81DC3-B0B3-4EEA-A8F9-16F859BAEAA4}"/>
              </a:ext>
            </a:extLst>
          </p:cNvPr>
          <p:cNvSpPr txBox="1">
            <a:spLocks/>
          </p:cNvSpPr>
          <p:nvPr/>
        </p:nvSpPr>
        <p:spPr>
          <a:xfrm>
            <a:off x="4824386" y="2213286"/>
            <a:ext cx="1576413" cy="479255"/>
          </a:xfrm>
          <a:prstGeom prst="rect">
            <a:avLst/>
          </a:prstGeom>
          <a:no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fx2 = 2 + 0</a:t>
            </a:r>
          </a:p>
        </p:txBody>
      </p:sp>
      <p:sp>
        <p:nvSpPr>
          <p:cNvPr id="18" name="Content Placeholder 2">
            <a:extLst>
              <a:ext uri="{FF2B5EF4-FFF2-40B4-BE49-F238E27FC236}">
                <a16:creationId xmlns:a16="http://schemas.microsoft.com/office/drawing/2014/main" id="{92C81DC3-B0B3-4EEA-A8F9-16F859BAEAA4}"/>
              </a:ext>
            </a:extLst>
          </p:cNvPr>
          <p:cNvSpPr txBox="1">
            <a:spLocks/>
          </p:cNvSpPr>
          <p:nvPr/>
        </p:nvSpPr>
        <p:spPr>
          <a:xfrm>
            <a:off x="1052729" y="4452447"/>
            <a:ext cx="4998447" cy="479255"/>
          </a:xfrm>
          <a:prstGeom prst="rect">
            <a:avLst/>
          </a:prstGeom>
          <a:no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Max (fx1, fx2) i.e. Max (1/2, 0) i.e. 1/2</a:t>
            </a:r>
          </a:p>
        </p:txBody>
      </p:sp>
      <p:sp>
        <p:nvSpPr>
          <p:cNvPr id="19" name="Content Placeholder 2">
            <a:extLst>
              <a:ext uri="{FF2B5EF4-FFF2-40B4-BE49-F238E27FC236}">
                <a16:creationId xmlns:a16="http://schemas.microsoft.com/office/drawing/2014/main" id="{92C81DC3-B0B3-4EEA-A8F9-16F859BAEAA4}"/>
              </a:ext>
            </a:extLst>
          </p:cNvPr>
          <p:cNvSpPr txBox="1">
            <a:spLocks/>
          </p:cNvSpPr>
          <p:nvPr/>
        </p:nvSpPr>
        <p:spPr>
          <a:xfrm>
            <a:off x="5898153" y="4452447"/>
            <a:ext cx="4998447" cy="1329788"/>
          </a:xfrm>
          <a:prstGeom prst="rect">
            <a:avLst/>
          </a:prstGeom>
          <a:no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½ value is of variable x1 hence take the corresponding Row in Last Iteration table to formulate the Equation</a:t>
            </a:r>
          </a:p>
        </p:txBody>
      </p:sp>
      <p:sp>
        <p:nvSpPr>
          <p:cNvPr id="17" name="Content Placeholder 2">
            <a:extLst>
              <a:ext uri="{FF2B5EF4-FFF2-40B4-BE49-F238E27FC236}">
                <a16:creationId xmlns:a16="http://schemas.microsoft.com/office/drawing/2014/main" id="{BBFE4BD9-F884-4AB4-B8F8-5232F8DBD100}"/>
              </a:ext>
            </a:extLst>
          </p:cNvPr>
          <p:cNvSpPr txBox="1">
            <a:spLocks/>
          </p:cNvSpPr>
          <p:nvPr/>
        </p:nvSpPr>
        <p:spPr>
          <a:xfrm>
            <a:off x="677332" y="3511233"/>
            <a:ext cx="9459443" cy="87552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startAt="5"/>
            </a:pPr>
            <a:r>
              <a:rPr lang="en-US" b="1" dirty="0">
                <a:solidFill>
                  <a:schemeClr val="tx1"/>
                </a:solidFill>
              </a:rPr>
              <a:t>Choose the </a:t>
            </a:r>
            <a:r>
              <a:rPr lang="en-US" b="1" dirty="0">
                <a:solidFill>
                  <a:srgbClr val="00B0F0"/>
                </a:solidFill>
              </a:rPr>
              <a:t>largest fraction</a:t>
            </a:r>
            <a:r>
              <a:rPr lang="en-US" b="1" dirty="0">
                <a:solidFill>
                  <a:schemeClr val="tx1"/>
                </a:solidFill>
              </a:rPr>
              <a:t> amongst various </a:t>
            </a:r>
            <a:r>
              <a:rPr lang="en-US" b="1" dirty="0">
                <a:solidFill>
                  <a:srgbClr val="00B0F0"/>
                </a:solidFill>
              </a:rPr>
              <a:t>fi</a:t>
            </a:r>
            <a:r>
              <a:rPr lang="en-US" b="1" dirty="0">
                <a:solidFill>
                  <a:schemeClr val="tx1"/>
                </a:solidFill>
              </a:rPr>
              <a:t>, i.e. Max (fi). Treat the constraint corresponding to the maximum fraction as the source row (Equation). </a:t>
            </a:r>
          </a:p>
        </p:txBody>
      </p:sp>
      <p:sp>
        <p:nvSpPr>
          <p:cNvPr id="22" name="Rounded Rectangle 21"/>
          <p:cNvSpPr/>
          <p:nvPr/>
        </p:nvSpPr>
        <p:spPr>
          <a:xfrm>
            <a:off x="677332" y="3393458"/>
            <a:ext cx="10228233" cy="847374"/>
          </a:xfrm>
          <a:prstGeom prst="roundRect">
            <a:avLst/>
          </a:prstGeom>
          <a:no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057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18" grpId="0"/>
      <p:bldP spid="19" grpId="0"/>
      <p:bldP spid="17" grpId="0"/>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FA4A-9A42-4ABA-A216-AB6B01B616B7}"/>
              </a:ext>
            </a:extLst>
          </p:cNvPr>
          <p:cNvSpPr>
            <a:spLocks noGrp="1"/>
          </p:cNvSpPr>
          <p:nvPr>
            <p:ph type="title"/>
          </p:nvPr>
        </p:nvSpPr>
        <p:spPr>
          <a:xfrm>
            <a:off x="677334" y="138688"/>
            <a:ext cx="8596668" cy="731520"/>
          </a:xfrm>
        </p:spPr>
        <p:txBody>
          <a:bodyPr/>
          <a:lstStyle/>
          <a:p>
            <a:r>
              <a:rPr lang="en-US" dirty="0" err="1"/>
              <a:t>Gomory’s</a:t>
            </a:r>
            <a:r>
              <a:rPr lang="en-US" dirty="0"/>
              <a:t> Cutting Plane Method - Steps</a:t>
            </a:r>
          </a:p>
        </p:txBody>
      </p:sp>
      <p:sp>
        <p:nvSpPr>
          <p:cNvPr id="5" name="Content Placeholder 2">
            <a:extLst>
              <a:ext uri="{FF2B5EF4-FFF2-40B4-BE49-F238E27FC236}">
                <a16:creationId xmlns:a16="http://schemas.microsoft.com/office/drawing/2014/main" id="{BBFE4BD9-F884-4AB4-B8F8-5232F8DBD100}"/>
              </a:ext>
            </a:extLst>
          </p:cNvPr>
          <p:cNvSpPr txBox="1">
            <a:spLocks/>
          </p:cNvSpPr>
          <p:nvPr/>
        </p:nvSpPr>
        <p:spPr>
          <a:xfrm>
            <a:off x="677333" y="870209"/>
            <a:ext cx="9459443" cy="504649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a:pPr>
            <a:r>
              <a:rPr lang="en-US" b="1" dirty="0"/>
              <a:t>Normalize the Equation</a:t>
            </a:r>
          </a:p>
          <a:p>
            <a:pPr>
              <a:buFont typeface="+mj-lt"/>
              <a:buAutoNum type="arabicPeriod"/>
            </a:pPr>
            <a:r>
              <a:rPr lang="en-US" b="1" dirty="0"/>
              <a:t>Solve the problem using SIMPLEX method</a:t>
            </a:r>
          </a:p>
          <a:p>
            <a:pPr>
              <a:buFont typeface="+mj-lt"/>
              <a:buAutoNum type="arabicPeriod"/>
            </a:pPr>
            <a:r>
              <a:rPr lang="en-US" b="1" dirty="0"/>
              <a:t>If all the Basic Variables are Integers, then Optimality has reached. Go to Step 8</a:t>
            </a:r>
          </a:p>
          <a:p>
            <a:pPr>
              <a:buFont typeface="+mj-lt"/>
              <a:buAutoNum type="arabicPeriod"/>
            </a:pPr>
            <a:r>
              <a:rPr lang="en-US" b="1" dirty="0"/>
              <a:t>In case of Non Integer variables, Find the FRACTIONAL part of </a:t>
            </a:r>
            <a:r>
              <a:rPr lang="en-US" b="1" dirty="0">
                <a:solidFill>
                  <a:srgbClr val="00B0F0"/>
                </a:solidFill>
              </a:rPr>
              <a:t>f</a:t>
            </a:r>
            <a:r>
              <a:rPr lang="en-US" b="1" dirty="0">
                <a:solidFill>
                  <a:schemeClr val="tx1"/>
                </a:solidFill>
              </a:rPr>
              <a:t>, i.e. </a:t>
            </a:r>
            <a:r>
              <a:rPr lang="en-US" b="1" dirty="0">
                <a:solidFill>
                  <a:srgbClr val="00B0F0"/>
                </a:solidFill>
              </a:rPr>
              <a:t>bi = [bi] + fi</a:t>
            </a:r>
            <a:r>
              <a:rPr lang="en-US" b="1" dirty="0">
                <a:solidFill>
                  <a:schemeClr val="tx1"/>
                </a:solidFill>
              </a:rPr>
              <a:t>, where </a:t>
            </a:r>
            <a:r>
              <a:rPr lang="en-US" b="1" dirty="0">
                <a:solidFill>
                  <a:srgbClr val="00B0F0"/>
                </a:solidFill>
              </a:rPr>
              <a:t>bi</a:t>
            </a:r>
            <a:r>
              <a:rPr lang="en-US" b="1" dirty="0">
                <a:solidFill>
                  <a:schemeClr val="tx1"/>
                </a:solidFill>
              </a:rPr>
              <a:t> is Integer part and </a:t>
            </a:r>
            <a:r>
              <a:rPr lang="en-US" b="1" dirty="0">
                <a:solidFill>
                  <a:srgbClr val="00B0F0"/>
                </a:solidFill>
              </a:rPr>
              <a:t>fi</a:t>
            </a:r>
            <a:r>
              <a:rPr lang="en-US" b="1" dirty="0">
                <a:solidFill>
                  <a:schemeClr val="tx1"/>
                </a:solidFill>
              </a:rPr>
              <a:t> is FRACTIONAL part</a:t>
            </a:r>
          </a:p>
          <a:p>
            <a:pPr>
              <a:buFont typeface="+mj-lt"/>
              <a:buAutoNum type="arabicPeriod"/>
            </a:pPr>
            <a:r>
              <a:rPr lang="en-US" b="1" dirty="0">
                <a:solidFill>
                  <a:schemeClr val="tx1"/>
                </a:solidFill>
              </a:rPr>
              <a:t>Choose the </a:t>
            </a:r>
            <a:r>
              <a:rPr lang="en-US" b="1" dirty="0">
                <a:solidFill>
                  <a:srgbClr val="00B0F0"/>
                </a:solidFill>
              </a:rPr>
              <a:t>largest fraction</a:t>
            </a:r>
            <a:r>
              <a:rPr lang="en-US" b="1" dirty="0">
                <a:solidFill>
                  <a:schemeClr val="tx1"/>
                </a:solidFill>
              </a:rPr>
              <a:t> amongst various </a:t>
            </a:r>
            <a:r>
              <a:rPr lang="en-US" b="1" dirty="0">
                <a:solidFill>
                  <a:srgbClr val="00B0F0"/>
                </a:solidFill>
              </a:rPr>
              <a:t>fi</a:t>
            </a:r>
            <a:r>
              <a:rPr lang="en-US" b="1" dirty="0">
                <a:solidFill>
                  <a:schemeClr val="tx1"/>
                </a:solidFill>
              </a:rPr>
              <a:t>, i.e. Max (fi). Treat the constraint corresponding to the maximum fraction as the source row (Equation). </a:t>
            </a:r>
          </a:p>
          <a:p>
            <a:pPr>
              <a:buFont typeface="+mj-lt"/>
              <a:buAutoNum type="arabicPeriod"/>
            </a:pPr>
            <a:r>
              <a:rPr lang="en-US" b="1" dirty="0">
                <a:solidFill>
                  <a:schemeClr val="tx1"/>
                </a:solidFill>
              </a:rPr>
              <a:t>Based on the source equation, Develop an </a:t>
            </a:r>
            <a:r>
              <a:rPr lang="en-US" b="1" dirty="0">
                <a:solidFill>
                  <a:srgbClr val="00B0F0"/>
                </a:solidFill>
              </a:rPr>
              <a:t>Additional Constraint (</a:t>
            </a:r>
            <a:r>
              <a:rPr lang="en-US" b="1" dirty="0" err="1">
                <a:solidFill>
                  <a:srgbClr val="00B0F0"/>
                </a:solidFill>
              </a:rPr>
              <a:t>Goromy’s</a:t>
            </a:r>
            <a:r>
              <a:rPr lang="en-US" b="1" dirty="0">
                <a:solidFill>
                  <a:srgbClr val="00B0F0"/>
                </a:solidFill>
              </a:rPr>
              <a:t> Constraint/ fractional cut)</a:t>
            </a:r>
          </a:p>
          <a:p>
            <a:pPr marL="0" indent="0">
              <a:buNone/>
            </a:pPr>
            <a:r>
              <a:rPr lang="en-US" b="1" dirty="0">
                <a:solidFill>
                  <a:srgbClr val="00B0F0"/>
                </a:solidFill>
              </a:rPr>
              <a:t>       fi = Si – Summation ((fi)(Non-Basic Variables))</a:t>
            </a:r>
          </a:p>
          <a:p>
            <a:pPr>
              <a:buFont typeface="+mj-lt"/>
              <a:buAutoNum type="arabicPeriod" startAt="7"/>
            </a:pPr>
            <a:r>
              <a:rPr lang="en-US" b="1" dirty="0">
                <a:solidFill>
                  <a:schemeClr val="tx1"/>
                </a:solidFill>
              </a:rPr>
              <a:t>Add the fractional cut as last row in latest optimal table and proceed further using </a:t>
            </a:r>
            <a:r>
              <a:rPr lang="en-US" b="1" dirty="0">
                <a:solidFill>
                  <a:srgbClr val="00B0F0"/>
                </a:solidFill>
              </a:rPr>
              <a:t>DUAL SIMPLEX </a:t>
            </a:r>
            <a:r>
              <a:rPr lang="en-US" b="1" dirty="0">
                <a:solidFill>
                  <a:schemeClr val="tx1"/>
                </a:solidFill>
              </a:rPr>
              <a:t>method and find the new optimum solution. If new solution is Integer then go to Step 8 else go to Step 4</a:t>
            </a:r>
          </a:p>
          <a:p>
            <a:pPr>
              <a:buFont typeface="+mj-lt"/>
              <a:buAutoNum type="arabicPeriod" startAt="7"/>
            </a:pPr>
            <a:r>
              <a:rPr lang="en-US" b="1" dirty="0">
                <a:solidFill>
                  <a:schemeClr val="tx1"/>
                </a:solidFill>
              </a:rPr>
              <a:t>Stop the process and write Optimal solution</a:t>
            </a:r>
            <a:endParaRPr lang="en-US" b="1" dirty="0">
              <a:solidFill>
                <a:srgbClr val="FF0000"/>
              </a:solidFill>
            </a:endParaRPr>
          </a:p>
        </p:txBody>
      </p:sp>
      <p:sp>
        <p:nvSpPr>
          <p:cNvPr id="3" name="Rounded Rectangle 2"/>
          <p:cNvSpPr/>
          <p:nvPr/>
        </p:nvSpPr>
        <p:spPr>
          <a:xfrm>
            <a:off x="677332" y="3393458"/>
            <a:ext cx="10228233" cy="1111307"/>
          </a:xfrm>
          <a:prstGeom prst="roundRect">
            <a:avLst/>
          </a:prstGeom>
          <a:no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702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4">
            <a:extLst>
              <a:ext uri="{FF2B5EF4-FFF2-40B4-BE49-F238E27FC236}">
                <a16:creationId xmlns:a16="http://schemas.microsoft.com/office/drawing/2014/main" id="{4CD2553B-114A-43DA-A238-B44DFBAD1650}"/>
              </a:ext>
            </a:extLst>
          </p:cNvPr>
          <p:cNvSpPr/>
          <p:nvPr/>
        </p:nvSpPr>
        <p:spPr>
          <a:xfrm>
            <a:off x="1832728" y="3565219"/>
            <a:ext cx="8857684" cy="5944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92C81DC3-B0B3-4EEA-A8F9-16F859BAEAA4}"/>
              </a:ext>
            </a:extLst>
          </p:cNvPr>
          <p:cNvSpPr txBox="1">
            <a:spLocks/>
          </p:cNvSpPr>
          <p:nvPr/>
        </p:nvSpPr>
        <p:spPr>
          <a:xfrm>
            <a:off x="963082" y="1304368"/>
            <a:ext cx="9727330" cy="766479"/>
          </a:xfrm>
          <a:prstGeom prst="rect">
            <a:avLst/>
          </a:prstGeom>
          <a:no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½ value is of variable x1 hence take the corresponding Row in Last Iteration table to formulate the Equation</a:t>
            </a:r>
          </a:p>
        </p:txBody>
      </p:sp>
      <p:sp>
        <p:nvSpPr>
          <p:cNvPr id="6" name="Content Placeholder 2">
            <a:extLst>
              <a:ext uri="{FF2B5EF4-FFF2-40B4-BE49-F238E27FC236}">
                <a16:creationId xmlns:a16="http://schemas.microsoft.com/office/drawing/2014/main" id="{BBFE4BD9-F884-4AB4-B8F8-5232F8DBD100}"/>
              </a:ext>
            </a:extLst>
          </p:cNvPr>
          <p:cNvSpPr txBox="1">
            <a:spLocks/>
          </p:cNvSpPr>
          <p:nvPr/>
        </p:nvSpPr>
        <p:spPr>
          <a:xfrm>
            <a:off x="677333" y="211306"/>
            <a:ext cx="9459443" cy="10930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startAt="6"/>
            </a:pPr>
            <a:r>
              <a:rPr lang="en-US" b="1" dirty="0">
                <a:solidFill>
                  <a:schemeClr val="tx1"/>
                </a:solidFill>
              </a:rPr>
              <a:t>Based on the source equation, Develop an </a:t>
            </a:r>
            <a:r>
              <a:rPr lang="en-US" b="1" dirty="0">
                <a:solidFill>
                  <a:srgbClr val="00B0F0"/>
                </a:solidFill>
              </a:rPr>
              <a:t>Additional Constraint (</a:t>
            </a:r>
            <a:r>
              <a:rPr lang="en-US" b="1" dirty="0" err="1">
                <a:solidFill>
                  <a:srgbClr val="00B0F0"/>
                </a:solidFill>
              </a:rPr>
              <a:t>Goromy’s</a:t>
            </a:r>
            <a:r>
              <a:rPr lang="en-US" b="1" dirty="0">
                <a:solidFill>
                  <a:srgbClr val="00B0F0"/>
                </a:solidFill>
              </a:rPr>
              <a:t> Constraint/ fractional cut)</a:t>
            </a:r>
          </a:p>
          <a:p>
            <a:pPr marL="0" indent="0">
              <a:buNone/>
            </a:pPr>
            <a:r>
              <a:rPr lang="en-US" b="1" dirty="0">
                <a:solidFill>
                  <a:srgbClr val="00B0F0"/>
                </a:solidFill>
              </a:rPr>
              <a:t>       fi = Si – Summation ((fi)(Non-Basic Variables))</a:t>
            </a:r>
          </a:p>
        </p:txBody>
      </p:sp>
      <p:pic>
        <p:nvPicPr>
          <p:cNvPr id="33" name="Picture 32"/>
          <p:cNvPicPr>
            <a:picLocks noChangeAspect="1"/>
          </p:cNvPicPr>
          <p:nvPr/>
        </p:nvPicPr>
        <p:blipFill>
          <a:blip r:embed="rId2"/>
          <a:stretch>
            <a:fillRect/>
          </a:stretch>
        </p:blipFill>
        <p:spPr>
          <a:xfrm>
            <a:off x="677333" y="2180753"/>
            <a:ext cx="9754445" cy="4163929"/>
          </a:xfrm>
          <a:prstGeom prst="rect">
            <a:avLst/>
          </a:prstGeom>
        </p:spPr>
      </p:pic>
    </p:spTree>
    <p:extLst>
      <p:ext uri="{BB962C8B-B14F-4D97-AF65-F5344CB8AC3E}">
        <p14:creationId xmlns:p14="http://schemas.microsoft.com/office/powerpoint/2010/main" val="20464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2C81DC3-B0B3-4EEA-A8F9-16F859BAEAA4}"/>
              </a:ext>
            </a:extLst>
          </p:cNvPr>
          <p:cNvSpPr txBox="1">
            <a:spLocks/>
          </p:cNvSpPr>
          <p:nvPr/>
        </p:nvSpPr>
        <p:spPr>
          <a:xfrm>
            <a:off x="963082" y="1304368"/>
            <a:ext cx="9727330" cy="766479"/>
          </a:xfrm>
          <a:prstGeom prst="rect">
            <a:avLst/>
          </a:prstGeom>
          <a:no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½ value is of variable x1 hence take the corresponding Row in Last Iteration table to formulate the Equation</a:t>
            </a:r>
          </a:p>
        </p:txBody>
      </p:sp>
      <p:sp>
        <p:nvSpPr>
          <p:cNvPr id="6" name="Content Placeholder 2">
            <a:extLst>
              <a:ext uri="{FF2B5EF4-FFF2-40B4-BE49-F238E27FC236}">
                <a16:creationId xmlns:a16="http://schemas.microsoft.com/office/drawing/2014/main" id="{BBFE4BD9-F884-4AB4-B8F8-5232F8DBD100}"/>
              </a:ext>
            </a:extLst>
          </p:cNvPr>
          <p:cNvSpPr txBox="1">
            <a:spLocks/>
          </p:cNvSpPr>
          <p:nvPr/>
        </p:nvSpPr>
        <p:spPr>
          <a:xfrm>
            <a:off x="677333" y="211306"/>
            <a:ext cx="9459443" cy="10930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startAt="6"/>
            </a:pPr>
            <a:r>
              <a:rPr lang="en-US" b="1" dirty="0">
                <a:solidFill>
                  <a:schemeClr val="tx1"/>
                </a:solidFill>
              </a:rPr>
              <a:t>Based on the source equation, Develop an </a:t>
            </a:r>
            <a:r>
              <a:rPr lang="en-US" b="1" dirty="0">
                <a:solidFill>
                  <a:srgbClr val="00B0F0"/>
                </a:solidFill>
              </a:rPr>
              <a:t>Additional Constraint (</a:t>
            </a:r>
            <a:r>
              <a:rPr lang="en-US" b="1" dirty="0" err="1">
                <a:solidFill>
                  <a:srgbClr val="00B0F0"/>
                </a:solidFill>
              </a:rPr>
              <a:t>Goromy’s</a:t>
            </a:r>
            <a:r>
              <a:rPr lang="en-US" b="1" dirty="0">
                <a:solidFill>
                  <a:srgbClr val="00B0F0"/>
                </a:solidFill>
              </a:rPr>
              <a:t> Constraint/ fractional cut)</a:t>
            </a:r>
          </a:p>
          <a:p>
            <a:pPr marL="0" indent="0">
              <a:buNone/>
            </a:pPr>
            <a:r>
              <a:rPr lang="en-US" b="1" dirty="0">
                <a:solidFill>
                  <a:srgbClr val="00B0F0"/>
                </a:solidFill>
              </a:rPr>
              <a:t>       fi = Si – Summation ((fi)(Non-Basic Variables))</a:t>
            </a:r>
          </a:p>
        </p:txBody>
      </p:sp>
      <p:sp>
        <p:nvSpPr>
          <p:cNvPr id="7" name="Content Placeholder 2">
            <a:extLst>
              <a:ext uri="{FF2B5EF4-FFF2-40B4-BE49-F238E27FC236}">
                <a16:creationId xmlns:a16="http://schemas.microsoft.com/office/drawing/2014/main" id="{67ACAA63-9EB4-4712-944F-328428478153}"/>
              </a:ext>
            </a:extLst>
          </p:cNvPr>
          <p:cNvSpPr txBox="1">
            <a:spLocks/>
          </p:cNvSpPr>
          <p:nvPr/>
        </p:nvSpPr>
        <p:spPr>
          <a:xfrm>
            <a:off x="963082" y="4204419"/>
            <a:ext cx="7960701" cy="497538"/>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rPr>
              <a:t>1 x1 + 0 x2 + ½ S1 + 0 S2 - 1 S3 = 3/2</a:t>
            </a:r>
          </a:p>
        </p:txBody>
      </p:sp>
      <p:pic>
        <p:nvPicPr>
          <p:cNvPr id="2" name="Picture 1"/>
          <p:cNvPicPr>
            <a:picLocks noChangeAspect="1"/>
          </p:cNvPicPr>
          <p:nvPr/>
        </p:nvPicPr>
        <p:blipFill>
          <a:blip r:embed="rId2"/>
          <a:stretch>
            <a:fillRect/>
          </a:stretch>
        </p:blipFill>
        <p:spPr>
          <a:xfrm>
            <a:off x="2273921" y="2041706"/>
            <a:ext cx="7677150" cy="1447800"/>
          </a:xfrm>
          <a:prstGeom prst="rect">
            <a:avLst/>
          </a:prstGeom>
        </p:spPr>
      </p:pic>
    </p:spTree>
    <p:extLst>
      <p:ext uri="{BB962C8B-B14F-4D97-AF65-F5344CB8AC3E}">
        <p14:creationId xmlns:p14="http://schemas.microsoft.com/office/powerpoint/2010/main" val="409991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FA4A-9A42-4ABA-A216-AB6B01B616B7}"/>
              </a:ext>
            </a:extLst>
          </p:cNvPr>
          <p:cNvSpPr>
            <a:spLocks noGrp="1"/>
          </p:cNvSpPr>
          <p:nvPr>
            <p:ph type="title"/>
          </p:nvPr>
        </p:nvSpPr>
        <p:spPr>
          <a:xfrm>
            <a:off x="677334" y="138688"/>
            <a:ext cx="8596668" cy="731520"/>
          </a:xfrm>
        </p:spPr>
        <p:txBody>
          <a:bodyPr/>
          <a:lstStyle/>
          <a:p>
            <a:r>
              <a:rPr lang="en-US" dirty="0" err="1"/>
              <a:t>Gomory’s</a:t>
            </a:r>
            <a:r>
              <a:rPr lang="en-US" dirty="0"/>
              <a:t> Cutting Plane Method - Steps</a:t>
            </a:r>
          </a:p>
        </p:txBody>
      </p:sp>
      <p:sp>
        <p:nvSpPr>
          <p:cNvPr id="5" name="Content Placeholder 2">
            <a:extLst>
              <a:ext uri="{FF2B5EF4-FFF2-40B4-BE49-F238E27FC236}">
                <a16:creationId xmlns:a16="http://schemas.microsoft.com/office/drawing/2014/main" id="{BBFE4BD9-F884-4AB4-B8F8-5232F8DBD100}"/>
              </a:ext>
            </a:extLst>
          </p:cNvPr>
          <p:cNvSpPr txBox="1">
            <a:spLocks/>
          </p:cNvSpPr>
          <p:nvPr/>
        </p:nvSpPr>
        <p:spPr>
          <a:xfrm>
            <a:off x="677333" y="870209"/>
            <a:ext cx="9459443" cy="504649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a:pPr>
            <a:r>
              <a:rPr lang="en-US" b="1" dirty="0"/>
              <a:t>Normalize the Equation</a:t>
            </a:r>
          </a:p>
          <a:p>
            <a:pPr>
              <a:buFont typeface="+mj-lt"/>
              <a:buAutoNum type="arabicPeriod"/>
            </a:pPr>
            <a:r>
              <a:rPr lang="en-US" b="1" dirty="0"/>
              <a:t>Solve the problem using SIMPLEX method</a:t>
            </a:r>
          </a:p>
          <a:p>
            <a:pPr>
              <a:buFont typeface="+mj-lt"/>
              <a:buAutoNum type="arabicPeriod"/>
            </a:pPr>
            <a:r>
              <a:rPr lang="en-US" b="1" dirty="0"/>
              <a:t>If all the Basic Variables are Integers, then Optimality has reached. Go to Step 8</a:t>
            </a:r>
          </a:p>
          <a:p>
            <a:pPr>
              <a:buFont typeface="+mj-lt"/>
              <a:buAutoNum type="arabicPeriod"/>
            </a:pPr>
            <a:r>
              <a:rPr lang="en-US" b="1" dirty="0"/>
              <a:t>In case of Non Integer variables, Find the FRACTIONAL part of </a:t>
            </a:r>
            <a:r>
              <a:rPr lang="en-US" b="1" dirty="0">
                <a:solidFill>
                  <a:srgbClr val="00B0F0"/>
                </a:solidFill>
              </a:rPr>
              <a:t>f</a:t>
            </a:r>
            <a:r>
              <a:rPr lang="en-US" b="1" dirty="0">
                <a:solidFill>
                  <a:schemeClr val="tx1"/>
                </a:solidFill>
              </a:rPr>
              <a:t>, i.e. </a:t>
            </a:r>
            <a:r>
              <a:rPr lang="en-US" b="1" dirty="0">
                <a:solidFill>
                  <a:srgbClr val="00B0F0"/>
                </a:solidFill>
              </a:rPr>
              <a:t>bi = [bi] + fi</a:t>
            </a:r>
            <a:r>
              <a:rPr lang="en-US" b="1" dirty="0">
                <a:solidFill>
                  <a:schemeClr val="tx1"/>
                </a:solidFill>
              </a:rPr>
              <a:t>, where </a:t>
            </a:r>
            <a:r>
              <a:rPr lang="en-US" b="1" dirty="0">
                <a:solidFill>
                  <a:srgbClr val="00B0F0"/>
                </a:solidFill>
              </a:rPr>
              <a:t>bi</a:t>
            </a:r>
            <a:r>
              <a:rPr lang="en-US" b="1" dirty="0">
                <a:solidFill>
                  <a:schemeClr val="tx1"/>
                </a:solidFill>
              </a:rPr>
              <a:t> is Integer part and </a:t>
            </a:r>
            <a:r>
              <a:rPr lang="en-US" b="1" dirty="0">
                <a:solidFill>
                  <a:srgbClr val="00B0F0"/>
                </a:solidFill>
              </a:rPr>
              <a:t>fi</a:t>
            </a:r>
            <a:r>
              <a:rPr lang="en-US" b="1" dirty="0">
                <a:solidFill>
                  <a:schemeClr val="tx1"/>
                </a:solidFill>
              </a:rPr>
              <a:t> is FRACTIONAL part</a:t>
            </a:r>
          </a:p>
          <a:p>
            <a:pPr>
              <a:buFont typeface="+mj-lt"/>
              <a:buAutoNum type="arabicPeriod"/>
            </a:pPr>
            <a:r>
              <a:rPr lang="en-US" b="1" dirty="0">
                <a:solidFill>
                  <a:schemeClr val="tx1"/>
                </a:solidFill>
              </a:rPr>
              <a:t>Choose the </a:t>
            </a:r>
            <a:r>
              <a:rPr lang="en-US" b="1" dirty="0">
                <a:solidFill>
                  <a:srgbClr val="00B0F0"/>
                </a:solidFill>
              </a:rPr>
              <a:t>largest fraction</a:t>
            </a:r>
            <a:r>
              <a:rPr lang="en-US" b="1" dirty="0">
                <a:solidFill>
                  <a:schemeClr val="tx1"/>
                </a:solidFill>
              </a:rPr>
              <a:t> amongst various </a:t>
            </a:r>
            <a:r>
              <a:rPr lang="en-US" b="1" dirty="0">
                <a:solidFill>
                  <a:srgbClr val="00B0F0"/>
                </a:solidFill>
              </a:rPr>
              <a:t>fi</a:t>
            </a:r>
            <a:r>
              <a:rPr lang="en-US" b="1" dirty="0">
                <a:solidFill>
                  <a:schemeClr val="tx1"/>
                </a:solidFill>
              </a:rPr>
              <a:t>, i.e. Max (fi). Treat the constraint corresponding to the maximum fraction as the source row (Equation). </a:t>
            </a:r>
          </a:p>
          <a:p>
            <a:pPr>
              <a:buFont typeface="+mj-lt"/>
              <a:buAutoNum type="arabicPeriod"/>
            </a:pPr>
            <a:r>
              <a:rPr lang="en-US" b="1" dirty="0">
                <a:solidFill>
                  <a:schemeClr val="tx1"/>
                </a:solidFill>
              </a:rPr>
              <a:t>Based on the source equation, Develop an </a:t>
            </a:r>
            <a:r>
              <a:rPr lang="en-US" b="1" dirty="0">
                <a:solidFill>
                  <a:srgbClr val="00B0F0"/>
                </a:solidFill>
              </a:rPr>
              <a:t>Additional Constraint (</a:t>
            </a:r>
            <a:r>
              <a:rPr lang="en-US" b="1" dirty="0" err="1">
                <a:solidFill>
                  <a:srgbClr val="00B0F0"/>
                </a:solidFill>
              </a:rPr>
              <a:t>Goromy’s</a:t>
            </a:r>
            <a:r>
              <a:rPr lang="en-US" b="1" dirty="0">
                <a:solidFill>
                  <a:srgbClr val="00B0F0"/>
                </a:solidFill>
              </a:rPr>
              <a:t> Constraint/ fractional cut)</a:t>
            </a:r>
          </a:p>
          <a:p>
            <a:pPr marL="0" indent="0">
              <a:buNone/>
            </a:pPr>
            <a:r>
              <a:rPr lang="en-US" b="1" dirty="0">
                <a:solidFill>
                  <a:srgbClr val="00B0F0"/>
                </a:solidFill>
              </a:rPr>
              <a:t>       fi = Si – Summation ((fi)(Non-Basic Variables))</a:t>
            </a:r>
          </a:p>
          <a:p>
            <a:pPr>
              <a:buFont typeface="+mj-lt"/>
              <a:buAutoNum type="arabicPeriod" startAt="7"/>
            </a:pPr>
            <a:r>
              <a:rPr lang="en-US" b="1" dirty="0">
                <a:solidFill>
                  <a:schemeClr val="tx1"/>
                </a:solidFill>
              </a:rPr>
              <a:t>Add the fractional cut as last row in latest optimal table and proceed further using </a:t>
            </a:r>
            <a:r>
              <a:rPr lang="en-US" b="1" dirty="0">
                <a:solidFill>
                  <a:srgbClr val="00B0F0"/>
                </a:solidFill>
              </a:rPr>
              <a:t>DUAL SIMPLEX </a:t>
            </a:r>
            <a:r>
              <a:rPr lang="en-US" b="1" dirty="0">
                <a:solidFill>
                  <a:schemeClr val="tx1"/>
                </a:solidFill>
              </a:rPr>
              <a:t>method and find the new optimum solution. If new solution is Integer then go to Step 8 else go to Step 4</a:t>
            </a:r>
          </a:p>
          <a:p>
            <a:pPr>
              <a:buFont typeface="+mj-lt"/>
              <a:buAutoNum type="arabicPeriod" startAt="7"/>
            </a:pPr>
            <a:r>
              <a:rPr lang="en-US" b="1" dirty="0">
                <a:solidFill>
                  <a:schemeClr val="tx1"/>
                </a:solidFill>
              </a:rPr>
              <a:t>Stop the process and write Optimal solution</a:t>
            </a:r>
            <a:endParaRPr lang="en-US" b="1" dirty="0">
              <a:solidFill>
                <a:srgbClr val="FF0000"/>
              </a:solidFill>
            </a:endParaRPr>
          </a:p>
        </p:txBody>
      </p:sp>
      <p:sp>
        <p:nvSpPr>
          <p:cNvPr id="3" name="Rounded Rectangle 2"/>
          <p:cNvSpPr/>
          <p:nvPr/>
        </p:nvSpPr>
        <p:spPr>
          <a:xfrm>
            <a:off x="677332" y="4523008"/>
            <a:ext cx="10228233" cy="896158"/>
          </a:xfrm>
          <a:prstGeom prst="roundRect">
            <a:avLst/>
          </a:prstGeom>
          <a:no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985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Content Placeholder 2">
            <a:extLst>
              <a:ext uri="{FF2B5EF4-FFF2-40B4-BE49-F238E27FC236}">
                <a16:creationId xmlns:a16="http://schemas.microsoft.com/office/drawing/2014/main" id="{BBFE4BD9-F884-4AB4-B8F8-5232F8DBD100}"/>
              </a:ext>
            </a:extLst>
          </p:cNvPr>
          <p:cNvSpPr txBox="1">
            <a:spLocks/>
          </p:cNvSpPr>
          <p:nvPr/>
        </p:nvSpPr>
        <p:spPr>
          <a:xfrm>
            <a:off x="610098" y="278538"/>
            <a:ext cx="9459443" cy="94514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startAt="7"/>
            </a:pPr>
            <a:r>
              <a:rPr lang="en-US" b="1" dirty="0">
                <a:solidFill>
                  <a:schemeClr val="tx1"/>
                </a:solidFill>
              </a:rPr>
              <a:t>Add the fractional cut as last row in latest optimal table and proceed further using </a:t>
            </a:r>
            <a:r>
              <a:rPr lang="en-US" b="1" dirty="0">
                <a:solidFill>
                  <a:srgbClr val="00B0F0"/>
                </a:solidFill>
              </a:rPr>
              <a:t>DUAL SIMPLEX </a:t>
            </a:r>
            <a:r>
              <a:rPr lang="en-US" b="1" dirty="0">
                <a:solidFill>
                  <a:schemeClr val="tx1"/>
                </a:solidFill>
              </a:rPr>
              <a:t>method and find the new optimum solution. If new solution is Integer then go to Step 8 else go to Step 4</a:t>
            </a:r>
          </a:p>
        </p:txBody>
      </p:sp>
      <p:sp>
        <p:nvSpPr>
          <p:cNvPr id="30" name="Content Placeholder 2">
            <a:extLst>
              <a:ext uri="{FF2B5EF4-FFF2-40B4-BE49-F238E27FC236}">
                <a16:creationId xmlns:a16="http://schemas.microsoft.com/office/drawing/2014/main" id="{BBFE4BD9-F884-4AB4-B8F8-5232F8DBD100}"/>
              </a:ext>
            </a:extLst>
          </p:cNvPr>
          <p:cNvSpPr txBox="1">
            <a:spLocks/>
          </p:cNvSpPr>
          <p:nvPr/>
        </p:nvSpPr>
        <p:spPr>
          <a:xfrm>
            <a:off x="959720" y="1403278"/>
            <a:ext cx="9459443" cy="4834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Write the Equation in Fractional Form</a:t>
            </a:r>
          </a:p>
        </p:txBody>
      </p:sp>
      <p:sp>
        <p:nvSpPr>
          <p:cNvPr id="31" name="Content Placeholder 2">
            <a:extLst>
              <a:ext uri="{FF2B5EF4-FFF2-40B4-BE49-F238E27FC236}">
                <a16:creationId xmlns:a16="http://schemas.microsoft.com/office/drawing/2014/main" id="{67ACAA63-9EB4-4712-944F-328428478153}"/>
              </a:ext>
            </a:extLst>
          </p:cNvPr>
          <p:cNvSpPr txBox="1">
            <a:spLocks/>
          </p:cNvSpPr>
          <p:nvPr/>
        </p:nvSpPr>
        <p:spPr>
          <a:xfrm>
            <a:off x="610098" y="2066336"/>
            <a:ext cx="10698878" cy="690311"/>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rPr>
              <a:t>(1+0) x1 + (0+0) x2 + (0 +½) S1 + (0+0) S2 – (1+0) S3 = (1+1/2)</a:t>
            </a:r>
          </a:p>
        </p:txBody>
      </p:sp>
      <p:sp>
        <p:nvSpPr>
          <p:cNvPr id="32" name="Content Placeholder 2">
            <a:extLst>
              <a:ext uri="{FF2B5EF4-FFF2-40B4-BE49-F238E27FC236}">
                <a16:creationId xmlns:a16="http://schemas.microsoft.com/office/drawing/2014/main" id="{BBFE4BD9-F884-4AB4-B8F8-5232F8DBD100}"/>
              </a:ext>
            </a:extLst>
          </p:cNvPr>
          <p:cNvSpPr txBox="1">
            <a:spLocks/>
          </p:cNvSpPr>
          <p:nvPr/>
        </p:nvSpPr>
        <p:spPr>
          <a:xfrm>
            <a:off x="959719" y="2958626"/>
            <a:ext cx="9459443" cy="4834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Re-Write the Equation considering only Fractional Values</a:t>
            </a:r>
          </a:p>
        </p:txBody>
      </p:sp>
      <p:sp>
        <p:nvSpPr>
          <p:cNvPr id="33" name="Content Placeholder 2">
            <a:extLst>
              <a:ext uri="{FF2B5EF4-FFF2-40B4-BE49-F238E27FC236}">
                <a16:creationId xmlns:a16="http://schemas.microsoft.com/office/drawing/2014/main" id="{67ACAA63-9EB4-4712-944F-328428478153}"/>
              </a:ext>
            </a:extLst>
          </p:cNvPr>
          <p:cNvSpPr txBox="1">
            <a:spLocks/>
          </p:cNvSpPr>
          <p:nvPr/>
        </p:nvSpPr>
        <p:spPr>
          <a:xfrm>
            <a:off x="610098" y="3514107"/>
            <a:ext cx="4419102" cy="690311"/>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rPr>
              <a:t> ½ S1= 1/2</a:t>
            </a:r>
          </a:p>
        </p:txBody>
      </p:sp>
      <p:sp>
        <p:nvSpPr>
          <p:cNvPr id="34" name="Content Placeholder 2">
            <a:extLst>
              <a:ext uri="{FF2B5EF4-FFF2-40B4-BE49-F238E27FC236}">
                <a16:creationId xmlns:a16="http://schemas.microsoft.com/office/drawing/2014/main" id="{67ACAA63-9EB4-4712-944F-328428478153}"/>
              </a:ext>
            </a:extLst>
          </p:cNvPr>
          <p:cNvSpPr txBox="1">
            <a:spLocks/>
          </p:cNvSpPr>
          <p:nvPr/>
        </p:nvSpPr>
        <p:spPr>
          <a:xfrm>
            <a:off x="5339819" y="3514107"/>
            <a:ext cx="2123299" cy="690311"/>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rPr>
              <a:t> ½ S1 = 1/2</a:t>
            </a:r>
          </a:p>
        </p:txBody>
      </p:sp>
      <p:sp>
        <p:nvSpPr>
          <p:cNvPr id="35" name="Content Placeholder 2">
            <a:extLst>
              <a:ext uri="{FF2B5EF4-FFF2-40B4-BE49-F238E27FC236}">
                <a16:creationId xmlns:a16="http://schemas.microsoft.com/office/drawing/2014/main" id="{67ACAA63-9EB4-4712-944F-328428478153}"/>
              </a:ext>
            </a:extLst>
          </p:cNvPr>
          <p:cNvSpPr txBox="1">
            <a:spLocks/>
          </p:cNvSpPr>
          <p:nvPr/>
        </p:nvSpPr>
        <p:spPr>
          <a:xfrm>
            <a:off x="7773737" y="3514107"/>
            <a:ext cx="2295804" cy="690311"/>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rPr>
              <a:t> ½ S1 &gt;= 1/2</a:t>
            </a:r>
          </a:p>
        </p:txBody>
      </p:sp>
      <p:sp>
        <p:nvSpPr>
          <p:cNvPr id="36" name="Content Placeholder 2">
            <a:extLst>
              <a:ext uri="{FF2B5EF4-FFF2-40B4-BE49-F238E27FC236}">
                <a16:creationId xmlns:a16="http://schemas.microsoft.com/office/drawing/2014/main" id="{BBFE4BD9-F884-4AB4-B8F8-5232F8DBD100}"/>
              </a:ext>
            </a:extLst>
          </p:cNvPr>
          <p:cNvSpPr txBox="1">
            <a:spLocks/>
          </p:cNvSpPr>
          <p:nvPr/>
        </p:nvSpPr>
        <p:spPr>
          <a:xfrm>
            <a:off x="959718" y="4478416"/>
            <a:ext cx="9273493" cy="4834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Default Constraints are &gt;= and since our Problem is Maximization, The constraints are of &lt;=</a:t>
            </a:r>
          </a:p>
          <a:p>
            <a:pPr marL="0" indent="0">
              <a:buNone/>
            </a:pPr>
            <a:r>
              <a:rPr lang="en-US" b="1" dirty="0">
                <a:solidFill>
                  <a:schemeClr val="tx1"/>
                </a:solidFill>
              </a:rPr>
              <a:t>Hence, we need to change the sign for above Equation</a:t>
            </a:r>
          </a:p>
        </p:txBody>
      </p:sp>
      <p:sp>
        <p:nvSpPr>
          <p:cNvPr id="37" name="Content Placeholder 2">
            <a:extLst>
              <a:ext uri="{FF2B5EF4-FFF2-40B4-BE49-F238E27FC236}">
                <a16:creationId xmlns:a16="http://schemas.microsoft.com/office/drawing/2014/main" id="{67ACAA63-9EB4-4712-944F-328428478153}"/>
              </a:ext>
            </a:extLst>
          </p:cNvPr>
          <p:cNvSpPr txBox="1">
            <a:spLocks/>
          </p:cNvSpPr>
          <p:nvPr/>
        </p:nvSpPr>
        <p:spPr>
          <a:xfrm>
            <a:off x="610097" y="5653050"/>
            <a:ext cx="6516843" cy="690311"/>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rPr>
              <a:t>- ½ </a:t>
            </a:r>
            <a:r>
              <a:rPr lang="en-US" sz="2800" b="1">
                <a:solidFill>
                  <a:schemeClr val="tx1"/>
                </a:solidFill>
              </a:rPr>
              <a:t>S1 &lt;= -1/2</a:t>
            </a:r>
            <a:endParaRPr lang="en-US" sz="2800" b="1" dirty="0">
              <a:solidFill>
                <a:schemeClr val="tx1"/>
              </a:solidFill>
            </a:endParaRPr>
          </a:p>
        </p:txBody>
      </p:sp>
      <p:sp>
        <p:nvSpPr>
          <p:cNvPr id="11" name="Content Placeholder 2">
            <a:extLst>
              <a:ext uri="{FF2B5EF4-FFF2-40B4-BE49-F238E27FC236}">
                <a16:creationId xmlns:a16="http://schemas.microsoft.com/office/drawing/2014/main" id="{6FE27E1B-B1AB-49F3-81FE-F9908CDF16AF}"/>
              </a:ext>
            </a:extLst>
          </p:cNvPr>
          <p:cNvSpPr txBox="1">
            <a:spLocks/>
          </p:cNvSpPr>
          <p:nvPr/>
        </p:nvSpPr>
        <p:spPr>
          <a:xfrm>
            <a:off x="5193889" y="1327494"/>
            <a:ext cx="6570481" cy="497538"/>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highlight>
                  <a:srgbClr val="FFFF00"/>
                </a:highlight>
              </a:rPr>
              <a:t>1 x1 + 0 x2 + ½ S1 + 0 S2 - 1 S3 = 3/2</a:t>
            </a:r>
          </a:p>
        </p:txBody>
      </p:sp>
    </p:spTree>
    <p:extLst>
      <p:ext uri="{BB962C8B-B14F-4D97-AF65-F5344CB8AC3E}">
        <p14:creationId xmlns:p14="http://schemas.microsoft.com/office/powerpoint/2010/main" val="3364231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P spid="32" grpId="0"/>
      <p:bldP spid="33" grpId="0" animBg="1"/>
      <p:bldP spid="34" grpId="0" animBg="1"/>
      <p:bldP spid="35" grpId="0" animBg="1"/>
      <p:bldP spid="36" grpId="0"/>
      <p:bldP spid="3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BBFE4BD9-F884-4AB4-B8F8-5232F8DBD100}"/>
              </a:ext>
            </a:extLst>
          </p:cNvPr>
          <p:cNvSpPr txBox="1">
            <a:spLocks/>
          </p:cNvSpPr>
          <p:nvPr/>
        </p:nvSpPr>
        <p:spPr>
          <a:xfrm>
            <a:off x="959720" y="3164839"/>
            <a:ext cx="9459443" cy="4834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Normalize the above Equation using </a:t>
            </a:r>
            <a:r>
              <a:rPr lang="en-US" b="1" dirty="0" err="1">
                <a:solidFill>
                  <a:schemeClr val="accent1">
                    <a:lumMod val="75000"/>
                  </a:schemeClr>
                </a:solidFill>
              </a:rPr>
              <a:t>Gomory’s</a:t>
            </a:r>
            <a:r>
              <a:rPr lang="en-US" b="1" dirty="0">
                <a:solidFill>
                  <a:schemeClr val="accent1">
                    <a:lumMod val="75000"/>
                  </a:schemeClr>
                </a:solidFill>
              </a:rPr>
              <a:t> Slack Variable</a:t>
            </a:r>
          </a:p>
        </p:txBody>
      </p:sp>
      <p:sp>
        <p:nvSpPr>
          <p:cNvPr id="31" name="Content Placeholder 2">
            <a:extLst>
              <a:ext uri="{FF2B5EF4-FFF2-40B4-BE49-F238E27FC236}">
                <a16:creationId xmlns:a16="http://schemas.microsoft.com/office/drawing/2014/main" id="{67ACAA63-9EB4-4712-944F-328428478153}"/>
              </a:ext>
            </a:extLst>
          </p:cNvPr>
          <p:cNvSpPr txBox="1">
            <a:spLocks/>
          </p:cNvSpPr>
          <p:nvPr/>
        </p:nvSpPr>
        <p:spPr>
          <a:xfrm>
            <a:off x="610098" y="3827897"/>
            <a:ext cx="3383678" cy="690311"/>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rPr>
              <a:t>- ½ S1 + G1= -1/2</a:t>
            </a:r>
          </a:p>
        </p:txBody>
      </p:sp>
      <p:sp>
        <p:nvSpPr>
          <p:cNvPr id="32" name="Content Placeholder 2">
            <a:extLst>
              <a:ext uri="{FF2B5EF4-FFF2-40B4-BE49-F238E27FC236}">
                <a16:creationId xmlns:a16="http://schemas.microsoft.com/office/drawing/2014/main" id="{BBFE4BD9-F884-4AB4-B8F8-5232F8DBD100}"/>
              </a:ext>
            </a:extLst>
          </p:cNvPr>
          <p:cNvSpPr txBox="1">
            <a:spLocks/>
          </p:cNvSpPr>
          <p:nvPr/>
        </p:nvSpPr>
        <p:spPr>
          <a:xfrm>
            <a:off x="959719" y="4720187"/>
            <a:ext cx="9459443" cy="4834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Add the </a:t>
            </a:r>
            <a:r>
              <a:rPr lang="en-US" b="1" dirty="0" err="1">
                <a:solidFill>
                  <a:schemeClr val="tx1"/>
                </a:solidFill>
              </a:rPr>
              <a:t>Gomory’s</a:t>
            </a:r>
            <a:r>
              <a:rPr lang="en-US" b="1" dirty="0">
                <a:solidFill>
                  <a:schemeClr val="tx1"/>
                </a:solidFill>
              </a:rPr>
              <a:t> Equation in the last Iteration table</a:t>
            </a:r>
          </a:p>
        </p:txBody>
      </p:sp>
      <p:sp>
        <p:nvSpPr>
          <p:cNvPr id="37" name="Content Placeholder 2">
            <a:extLst>
              <a:ext uri="{FF2B5EF4-FFF2-40B4-BE49-F238E27FC236}">
                <a16:creationId xmlns:a16="http://schemas.microsoft.com/office/drawing/2014/main" id="{67ACAA63-9EB4-4712-944F-328428478153}"/>
              </a:ext>
            </a:extLst>
          </p:cNvPr>
          <p:cNvSpPr txBox="1">
            <a:spLocks/>
          </p:cNvSpPr>
          <p:nvPr/>
        </p:nvSpPr>
        <p:spPr>
          <a:xfrm>
            <a:off x="610098" y="2128511"/>
            <a:ext cx="6516843" cy="690311"/>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rPr>
              <a:t>- ½ S1 &lt;= -1/2</a:t>
            </a:r>
          </a:p>
        </p:txBody>
      </p:sp>
      <p:sp>
        <p:nvSpPr>
          <p:cNvPr id="11" name="Content Placeholder 2">
            <a:extLst>
              <a:ext uri="{FF2B5EF4-FFF2-40B4-BE49-F238E27FC236}">
                <a16:creationId xmlns:a16="http://schemas.microsoft.com/office/drawing/2014/main" id="{BBFE4BD9-F884-4AB4-B8F8-5232F8DBD100}"/>
              </a:ext>
            </a:extLst>
          </p:cNvPr>
          <p:cNvSpPr txBox="1">
            <a:spLocks/>
          </p:cNvSpPr>
          <p:nvPr/>
        </p:nvSpPr>
        <p:spPr>
          <a:xfrm>
            <a:off x="4191918" y="3922572"/>
            <a:ext cx="6821224" cy="4834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This is called </a:t>
            </a:r>
            <a:r>
              <a:rPr lang="en-US" b="1" dirty="0" err="1">
                <a:solidFill>
                  <a:schemeClr val="accent1">
                    <a:lumMod val="75000"/>
                  </a:schemeClr>
                </a:solidFill>
              </a:rPr>
              <a:t>Gomory’s</a:t>
            </a:r>
            <a:r>
              <a:rPr lang="en-US" b="1" dirty="0">
                <a:solidFill>
                  <a:schemeClr val="accent1">
                    <a:lumMod val="75000"/>
                  </a:schemeClr>
                </a:solidFill>
              </a:rPr>
              <a:t> Cutting Plane Equation</a:t>
            </a:r>
          </a:p>
        </p:txBody>
      </p:sp>
      <p:sp>
        <p:nvSpPr>
          <p:cNvPr id="12" name="Content Placeholder 2">
            <a:extLst>
              <a:ext uri="{FF2B5EF4-FFF2-40B4-BE49-F238E27FC236}">
                <a16:creationId xmlns:a16="http://schemas.microsoft.com/office/drawing/2014/main" id="{BBFE4BD9-F884-4AB4-B8F8-5232F8DBD100}"/>
              </a:ext>
            </a:extLst>
          </p:cNvPr>
          <p:cNvSpPr txBox="1">
            <a:spLocks/>
          </p:cNvSpPr>
          <p:nvPr/>
        </p:nvSpPr>
        <p:spPr>
          <a:xfrm>
            <a:off x="610098" y="278538"/>
            <a:ext cx="9459443" cy="94514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startAt="7"/>
            </a:pPr>
            <a:r>
              <a:rPr lang="en-US" b="1" dirty="0">
                <a:solidFill>
                  <a:schemeClr val="tx1"/>
                </a:solidFill>
              </a:rPr>
              <a:t>Add the fractional cut as last row in latest optimal table and proceed further using </a:t>
            </a:r>
            <a:r>
              <a:rPr lang="en-US" b="1" dirty="0">
                <a:solidFill>
                  <a:srgbClr val="00B0F0"/>
                </a:solidFill>
              </a:rPr>
              <a:t>DUAL SIMPLEX </a:t>
            </a:r>
            <a:r>
              <a:rPr lang="en-US" b="1" dirty="0">
                <a:solidFill>
                  <a:schemeClr val="tx1"/>
                </a:solidFill>
              </a:rPr>
              <a:t>method and find the new optimum solution. If new solution is Integer then go to Step 8 else go to Step 4</a:t>
            </a:r>
          </a:p>
        </p:txBody>
      </p:sp>
    </p:spTree>
    <p:extLst>
      <p:ext uri="{BB962C8B-B14F-4D97-AF65-F5344CB8AC3E}">
        <p14:creationId xmlns:p14="http://schemas.microsoft.com/office/powerpoint/2010/main" val="100708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P spid="32"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7E47C84-6CD3-44C1-A5F5-588AD9D6EDE3}"/>
              </a:ext>
            </a:extLst>
          </p:cNvPr>
          <p:cNvSpPr/>
          <p:nvPr/>
        </p:nvSpPr>
        <p:spPr>
          <a:xfrm>
            <a:off x="3039938" y="3965309"/>
            <a:ext cx="6896828" cy="5026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p:cNvSpPr/>
          <p:nvPr/>
        </p:nvSpPr>
        <p:spPr>
          <a:xfrm>
            <a:off x="2101870" y="3930510"/>
            <a:ext cx="605117" cy="5655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8216013" y="1625900"/>
            <a:ext cx="605117" cy="5655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2C90F907-3B83-4F24-B3E9-103787B534F5}"/>
              </a:ext>
            </a:extLst>
          </p:cNvPr>
          <p:cNvGraphicFramePr>
            <a:graphicFrameLocks noGrp="1"/>
          </p:cNvGraphicFramePr>
          <p:nvPr>
            <p:extLst>
              <p:ext uri="{D42A27DB-BD31-4B8C-83A1-F6EECF244321}">
                <p14:modId xmlns:p14="http://schemas.microsoft.com/office/powerpoint/2010/main" val="671059542"/>
              </p:ext>
            </p:extLst>
          </p:nvPr>
        </p:nvGraphicFramePr>
        <p:xfrm>
          <a:off x="696513" y="905492"/>
          <a:ext cx="9321271" cy="4621590"/>
        </p:xfrm>
        <a:graphic>
          <a:graphicData uri="http://schemas.openxmlformats.org/drawingml/2006/table">
            <a:tbl>
              <a:tblPr firstRow="1" bandRow="1">
                <a:tableStyleId>{5940675A-B579-460E-94D1-54222C63F5DA}</a:tableStyleId>
              </a:tblPr>
              <a:tblGrid>
                <a:gridCol w="1035697">
                  <a:extLst>
                    <a:ext uri="{9D8B030D-6E8A-4147-A177-3AD203B41FA5}">
                      <a16:colId xmlns:a16="http://schemas.microsoft.com/office/drawing/2014/main" val="2905360103"/>
                    </a:ext>
                  </a:extLst>
                </a:gridCol>
                <a:gridCol w="1177493">
                  <a:extLst>
                    <a:ext uri="{9D8B030D-6E8A-4147-A177-3AD203B41FA5}">
                      <a16:colId xmlns:a16="http://schemas.microsoft.com/office/drawing/2014/main" val="3101827574"/>
                    </a:ext>
                  </a:extLst>
                </a:gridCol>
                <a:gridCol w="893899">
                  <a:extLst>
                    <a:ext uri="{9D8B030D-6E8A-4147-A177-3AD203B41FA5}">
                      <a16:colId xmlns:a16="http://schemas.microsoft.com/office/drawing/2014/main" val="3349711521"/>
                    </a:ext>
                  </a:extLst>
                </a:gridCol>
                <a:gridCol w="1035697">
                  <a:extLst>
                    <a:ext uri="{9D8B030D-6E8A-4147-A177-3AD203B41FA5}">
                      <a16:colId xmlns:a16="http://schemas.microsoft.com/office/drawing/2014/main" val="2361876258"/>
                    </a:ext>
                  </a:extLst>
                </a:gridCol>
                <a:gridCol w="1035697">
                  <a:extLst>
                    <a:ext uri="{9D8B030D-6E8A-4147-A177-3AD203B41FA5}">
                      <a16:colId xmlns:a16="http://schemas.microsoft.com/office/drawing/2014/main" val="3236378667"/>
                    </a:ext>
                  </a:extLst>
                </a:gridCol>
                <a:gridCol w="1035697">
                  <a:extLst>
                    <a:ext uri="{9D8B030D-6E8A-4147-A177-3AD203B41FA5}">
                      <a16:colId xmlns:a16="http://schemas.microsoft.com/office/drawing/2014/main" val="2968160148"/>
                    </a:ext>
                  </a:extLst>
                </a:gridCol>
                <a:gridCol w="1035697">
                  <a:extLst>
                    <a:ext uri="{9D8B030D-6E8A-4147-A177-3AD203B41FA5}">
                      <a16:colId xmlns:a16="http://schemas.microsoft.com/office/drawing/2014/main" val="1976915298"/>
                    </a:ext>
                  </a:extLst>
                </a:gridCol>
                <a:gridCol w="1035697">
                  <a:extLst>
                    <a:ext uri="{9D8B030D-6E8A-4147-A177-3AD203B41FA5}">
                      <a16:colId xmlns:a16="http://schemas.microsoft.com/office/drawing/2014/main" val="3368023288"/>
                    </a:ext>
                  </a:extLst>
                </a:gridCol>
                <a:gridCol w="1035697">
                  <a:extLst>
                    <a:ext uri="{9D8B030D-6E8A-4147-A177-3AD203B41FA5}">
                      <a16:colId xmlns:a16="http://schemas.microsoft.com/office/drawing/2014/main" val="20008"/>
                    </a:ext>
                  </a:extLst>
                </a:gridCol>
              </a:tblGrid>
              <a:tr h="665494">
                <a:tc>
                  <a:txBody>
                    <a:bodyPr/>
                    <a:lstStyle/>
                    <a:p>
                      <a:pPr algn="ctr"/>
                      <a:r>
                        <a:rPr lang="en-US" b="1" dirty="0"/>
                        <a:t>C Bi</a:t>
                      </a:r>
                    </a:p>
                  </a:txBody>
                  <a:tcPr anchor="ctr"/>
                </a:tc>
                <a:tc>
                  <a:txBody>
                    <a:bodyPr/>
                    <a:lstStyle/>
                    <a:p>
                      <a:pPr algn="ctr"/>
                      <a:r>
                        <a:rPr lang="en-US" b="1" dirty="0"/>
                        <a:t> </a:t>
                      </a:r>
                      <a:r>
                        <a:rPr lang="en-US" b="1" dirty="0" err="1"/>
                        <a:t>Cj</a:t>
                      </a: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endParaRPr lang="en-US"/>
                    </a:p>
                  </a:txBody>
                  <a:tcPr anchor="ctr"/>
                </a:tc>
                <a:tc>
                  <a:txBody>
                    <a:bodyPr/>
                    <a:lstStyle/>
                    <a:p>
                      <a:pPr algn="ctr"/>
                      <a:endParaRPr lang="en-US" b="1" dirty="0"/>
                    </a:p>
                  </a:txBody>
                  <a:tcPr anchor="ctr"/>
                </a:tc>
                <a:tc>
                  <a:txBody>
                    <a:bodyPr/>
                    <a:lstStyle/>
                    <a:p>
                      <a:pPr algn="ctr"/>
                      <a:r>
                        <a:rPr lang="en-US" b="1" dirty="0"/>
                        <a:t>Solution</a:t>
                      </a:r>
                    </a:p>
                  </a:txBody>
                  <a:tcPr anchor="ctr"/>
                </a:tc>
                <a:extLst>
                  <a:ext uri="{0D108BD9-81ED-4DB2-BD59-A6C34878D82A}">
                    <a16:rowId xmlns:a16="http://schemas.microsoft.com/office/drawing/2014/main" val="1702236699"/>
                  </a:ext>
                </a:extLst>
              </a:tr>
              <a:tr h="708611">
                <a:tc>
                  <a:txBody>
                    <a:bodyPr/>
                    <a:lstStyle/>
                    <a:p>
                      <a:pPr algn="ctr"/>
                      <a:endParaRPr lang="en-US" dirty="0"/>
                    </a:p>
                  </a:txBody>
                  <a:tcPr anchor="ctr"/>
                </a:tc>
                <a:tc>
                  <a:txBody>
                    <a:bodyPr/>
                    <a:lstStyle/>
                    <a:p>
                      <a:pPr algn="ctr"/>
                      <a:r>
                        <a:rPr lang="en-US" b="1" dirty="0"/>
                        <a:t>Basic Variables</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826453594"/>
                  </a:ext>
                </a:extLst>
              </a:tr>
              <a:tr h="62040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            </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071387229"/>
                  </a:ext>
                </a:extLst>
              </a:tr>
              <a:tr h="493486">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506384561"/>
                  </a:ext>
                </a:extLst>
              </a:tr>
              <a:tr h="5660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42950504"/>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710745653"/>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6"/>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E0104F68-A9B6-4A9C-BD18-0301D1C829DB}"/>
              </a:ext>
            </a:extLst>
          </p:cNvPr>
          <p:cNvSpPr>
            <a:spLocks noGrp="1"/>
          </p:cNvSpPr>
          <p:nvPr>
            <p:ph type="title"/>
          </p:nvPr>
        </p:nvSpPr>
        <p:spPr>
          <a:xfrm>
            <a:off x="612324" y="295586"/>
            <a:ext cx="11019381" cy="783771"/>
          </a:xfrm>
        </p:spPr>
        <p:txBody>
          <a:bodyPr/>
          <a:lstStyle/>
          <a:p>
            <a:r>
              <a:rPr lang="en-US" dirty="0"/>
              <a:t>Develop Simplex Table 4 – </a:t>
            </a:r>
            <a:r>
              <a:rPr lang="en-US" dirty="0">
                <a:solidFill>
                  <a:srgbClr val="002060"/>
                </a:solidFill>
              </a:rPr>
              <a:t>With </a:t>
            </a:r>
            <a:r>
              <a:rPr lang="en-US" dirty="0" err="1">
                <a:solidFill>
                  <a:srgbClr val="002060"/>
                </a:solidFill>
              </a:rPr>
              <a:t>Gomory</a:t>
            </a:r>
            <a:r>
              <a:rPr lang="en-US" dirty="0">
                <a:solidFill>
                  <a:srgbClr val="002060"/>
                </a:solidFill>
              </a:rPr>
              <a:t> Equation</a:t>
            </a:r>
          </a:p>
        </p:txBody>
      </p:sp>
      <p:sp>
        <p:nvSpPr>
          <p:cNvPr id="9" name="Rectangle 8">
            <a:extLst>
              <a:ext uri="{FF2B5EF4-FFF2-40B4-BE49-F238E27FC236}">
                <a16:creationId xmlns:a16="http://schemas.microsoft.com/office/drawing/2014/main" id="{410D83FC-7940-402F-B5B0-F709D30A86A8}"/>
              </a:ext>
            </a:extLst>
          </p:cNvPr>
          <p:cNvSpPr/>
          <p:nvPr/>
        </p:nvSpPr>
        <p:spPr>
          <a:xfrm>
            <a:off x="3078140" y="1038119"/>
            <a:ext cx="5944743" cy="461665"/>
          </a:xfrm>
          <a:prstGeom prst="rect">
            <a:avLst/>
          </a:prstGeom>
        </p:spPr>
        <p:txBody>
          <a:bodyPr wrap="square">
            <a:spAutoFit/>
          </a:bodyPr>
          <a:lstStyle/>
          <a:p>
            <a:r>
              <a:rPr lang="en-US" sz="2400" i="1" dirty="0"/>
              <a:t> 2         3         0    	    0          0          0         </a:t>
            </a:r>
          </a:p>
        </p:txBody>
      </p:sp>
      <p:sp>
        <p:nvSpPr>
          <p:cNvPr id="11" name="Rectangle 10">
            <a:extLst>
              <a:ext uri="{FF2B5EF4-FFF2-40B4-BE49-F238E27FC236}">
                <a16:creationId xmlns:a16="http://schemas.microsoft.com/office/drawing/2014/main" id="{F37D74E3-585D-4E7D-90FB-90B97715A1C2}"/>
              </a:ext>
            </a:extLst>
          </p:cNvPr>
          <p:cNvSpPr/>
          <p:nvPr/>
        </p:nvSpPr>
        <p:spPr>
          <a:xfrm>
            <a:off x="3039938" y="1712847"/>
            <a:ext cx="6055430" cy="461665"/>
          </a:xfrm>
          <a:prstGeom prst="rect">
            <a:avLst/>
          </a:prstGeom>
        </p:spPr>
        <p:txBody>
          <a:bodyPr wrap="square">
            <a:spAutoFit/>
          </a:bodyPr>
          <a:lstStyle/>
          <a:p>
            <a:r>
              <a:rPr lang="en-US" sz="2400" i="1" dirty="0"/>
              <a:t> x1       x2        s1         s2        s3        G1 </a:t>
            </a:r>
          </a:p>
        </p:txBody>
      </p:sp>
      <p:sp>
        <p:nvSpPr>
          <p:cNvPr id="12" name="Rectangle 11">
            <a:extLst>
              <a:ext uri="{FF2B5EF4-FFF2-40B4-BE49-F238E27FC236}">
                <a16:creationId xmlns:a16="http://schemas.microsoft.com/office/drawing/2014/main" id="{757A82B3-4AF2-4211-B555-0CE256758C51}"/>
              </a:ext>
            </a:extLst>
          </p:cNvPr>
          <p:cNvSpPr/>
          <p:nvPr/>
        </p:nvSpPr>
        <p:spPr>
          <a:xfrm>
            <a:off x="3185715" y="2344598"/>
            <a:ext cx="5837167" cy="461665"/>
          </a:xfrm>
          <a:prstGeom prst="rect">
            <a:avLst/>
          </a:prstGeom>
        </p:spPr>
        <p:txBody>
          <a:bodyPr wrap="square">
            <a:spAutoFit/>
          </a:bodyPr>
          <a:lstStyle/>
          <a:p>
            <a:r>
              <a:rPr lang="en-US" sz="2400" i="1" dirty="0"/>
              <a:t>1         0        1/2        0         -1        0</a:t>
            </a:r>
          </a:p>
        </p:txBody>
      </p:sp>
      <p:cxnSp>
        <p:nvCxnSpPr>
          <p:cNvPr id="15" name="Straight Arrow Connector 14">
            <a:extLst>
              <a:ext uri="{FF2B5EF4-FFF2-40B4-BE49-F238E27FC236}">
                <a16:creationId xmlns:a16="http://schemas.microsoft.com/office/drawing/2014/main" id="{410D4A1B-B99D-4B4E-ADFF-EB306D4999FF}"/>
              </a:ext>
            </a:extLst>
          </p:cNvPr>
          <p:cNvCxnSpPr/>
          <p:nvPr/>
        </p:nvCxnSpPr>
        <p:spPr>
          <a:xfrm>
            <a:off x="2121649" y="1456242"/>
            <a:ext cx="68217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548FD16-BD95-4D14-B781-9F8506602B86}"/>
              </a:ext>
            </a:extLst>
          </p:cNvPr>
          <p:cNvCxnSpPr>
            <a:cxnSpLocks/>
          </p:cNvCxnSpPr>
          <p:nvPr/>
        </p:nvCxnSpPr>
        <p:spPr>
          <a:xfrm>
            <a:off x="957773" y="1051234"/>
            <a:ext cx="0" cy="3048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EAA07C5-7CB8-41BA-A3DB-4DA4310081CE}"/>
              </a:ext>
            </a:extLst>
          </p:cNvPr>
          <p:cNvSpPr/>
          <p:nvPr/>
        </p:nvSpPr>
        <p:spPr>
          <a:xfrm>
            <a:off x="2178339" y="2286541"/>
            <a:ext cx="568790" cy="461665"/>
          </a:xfrm>
          <a:prstGeom prst="rect">
            <a:avLst/>
          </a:prstGeom>
        </p:spPr>
        <p:txBody>
          <a:bodyPr wrap="square">
            <a:spAutoFit/>
          </a:bodyPr>
          <a:lstStyle/>
          <a:p>
            <a:r>
              <a:rPr lang="en-US" sz="2400" i="1" dirty="0"/>
              <a:t>x1</a:t>
            </a:r>
          </a:p>
        </p:txBody>
      </p:sp>
      <p:sp>
        <p:nvSpPr>
          <p:cNvPr id="23" name="Rectangle 22">
            <a:extLst>
              <a:ext uri="{FF2B5EF4-FFF2-40B4-BE49-F238E27FC236}">
                <a16:creationId xmlns:a16="http://schemas.microsoft.com/office/drawing/2014/main" id="{B929374A-8C0A-469C-9C8B-CA3690C3781C}"/>
              </a:ext>
            </a:extLst>
          </p:cNvPr>
          <p:cNvSpPr/>
          <p:nvPr/>
        </p:nvSpPr>
        <p:spPr>
          <a:xfrm>
            <a:off x="2157935" y="2914595"/>
            <a:ext cx="545652" cy="461665"/>
          </a:xfrm>
          <a:prstGeom prst="rect">
            <a:avLst/>
          </a:prstGeom>
        </p:spPr>
        <p:txBody>
          <a:bodyPr wrap="square">
            <a:spAutoFit/>
          </a:bodyPr>
          <a:lstStyle/>
          <a:p>
            <a:r>
              <a:rPr lang="en-US" sz="2400" i="1" dirty="0"/>
              <a:t>s2</a:t>
            </a:r>
          </a:p>
        </p:txBody>
      </p:sp>
      <p:sp>
        <p:nvSpPr>
          <p:cNvPr id="24" name="Rectangle 23">
            <a:extLst>
              <a:ext uri="{FF2B5EF4-FFF2-40B4-BE49-F238E27FC236}">
                <a16:creationId xmlns:a16="http://schemas.microsoft.com/office/drawing/2014/main" id="{4ADF7ACF-FD93-43D4-8E85-9985894350A9}"/>
              </a:ext>
            </a:extLst>
          </p:cNvPr>
          <p:cNvSpPr/>
          <p:nvPr/>
        </p:nvSpPr>
        <p:spPr>
          <a:xfrm>
            <a:off x="1076617" y="2254198"/>
            <a:ext cx="545652" cy="461665"/>
          </a:xfrm>
          <a:prstGeom prst="rect">
            <a:avLst/>
          </a:prstGeom>
        </p:spPr>
        <p:txBody>
          <a:bodyPr wrap="square">
            <a:spAutoFit/>
          </a:bodyPr>
          <a:lstStyle/>
          <a:p>
            <a:r>
              <a:rPr lang="en-US" sz="2400" i="1" dirty="0"/>
              <a:t>2</a:t>
            </a:r>
          </a:p>
        </p:txBody>
      </p:sp>
      <p:sp>
        <p:nvSpPr>
          <p:cNvPr id="25" name="Rectangle 24">
            <a:extLst>
              <a:ext uri="{FF2B5EF4-FFF2-40B4-BE49-F238E27FC236}">
                <a16:creationId xmlns:a16="http://schemas.microsoft.com/office/drawing/2014/main" id="{9E86616C-E86D-4453-A38C-BA3C33953E0C}"/>
              </a:ext>
            </a:extLst>
          </p:cNvPr>
          <p:cNvSpPr/>
          <p:nvPr/>
        </p:nvSpPr>
        <p:spPr>
          <a:xfrm>
            <a:off x="1054842" y="2871056"/>
            <a:ext cx="545652" cy="461665"/>
          </a:xfrm>
          <a:prstGeom prst="rect">
            <a:avLst/>
          </a:prstGeom>
        </p:spPr>
        <p:txBody>
          <a:bodyPr wrap="square">
            <a:spAutoFit/>
          </a:bodyPr>
          <a:lstStyle/>
          <a:p>
            <a:r>
              <a:rPr lang="en-US" sz="2400" i="1" dirty="0"/>
              <a:t>0</a:t>
            </a:r>
          </a:p>
        </p:txBody>
      </p:sp>
      <p:sp>
        <p:nvSpPr>
          <p:cNvPr id="27" name="Rectangle 26">
            <a:extLst>
              <a:ext uri="{FF2B5EF4-FFF2-40B4-BE49-F238E27FC236}">
                <a16:creationId xmlns:a16="http://schemas.microsoft.com/office/drawing/2014/main" id="{B46BB860-9FCC-471B-B1DB-CC177706B8CB}"/>
              </a:ext>
            </a:extLst>
          </p:cNvPr>
          <p:cNvSpPr/>
          <p:nvPr/>
        </p:nvSpPr>
        <p:spPr>
          <a:xfrm>
            <a:off x="3134914" y="2888881"/>
            <a:ext cx="5960454" cy="461665"/>
          </a:xfrm>
          <a:prstGeom prst="rect">
            <a:avLst/>
          </a:prstGeom>
        </p:spPr>
        <p:txBody>
          <a:bodyPr wrap="square">
            <a:spAutoFit/>
          </a:bodyPr>
          <a:lstStyle/>
          <a:p>
            <a:r>
              <a:rPr lang="en-US" sz="2400" i="1" dirty="0"/>
              <a:t> 0         0      -1/2        1          1         0</a:t>
            </a:r>
          </a:p>
        </p:txBody>
      </p:sp>
      <p:sp>
        <p:nvSpPr>
          <p:cNvPr id="28" name="Rectangle 27">
            <a:extLst>
              <a:ext uri="{FF2B5EF4-FFF2-40B4-BE49-F238E27FC236}">
                <a16:creationId xmlns:a16="http://schemas.microsoft.com/office/drawing/2014/main" id="{0D4EF912-F04E-42A7-AC8F-9EF06B662B91}"/>
              </a:ext>
            </a:extLst>
          </p:cNvPr>
          <p:cNvSpPr/>
          <p:nvPr/>
        </p:nvSpPr>
        <p:spPr>
          <a:xfrm>
            <a:off x="2090619" y="4442080"/>
            <a:ext cx="545652" cy="461665"/>
          </a:xfrm>
          <a:prstGeom prst="rect">
            <a:avLst/>
          </a:prstGeom>
        </p:spPr>
        <p:txBody>
          <a:bodyPr wrap="square">
            <a:spAutoFit/>
          </a:bodyPr>
          <a:lstStyle/>
          <a:p>
            <a:r>
              <a:rPr lang="en-US" sz="2400" i="1" dirty="0" err="1"/>
              <a:t>Zj</a:t>
            </a:r>
            <a:endParaRPr lang="en-US" sz="2400" i="1" dirty="0"/>
          </a:p>
        </p:txBody>
      </p:sp>
      <p:sp>
        <p:nvSpPr>
          <p:cNvPr id="31" name="Rectangle 30">
            <a:extLst>
              <a:ext uri="{FF2B5EF4-FFF2-40B4-BE49-F238E27FC236}">
                <a16:creationId xmlns:a16="http://schemas.microsoft.com/office/drawing/2014/main" id="{864F2EA2-D3FA-4B29-B824-58D41C0151C4}"/>
              </a:ext>
            </a:extLst>
          </p:cNvPr>
          <p:cNvSpPr/>
          <p:nvPr/>
        </p:nvSpPr>
        <p:spPr>
          <a:xfrm>
            <a:off x="3058978" y="4455438"/>
            <a:ext cx="6710549" cy="461665"/>
          </a:xfrm>
          <a:prstGeom prst="rect">
            <a:avLst/>
          </a:prstGeom>
        </p:spPr>
        <p:txBody>
          <a:bodyPr wrap="square">
            <a:spAutoFit/>
          </a:bodyPr>
          <a:lstStyle/>
          <a:p>
            <a:r>
              <a:rPr lang="en-US" sz="2400" i="1" dirty="0"/>
              <a:t>  2         3         1         0          1         0         9</a:t>
            </a:r>
          </a:p>
        </p:txBody>
      </p:sp>
      <p:sp>
        <p:nvSpPr>
          <p:cNvPr id="32" name="Rectangle 31">
            <a:extLst>
              <a:ext uri="{FF2B5EF4-FFF2-40B4-BE49-F238E27FC236}">
                <a16:creationId xmlns:a16="http://schemas.microsoft.com/office/drawing/2014/main" id="{0F04E717-3391-46C1-9958-6624DF084ED4}"/>
              </a:ext>
            </a:extLst>
          </p:cNvPr>
          <p:cNvSpPr/>
          <p:nvPr/>
        </p:nvSpPr>
        <p:spPr>
          <a:xfrm>
            <a:off x="1827995" y="4988918"/>
            <a:ext cx="1211943" cy="461665"/>
          </a:xfrm>
          <a:prstGeom prst="rect">
            <a:avLst/>
          </a:prstGeom>
        </p:spPr>
        <p:txBody>
          <a:bodyPr wrap="square">
            <a:spAutoFit/>
          </a:bodyPr>
          <a:lstStyle/>
          <a:p>
            <a:r>
              <a:rPr lang="en-US" sz="2400" i="1" dirty="0" err="1"/>
              <a:t>Cj</a:t>
            </a:r>
            <a:r>
              <a:rPr lang="en-US" sz="2400" i="1" dirty="0"/>
              <a:t> - </a:t>
            </a:r>
            <a:r>
              <a:rPr lang="en-US" sz="2400" i="1" dirty="0" err="1"/>
              <a:t>Zj</a:t>
            </a:r>
            <a:endParaRPr lang="en-US" sz="2400" i="1" dirty="0"/>
          </a:p>
        </p:txBody>
      </p:sp>
      <p:sp>
        <p:nvSpPr>
          <p:cNvPr id="33" name="Rectangle 32">
            <a:extLst>
              <a:ext uri="{FF2B5EF4-FFF2-40B4-BE49-F238E27FC236}">
                <a16:creationId xmlns:a16="http://schemas.microsoft.com/office/drawing/2014/main" id="{2B65CB3B-095B-4A91-A457-6D5825DEABD9}"/>
              </a:ext>
            </a:extLst>
          </p:cNvPr>
          <p:cNvSpPr/>
          <p:nvPr/>
        </p:nvSpPr>
        <p:spPr>
          <a:xfrm>
            <a:off x="3058978" y="5003431"/>
            <a:ext cx="6710549" cy="461665"/>
          </a:xfrm>
          <a:prstGeom prst="rect">
            <a:avLst/>
          </a:prstGeom>
        </p:spPr>
        <p:txBody>
          <a:bodyPr wrap="square">
            <a:spAutoFit/>
          </a:bodyPr>
          <a:lstStyle/>
          <a:p>
            <a:r>
              <a:rPr lang="en-US" sz="2400" i="1" dirty="0"/>
              <a:t>  0          0         -1         0       -1         0</a:t>
            </a:r>
          </a:p>
        </p:txBody>
      </p:sp>
      <p:sp>
        <p:nvSpPr>
          <p:cNvPr id="38" name="Rectangle 37">
            <a:extLst>
              <a:ext uri="{FF2B5EF4-FFF2-40B4-BE49-F238E27FC236}">
                <a16:creationId xmlns:a16="http://schemas.microsoft.com/office/drawing/2014/main" id="{C6F83CCA-0248-4E65-AE79-34017C9C7D43}"/>
              </a:ext>
            </a:extLst>
          </p:cNvPr>
          <p:cNvSpPr/>
          <p:nvPr/>
        </p:nvSpPr>
        <p:spPr>
          <a:xfrm>
            <a:off x="9164483" y="2360413"/>
            <a:ext cx="737705" cy="461665"/>
          </a:xfrm>
          <a:prstGeom prst="rect">
            <a:avLst/>
          </a:prstGeom>
        </p:spPr>
        <p:txBody>
          <a:bodyPr wrap="square">
            <a:spAutoFit/>
          </a:bodyPr>
          <a:lstStyle/>
          <a:p>
            <a:r>
              <a:rPr lang="en-US" sz="2400" i="1" dirty="0"/>
              <a:t>3/2</a:t>
            </a:r>
          </a:p>
        </p:txBody>
      </p:sp>
      <p:sp>
        <p:nvSpPr>
          <p:cNvPr id="39" name="Rectangle 38">
            <a:extLst>
              <a:ext uri="{FF2B5EF4-FFF2-40B4-BE49-F238E27FC236}">
                <a16:creationId xmlns:a16="http://schemas.microsoft.com/office/drawing/2014/main" id="{ED484AD5-E75D-43EE-99F3-8E98AC6DD160}"/>
              </a:ext>
            </a:extLst>
          </p:cNvPr>
          <p:cNvSpPr/>
          <p:nvPr/>
        </p:nvSpPr>
        <p:spPr>
          <a:xfrm>
            <a:off x="9190436" y="2914595"/>
            <a:ext cx="813565" cy="461665"/>
          </a:xfrm>
          <a:prstGeom prst="rect">
            <a:avLst/>
          </a:prstGeom>
        </p:spPr>
        <p:txBody>
          <a:bodyPr wrap="square">
            <a:spAutoFit/>
          </a:bodyPr>
          <a:lstStyle/>
          <a:p>
            <a:r>
              <a:rPr lang="en-US" sz="2400" i="1" dirty="0"/>
              <a:t>1/2</a:t>
            </a:r>
          </a:p>
        </p:txBody>
      </p:sp>
      <p:sp>
        <p:nvSpPr>
          <p:cNvPr id="40" name="Rectangle 39">
            <a:extLst>
              <a:ext uri="{FF2B5EF4-FFF2-40B4-BE49-F238E27FC236}">
                <a16:creationId xmlns:a16="http://schemas.microsoft.com/office/drawing/2014/main" id="{B929374A-8C0A-469C-9C8B-CA3690C3781C}"/>
              </a:ext>
            </a:extLst>
          </p:cNvPr>
          <p:cNvSpPr/>
          <p:nvPr/>
        </p:nvSpPr>
        <p:spPr>
          <a:xfrm>
            <a:off x="2157935" y="3411020"/>
            <a:ext cx="545652" cy="461665"/>
          </a:xfrm>
          <a:prstGeom prst="rect">
            <a:avLst/>
          </a:prstGeom>
        </p:spPr>
        <p:txBody>
          <a:bodyPr wrap="square">
            <a:spAutoFit/>
          </a:bodyPr>
          <a:lstStyle/>
          <a:p>
            <a:r>
              <a:rPr lang="en-US" sz="2400" i="1" dirty="0"/>
              <a:t>x2</a:t>
            </a:r>
          </a:p>
        </p:txBody>
      </p:sp>
      <p:sp>
        <p:nvSpPr>
          <p:cNvPr id="41" name="Rectangle 40">
            <a:extLst>
              <a:ext uri="{FF2B5EF4-FFF2-40B4-BE49-F238E27FC236}">
                <a16:creationId xmlns:a16="http://schemas.microsoft.com/office/drawing/2014/main" id="{B46BB860-9FCC-471B-B1DB-CC177706B8CB}"/>
              </a:ext>
            </a:extLst>
          </p:cNvPr>
          <p:cNvSpPr/>
          <p:nvPr/>
        </p:nvSpPr>
        <p:spPr>
          <a:xfrm>
            <a:off x="3096605" y="3455507"/>
            <a:ext cx="5998763" cy="461665"/>
          </a:xfrm>
          <a:prstGeom prst="rect">
            <a:avLst/>
          </a:prstGeom>
        </p:spPr>
        <p:txBody>
          <a:bodyPr wrap="square">
            <a:spAutoFit/>
          </a:bodyPr>
          <a:lstStyle/>
          <a:p>
            <a:r>
              <a:rPr lang="en-US" sz="2400" i="1" dirty="0"/>
              <a:t> 0         1          0         0          1         0</a:t>
            </a:r>
          </a:p>
        </p:txBody>
      </p:sp>
      <p:sp>
        <p:nvSpPr>
          <p:cNvPr id="42" name="Rectangle 41">
            <a:extLst>
              <a:ext uri="{FF2B5EF4-FFF2-40B4-BE49-F238E27FC236}">
                <a16:creationId xmlns:a16="http://schemas.microsoft.com/office/drawing/2014/main" id="{9E86616C-E86D-4453-A38C-BA3C33953E0C}"/>
              </a:ext>
            </a:extLst>
          </p:cNvPr>
          <p:cNvSpPr/>
          <p:nvPr/>
        </p:nvSpPr>
        <p:spPr>
          <a:xfrm>
            <a:off x="1030750" y="3465551"/>
            <a:ext cx="545652" cy="461665"/>
          </a:xfrm>
          <a:prstGeom prst="rect">
            <a:avLst/>
          </a:prstGeom>
        </p:spPr>
        <p:txBody>
          <a:bodyPr wrap="square">
            <a:spAutoFit/>
          </a:bodyPr>
          <a:lstStyle/>
          <a:p>
            <a:r>
              <a:rPr lang="en-US" sz="2400" i="1" dirty="0"/>
              <a:t>3</a:t>
            </a:r>
          </a:p>
        </p:txBody>
      </p:sp>
      <p:sp>
        <p:nvSpPr>
          <p:cNvPr id="43" name="Rectangle 42">
            <a:extLst>
              <a:ext uri="{FF2B5EF4-FFF2-40B4-BE49-F238E27FC236}">
                <a16:creationId xmlns:a16="http://schemas.microsoft.com/office/drawing/2014/main" id="{ED484AD5-E75D-43EE-99F3-8E98AC6DD160}"/>
              </a:ext>
            </a:extLst>
          </p:cNvPr>
          <p:cNvSpPr/>
          <p:nvPr/>
        </p:nvSpPr>
        <p:spPr>
          <a:xfrm>
            <a:off x="9257158" y="3497348"/>
            <a:ext cx="545652" cy="461665"/>
          </a:xfrm>
          <a:prstGeom prst="rect">
            <a:avLst/>
          </a:prstGeom>
        </p:spPr>
        <p:txBody>
          <a:bodyPr wrap="square">
            <a:spAutoFit/>
          </a:bodyPr>
          <a:lstStyle/>
          <a:p>
            <a:r>
              <a:rPr lang="en-US" sz="2400" i="1" dirty="0"/>
              <a:t>2</a:t>
            </a:r>
          </a:p>
        </p:txBody>
      </p:sp>
      <p:sp>
        <p:nvSpPr>
          <p:cNvPr id="34" name="Rectangle 33">
            <a:extLst>
              <a:ext uri="{FF2B5EF4-FFF2-40B4-BE49-F238E27FC236}">
                <a16:creationId xmlns:a16="http://schemas.microsoft.com/office/drawing/2014/main" id="{B929374A-8C0A-469C-9C8B-CA3690C3781C}"/>
              </a:ext>
            </a:extLst>
          </p:cNvPr>
          <p:cNvSpPr/>
          <p:nvPr/>
        </p:nvSpPr>
        <p:spPr>
          <a:xfrm>
            <a:off x="2097806" y="3939765"/>
            <a:ext cx="665909" cy="461665"/>
          </a:xfrm>
          <a:prstGeom prst="rect">
            <a:avLst/>
          </a:prstGeom>
        </p:spPr>
        <p:txBody>
          <a:bodyPr wrap="square">
            <a:spAutoFit/>
          </a:bodyPr>
          <a:lstStyle/>
          <a:p>
            <a:r>
              <a:rPr lang="en-US" sz="2400" i="1" dirty="0"/>
              <a:t>G1</a:t>
            </a:r>
          </a:p>
        </p:txBody>
      </p:sp>
      <p:sp>
        <p:nvSpPr>
          <p:cNvPr id="35" name="Rectangle 34">
            <a:extLst>
              <a:ext uri="{FF2B5EF4-FFF2-40B4-BE49-F238E27FC236}">
                <a16:creationId xmlns:a16="http://schemas.microsoft.com/office/drawing/2014/main" id="{9E86616C-E86D-4453-A38C-BA3C33953E0C}"/>
              </a:ext>
            </a:extLst>
          </p:cNvPr>
          <p:cNvSpPr/>
          <p:nvPr/>
        </p:nvSpPr>
        <p:spPr>
          <a:xfrm>
            <a:off x="1029961" y="4006253"/>
            <a:ext cx="545652" cy="461665"/>
          </a:xfrm>
          <a:prstGeom prst="rect">
            <a:avLst/>
          </a:prstGeom>
        </p:spPr>
        <p:txBody>
          <a:bodyPr wrap="square">
            <a:spAutoFit/>
          </a:bodyPr>
          <a:lstStyle/>
          <a:p>
            <a:r>
              <a:rPr lang="en-US" sz="2400" i="1" dirty="0"/>
              <a:t>0</a:t>
            </a:r>
          </a:p>
        </p:txBody>
      </p:sp>
      <p:sp>
        <p:nvSpPr>
          <p:cNvPr id="36" name="Content Placeholder 2">
            <a:extLst>
              <a:ext uri="{FF2B5EF4-FFF2-40B4-BE49-F238E27FC236}">
                <a16:creationId xmlns:a16="http://schemas.microsoft.com/office/drawing/2014/main" id="{67ACAA63-9EB4-4712-944F-328428478153}"/>
              </a:ext>
            </a:extLst>
          </p:cNvPr>
          <p:cNvSpPr txBox="1">
            <a:spLocks/>
          </p:cNvSpPr>
          <p:nvPr/>
        </p:nvSpPr>
        <p:spPr>
          <a:xfrm>
            <a:off x="671606" y="5739894"/>
            <a:ext cx="3383678" cy="533090"/>
          </a:xfrm>
          <a:prstGeom prst="rect">
            <a:avLst/>
          </a:prstGeom>
          <a:noFill/>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rPr>
              <a:t>- ½ S1 + G1= -1/2</a:t>
            </a:r>
          </a:p>
        </p:txBody>
      </p:sp>
      <p:sp>
        <p:nvSpPr>
          <p:cNvPr id="37" name="Rectangle 36">
            <a:extLst>
              <a:ext uri="{FF2B5EF4-FFF2-40B4-BE49-F238E27FC236}">
                <a16:creationId xmlns:a16="http://schemas.microsoft.com/office/drawing/2014/main" id="{B46BB860-9FCC-471B-B1DB-CC177706B8CB}"/>
              </a:ext>
            </a:extLst>
          </p:cNvPr>
          <p:cNvSpPr/>
          <p:nvPr/>
        </p:nvSpPr>
        <p:spPr>
          <a:xfrm>
            <a:off x="3103887" y="3993773"/>
            <a:ext cx="5998763" cy="461665"/>
          </a:xfrm>
          <a:prstGeom prst="rect">
            <a:avLst/>
          </a:prstGeom>
        </p:spPr>
        <p:txBody>
          <a:bodyPr wrap="square">
            <a:spAutoFit/>
          </a:bodyPr>
          <a:lstStyle/>
          <a:p>
            <a:r>
              <a:rPr lang="en-US" sz="2400" i="1" dirty="0"/>
              <a:t> 0         0      -1/2        0          0         1	</a:t>
            </a:r>
          </a:p>
        </p:txBody>
      </p:sp>
      <p:sp>
        <p:nvSpPr>
          <p:cNvPr id="48" name="Rectangle 47">
            <a:extLst>
              <a:ext uri="{FF2B5EF4-FFF2-40B4-BE49-F238E27FC236}">
                <a16:creationId xmlns:a16="http://schemas.microsoft.com/office/drawing/2014/main" id="{ED484AD5-E75D-43EE-99F3-8E98AC6DD160}"/>
              </a:ext>
            </a:extLst>
          </p:cNvPr>
          <p:cNvSpPr/>
          <p:nvPr/>
        </p:nvSpPr>
        <p:spPr>
          <a:xfrm>
            <a:off x="9123201" y="3980415"/>
            <a:ext cx="813565" cy="461665"/>
          </a:xfrm>
          <a:prstGeom prst="rect">
            <a:avLst/>
          </a:prstGeom>
        </p:spPr>
        <p:txBody>
          <a:bodyPr wrap="square">
            <a:spAutoFit/>
          </a:bodyPr>
          <a:lstStyle/>
          <a:p>
            <a:r>
              <a:rPr lang="en-US" sz="2400" i="1" dirty="0"/>
              <a:t>-1/2</a:t>
            </a:r>
          </a:p>
        </p:txBody>
      </p:sp>
      <p:sp>
        <p:nvSpPr>
          <p:cNvPr id="51" name="Content Placeholder 2">
            <a:extLst>
              <a:ext uri="{FF2B5EF4-FFF2-40B4-BE49-F238E27FC236}">
                <a16:creationId xmlns:a16="http://schemas.microsoft.com/office/drawing/2014/main" id="{92C81DC3-B0B3-4EEA-A8F9-16F859BAEAA4}"/>
              </a:ext>
            </a:extLst>
          </p:cNvPr>
          <p:cNvSpPr txBox="1">
            <a:spLocks/>
          </p:cNvSpPr>
          <p:nvPr/>
        </p:nvSpPr>
        <p:spPr>
          <a:xfrm>
            <a:off x="4360593" y="5759365"/>
            <a:ext cx="6881148" cy="856588"/>
          </a:xfrm>
          <a:prstGeom prst="rect">
            <a:avLst/>
          </a:prstGeom>
          <a:solidFill>
            <a:schemeClr val="accent1">
              <a:lumMod val="40000"/>
              <a:lumOff val="60000"/>
            </a:schemeClr>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All </a:t>
            </a:r>
            <a:r>
              <a:rPr lang="en-US" sz="2000" dirty="0" err="1"/>
              <a:t>Cj</a:t>
            </a:r>
            <a:r>
              <a:rPr lang="en-US" sz="2000" dirty="0"/>
              <a:t> – </a:t>
            </a:r>
            <a:r>
              <a:rPr lang="en-US" sz="2000" dirty="0" err="1"/>
              <a:t>Zj</a:t>
            </a:r>
            <a:r>
              <a:rPr lang="en-US" sz="2000" dirty="0"/>
              <a:t> are &lt;=0 but Since </a:t>
            </a:r>
            <a:r>
              <a:rPr lang="en-US" sz="2000" dirty="0" err="1"/>
              <a:t>Soln</a:t>
            </a:r>
            <a:r>
              <a:rPr lang="en-US" sz="2000" dirty="0"/>
              <a:t> values are not al Integers, use </a:t>
            </a:r>
            <a:r>
              <a:rPr lang="en-US" sz="2000" b="1" dirty="0"/>
              <a:t>Dual Simplex </a:t>
            </a:r>
            <a:r>
              <a:rPr lang="en-US" sz="2000" dirty="0"/>
              <a:t>Method</a:t>
            </a:r>
            <a:endParaRPr lang="en-US" sz="1600" dirty="0"/>
          </a:p>
        </p:txBody>
      </p:sp>
    </p:spTree>
    <p:extLst>
      <p:ext uri="{BB962C8B-B14F-4D97-AF65-F5344CB8AC3E}">
        <p14:creationId xmlns:p14="http://schemas.microsoft.com/office/powerpoint/2010/main" val="36608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p:bldP spid="48" grpId="0"/>
      <p:bldP spid="5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34">
            <a:extLst>
              <a:ext uri="{FF2B5EF4-FFF2-40B4-BE49-F238E27FC236}">
                <a16:creationId xmlns:a16="http://schemas.microsoft.com/office/drawing/2014/main" id="{4CD2553B-114A-43DA-A238-B44DFBAD1650}"/>
              </a:ext>
            </a:extLst>
          </p:cNvPr>
          <p:cNvSpPr/>
          <p:nvPr/>
        </p:nvSpPr>
        <p:spPr>
          <a:xfrm>
            <a:off x="1805834" y="5141956"/>
            <a:ext cx="5482472" cy="5944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2">
            <a:extLst>
              <a:ext uri="{FF2B5EF4-FFF2-40B4-BE49-F238E27FC236}">
                <a16:creationId xmlns:a16="http://schemas.microsoft.com/office/drawing/2014/main" id="{BBFE4BD9-F884-4AB4-B8F8-5232F8DBD100}"/>
              </a:ext>
            </a:extLst>
          </p:cNvPr>
          <p:cNvSpPr txBox="1">
            <a:spLocks/>
          </p:cNvSpPr>
          <p:nvPr/>
        </p:nvSpPr>
        <p:spPr>
          <a:xfrm>
            <a:off x="610098" y="278538"/>
            <a:ext cx="9459443" cy="94514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startAt="7"/>
            </a:pPr>
            <a:r>
              <a:rPr lang="en-US" b="1" dirty="0">
                <a:solidFill>
                  <a:schemeClr val="tx1"/>
                </a:solidFill>
              </a:rPr>
              <a:t>Add the fractional cut as last row in latest optimal table and proceed further using </a:t>
            </a:r>
            <a:r>
              <a:rPr lang="en-US" b="1" dirty="0">
                <a:solidFill>
                  <a:srgbClr val="00B0F0"/>
                </a:solidFill>
              </a:rPr>
              <a:t>DUAL SIMPLEX </a:t>
            </a:r>
            <a:r>
              <a:rPr lang="en-US" b="1" dirty="0">
                <a:solidFill>
                  <a:schemeClr val="tx1"/>
                </a:solidFill>
              </a:rPr>
              <a:t>method and find the new optimum solution. If new solution is Integer then go to Step 8 else go to Step 4</a:t>
            </a:r>
          </a:p>
        </p:txBody>
      </p:sp>
      <p:sp>
        <p:nvSpPr>
          <p:cNvPr id="3" name="Content Placeholder 2">
            <a:extLst>
              <a:ext uri="{FF2B5EF4-FFF2-40B4-BE49-F238E27FC236}">
                <a16:creationId xmlns:a16="http://schemas.microsoft.com/office/drawing/2014/main" id="{BBFE4BD9-F884-4AB4-B8F8-5232F8DBD100}"/>
              </a:ext>
            </a:extLst>
          </p:cNvPr>
          <p:cNvSpPr txBox="1">
            <a:spLocks/>
          </p:cNvSpPr>
          <p:nvPr/>
        </p:nvSpPr>
        <p:spPr>
          <a:xfrm>
            <a:off x="932826" y="1362933"/>
            <a:ext cx="9459443" cy="4834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In </a:t>
            </a:r>
            <a:r>
              <a:rPr lang="en-US" b="1" dirty="0">
                <a:solidFill>
                  <a:schemeClr val="accent1">
                    <a:lumMod val="75000"/>
                  </a:schemeClr>
                </a:solidFill>
              </a:rPr>
              <a:t>DUAL SIMPLEX Method, </a:t>
            </a:r>
            <a:r>
              <a:rPr lang="en-US" b="1" dirty="0">
                <a:solidFill>
                  <a:schemeClr val="tx1"/>
                </a:solidFill>
              </a:rPr>
              <a:t>We need to calculate the value of THITA</a:t>
            </a:r>
          </a:p>
        </p:txBody>
      </p:sp>
      <p:pic>
        <p:nvPicPr>
          <p:cNvPr id="4" name="Picture 3"/>
          <p:cNvPicPr>
            <a:picLocks noChangeAspect="1"/>
          </p:cNvPicPr>
          <p:nvPr/>
        </p:nvPicPr>
        <p:blipFill>
          <a:blip r:embed="rId2"/>
          <a:stretch>
            <a:fillRect/>
          </a:stretch>
        </p:blipFill>
        <p:spPr>
          <a:xfrm>
            <a:off x="8157601" y="1330644"/>
            <a:ext cx="515751" cy="515751"/>
          </a:xfrm>
          <a:prstGeom prst="rect">
            <a:avLst/>
          </a:prstGeom>
        </p:spPr>
      </p:pic>
      <p:sp>
        <p:nvSpPr>
          <p:cNvPr id="6" name="Content Placeholder 2">
            <a:extLst>
              <a:ext uri="{FF2B5EF4-FFF2-40B4-BE49-F238E27FC236}">
                <a16:creationId xmlns:a16="http://schemas.microsoft.com/office/drawing/2014/main" id="{BBFE4BD9-F884-4AB4-B8F8-5232F8DBD100}"/>
              </a:ext>
            </a:extLst>
          </p:cNvPr>
          <p:cNvSpPr txBox="1">
            <a:spLocks/>
          </p:cNvSpPr>
          <p:nvPr/>
        </p:nvSpPr>
        <p:spPr>
          <a:xfrm>
            <a:off x="932825" y="1994574"/>
            <a:ext cx="9459443" cy="4834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To calculate the value of THITA, We need to identify the Least Negative Value in the Solution</a:t>
            </a:r>
          </a:p>
          <a:p>
            <a:pPr marL="0" indent="0">
              <a:buNone/>
            </a:pPr>
            <a:r>
              <a:rPr lang="en-US" b="1" dirty="0">
                <a:solidFill>
                  <a:schemeClr val="tx1"/>
                </a:solidFill>
              </a:rPr>
              <a:t>Mark the Row with Least Negative Value and use it in THITA Value </a:t>
            </a:r>
            <a:r>
              <a:rPr lang="en-US" b="1" dirty="0" err="1">
                <a:solidFill>
                  <a:schemeClr val="tx1"/>
                </a:solidFill>
              </a:rPr>
              <a:t>Calcuation</a:t>
            </a:r>
            <a:endParaRPr lang="en-US" b="1" dirty="0">
              <a:solidFill>
                <a:schemeClr val="tx1"/>
              </a:solidFill>
            </a:endParaRPr>
          </a:p>
        </p:txBody>
      </p:sp>
      <p:pic>
        <p:nvPicPr>
          <p:cNvPr id="8" name="Picture 7"/>
          <p:cNvPicPr>
            <a:picLocks noChangeAspect="1"/>
          </p:cNvPicPr>
          <p:nvPr/>
        </p:nvPicPr>
        <p:blipFill>
          <a:blip r:embed="rId3"/>
          <a:stretch>
            <a:fillRect/>
          </a:stretch>
        </p:blipFill>
        <p:spPr>
          <a:xfrm>
            <a:off x="1046493" y="3248928"/>
            <a:ext cx="6128211" cy="3098084"/>
          </a:xfrm>
          <a:prstGeom prst="rect">
            <a:avLst/>
          </a:prstGeom>
        </p:spPr>
      </p:pic>
      <p:sp>
        <p:nvSpPr>
          <p:cNvPr id="9" name="Speech Bubble: Oval 36">
            <a:extLst>
              <a:ext uri="{FF2B5EF4-FFF2-40B4-BE49-F238E27FC236}">
                <a16:creationId xmlns:a16="http://schemas.microsoft.com/office/drawing/2014/main" id="{60386F8E-DDD6-4679-8A97-1E5AD0262A95}"/>
              </a:ext>
            </a:extLst>
          </p:cNvPr>
          <p:cNvSpPr/>
          <p:nvPr/>
        </p:nvSpPr>
        <p:spPr>
          <a:xfrm>
            <a:off x="7812076" y="5110493"/>
            <a:ext cx="1722551" cy="657365"/>
          </a:xfrm>
          <a:prstGeom prst="wedgeEllipseCallout">
            <a:avLst>
              <a:gd name="adj1" fmla="val -82412"/>
              <a:gd name="adj2" fmla="val 27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Least Negative</a:t>
            </a:r>
          </a:p>
        </p:txBody>
      </p:sp>
      <p:grpSp>
        <p:nvGrpSpPr>
          <p:cNvPr id="19" name="Group 18"/>
          <p:cNvGrpSpPr/>
          <p:nvPr/>
        </p:nvGrpSpPr>
        <p:grpSpPr>
          <a:xfrm>
            <a:off x="7825013" y="3452944"/>
            <a:ext cx="3174680" cy="1037309"/>
            <a:chOff x="7825013" y="3452944"/>
            <a:chExt cx="3174680" cy="1037309"/>
          </a:xfrm>
        </p:grpSpPr>
        <p:sp>
          <p:nvSpPr>
            <p:cNvPr id="12" name="Content Placeholder 2">
              <a:extLst>
                <a:ext uri="{FF2B5EF4-FFF2-40B4-BE49-F238E27FC236}">
                  <a16:creationId xmlns:a16="http://schemas.microsoft.com/office/drawing/2014/main" id="{92C81DC3-B0B3-4EEA-A8F9-16F859BAEAA4}"/>
                </a:ext>
              </a:extLst>
            </p:cNvPr>
            <p:cNvSpPr txBox="1">
              <a:spLocks/>
            </p:cNvSpPr>
            <p:nvPr/>
          </p:nvSpPr>
          <p:spPr>
            <a:xfrm>
              <a:off x="8327315" y="3759969"/>
              <a:ext cx="373262" cy="479255"/>
            </a:xfrm>
            <a:prstGeom prst="rect">
              <a:avLst/>
            </a:prstGeom>
            <a:no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a:t>
              </a:r>
            </a:p>
          </p:txBody>
        </p:sp>
        <p:sp>
          <p:nvSpPr>
            <p:cNvPr id="14" name="Content Placeholder 2">
              <a:extLst>
                <a:ext uri="{FF2B5EF4-FFF2-40B4-BE49-F238E27FC236}">
                  <a16:creationId xmlns:a16="http://schemas.microsoft.com/office/drawing/2014/main" id="{92C81DC3-B0B3-4EEA-A8F9-16F859BAEAA4}"/>
                </a:ext>
              </a:extLst>
            </p:cNvPr>
            <p:cNvSpPr txBox="1">
              <a:spLocks/>
            </p:cNvSpPr>
            <p:nvPr/>
          </p:nvSpPr>
          <p:spPr>
            <a:xfrm>
              <a:off x="8673351" y="4010998"/>
              <a:ext cx="2326342" cy="479255"/>
            </a:xfrm>
            <a:prstGeom prst="rect">
              <a:avLst/>
            </a:prstGeom>
            <a:noFill/>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a:t>
              </a:r>
              <a:r>
                <a:rPr lang="en-US" sz="2000" dirty="0" err="1"/>
                <a:t>Ve</a:t>
              </a:r>
              <a:r>
                <a:rPr lang="en-US" sz="2000" dirty="0"/>
                <a:t> Row Element)j</a:t>
              </a:r>
            </a:p>
          </p:txBody>
        </p:sp>
        <p:cxnSp>
          <p:nvCxnSpPr>
            <p:cNvPr id="15" name="Straight Connector 14"/>
            <p:cNvCxnSpPr/>
            <p:nvPr/>
          </p:nvCxnSpPr>
          <p:spPr>
            <a:xfrm>
              <a:off x="8700577" y="3959202"/>
              <a:ext cx="213971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2"/>
            <a:stretch>
              <a:fillRect/>
            </a:stretch>
          </p:blipFill>
          <p:spPr>
            <a:xfrm>
              <a:off x="7825013" y="3701327"/>
              <a:ext cx="515751" cy="515751"/>
            </a:xfrm>
            <a:prstGeom prst="rect">
              <a:avLst/>
            </a:prstGeom>
          </p:spPr>
        </p:pic>
        <p:sp>
          <p:nvSpPr>
            <p:cNvPr id="17" name="Rectangle 16">
              <a:extLst>
                <a:ext uri="{FF2B5EF4-FFF2-40B4-BE49-F238E27FC236}">
                  <a16:creationId xmlns:a16="http://schemas.microsoft.com/office/drawing/2014/main" id="{0F04E717-3391-46C1-9958-6624DF084ED4}"/>
                </a:ext>
              </a:extLst>
            </p:cNvPr>
            <p:cNvSpPr/>
            <p:nvPr/>
          </p:nvSpPr>
          <p:spPr>
            <a:xfrm>
              <a:off x="9247216" y="3452944"/>
              <a:ext cx="1211943" cy="461665"/>
            </a:xfrm>
            <a:prstGeom prst="rect">
              <a:avLst/>
            </a:prstGeom>
          </p:spPr>
          <p:txBody>
            <a:bodyPr wrap="square">
              <a:spAutoFit/>
            </a:bodyPr>
            <a:lstStyle/>
            <a:p>
              <a:r>
                <a:rPr lang="en-US" sz="2400" i="1" dirty="0" err="1"/>
                <a:t>Cj</a:t>
              </a:r>
              <a:r>
                <a:rPr lang="en-US" sz="2400" i="1" dirty="0"/>
                <a:t> - </a:t>
              </a:r>
              <a:r>
                <a:rPr lang="en-US" sz="2400" i="1" dirty="0" err="1"/>
                <a:t>Zj</a:t>
              </a:r>
              <a:endParaRPr lang="en-US" sz="2400" i="1" dirty="0"/>
            </a:p>
          </p:txBody>
        </p:sp>
      </p:grpSp>
    </p:spTree>
    <p:extLst>
      <p:ext uri="{BB962C8B-B14F-4D97-AF65-F5344CB8AC3E}">
        <p14:creationId xmlns:p14="http://schemas.microsoft.com/office/powerpoint/2010/main" val="166341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p:bldP spid="6" grpId="0"/>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Rounded Corners 34">
            <a:extLst>
              <a:ext uri="{FF2B5EF4-FFF2-40B4-BE49-F238E27FC236}">
                <a16:creationId xmlns:a16="http://schemas.microsoft.com/office/drawing/2014/main" id="{4CD2553B-114A-43DA-A238-B44DFBAD1650}"/>
              </a:ext>
            </a:extLst>
          </p:cNvPr>
          <p:cNvSpPr/>
          <p:nvPr/>
        </p:nvSpPr>
        <p:spPr>
          <a:xfrm>
            <a:off x="4956164" y="858097"/>
            <a:ext cx="787788" cy="53068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34">
            <a:extLst>
              <a:ext uri="{FF2B5EF4-FFF2-40B4-BE49-F238E27FC236}">
                <a16:creationId xmlns:a16="http://schemas.microsoft.com/office/drawing/2014/main" id="{4CD2553B-114A-43DA-A238-B44DFBAD1650}"/>
              </a:ext>
            </a:extLst>
          </p:cNvPr>
          <p:cNvSpPr/>
          <p:nvPr/>
        </p:nvSpPr>
        <p:spPr>
          <a:xfrm>
            <a:off x="3039938" y="3972371"/>
            <a:ext cx="7206721" cy="515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2C90F907-3B83-4F24-B3E9-103787B534F5}"/>
              </a:ext>
            </a:extLst>
          </p:cNvPr>
          <p:cNvGraphicFramePr>
            <a:graphicFrameLocks noGrp="1"/>
          </p:cNvGraphicFramePr>
          <p:nvPr>
            <p:extLst>
              <p:ext uri="{D42A27DB-BD31-4B8C-83A1-F6EECF244321}">
                <p14:modId xmlns:p14="http://schemas.microsoft.com/office/powerpoint/2010/main" val="2564566536"/>
              </p:ext>
            </p:extLst>
          </p:nvPr>
        </p:nvGraphicFramePr>
        <p:xfrm>
          <a:off x="696513" y="905492"/>
          <a:ext cx="9321271" cy="5144104"/>
        </p:xfrm>
        <a:graphic>
          <a:graphicData uri="http://schemas.openxmlformats.org/drawingml/2006/table">
            <a:tbl>
              <a:tblPr firstRow="1" bandRow="1">
                <a:tableStyleId>{5940675A-B579-460E-94D1-54222C63F5DA}</a:tableStyleId>
              </a:tblPr>
              <a:tblGrid>
                <a:gridCol w="1035697">
                  <a:extLst>
                    <a:ext uri="{9D8B030D-6E8A-4147-A177-3AD203B41FA5}">
                      <a16:colId xmlns:a16="http://schemas.microsoft.com/office/drawing/2014/main" val="2905360103"/>
                    </a:ext>
                  </a:extLst>
                </a:gridCol>
                <a:gridCol w="1177493">
                  <a:extLst>
                    <a:ext uri="{9D8B030D-6E8A-4147-A177-3AD203B41FA5}">
                      <a16:colId xmlns:a16="http://schemas.microsoft.com/office/drawing/2014/main" val="3101827574"/>
                    </a:ext>
                  </a:extLst>
                </a:gridCol>
                <a:gridCol w="893899">
                  <a:extLst>
                    <a:ext uri="{9D8B030D-6E8A-4147-A177-3AD203B41FA5}">
                      <a16:colId xmlns:a16="http://schemas.microsoft.com/office/drawing/2014/main" val="3349711521"/>
                    </a:ext>
                  </a:extLst>
                </a:gridCol>
                <a:gridCol w="1035697">
                  <a:extLst>
                    <a:ext uri="{9D8B030D-6E8A-4147-A177-3AD203B41FA5}">
                      <a16:colId xmlns:a16="http://schemas.microsoft.com/office/drawing/2014/main" val="2361876258"/>
                    </a:ext>
                  </a:extLst>
                </a:gridCol>
                <a:gridCol w="1035697">
                  <a:extLst>
                    <a:ext uri="{9D8B030D-6E8A-4147-A177-3AD203B41FA5}">
                      <a16:colId xmlns:a16="http://schemas.microsoft.com/office/drawing/2014/main" val="3236378667"/>
                    </a:ext>
                  </a:extLst>
                </a:gridCol>
                <a:gridCol w="1035697">
                  <a:extLst>
                    <a:ext uri="{9D8B030D-6E8A-4147-A177-3AD203B41FA5}">
                      <a16:colId xmlns:a16="http://schemas.microsoft.com/office/drawing/2014/main" val="2968160148"/>
                    </a:ext>
                  </a:extLst>
                </a:gridCol>
                <a:gridCol w="1035697">
                  <a:extLst>
                    <a:ext uri="{9D8B030D-6E8A-4147-A177-3AD203B41FA5}">
                      <a16:colId xmlns:a16="http://schemas.microsoft.com/office/drawing/2014/main" val="1976915298"/>
                    </a:ext>
                  </a:extLst>
                </a:gridCol>
                <a:gridCol w="1035697">
                  <a:extLst>
                    <a:ext uri="{9D8B030D-6E8A-4147-A177-3AD203B41FA5}">
                      <a16:colId xmlns:a16="http://schemas.microsoft.com/office/drawing/2014/main" val="3368023288"/>
                    </a:ext>
                  </a:extLst>
                </a:gridCol>
                <a:gridCol w="1035697">
                  <a:extLst>
                    <a:ext uri="{9D8B030D-6E8A-4147-A177-3AD203B41FA5}">
                      <a16:colId xmlns:a16="http://schemas.microsoft.com/office/drawing/2014/main" val="20008"/>
                    </a:ext>
                  </a:extLst>
                </a:gridCol>
              </a:tblGrid>
              <a:tr h="665494">
                <a:tc>
                  <a:txBody>
                    <a:bodyPr/>
                    <a:lstStyle/>
                    <a:p>
                      <a:pPr algn="ctr"/>
                      <a:r>
                        <a:rPr lang="en-US" b="1" dirty="0"/>
                        <a:t>C Bi</a:t>
                      </a:r>
                    </a:p>
                  </a:txBody>
                  <a:tcPr anchor="ctr"/>
                </a:tc>
                <a:tc>
                  <a:txBody>
                    <a:bodyPr/>
                    <a:lstStyle/>
                    <a:p>
                      <a:pPr algn="ctr"/>
                      <a:r>
                        <a:rPr lang="en-US" b="1" dirty="0"/>
                        <a:t> </a:t>
                      </a:r>
                      <a:r>
                        <a:rPr lang="en-US" b="1" dirty="0" err="1"/>
                        <a:t>Cj</a:t>
                      </a: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endParaRPr lang="en-US"/>
                    </a:p>
                  </a:txBody>
                  <a:tcPr anchor="ctr"/>
                </a:tc>
                <a:tc>
                  <a:txBody>
                    <a:bodyPr/>
                    <a:lstStyle/>
                    <a:p>
                      <a:pPr algn="ctr"/>
                      <a:endParaRPr lang="en-US" b="1" dirty="0"/>
                    </a:p>
                  </a:txBody>
                  <a:tcPr anchor="ctr"/>
                </a:tc>
                <a:tc>
                  <a:txBody>
                    <a:bodyPr/>
                    <a:lstStyle/>
                    <a:p>
                      <a:pPr algn="ctr"/>
                      <a:r>
                        <a:rPr lang="en-US" b="1" dirty="0"/>
                        <a:t>Solution</a:t>
                      </a:r>
                    </a:p>
                  </a:txBody>
                  <a:tcPr anchor="ctr"/>
                </a:tc>
                <a:extLst>
                  <a:ext uri="{0D108BD9-81ED-4DB2-BD59-A6C34878D82A}">
                    <a16:rowId xmlns:a16="http://schemas.microsoft.com/office/drawing/2014/main" val="1702236699"/>
                  </a:ext>
                </a:extLst>
              </a:tr>
              <a:tr h="708611">
                <a:tc>
                  <a:txBody>
                    <a:bodyPr/>
                    <a:lstStyle/>
                    <a:p>
                      <a:pPr algn="ctr"/>
                      <a:endParaRPr lang="en-US" dirty="0"/>
                    </a:p>
                  </a:txBody>
                  <a:tcPr anchor="ctr"/>
                </a:tc>
                <a:tc>
                  <a:txBody>
                    <a:bodyPr/>
                    <a:lstStyle/>
                    <a:p>
                      <a:pPr algn="ctr"/>
                      <a:r>
                        <a:rPr lang="en-US" b="1" dirty="0"/>
                        <a:t>Basic Variables</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826453594"/>
                  </a:ext>
                </a:extLst>
              </a:tr>
              <a:tr h="62040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            </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071387229"/>
                  </a:ext>
                </a:extLst>
              </a:tr>
              <a:tr h="493486">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506384561"/>
                  </a:ext>
                </a:extLst>
              </a:tr>
              <a:tr h="5660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42950504"/>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710745653"/>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6"/>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7"/>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8"/>
                  </a:ext>
                </a:extLst>
              </a:tr>
            </a:tbl>
          </a:graphicData>
        </a:graphic>
      </p:graphicFrame>
      <p:sp>
        <p:nvSpPr>
          <p:cNvPr id="2" name="Title 1">
            <a:extLst>
              <a:ext uri="{FF2B5EF4-FFF2-40B4-BE49-F238E27FC236}">
                <a16:creationId xmlns:a16="http://schemas.microsoft.com/office/drawing/2014/main" id="{E0104F68-A9B6-4A9C-BD18-0301D1C829DB}"/>
              </a:ext>
            </a:extLst>
          </p:cNvPr>
          <p:cNvSpPr>
            <a:spLocks noGrp="1"/>
          </p:cNvSpPr>
          <p:nvPr>
            <p:ph type="title"/>
          </p:nvPr>
        </p:nvSpPr>
        <p:spPr>
          <a:xfrm>
            <a:off x="612324" y="295586"/>
            <a:ext cx="11019381" cy="783771"/>
          </a:xfrm>
        </p:spPr>
        <p:txBody>
          <a:bodyPr/>
          <a:lstStyle/>
          <a:p>
            <a:r>
              <a:rPr lang="en-US" dirty="0"/>
              <a:t>Develop Simplex Table 5 – </a:t>
            </a:r>
            <a:r>
              <a:rPr lang="en-US" dirty="0">
                <a:solidFill>
                  <a:srgbClr val="002060"/>
                </a:solidFill>
              </a:rPr>
              <a:t>DUAL SIMPLEX</a:t>
            </a:r>
          </a:p>
        </p:txBody>
      </p:sp>
      <p:sp>
        <p:nvSpPr>
          <p:cNvPr id="9" name="Rectangle 8">
            <a:extLst>
              <a:ext uri="{FF2B5EF4-FFF2-40B4-BE49-F238E27FC236}">
                <a16:creationId xmlns:a16="http://schemas.microsoft.com/office/drawing/2014/main" id="{410D83FC-7940-402F-B5B0-F709D30A86A8}"/>
              </a:ext>
            </a:extLst>
          </p:cNvPr>
          <p:cNvSpPr/>
          <p:nvPr/>
        </p:nvSpPr>
        <p:spPr>
          <a:xfrm>
            <a:off x="3078140" y="1038119"/>
            <a:ext cx="5944743" cy="461665"/>
          </a:xfrm>
          <a:prstGeom prst="rect">
            <a:avLst/>
          </a:prstGeom>
        </p:spPr>
        <p:txBody>
          <a:bodyPr wrap="square">
            <a:spAutoFit/>
          </a:bodyPr>
          <a:lstStyle/>
          <a:p>
            <a:r>
              <a:rPr lang="en-US" sz="2400" i="1" dirty="0"/>
              <a:t> 2         3         0    	    0          0          0         </a:t>
            </a:r>
          </a:p>
        </p:txBody>
      </p:sp>
      <p:sp>
        <p:nvSpPr>
          <p:cNvPr id="11" name="Rectangle 10">
            <a:extLst>
              <a:ext uri="{FF2B5EF4-FFF2-40B4-BE49-F238E27FC236}">
                <a16:creationId xmlns:a16="http://schemas.microsoft.com/office/drawing/2014/main" id="{F37D74E3-585D-4E7D-90FB-90B97715A1C2}"/>
              </a:ext>
            </a:extLst>
          </p:cNvPr>
          <p:cNvSpPr/>
          <p:nvPr/>
        </p:nvSpPr>
        <p:spPr>
          <a:xfrm>
            <a:off x="3039938" y="1712847"/>
            <a:ext cx="6055430" cy="461665"/>
          </a:xfrm>
          <a:prstGeom prst="rect">
            <a:avLst/>
          </a:prstGeom>
        </p:spPr>
        <p:txBody>
          <a:bodyPr wrap="square">
            <a:spAutoFit/>
          </a:bodyPr>
          <a:lstStyle/>
          <a:p>
            <a:r>
              <a:rPr lang="en-US" sz="2400" i="1" dirty="0"/>
              <a:t> x1       x2        s1         s2        s3        G1 </a:t>
            </a:r>
          </a:p>
        </p:txBody>
      </p:sp>
      <p:sp>
        <p:nvSpPr>
          <p:cNvPr id="12" name="Rectangle 11">
            <a:extLst>
              <a:ext uri="{FF2B5EF4-FFF2-40B4-BE49-F238E27FC236}">
                <a16:creationId xmlns:a16="http://schemas.microsoft.com/office/drawing/2014/main" id="{757A82B3-4AF2-4211-B555-0CE256758C51}"/>
              </a:ext>
            </a:extLst>
          </p:cNvPr>
          <p:cNvSpPr/>
          <p:nvPr/>
        </p:nvSpPr>
        <p:spPr>
          <a:xfrm>
            <a:off x="3185715" y="2344598"/>
            <a:ext cx="5837167" cy="461665"/>
          </a:xfrm>
          <a:prstGeom prst="rect">
            <a:avLst/>
          </a:prstGeom>
        </p:spPr>
        <p:txBody>
          <a:bodyPr wrap="square">
            <a:spAutoFit/>
          </a:bodyPr>
          <a:lstStyle/>
          <a:p>
            <a:r>
              <a:rPr lang="en-US" sz="2400" i="1" dirty="0"/>
              <a:t>1         0        1/2        0         -1        0</a:t>
            </a:r>
          </a:p>
        </p:txBody>
      </p:sp>
      <p:cxnSp>
        <p:nvCxnSpPr>
          <p:cNvPr id="15" name="Straight Arrow Connector 14">
            <a:extLst>
              <a:ext uri="{FF2B5EF4-FFF2-40B4-BE49-F238E27FC236}">
                <a16:creationId xmlns:a16="http://schemas.microsoft.com/office/drawing/2014/main" id="{410D4A1B-B99D-4B4E-ADFF-EB306D4999FF}"/>
              </a:ext>
            </a:extLst>
          </p:cNvPr>
          <p:cNvCxnSpPr/>
          <p:nvPr/>
        </p:nvCxnSpPr>
        <p:spPr>
          <a:xfrm>
            <a:off x="2121649" y="1456242"/>
            <a:ext cx="68217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548FD16-BD95-4D14-B781-9F8506602B86}"/>
              </a:ext>
            </a:extLst>
          </p:cNvPr>
          <p:cNvCxnSpPr>
            <a:cxnSpLocks/>
          </p:cNvCxnSpPr>
          <p:nvPr/>
        </p:nvCxnSpPr>
        <p:spPr>
          <a:xfrm>
            <a:off x="957773" y="1051234"/>
            <a:ext cx="0" cy="3048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EAA07C5-7CB8-41BA-A3DB-4DA4310081CE}"/>
              </a:ext>
            </a:extLst>
          </p:cNvPr>
          <p:cNvSpPr/>
          <p:nvPr/>
        </p:nvSpPr>
        <p:spPr>
          <a:xfrm>
            <a:off x="2178339" y="2286541"/>
            <a:ext cx="568790" cy="461665"/>
          </a:xfrm>
          <a:prstGeom prst="rect">
            <a:avLst/>
          </a:prstGeom>
        </p:spPr>
        <p:txBody>
          <a:bodyPr wrap="square">
            <a:spAutoFit/>
          </a:bodyPr>
          <a:lstStyle/>
          <a:p>
            <a:r>
              <a:rPr lang="en-US" sz="2400" i="1" dirty="0"/>
              <a:t>x1</a:t>
            </a:r>
          </a:p>
        </p:txBody>
      </p:sp>
      <p:sp>
        <p:nvSpPr>
          <p:cNvPr id="23" name="Rectangle 22">
            <a:extLst>
              <a:ext uri="{FF2B5EF4-FFF2-40B4-BE49-F238E27FC236}">
                <a16:creationId xmlns:a16="http://schemas.microsoft.com/office/drawing/2014/main" id="{B929374A-8C0A-469C-9C8B-CA3690C3781C}"/>
              </a:ext>
            </a:extLst>
          </p:cNvPr>
          <p:cNvSpPr/>
          <p:nvPr/>
        </p:nvSpPr>
        <p:spPr>
          <a:xfrm>
            <a:off x="2157935" y="2914595"/>
            <a:ext cx="545652" cy="461665"/>
          </a:xfrm>
          <a:prstGeom prst="rect">
            <a:avLst/>
          </a:prstGeom>
        </p:spPr>
        <p:txBody>
          <a:bodyPr wrap="square">
            <a:spAutoFit/>
          </a:bodyPr>
          <a:lstStyle/>
          <a:p>
            <a:r>
              <a:rPr lang="en-US" sz="2400" i="1" dirty="0"/>
              <a:t>s2</a:t>
            </a:r>
          </a:p>
        </p:txBody>
      </p:sp>
      <p:sp>
        <p:nvSpPr>
          <p:cNvPr id="24" name="Rectangle 23">
            <a:extLst>
              <a:ext uri="{FF2B5EF4-FFF2-40B4-BE49-F238E27FC236}">
                <a16:creationId xmlns:a16="http://schemas.microsoft.com/office/drawing/2014/main" id="{4ADF7ACF-FD93-43D4-8E85-9985894350A9}"/>
              </a:ext>
            </a:extLst>
          </p:cNvPr>
          <p:cNvSpPr/>
          <p:nvPr/>
        </p:nvSpPr>
        <p:spPr>
          <a:xfrm>
            <a:off x="1076617" y="2254198"/>
            <a:ext cx="545652" cy="461665"/>
          </a:xfrm>
          <a:prstGeom prst="rect">
            <a:avLst/>
          </a:prstGeom>
        </p:spPr>
        <p:txBody>
          <a:bodyPr wrap="square">
            <a:spAutoFit/>
          </a:bodyPr>
          <a:lstStyle/>
          <a:p>
            <a:r>
              <a:rPr lang="en-US" sz="2400" i="1" dirty="0"/>
              <a:t>2</a:t>
            </a:r>
          </a:p>
        </p:txBody>
      </p:sp>
      <p:sp>
        <p:nvSpPr>
          <p:cNvPr id="25" name="Rectangle 24">
            <a:extLst>
              <a:ext uri="{FF2B5EF4-FFF2-40B4-BE49-F238E27FC236}">
                <a16:creationId xmlns:a16="http://schemas.microsoft.com/office/drawing/2014/main" id="{9E86616C-E86D-4453-A38C-BA3C33953E0C}"/>
              </a:ext>
            </a:extLst>
          </p:cNvPr>
          <p:cNvSpPr/>
          <p:nvPr/>
        </p:nvSpPr>
        <p:spPr>
          <a:xfrm>
            <a:off x="1054842" y="2871056"/>
            <a:ext cx="545652" cy="461665"/>
          </a:xfrm>
          <a:prstGeom prst="rect">
            <a:avLst/>
          </a:prstGeom>
        </p:spPr>
        <p:txBody>
          <a:bodyPr wrap="square">
            <a:spAutoFit/>
          </a:bodyPr>
          <a:lstStyle/>
          <a:p>
            <a:r>
              <a:rPr lang="en-US" sz="2400" i="1" dirty="0"/>
              <a:t>0</a:t>
            </a:r>
          </a:p>
        </p:txBody>
      </p:sp>
      <p:sp>
        <p:nvSpPr>
          <p:cNvPr id="27" name="Rectangle 26">
            <a:extLst>
              <a:ext uri="{FF2B5EF4-FFF2-40B4-BE49-F238E27FC236}">
                <a16:creationId xmlns:a16="http://schemas.microsoft.com/office/drawing/2014/main" id="{B46BB860-9FCC-471B-B1DB-CC177706B8CB}"/>
              </a:ext>
            </a:extLst>
          </p:cNvPr>
          <p:cNvSpPr/>
          <p:nvPr/>
        </p:nvSpPr>
        <p:spPr>
          <a:xfrm>
            <a:off x="3134914" y="2888881"/>
            <a:ext cx="5960454" cy="461665"/>
          </a:xfrm>
          <a:prstGeom prst="rect">
            <a:avLst/>
          </a:prstGeom>
        </p:spPr>
        <p:txBody>
          <a:bodyPr wrap="square">
            <a:spAutoFit/>
          </a:bodyPr>
          <a:lstStyle/>
          <a:p>
            <a:r>
              <a:rPr lang="en-US" sz="2400" i="1" dirty="0"/>
              <a:t> 0         0      -1/2        1          1         0</a:t>
            </a:r>
          </a:p>
        </p:txBody>
      </p:sp>
      <p:sp>
        <p:nvSpPr>
          <p:cNvPr id="28" name="Rectangle 27">
            <a:extLst>
              <a:ext uri="{FF2B5EF4-FFF2-40B4-BE49-F238E27FC236}">
                <a16:creationId xmlns:a16="http://schemas.microsoft.com/office/drawing/2014/main" id="{0D4EF912-F04E-42A7-AC8F-9EF06B662B91}"/>
              </a:ext>
            </a:extLst>
          </p:cNvPr>
          <p:cNvSpPr/>
          <p:nvPr/>
        </p:nvSpPr>
        <p:spPr>
          <a:xfrm>
            <a:off x="2090619" y="4442080"/>
            <a:ext cx="545652" cy="461665"/>
          </a:xfrm>
          <a:prstGeom prst="rect">
            <a:avLst/>
          </a:prstGeom>
        </p:spPr>
        <p:txBody>
          <a:bodyPr wrap="square">
            <a:spAutoFit/>
          </a:bodyPr>
          <a:lstStyle/>
          <a:p>
            <a:r>
              <a:rPr lang="en-US" sz="2400" i="1" dirty="0" err="1"/>
              <a:t>Zj</a:t>
            </a:r>
            <a:endParaRPr lang="en-US" sz="2400" i="1" dirty="0"/>
          </a:p>
        </p:txBody>
      </p:sp>
      <p:sp>
        <p:nvSpPr>
          <p:cNvPr id="31" name="Rectangle 30">
            <a:extLst>
              <a:ext uri="{FF2B5EF4-FFF2-40B4-BE49-F238E27FC236}">
                <a16:creationId xmlns:a16="http://schemas.microsoft.com/office/drawing/2014/main" id="{864F2EA2-D3FA-4B29-B824-58D41C0151C4}"/>
              </a:ext>
            </a:extLst>
          </p:cNvPr>
          <p:cNvSpPr/>
          <p:nvPr/>
        </p:nvSpPr>
        <p:spPr>
          <a:xfrm>
            <a:off x="3058978" y="4455438"/>
            <a:ext cx="6710549" cy="461665"/>
          </a:xfrm>
          <a:prstGeom prst="rect">
            <a:avLst/>
          </a:prstGeom>
        </p:spPr>
        <p:txBody>
          <a:bodyPr wrap="square">
            <a:spAutoFit/>
          </a:bodyPr>
          <a:lstStyle/>
          <a:p>
            <a:r>
              <a:rPr lang="en-US" sz="2400" i="1" dirty="0"/>
              <a:t>  2         3         1         0          1         0         9</a:t>
            </a:r>
          </a:p>
        </p:txBody>
      </p:sp>
      <p:sp>
        <p:nvSpPr>
          <p:cNvPr id="32" name="Rectangle 31">
            <a:extLst>
              <a:ext uri="{FF2B5EF4-FFF2-40B4-BE49-F238E27FC236}">
                <a16:creationId xmlns:a16="http://schemas.microsoft.com/office/drawing/2014/main" id="{0F04E717-3391-46C1-9958-6624DF084ED4}"/>
              </a:ext>
            </a:extLst>
          </p:cNvPr>
          <p:cNvSpPr/>
          <p:nvPr/>
        </p:nvSpPr>
        <p:spPr>
          <a:xfrm>
            <a:off x="1827995" y="4988918"/>
            <a:ext cx="1211943" cy="461665"/>
          </a:xfrm>
          <a:prstGeom prst="rect">
            <a:avLst/>
          </a:prstGeom>
        </p:spPr>
        <p:txBody>
          <a:bodyPr wrap="square">
            <a:spAutoFit/>
          </a:bodyPr>
          <a:lstStyle/>
          <a:p>
            <a:r>
              <a:rPr lang="en-US" sz="2400" i="1" dirty="0" err="1"/>
              <a:t>Cj</a:t>
            </a:r>
            <a:r>
              <a:rPr lang="en-US" sz="2400" i="1" dirty="0"/>
              <a:t> - </a:t>
            </a:r>
            <a:r>
              <a:rPr lang="en-US" sz="2400" i="1" dirty="0" err="1"/>
              <a:t>Zj</a:t>
            </a:r>
            <a:endParaRPr lang="en-US" sz="2400" i="1" dirty="0"/>
          </a:p>
        </p:txBody>
      </p:sp>
      <p:sp>
        <p:nvSpPr>
          <p:cNvPr id="33" name="Rectangle 32">
            <a:extLst>
              <a:ext uri="{FF2B5EF4-FFF2-40B4-BE49-F238E27FC236}">
                <a16:creationId xmlns:a16="http://schemas.microsoft.com/office/drawing/2014/main" id="{2B65CB3B-095B-4A91-A457-6D5825DEABD9}"/>
              </a:ext>
            </a:extLst>
          </p:cNvPr>
          <p:cNvSpPr/>
          <p:nvPr/>
        </p:nvSpPr>
        <p:spPr>
          <a:xfrm>
            <a:off x="3058978" y="5003431"/>
            <a:ext cx="6710549" cy="461665"/>
          </a:xfrm>
          <a:prstGeom prst="rect">
            <a:avLst/>
          </a:prstGeom>
        </p:spPr>
        <p:txBody>
          <a:bodyPr wrap="square">
            <a:spAutoFit/>
          </a:bodyPr>
          <a:lstStyle/>
          <a:p>
            <a:r>
              <a:rPr lang="en-US" sz="2400" i="1" dirty="0"/>
              <a:t>  0          0       -1         0         -1         0</a:t>
            </a:r>
          </a:p>
        </p:txBody>
      </p:sp>
      <p:sp>
        <p:nvSpPr>
          <p:cNvPr id="38" name="Rectangle 37">
            <a:extLst>
              <a:ext uri="{FF2B5EF4-FFF2-40B4-BE49-F238E27FC236}">
                <a16:creationId xmlns:a16="http://schemas.microsoft.com/office/drawing/2014/main" id="{C6F83CCA-0248-4E65-AE79-34017C9C7D43}"/>
              </a:ext>
            </a:extLst>
          </p:cNvPr>
          <p:cNvSpPr/>
          <p:nvPr/>
        </p:nvSpPr>
        <p:spPr>
          <a:xfrm>
            <a:off x="9164483" y="2360413"/>
            <a:ext cx="737705" cy="461665"/>
          </a:xfrm>
          <a:prstGeom prst="rect">
            <a:avLst/>
          </a:prstGeom>
        </p:spPr>
        <p:txBody>
          <a:bodyPr wrap="square">
            <a:spAutoFit/>
          </a:bodyPr>
          <a:lstStyle/>
          <a:p>
            <a:r>
              <a:rPr lang="en-US" sz="2400" i="1" dirty="0"/>
              <a:t>3/2</a:t>
            </a:r>
          </a:p>
        </p:txBody>
      </p:sp>
      <p:sp>
        <p:nvSpPr>
          <p:cNvPr id="39" name="Rectangle 38">
            <a:extLst>
              <a:ext uri="{FF2B5EF4-FFF2-40B4-BE49-F238E27FC236}">
                <a16:creationId xmlns:a16="http://schemas.microsoft.com/office/drawing/2014/main" id="{ED484AD5-E75D-43EE-99F3-8E98AC6DD160}"/>
              </a:ext>
            </a:extLst>
          </p:cNvPr>
          <p:cNvSpPr/>
          <p:nvPr/>
        </p:nvSpPr>
        <p:spPr>
          <a:xfrm>
            <a:off x="9190436" y="2914595"/>
            <a:ext cx="813565" cy="461665"/>
          </a:xfrm>
          <a:prstGeom prst="rect">
            <a:avLst/>
          </a:prstGeom>
        </p:spPr>
        <p:txBody>
          <a:bodyPr wrap="square">
            <a:spAutoFit/>
          </a:bodyPr>
          <a:lstStyle/>
          <a:p>
            <a:r>
              <a:rPr lang="en-US" sz="2400" i="1" dirty="0"/>
              <a:t>1/2</a:t>
            </a:r>
          </a:p>
        </p:txBody>
      </p:sp>
      <p:sp>
        <p:nvSpPr>
          <p:cNvPr id="40" name="Rectangle 39">
            <a:extLst>
              <a:ext uri="{FF2B5EF4-FFF2-40B4-BE49-F238E27FC236}">
                <a16:creationId xmlns:a16="http://schemas.microsoft.com/office/drawing/2014/main" id="{B929374A-8C0A-469C-9C8B-CA3690C3781C}"/>
              </a:ext>
            </a:extLst>
          </p:cNvPr>
          <p:cNvSpPr/>
          <p:nvPr/>
        </p:nvSpPr>
        <p:spPr>
          <a:xfrm>
            <a:off x="2157935" y="3411020"/>
            <a:ext cx="545652" cy="461665"/>
          </a:xfrm>
          <a:prstGeom prst="rect">
            <a:avLst/>
          </a:prstGeom>
        </p:spPr>
        <p:txBody>
          <a:bodyPr wrap="square">
            <a:spAutoFit/>
          </a:bodyPr>
          <a:lstStyle/>
          <a:p>
            <a:r>
              <a:rPr lang="en-US" sz="2400" i="1" dirty="0"/>
              <a:t>x2</a:t>
            </a:r>
          </a:p>
        </p:txBody>
      </p:sp>
      <p:sp>
        <p:nvSpPr>
          <p:cNvPr id="41" name="Rectangle 40">
            <a:extLst>
              <a:ext uri="{FF2B5EF4-FFF2-40B4-BE49-F238E27FC236}">
                <a16:creationId xmlns:a16="http://schemas.microsoft.com/office/drawing/2014/main" id="{B46BB860-9FCC-471B-B1DB-CC177706B8CB}"/>
              </a:ext>
            </a:extLst>
          </p:cNvPr>
          <p:cNvSpPr/>
          <p:nvPr/>
        </p:nvSpPr>
        <p:spPr>
          <a:xfrm>
            <a:off x="3096605" y="3455507"/>
            <a:ext cx="5998763" cy="461665"/>
          </a:xfrm>
          <a:prstGeom prst="rect">
            <a:avLst/>
          </a:prstGeom>
        </p:spPr>
        <p:txBody>
          <a:bodyPr wrap="square">
            <a:spAutoFit/>
          </a:bodyPr>
          <a:lstStyle/>
          <a:p>
            <a:r>
              <a:rPr lang="en-US" sz="2400" i="1" dirty="0"/>
              <a:t> 0         1          0         0          1         0</a:t>
            </a:r>
          </a:p>
        </p:txBody>
      </p:sp>
      <p:sp>
        <p:nvSpPr>
          <p:cNvPr id="42" name="Rectangle 41">
            <a:extLst>
              <a:ext uri="{FF2B5EF4-FFF2-40B4-BE49-F238E27FC236}">
                <a16:creationId xmlns:a16="http://schemas.microsoft.com/office/drawing/2014/main" id="{9E86616C-E86D-4453-A38C-BA3C33953E0C}"/>
              </a:ext>
            </a:extLst>
          </p:cNvPr>
          <p:cNvSpPr/>
          <p:nvPr/>
        </p:nvSpPr>
        <p:spPr>
          <a:xfrm>
            <a:off x="1030750" y="3465551"/>
            <a:ext cx="545652" cy="461665"/>
          </a:xfrm>
          <a:prstGeom prst="rect">
            <a:avLst/>
          </a:prstGeom>
        </p:spPr>
        <p:txBody>
          <a:bodyPr wrap="square">
            <a:spAutoFit/>
          </a:bodyPr>
          <a:lstStyle/>
          <a:p>
            <a:r>
              <a:rPr lang="en-US" sz="2400" i="1" dirty="0"/>
              <a:t>3</a:t>
            </a:r>
          </a:p>
        </p:txBody>
      </p:sp>
      <p:sp>
        <p:nvSpPr>
          <p:cNvPr id="43" name="Rectangle 42">
            <a:extLst>
              <a:ext uri="{FF2B5EF4-FFF2-40B4-BE49-F238E27FC236}">
                <a16:creationId xmlns:a16="http://schemas.microsoft.com/office/drawing/2014/main" id="{ED484AD5-E75D-43EE-99F3-8E98AC6DD160}"/>
              </a:ext>
            </a:extLst>
          </p:cNvPr>
          <p:cNvSpPr/>
          <p:nvPr/>
        </p:nvSpPr>
        <p:spPr>
          <a:xfrm>
            <a:off x="9257158" y="3497348"/>
            <a:ext cx="545652" cy="461665"/>
          </a:xfrm>
          <a:prstGeom prst="rect">
            <a:avLst/>
          </a:prstGeom>
        </p:spPr>
        <p:txBody>
          <a:bodyPr wrap="square">
            <a:spAutoFit/>
          </a:bodyPr>
          <a:lstStyle/>
          <a:p>
            <a:r>
              <a:rPr lang="en-US" sz="2400" i="1" dirty="0"/>
              <a:t>2</a:t>
            </a:r>
          </a:p>
        </p:txBody>
      </p:sp>
      <p:sp>
        <p:nvSpPr>
          <p:cNvPr id="34" name="Rectangle 33">
            <a:extLst>
              <a:ext uri="{FF2B5EF4-FFF2-40B4-BE49-F238E27FC236}">
                <a16:creationId xmlns:a16="http://schemas.microsoft.com/office/drawing/2014/main" id="{B929374A-8C0A-469C-9C8B-CA3690C3781C}"/>
              </a:ext>
            </a:extLst>
          </p:cNvPr>
          <p:cNvSpPr/>
          <p:nvPr/>
        </p:nvSpPr>
        <p:spPr>
          <a:xfrm>
            <a:off x="2097806" y="3939765"/>
            <a:ext cx="665909" cy="461665"/>
          </a:xfrm>
          <a:prstGeom prst="rect">
            <a:avLst/>
          </a:prstGeom>
        </p:spPr>
        <p:txBody>
          <a:bodyPr wrap="square">
            <a:spAutoFit/>
          </a:bodyPr>
          <a:lstStyle/>
          <a:p>
            <a:r>
              <a:rPr lang="en-US" sz="2400" i="1" dirty="0"/>
              <a:t>G1</a:t>
            </a:r>
          </a:p>
        </p:txBody>
      </p:sp>
      <p:sp>
        <p:nvSpPr>
          <p:cNvPr id="35" name="Rectangle 34">
            <a:extLst>
              <a:ext uri="{FF2B5EF4-FFF2-40B4-BE49-F238E27FC236}">
                <a16:creationId xmlns:a16="http://schemas.microsoft.com/office/drawing/2014/main" id="{9E86616C-E86D-4453-A38C-BA3C33953E0C}"/>
              </a:ext>
            </a:extLst>
          </p:cNvPr>
          <p:cNvSpPr/>
          <p:nvPr/>
        </p:nvSpPr>
        <p:spPr>
          <a:xfrm>
            <a:off x="1029961" y="4006253"/>
            <a:ext cx="545652" cy="461665"/>
          </a:xfrm>
          <a:prstGeom prst="rect">
            <a:avLst/>
          </a:prstGeom>
        </p:spPr>
        <p:txBody>
          <a:bodyPr wrap="square">
            <a:spAutoFit/>
          </a:bodyPr>
          <a:lstStyle/>
          <a:p>
            <a:r>
              <a:rPr lang="en-US" sz="2400" i="1" dirty="0"/>
              <a:t>0</a:t>
            </a:r>
          </a:p>
        </p:txBody>
      </p:sp>
      <p:sp>
        <p:nvSpPr>
          <p:cNvPr id="37" name="Rectangle 36">
            <a:extLst>
              <a:ext uri="{FF2B5EF4-FFF2-40B4-BE49-F238E27FC236}">
                <a16:creationId xmlns:a16="http://schemas.microsoft.com/office/drawing/2014/main" id="{B46BB860-9FCC-471B-B1DB-CC177706B8CB}"/>
              </a:ext>
            </a:extLst>
          </p:cNvPr>
          <p:cNvSpPr/>
          <p:nvPr/>
        </p:nvSpPr>
        <p:spPr>
          <a:xfrm>
            <a:off x="3103887" y="3993773"/>
            <a:ext cx="5998763" cy="461665"/>
          </a:xfrm>
          <a:prstGeom prst="rect">
            <a:avLst/>
          </a:prstGeom>
        </p:spPr>
        <p:txBody>
          <a:bodyPr wrap="square">
            <a:spAutoFit/>
          </a:bodyPr>
          <a:lstStyle/>
          <a:p>
            <a:r>
              <a:rPr lang="en-US" sz="2400" i="1" dirty="0"/>
              <a:t> 0         0      -1/2        0          0         1	</a:t>
            </a:r>
          </a:p>
        </p:txBody>
      </p:sp>
      <p:sp>
        <p:nvSpPr>
          <p:cNvPr id="48" name="Rectangle 47">
            <a:extLst>
              <a:ext uri="{FF2B5EF4-FFF2-40B4-BE49-F238E27FC236}">
                <a16:creationId xmlns:a16="http://schemas.microsoft.com/office/drawing/2014/main" id="{ED484AD5-E75D-43EE-99F3-8E98AC6DD160}"/>
              </a:ext>
            </a:extLst>
          </p:cNvPr>
          <p:cNvSpPr/>
          <p:nvPr/>
        </p:nvSpPr>
        <p:spPr>
          <a:xfrm>
            <a:off x="9123201" y="3980415"/>
            <a:ext cx="813565" cy="461665"/>
          </a:xfrm>
          <a:prstGeom prst="rect">
            <a:avLst/>
          </a:prstGeom>
        </p:spPr>
        <p:txBody>
          <a:bodyPr wrap="square">
            <a:spAutoFit/>
          </a:bodyPr>
          <a:lstStyle/>
          <a:p>
            <a:r>
              <a:rPr lang="en-US" sz="2400" i="1" dirty="0"/>
              <a:t>-1/2</a:t>
            </a:r>
          </a:p>
        </p:txBody>
      </p:sp>
      <p:pic>
        <p:nvPicPr>
          <p:cNvPr id="44" name="Picture 43"/>
          <p:cNvPicPr>
            <a:picLocks noChangeAspect="1"/>
          </p:cNvPicPr>
          <p:nvPr/>
        </p:nvPicPr>
        <p:blipFill>
          <a:blip r:embed="rId2"/>
          <a:stretch>
            <a:fillRect/>
          </a:stretch>
        </p:blipFill>
        <p:spPr>
          <a:xfrm>
            <a:off x="2178339" y="5608614"/>
            <a:ext cx="337462" cy="337462"/>
          </a:xfrm>
          <a:prstGeom prst="rect">
            <a:avLst/>
          </a:prstGeom>
        </p:spPr>
      </p:pic>
      <p:sp>
        <p:nvSpPr>
          <p:cNvPr id="46" name="Rectangle 45">
            <a:extLst>
              <a:ext uri="{FF2B5EF4-FFF2-40B4-BE49-F238E27FC236}">
                <a16:creationId xmlns:a16="http://schemas.microsoft.com/office/drawing/2014/main" id="{2B65CB3B-095B-4A91-A457-6D5825DEABD9}"/>
              </a:ext>
            </a:extLst>
          </p:cNvPr>
          <p:cNvSpPr/>
          <p:nvPr/>
        </p:nvSpPr>
        <p:spPr>
          <a:xfrm>
            <a:off x="3039938" y="5546512"/>
            <a:ext cx="6710549" cy="461665"/>
          </a:xfrm>
          <a:prstGeom prst="rect">
            <a:avLst/>
          </a:prstGeom>
        </p:spPr>
        <p:txBody>
          <a:bodyPr wrap="square">
            <a:spAutoFit/>
          </a:bodyPr>
          <a:lstStyle/>
          <a:p>
            <a:r>
              <a:rPr lang="en-US" sz="2400" i="1" dirty="0"/>
              <a:t>  -         -          2         -           -         -</a:t>
            </a:r>
          </a:p>
        </p:txBody>
      </p:sp>
      <p:sp>
        <p:nvSpPr>
          <p:cNvPr id="47" name="Content Placeholder 2">
            <a:extLst>
              <a:ext uri="{FF2B5EF4-FFF2-40B4-BE49-F238E27FC236}">
                <a16:creationId xmlns:a16="http://schemas.microsoft.com/office/drawing/2014/main" id="{92C81DC3-B0B3-4EEA-A8F9-16F859BAEAA4}"/>
              </a:ext>
            </a:extLst>
          </p:cNvPr>
          <p:cNvSpPr txBox="1">
            <a:spLocks/>
          </p:cNvSpPr>
          <p:nvPr/>
        </p:nvSpPr>
        <p:spPr>
          <a:xfrm>
            <a:off x="612324" y="6164952"/>
            <a:ext cx="6881148" cy="484195"/>
          </a:xfrm>
          <a:prstGeom prst="rect">
            <a:avLst/>
          </a:prstGeom>
          <a:solidFill>
            <a:schemeClr val="accent1">
              <a:lumMod val="40000"/>
              <a:lumOff val="60000"/>
            </a:schemeClr>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Select Least Positive Value for identifying Key Row</a:t>
            </a:r>
            <a:endParaRPr lang="en-US" sz="1600" dirty="0"/>
          </a:p>
        </p:txBody>
      </p:sp>
    </p:spTree>
    <p:extLst>
      <p:ext uri="{BB962C8B-B14F-4D97-AF65-F5344CB8AC3E}">
        <p14:creationId xmlns:p14="http://schemas.microsoft.com/office/powerpoint/2010/main" val="351124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6" grpId="0"/>
      <p:bldP spid="4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90F907-3B83-4F24-B3E9-103787B534F5}"/>
              </a:ext>
            </a:extLst>
          </p:cNvPr>
          <p:cNvGraphicFramePr>
            <a:graphicFrameLocks noGrp="1"/>
          </p:cNvGraphicFramePr>
          <p:nvPr>
            <p:extLst>
              <p:ext uri="{D42A27DB-BD31-4B8C-83A1-F6EECF244321}">
                <p14:modId xmlns:p14="http://schemas.microsoft.com/office/powerpoint/2010/main" val="3841050532"/>
              </p:ext>
            </p:extLst>
          </p:nvPr>
        </p:nvGraphicFramePr>
        <p:xfrm>
          <a:off x="696513" y="905492"/>
          <a:ext cx="9321271" cy="4621590"/>
        </p:xfrm>
        <a:graphic>
          <a:graphicData uri="http://schemas.openxmlformats.org/drawingml/2006/table">
            <a:tbl>
              <a:tblPr firstRow="1" bandRow="1">
                <a:tableStyleId>{5940675A-B579-460E-94D1-54222C63F5DA}</a:tableStyleId>
              </a:tblPr>
              <a:tblGrid>
                <a:gridCol w="1035697">
                  <a:extLst>
                    <a:ext uri="{9D8B030D-6E8A-4147-A177-3AD203B41FA5}">
                      <a16:colId xmlns:a16="http://schemas.microsoft.com/office/drawing/2014/main" val="2905360103"/>
                    </a:ext>
                  </a:extLst>
                </a:gridCol>
                <a:gridCol w="1177493">
                  <a:extLst>
                    <a:ext uri="{9D8B030D-6E8A-4147-A177-3AD203B41FA5}">
                      <a16:colId xmlns:a16="http://schemas.microsoft.com/office/drawing/2014/main" val="3101827574"/>
                    </a:ext>
                  </a:extLst>
                </a:gridCol>
                <a:gridCol w="893899">
                  <a:extLst>
                    <a:ext uri="{9D8B030D-6E8A-4147-A177-3AD203B41FA5}">
                      <a16:colId xmlns:a16="http://schemas.microsoft.com/office/drawing/2014/main" val="3349711521"/>
                    </a:ext>
                  </a:extLst>
                </a:gridCol>
                <a:gridCol w="1035697">
                  <a:extLst>
                    <a:ext uri="{9D8B030D-6E8A-4147-A177-3AD203B41FA5}">
                      <a16:colId xmlns:a16="http://schemas.microsoft.com/office/drawing/2014/main" val="2361876258"/>
                    </a:ext>
                  </a:extLst>
                </a:gridCol>
                <a:gridCol w="1035697">
                  <a:extLst>
                    <a:ext uri="{9D8B030D-6E8A-4147-A177-3AD203B41FA5}">
                      <a16:colId xmlns:a16="http://schemas.microsoft.com/office/drawing/2014/main" val="3236378667"/>
                    </a:ext>
                  </a:extLst>
                </a:gridCol>
                <a:gridCol w="1035697">
                  <a:extLst>
                    <a:ext uri="{9D8B030D-6E8A-4147-A177-3AD203B41FA5}">
                      <a16:colId xmlns:a16="http://schemas.microsoft.com/office/drawing/2014/main" val="2968160148"/>
                    </a:ext>
                  </a:extLst>
                </a:gridCol>
                <a:gridCol w="1035697">
                  <a:extLst>
                    <a:ext uri="{9D8B030D-6E8A-4147-A177-3AD203B41FA5}">
                      <a16:colId xmlns:a16="http://schemas.microsoft.com/office/drawing/2014/main" val="1976915298"/>
                    </a:ext>
                  </a:extLst>
                </a:gridCol>
                <a:gridCol w="1035697">
                  <a:extLst>
                    <a:ext uri="{9D8B030D-6E8A-4147-A177-3AD203B41FA5}">
                      <a16:colId xmlns:a16="http://schemas.microsoft.com/office/drawing/2014/main" val="3368023288"/>
                    </a:ext>
                  </a:extLst>
                </a:gridCol>
                <a:gridCol w="1035697">
                  <a:extLst>
                    <a:ext uri="{9D8B030D-6E8A-4147-A177-3AD203B41FA5}">
                      <a16:colId xmlns:a16="http://schemas.microsoft.com/office/drawing/2014/main" val="20008"/>
                    </a:ext>
                  </a:extLst>
                </a:gridCol>
              </a:tblGrid>
              <a:tr h="665494">
                <a:tc>
                  <a:txBody>
                    <a:bodyPr/>
                    <a:lstStyle/>
                    <a:p>
                      <a:pPr algn="ctr"/>
                      <a:r>
                        <a:rPr lang="en-US" b="1" dirty="0"/>
                        <a:t>C Bi</a:t>
                      </a:r>
                    </a:p>
                  </a:txBody>
                  <a:tcPr anchor="ctr"/>
                </a:tc>
                <a:tc>
                  <a:txBody>
                    <a:bodyPr/>
                    <a:lstStyle/>
                    <a:p>
                      <a:pPr algn="ctr"/>
                      <a:r>
                        <a:rPr lang="en-US" b="1" dirty="0"/>
                        <a:t> </a:t>
                      </a:r>
                      <a:r>
                        <a:rPr lang="en-US" b="1" dirty="0" err="1"/>
                        <a:t>Cj</a:t>
                      </a: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a:txBody>
                    <a:bodyPr/>
                    <a:lstStyle/>
                    <a:p>
                      <a:endParaRPr lang="en-US"/>
                    </a:p>
                  </a:txBody>
                  <a:tcPr anchor="ctr"/>
                </a:tc>
                <a:tc>
                  <a:txBody>
                    <a:bodyPr/>
                    <a:lstStyle/>
                    <a:p>
                      <a:pPr algn="ctr"/>
                      <a:endParaRPr lang="en-US" b="1" dirty="0"/>
                    </a:p>
                  </a:txBody>
                  <a:tcPr anchor="ctr"/>
                </a:tc>
                <a:tc>
                  <a:txBody>
                    <a:bodyPr/>
                    <a:lstStyle/>
                    <a:p>
                      <a:pPr algn="ctr"/>
                      <a:r>
                        <a:rPr lang="en-US" b="1" dirty="0"/>
                        <a:t>Solution</a:t>
                      </a:r>
                    </a:p>
                  </a:txBody>
                  <a:tcPr anchor="ctr"/>
                </a:tc>
                <a:extLst>
                  <a:ext uri="{0D108BD9-81ED-4DB2-BD59-A6C34878D82A}">
                    <a16:rowId xmlns:a16="http://schemas.microsoft.com/office/drawing/2014/main" val="1702236699"/>
                  </a:ext>
                </a:extLst>
              </a:tr>
              <a:tr h="708611">
                <a:tc>
                  <a:txBody>
                    <a:bodyPr/>
                    <a:lstStyle/>
                    <a:p>
                      <a:pPr algn="ctr"/>
                      <a:endParaRPr lang="en-US" dirty="0"/>
                    </a:p>
                  </a:txBody>
                  <a:tcPr anchor="ctr"/>
                </a:tc>
                <a:tc>
                  <a:txBody>
                    <a:bodyPr/>
                    <a:lstStyle/>
                    <a:p>
                      <a:pPr algn="ctr"/>
                      <a:r>
                        <a:rPr lang="en-US" b="1" dirty="0"/>
                        <a:t>Basic Variables</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826453594"/>
                  </a:ext>
                </a:extLst>
              </a:tr>
              <a:tr h="62040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            </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071387229"/>
                  </a:ext>
                </a:extLst>
              </a:tr>
              <a:tr h="493486">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506384561"/>
                  </a:ext>
                </a:extLst>
              </a:tr>
              <a:tr h="5660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42950504"/>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710745653"/>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6"/>
                  </a:ext>
                </a:extLst>
              </a:tr>
              <a:tr h="522514">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E0104F68-A9B6-4A9C-BD18-0301D1C829DB}"/>
              </a:ext>
            </a:extLst>
          </p:cNvPr>
          <p:cNvSpPr>
            <a:spLocks noGrp="1"/>
          </p:cNvSpPr>
          <p:nvPr>
            <p:ph type="title"/>
          </p:nvPr>
        </p:nvSpPr>
        <p:spPr>
          <a:xfrm>
            <a:off x="612324" y="295586"/>
            <a:ext cx="11019381" cy="783771"/>
          </a:xfrm>
        </p:spPr>
        <p:txBody>
          <a:bodyPr/>
          <a:lstStyle/>
          <a:p>
            <a:r>
              <a:rPr lang="en-US" dirty="0"/>
              <a:t>Develop Simplex Table 6 – </a:t>
            </a:r>
            <a:r>
              <a:rPr lang="en-US" dirty="0">
                <a:solidFill>
                  <a:srgbClr val="002060"/>
                </a:solidFill>
              </a:rPr>
              <a:t>DUAL SIMPLEX</a:t>
            </a:r>
          </a:p>
        </p:txBody>
      </p:sp>
      <p:sp>
        <p:nvSpPr>
          <p:cNvPr id="9" name="Rectangle 8">
            <a:extLst>
              <a:ext uri="{FF2B5EF4-FFF2-40B4-BE49-F238E27FC236}">
                <a16:creationId xmlns:a16="http://schemas.microsoft.com/office/drawing/2014/main" id="{410D83FC-7940-402F-B5B0-F709D30A86A8}"/>
              </a:ext>
            </a:extLst>
          </p:cNvPr>
          <p:cNvSpPr/>
          <p:nvPr/>
        </p:nvSpPr>
        <p:spPr>
          <a:xfrm>
            <a:off x="3078140" y="1038119"/>
            <a:ext cx="5944743" cy="461665"/>
          </a:xfrm>
          <a:prstGeom prst="rect">
            <a:avLst/>
          </a:prstGeom>
        </p:spPr>
        <p:txBody>
          <a:bodyPr wrap="square">
            <a:spAutoFit/>
          </a:bodyPr>
          <a:lstStyle/>
          <a:p>
            <a:r>
              <a:rPr lang="en-US" sz="2400" i="1" dirty="0"/>
              <a:t> 2         3         0    	    0          0          0         </a:t>
            </a:r>
          </a:p>
        </p:txBody>
      </p:sp>
      <p:sp>
        <p:nvSpPr>
          <p:cNvPr id="11" name="Rectangle 10">
            <a:extLst>
              <a:ext uri="{FF2B5EF4-FFF2-40B4-BE49-F238E27FC236}">
                <a16:creationId xmlns:a16="http://schemas.microsoft.com/office/drawing/2014/main" id="{F37D74E3-585D-4E7D-90FB-90B97715A1C2}"/>
              </a:ext>
            </a:extLst>
          </p:cNvPr>
          <p:cNvSpPr/>
          <p:nvPr/>
        </p:nvSpPr>
        <p:spPr>
          <a:xfrm>
            <a:off x="3039938" y="1712847"/>
            <a:ext cx="6055430" cy="461665"/>
          </a:xfrm>
          <a:prstGeom prst="rect">
            <a:avLst/>
          </a:prstGeom>
        </p:spPr>
        <p:txBody>
          <a:bodyPr wrap="square">
            <a:spAutoFit/>
          </a:bodyPr>
          <a:lstStyle/>
          <a:p>
            <a:r>
              <a:rPr lang="en-US" sz="2400" i="1" dirty="0"/>
              <a:t> x1       x2        s1         s2        s3        G1 </a:t>
            </a:r>
          </a:p>
        </p:txBody>
      </p:sp>
      <p:sp>
        <p:nvSpPr>
          <p:cNvPr id="12" name="Rectangle 11">
            <a:extLst>
              <a:ext uri="{FF2B5EF4-FFF2-40B4-BE49-F238E27FC236}">
                <a16:creationId xmlns:a16="http://schemas.microsoft.com/office/drawing/2014/main" id="{757A82B3-4AF2-4211-B555-0CE256758C51}"/>
              </a:ext>
            </a:extLst>
          </p:cNvPr>
          <p:cNvSpPr/>
          <p:nvPr/>
        </p:nvSpPr>
        <p:spPr>
          <a:xfrm>
            <a:off x="3185715" y="2344598"/>
            <a:ext cx="5837167" cy="461665"/>
          </a:xfrm>
          <a:prstGeom prst="rect">
            <a:avLst/>
          </a:prstGeom>
        </p:spPr>
        <p:txBody>
          <a:bodyPr wrap="square">
            <a:spAutoFit/>
          </a:bodyPr>
          <a:lstStyle/>
          <a:p>
            <a:r>
              <a:rPr lang="en-US" sz="2400" i="1" dirty="0"/>
              <a:t>1         0         0          0         -1        1</a:t>
            </a:r>
          </a:p>
        </p:txBody>
      </p:sp>
      <p:cxnSp>
        <p:nvCxnSpPr>
          <p:cNvPr id="15" name="Straight Arrow Connector 14">
            <a:extLst>
              <a:ext uri="{FF2B5EF4-FFF2-40B4-BE49-F238E27FC236}">
                <a16:creationId xmlns:a16="http://schemas.microsoft.com/office/drawing/2014/main" id="{410D4A1B-B99D-4B4E-ADFF-EB306D4999FF}"/>
              </a:ext>
            </a:extLst>
          </p:cNvPr>
          <p:cNvCxnSpPr/>
          <p:nvPr/>
        </p:nvCxnSpPr>
        <p:spPr>
          <a:xfrm>
            <a:off x="2121649" y="1456242"/>
            <a:ext cx="68217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548FD16-BD95-4D14-B781-9F8506602B86}"/>
              </a:ext>
            </a:extLst>
          </p:cNvPr>
          <p:cNvCxnSpPr>
            <a:cxnSpLocks/>
          </p:cNvCxnSpPr>
          <p:nvPr/>
        </p:nvCxnSpPr>
        <p:spPr>
          <a:xfrm>
            <a:off x="957773" y="1051234"/>
            <a:ext cx="0" cy="3048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EAA07C5-7CB8-41BA-A3DB-4DA4310081CE}"/>
              </a:ext>
            </a:extLst>
          </p:cNvPr>
          <p:cNvSpPr/>
          <p:nvPr/>
        </p:nvSpPr>
        <p:spPr>
          <a:xfrm>
            <a:off x="2178339" y="2286541"/>
            <a:ext cx="568790" cy="461665"/>
          </a:xfrm>
          <a:prstGeom prst="rect">
            <a:avLst/>
          </a:prstGeom>
        </p:spPr>
        <p:txBody>
          <a:bodyPr wrap="square">
            <a:spAutoFit/>
          </a:bodyPr>
          <a:lstStyle/>
          <a:p>
            <a:r>
              <a:rPr lang="en-US" sz="2400" i="1" dirty="0"/>
              <a:t>x1</a:t>
            </a:r>
          </a:p>
        </p:txBody>
      </p:sp>
      <p:sp>
        <p:nvSpPr>
          <p:cNvPr id="23" name="Rectangle 22">
            <a:extLst>
              <a:ext uri="{FF2B5EF4-FFF2-40B4-BE49-F238E27FC236}">
                <a16:creationId xmlns:a16="http://schemas.microsoft.com/office/drawing/2014/main" id="{B929374A-8C0A-469C-9C8B-CA3690C3781C}"/>
              </a:ext>
            </a:extLst>
          </p:cNvPr>
          <p:cNvSpPr/>
          <p:nvPr/>
        </p:nvSpPr>
        <p:spPr>
          <a:xfrm>
            <a:off x="2157935" y="2914595"/>
            <a:ext cx="545652" cy="461665"/>
          </a:xfrm>
          <a:prstGeom prst="rect">
            <a:avLst/>
          </a:prstGeom>
        </p:spPr>
        <p:txBody>
          <a:bodyPr wrap="square">
            <a:spAutoFit/>
          </a:bodyPr>
          <a:lstStyle/>
          <a:p>
            <a:r>
              <a:rPr lang="en-US" sz="2400" i="1" dirty="0"/>
              <a:t>s2</a:t>
            </a:r>
          </a:p>
        </p:txBody>
      </p:sp>
      <p:sp>
        <p:nvSpPr>
          <p:cNvPr id="24" name="Rectangle 23">
            <a:extLst>
              <a:ext uri="{FF2B5EF4-FFF2-40B4-BE49-F238E27FC236}">
                <a16:creationId xmlns:a16="http://schemas.microsoft.com/office/drawing/2014/main" id="{4ADF7ACF-FD93-43D4-8E85-9985894350A9}"/>
              </a:ext>
            </a:extLst>
          </p:cNvPr>
          <p:cNvSpPr/>
          <p:nvPr/>
        </p:nvSpPr>
        <p:spPr>
          <a:xfrm>
            <a:off x="1076617" y="2254198"/>
            <a:ext cx="545652" cy="461665"/>
          </a:xfrm>
          <a:prstGeom prst="rect">
            <a:avLst/>
          </a:prstGeom>
        </p:spPr>
        <p:txBody>
          <a:bodyPr wrap="square">
            <a:spAutoFit/>
          </a:bodyPr>
          <a:lstStyle/>
          <a:p>
            <a:r>
              <a:rPr lang="en-US" sz="2400" i="1" dirty="0"/>
              <a:t>2</a:t>
            </a:r>
          </a:p>
        </p:txBody>
      </p:sp>
      <p:sp>
        <p:nvSpPr>
          <p:cNvPr id="25" name="Rectangle 24">
            <a:extLst>
              <a:ext uri="{FF2B5EF4-FFF2-40B4-BE49-F238E27FC236}">
                <a16:creationId xmlns:a16="http://schemas.microsoft.com/office/drawing/2014/main" id="{9E86616C-E86D-4453-A38C-BA3C33953E0C}"/>
              </a:ext>
            </a:extLst>
          </p:cNvPr>
          <p:cNvSpPr/>
          <p:nvPr/>
        </p:nvSpPr>
        <p:spPr>
          <a:xfrm>
            <a:off x="1054842" y="2871056"/>
            <a:ext cx="545652" cy="461665"/>
          </a:xfrm>
          <a:prstGeom prst="rect">
            <a:avLst/>
          </a:prstGeom>
        </p:spPr>
        <p:txBody>
          <a:bodyPr wrap="square">
            <a:spAutoFit/>
          </a:bodyPr>
          <a:lstStyle/>
          <a:p>
            <a:r>
              <a:rPr lang="en-US" sz="2400" i="1" dirty="0"/>
              <a:t>0</a:t>
            </a:r>
          </a:p>
        </p:txBody>
      </p:sp>
      <p:sp>
        <p:nvSpPr>
          <p:cNvPr id="27" name="Rectangle 26">
            <a:extLst>
              <a:ext uri="{FF2B5EF4-FFF2-40B4-BE49-F238E27FC236}">
                <a16:creationId xmlns:a16="http://schemas.microsoft.com/office/drawing/2014/main" id="{B46BB860-9FCC-471B-B1DB-CC177706B8CB}"/>
              </a:ext>
            </a:extLst>
          </p:cNvPr>
          <p:cNvSpPr/>
          <p:nvPr/>
        </p:nvSpPr>
        <p:spPr>
          <a:xfrm>
            <a:off x="3134914" y="2888881"/>
            <a:ext cx="5960454" cy="461665"/>
          </a:xfrm>
          <a:prstGeom prst="rect">
            <a:avLst/>
          </a:prstGeom>
        </p:spPr>
        <p:txBody>
          <a:bodyPr wrap="square">
            <a:spAutoFit/>
          </a:bodyPr>
          <a:lstStyle/>
          <a:p>
            <a:r>
              <a:rPr lang="en-US" sz="2400" i="1" dirty="0"/>
              <a:t> 0         0        0          1          1         -1</a:t>
            </a:r>
          </a:p>
        </p:txBody>
      </p:sp>
      <p:sp>
        <p:nvSpPr>
          <p:cNvPr id="28" name="Rectangle 27">
            <a:extLst>
              <a:ext uri="{FF2B5EF4-FFF2-40B4-BE49-F238E27FC236}">
                <a16:creationId xmlns:a16="http://schemas.microsoft.com/office/drawing/2014/main" id="{0D4EF912-F04E-42A7-AC8F-9EF06B662B91}"/>
              </a:ext>
            </a:extLst>
          </p:cNvPr>
          <p:cNvSpPr/>
          <p:nvPr/>
        </p:nvSpPr>
        <p:spPr>
          <a:xfrm>
            <a:off x="2090619" y="4442080"/>
            <a:ext cx="545652" cy="461665"/>
          </a:xfrm>
          <a:prstGeom prst="rect">
            <a:avLst/>
          </a:prstGeom>
        </p:spPr>
        <p:txBody>
          <a:bodyPr wrap="square">
            <a:spAutoFit/>
          </a:bodyPr>
          <a:lstStyle/>
          <a:p>
            <a:r>
              <a:rPr lang="en-US" sz="2400" i="1" dirty="0" err="1"/>
              <a:t>Zj</a:t>
            </a:r>
            <a:endParaRPr lang="en-US" sz="2400" i="1" dirty="0"/>
          </a:p>
        </p:txBody>
      </p:sp>
      <p:sp>
        <p:nvSpPr>
          <p:cNvPr id="31" name="Rectangle 30">
            <a:extLst>
              <a:ext uri="{FF2B5EF4-FFF2-40B4-BE49-F238E27FC236}">
                <a16:creationId xmlns:a16="http://schemas.microsoft.com/office/drawing/2014/main" id="{864F2EA2-D3FA-4B29-B824-58D41C0151C4}"/>
              </a:ext>
            </a:extLst>
          </p:cNvPr>
          <p:cNvSpPr/>
          <p:nvPr/>
        </p:nvSpPr>
        <p:spPr>
          <a:xfrm>
            <a:off x="3058978" y="4455438"/>
            <a:ext cx="6710549" cy="461665"/>
          </a:xfrm>
          <a:prstGeom prst="rect">
            <a:avLst/>
          </a:prstGeom>
        </p:spPr>
        <p:txBody>
          <a:bodyPr wrap="square">
            <a:spAutoFit/>
          </a:bodyPr>
          <a:lstStyle/>
          <a:p>
            <a:r>
              <a:rPr lang="en-US" sz="2400" i="1" dirty="0"/>
              <a:t>  2         3         0         0          3         2         8</a:t>
            </a:r>
          </a:p>
        </p:txBody>
      </p:sp>
      <p:sp>
        <p:nvSpPr>
          <p:cNvPr id="32" name="Rectangle 31">
            <a:extLst>
              <a:ext uri="{FF2B5EF4-FFF2-40B4-BE49-F238E27FC236}">
                <a16:creationId xmlns:a16="http://schemas.microsoft.com/office/drawing/2014/main" id="{0F04E717-3391-46C1-9958-6624DF084ED4}"/>
              </a:ext>
            </a:extLst>
          </p:cNvPr>
          <p:cNvSpPr/>
          <p:nvPr/>
        </p:nvSpPr>
        <p:spPr>
          <a:xfrm>
            <a:off x="1827995" y="4988918"/>
            <a:ext cx="1211943" cy="461665"/>
          </a:xfrm>
          <a:prstGeom prst="rect">
            <a:avLst/>
          </a:prstGeom>
        </p:spPr>
        <p:txBody>
          <a:bodyPr wrap="square">
            <a:spAutoFit/>
          </a:bodyPr>
          <a:lstStyle/>
          <a:p>
            <a:r>
              <a:rPr lang="en-US" sz="2400" i="1" dirty="0" err="1"/>
              <a:t>Cj</a:t>
            </a:r>
            <a:r>
              <a:rPr lang="en-US" sz="2400" i="1" dirty="0"/>
              <a:t> - </a:t>
            </a:r>
            <a:r>
              <a:rPr lang="en-US" sz="2400" i="1" dirty="0" err="1"/>
              <a:t>Zj</a:t>
            </a:r>
            <a:endParaRPr lang="en-US" sz="2400" i="1" dirty="0"/>
          </a:p>
        </p:txBody>
      </p:sp>
      <p:sp>
        <p:nvSpPr>
          <p:cNvPr id="33" name="Rectangle 32">
            <a:extLst>
              <a:ext uri="{FF2B5EF4-FFF2-40B4-BE49-F238E27FC236}">
                <a16:creationId xmlns:a16="http://schemas.microsoft.com/office/drawing/2014/main" id="{2B65CB3B-095B-4A91-A457-6D5825DEABD9}"/>
              </a:ext>
            </a:extLst>
          </p:cNvPr>
          <p:cNvSpPr/>
          <p:nvPr/>
        </p:nvSpPr>
        <p:spPr>
          <a:xfrm>
            <a:off x="3058978" y="5003431"/>
            <a:ext cx="6710549" cy="461665"/>
          </a:xfrm>
          <a:prstGeom prst="rect">
            <a:avLst/>
          </a:prstGeom>
        </p:spPr>
        <p:txBody>
          <a:bodyPr wrap="square">
            <a:spAutoFit/>
          </a:bodyPr>
          <a:lstStyle/>
          <a:p>
            <a:r>
              <a:rPr lang="en-US" sz="2400" i="1" dirty="0"/>
              <a:t>  0          0        0         0         -3        -2</a:t>
            </a:r>
          </a:p>
        </p:txBody>
      </p:sp>
      <p:sp>
        <p:nvSpPr>
          <p:cNvPr id="38" name="Rectangle 37">
            <a:extLst>
              <a:ext uri="{FF2B5EF4-FFF2-40B4-BE49-F238E27FC236}">
                <a16:creationId xmlns:a16="http://schemas.microsoft.com/office/drawing/2014/main" id="{C6F83CCA-0248-4E65-AE79-34017C9C7D43}"/>
              </a:ext>
            </a:extLst>
          </p:cNvPr>
          <p:cNvSpPr/>
          <p:nvPr/>
        </p:nvSpPr>
        <p:spPr>
          <a:xfrm>
            <a:off x="9285506" y="2360413"/>
            <a:ext cx="737705" cy="461665"/>
          </a:xfrm>
          <a:prstGeom prst="rect">
            <a:avLst/>
          </a:prstGeom>
        </p:spPr>
        <p:txBody>
          <a:bodyPr wrap="square">
            <a:spAutoFit/>
          </a:bodyPr>
          <a:lstStyle/>
          <a:p>
            <a:r>
              <a:rPr lang="en-US" sz="2400" i="1" dirty="0"/>
              <a:t>1</a:t>
            </a:r>
          </a:p>
        </p:txBody>
      </p:sp>
      <p:sp>
        <p:nvSpPr>
          <p:cNvPr id="39" name="Rectangle 38">
            <a:extLst>
              <a:ext uri="{FF2B5EF4-FFF2-40B4-BE49-F238E27FC236}">
                <a16:creationId xmlns:a16="http://schemas.microsoft.com/office/drawing/2014/main" id="{ED484AD5-E75D-43EE-99F3-8E98AC6DD160}"/>
              </a:ext>
            </a:extLst>
          </p:cNvPr>
          <p:cNvSpPr/>
          <p:nvPr/>
        </p:nvSpPr>
        <p:spPr>
          <a:xfrm>
            <a:off x="9190436" y="2914595"/>
            <a:ext cx="813565" cy="461665"/>
          </a:xfrm>
          <a:prstGeom prst="rect">
            <a:avLst/>
          </a:prstGeom>
        </p:spPr>
        <p:txBody>
          <a:bodyPr wrap="square">
            <a:spAutoFit/>
          </a:bodyPr>
          <a:lstStyle/>
          <a:p>
            <a:r>
              <a:rPr lang="en-US" sz="2400" i="1" dirty="0"/>
              <a:t> 1</a:t>
            </a:r>
          </a:p>
        </p:txBody>
      </p:sp>
      <p:sp>
        <p:nvSpPr>
          <p:cNvPr id="40" name="Rectangle 39">
            <a:extLst>
              <a:ext uri="{FF2B5EF4-FFF2-40B4-BE49-F238E27FC236}">
                <a16:creationId xmlns:a16="http://schemas.microsoft.com/office/drawing/2014/main" id="{B929374A-8C0A-469C-9C8B-CA3690C3781C}"/>
              </a:ext>
            </a:extLst>
          </p:cNvPr>
          <p:cNvSpPr/>
          <p:nvPr/>
        </p:nvSpPr>
        <p:spPr>
          <a:xfrm>
            <a:off x="2157935" y="3411020"/>
            <a:ext cx="545652" cy="461665"/>
          </a:xfrm>
          <a:prstGeom prst="rect">
            <a:avLst/>
          </a:prstGeom>
        </p:spPr>
        <p:txBody>
          <a:bodyPr wrap="square">
            <a:spAutoFit/>
          </a:bodyPr>
          <a:lstStyle/>
          <a:p>
            <a:r>
              <a:rPr lang="en-US" sz="2400" i="1" dirty="0"/>
              <a:t>x2</a:t>
            </a:r>
          </a:p>
        </p:txBody>
      </p:sp>
      <p:sp>
        <p:nvSpPr>
          <p:cNvPr id="41" name="Rectangle 40">
            <a:extLst>
              <a:ext uri="{FF2B5EF4-FFF2-40B4-BE49-F238E27FC236}">
                <a16:creationId xmlns:a16="http://schemas.microsoft.com/office/drawing/2014/main" id="{B46BB860-9FCC-471B-B1DB-CC177706B8CB}"/>
              </a:ext>
            </a:extLst>
          </p:cNvPr>
          <p:cNvSpPr/>
          <p:nvPr/>
        </p:nvSpPr>
        <p:spPr>
          <a:xfrm>
            <a:off x="3096605" y="3455507"/>
            <a:ext cx="5998763" cy="461665"/>
          </a:xfrm>
          <a:prstGeom prst="rect">
            <a:avLst/>
          </a:prstGeom>
        </p:spPr>
        <p:txBody>
          <a:bodyPr wrap="square">
            <a:spAutoFit/>
          </a:bodyPr>
          <a:lstStyle/>
          <a:p>
            <a:r>
              <a:rPr lang="en-US" sz="2400" i="1" dirty="0"/>
              <a:t> 0         1         0         0          1         0</a:t>
            </a:r>
          </a:p>
        </p:txBody>
      </p:sp>
      <p:sp>
        <p:nvSpPr>
          <p:cNvPr id="42" name="Rectangle 41">
            <a:extLst>
              <a:ext uri="{FF2B5EF4-FFF2-40B4-BE49-F238E27FC236}">
                <a16:creationId xmlns:a16="http://schemas.microsoft.com/office/drawing/2014/main" id="{9E86616C-E86D-4453-A38C-BA3C33953E0C}"/>
              </a:ext>
            </a:extLst>
          </p:cNvPr>
          <p:cNvSpPr/>
          <p:nvPr/>
        </p:nvSpPr>
        <p:spPr>
          <a:xfrm>
            <a:off x="1030750" y="3465551"/>
            <a:ext cx="545652" cy="461665"/>
          </a:xfrm>
          <a:prstGeom prst="rect">
            <a:avLst/>
          </a:prstGeom>
        </p:spPr>
        <p:txBody>
          <a:bodyPr wrap="square">
            <a:spAutoFit/>
          </a:bodyPr>
          <a:lstStyle/>
          <a:p>
            <a:r>
              <a:rPr lang="en-US" sz="2400" i="1" dirty="0"/>
              <a:t>3</a:t>
            </a:r>
          </a:p>
        </p:txBody>
      </p:sp>
      <p:sp>
        <p:nvSpPr>
          <p:cNvPr id="43" name="Rectangle 42">
            <a:extLst>
              <a:ext uri="{FF2B5EF4-FFF2-40B4-BE49-F238E27FC236}">
                <a16:creationId xmlns:a16="http://schemas.microsoft.com/office/drawing/2014/main" id="{ED484AD5-E75D-43EE-99F3-8E98AC6DD160}"/>
              </a:ext>
            </a:extLst>
          </p:cNvPr>
          <p:cNvSpPr/>
          <p:nvPr/>
        </p:nvSpPr>
        <p:spPr>
          <a:xfrm>
            <a:off x="9257158" y="3497348"/>
            <a:ext cx="545652" cy="461665"/>
          </a:xfrm>
          <a:prstGeom prst="rect">
            <a:avLst/>
          </a:prstGeom>
        </p:spPr>
        <p:txBody>
          <a:bodyPr wrap="square">
            <a:spAutoFit/>
          </a:bodyPr>
          <a:lstStyle/>
          <a:p>
            <a:r>
              <a:rPr lang="en-US" sz="2400" i="1" dirty="0"/>
              <a:t>2</a:t>
            </a:r>
          </a:p>
        </p:txBody>
      </p:sp>
      <p:sp>
        <p:nvSpPr>
          <p:cNvPr id="34" name="Rectangle 33">
            <a:extLst>
              <a:ext uri="{FF2B5EF4-FFF2-40B4-BE49-F238E27FC236}">
                <a16:creationId xmlns:a16="http://schemas.microsoft.com/office/drawing/2014/main" id="{B929374A-8C0A-469C-9C8B-CA3690C3781C}"/>
              </a:ext>
            </a:extLst>
          </p:cNvPr>
          <p:cNvSpPr/>
          <p:nvPr/>
        </p:nvSpPr>
        <p:spPr>
          <a:xfrm>
            <a:off x="2097806" y="3939765"/>
            <a:ext cx="665909" cy="461665"/>
          </a:xfrm>
          <a:prstGeom prst="rect">
            <a:avLst/>
          </a:prstGeom>
        </p:spPr>
        <p:txBody>
          <a:bodyPr wrap="square">
            <a:spAutoFit/>
          </a:bodyPr>
          <a:lstStyle/>
          <a:p>
            <a:r>
              <a:rPr lang="en-US" sz="2400" i="1" dirty="0"/>
              <a:t>S1</a:t>
            </a:r>
          </a:p>
        </p:txBody>
      </p:sp>
      <p:sp>
        <p:nvSpPr>
          <p:cNvPr id="35" name="Rectangle 34">
            <a:extLst>
              <a:ext uri="{FF2B5EF4-FFF2-40B4-BE49-F238E27FC236}">
                <a16:creationId xmlns:a16="http://schemas.microsoft.com/office/drawing/2014/main" id="{9E86616C-E86D-4453-A38C-BA3C33953E0C}"/>
              </a:ext>
            </a:extLst>
          </p:cNvPr>
          <p:cNvSpPr/>
          <p:nvPr/>
        </p:nvSpPr>
        <p:spPr>
          <a:xfrm>
            <a:off x="1029961" y="4006253"/>
            <a:ext cx="545652" cy="461665"/>
          </a:xfrm>
          <a:prstGeom prst="rect">
            <a:avLst/>
          </a:prstGeom>
        </p:spPr>
        <p:txBody>
          <a:bodyPr wrap="square">
            <a:spAutoFit/>
          </a:bodyPr>
          <a:lstStyle/>
          <a:p>
            <a:r>
              <a:rPr lang="en-US" sz="2400" i="1" dirty="0"/>
              <a:t>0</a:t>
            </a:r>
          </a:p>
        </p:txBody>
      </p:sp>
      <p:sp>
        <p:nvSpPr>
          <p:cNvPr id="37" name="Rectangle 36">
            <a:extLst>
              <a:ext uri="{FF2B5EF4-FFF2-40B4-BE49-F238E27FC236}">
                <a16:creationId xmlns:a16="http://schemas.microsoft.com/office/drawing/2014/main" id="{B46BB860-9FCC-471B-B1DB-CC177706B8CB}"/>
              </a:ext>
            </a:extLst>
          </p:cNvPr>
          <p:cNvSpPr/>
          <p:nvPr/>
        </p:nvSpPr>
        <p:spPr>
          <a:xfrm>
            <a:off x="3103887" y="3993773"/>
            <a:ext cx="5998763" cy="461665"/>
          </a:xfrm>
          <a:prstGeom prst="rect">
            <a:avLst/>
          </a:prstGeom>
        </p:spPr>
        <p:txBody>
          <a:bodyPr wrap="square">
            <a:spAutoFit/>
          </a:bodyPr>
          <a:lstStyle/>
          <a:p>
            <a:r>
              <a:rPr lang="en-US" sz="2400" i="1" dirty="0"/>
              <a:t> 0         0         1         0          0         -2	</a:t>
            </a:r>
          </a:p>
        </p:txBody>
      </p:sp>
      <p:sp>
        <p:nvSpPr>
          <p:cNvPr id="48" name="Rectangle 47">
            <a:extLst>
              <a:ext uri="{FF2B5EF4-FFF2-40B4-BE49-F238E27FC236}">
                <a16:creationId xmlns:a16="http://schemas.microsoft.com/office/drawing/2014/main" id="{ED484AD5-E75D-43EE-99F3-8E98AC6DD160}"/>
              </a:ext>
            </a:extLst>
          </p:cNvPr>
          <p:cNvSpPr/>
          <p:nvPr/>
        </p:nvSpPr>
        <p:spPr>
          <a:xfrm>
            <a:off x="9123201" y="3980415"/>
            <a:ext cx="813565" cy="461665"/>
          </a:xfrm>
          <a:prstGeom prst="rect">
            <a:avLst/>
          </a:prstGeom>
        </p:spPr>
        <p:txBody>
          <a:bodyPr wrap="square">
            <a:spAutoFit/>
          </a:bodyPr>
          <a:lstStyle/>
          <a:p>
            <a:r>
              <a:rPr lang="en-US" sz="2400" i="1" dirty="0"/>
              <a:t> 1</a:t>
            </a:r>
          </a:p>
        </p:txBody>
      </p:sp>
      <p:sp>
        <p:nvSpPr>
          <p:cNvPr id="47" name="Content Placeholder 2">
            <a:extLst>
              <a:ext uri="{FF2B5EF4-FFF2-40B4-BE49-F238E27FC236}">
                <a16:creationId xmlns:a16="http://schemas.microsoft.com/office/drawing/2014/main" id="{92C81DC3-B0B3-4EEA-A8F9-16F859BAEAA4}"/>
              </a:ext>
            </a:extLst>
          </p:cNvPr>
          <p:cNvSpPr txBox="1">
            <a:spLocks/>
          </p:cNvSpPr>
          <p:nvPr/>
        </p:nvSpPr>
        <p:spPr>
          <a:xfrm>
            <a:off x="639223" y="5816243"/>
            <a:ext cx="6881148" cy="484195"/>
          </a:xfrm>
          <a:prstGeom prst="rect">
            <a:avLst/>
          </a:prstGeom>
          <a:solidFill>
            <a:schemeClr val="accent1">
              <a:lumMod val="40000"/>
              <a:lumOff val="60000"/>
            </a:schemeClr>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t>All the </a:t>
            </a:r>
            <a:r>
              <a:rPr lang="en-US" sz="2000" dirty="0" err="1"/>
              <a:t>Cj-Zj</a:t>
            </a:r>
            <a:r>
              <a:rPr lang="en-US" sz="2000" dirty="0"/>
              <a:t> are &lt;=0 and all Solution Values are +</a:t>
            </a:r>
            <a:r>
              <a:rPr lang="en-US" sz="2000" dirty="0" err="1"/>
              <a:t>ve</a:t>
            </a:r>
            <a:endParaRPr lang="en-US" sz="1600" dirty="0"/>
          </a:p>
        </p:txBody>
      </p:sp>
      <p:sp>
        <p:nvSpPr>
          <p:cNvPr id="36" name="Content Placeholder 2">
            <a:extLst>
              <a:ext uri="{FF2B5EF4-FFF2-40B4-BE49-F238E27FC236}">
                <a16:creationId xmlns:a16="http://schemas.microsoft.com/office/drawing/2014/main" id="{92C81DC3-B0B3-4EEA-A8F9-16F859BAEAA4}"/>
              </a:ext>
            </a:extLst>
          </p:cNvPr>
          <p:cNvSpPr txBox="1">
            <a:spLocks/>
          </p:cNvSpPr>
          <p:nvPr/>
        </p:nvSpPr>
        <p:spPr>
          <a:xfrm>
            <a:off x="9190436" y="5120762"/>
            <a:ext cx="2050385" cy="1390961"/>
          </a:xfrm>
          <a:prstGeom prst="rect">
            <a:avLst/>
          </a:prstGeom>
          <a:solidFill>
            <a:schemeClr val="accent1">
              <a:lumMod val="40000"/>
              <a:lumOff val="60000"/>
            </a:schemeClr>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800" dirty="0"/>
              <a:t> </a:t>
            </a:r>
            <a:r>
              <a:rPr lang="en-US" sz="2000" dirty="0"/>
              <a:t>x1 = 1</a:t>
            </a:r>
          </a:p>
          <a:p>
            <a:r>
              <a:rPr lang="en-US" sz="2000" dirty="0"/>
              <a:t> x2 = 2</a:t>
            </a:r>
          </a:p>
          <a:p>
            <a:r>
              <a:rPr lang="en-US" sz="2000" i="1" dirty="0"/>
              <a:t> Z = 8</a:t>
            </a:r>
          </a:p>
        </p:txBody>
      </p:sp>
    </p:spTree>
    <p:extLst>
      <p:ext uri="{BB962C8B-B14F-4D97-AF65-F5344CB8AC3E}">
        <p14:creationId xmlns:p14="http://schemas.microsoft.com/office/powerpoint/2010/main" val="51333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3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FA4A-9A42-4ABA-A216-AB6B01B616B7}"/>
              </a:ext>
            </a:extLst>
          </p:cNvPr>
          <p:cNvSpPr>
            <a:spLocks noGrp="1"/>
          </p:cNvSpPr>
          <p:nvPr>
            <p:ph type="title"/>
          </p:nvPr>
        </p:nvSpPr>
        <p:spPr>
          <a:xfrm>
            <a:off x="677334" y="138688"/>
            <a:ext cx="8596668" cy="731520"/>
          </a:xfrm>
        </p:spPr>
        <p:txBody>
          <a:bodyPr/>
          <a:lstStyle/>
          <a:p>
            <a:r>
              <a:rPr lang="en-US" dirty="0" err="1"/>
              <a:t>Gomory’s</a:t>
            </a:r>
            <a:r>
              <a:rPr lang="en-US" dirty="0"/>
              <a:t> Cutting Plane Method - Steps</a:t>
            </a:r>
          </a:p>
        </p:txBody>
      </p:sp>
      <p:sp>
        <p:nvSpPr>
          <p:cNvPr id="5" name="Content Placeholder 2">
            <a:extLst>
              <a:ext uri="{FF2B5EF4-FFF2-40B4-BE49-F238E27FC236}">
                <a16:creationId xmlns:a16="http://schemas.microsoft.com/office/drawing/2014/main" id="{BBFE4BD9-F884-4AB4-B8F8-5232F8DBD100}"/>
              </a:ext>
            </a:extLst>
          </p:cNvPr>
          <p:cNvSpPr txBox="1">
            <a:spLocks/>
          </p:cNvSpPr>
          <p:nvPr/>
        </p:nvSpPr>
        <p:spPr>
          <a:xfrm>
            <a:off x="677333" y="870208"/>
            <a:ext cx="9459443" cy="55168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mj-lt"/>
              <a:buAutoNum type="arabicPeriod"/>
            </a:pPr>
            <a:r>
              <a:rPr lang="en-US" b="1" dirty="0"/>
              <a:t>Normalize the Equation</a:t>
            </a:r>
          </a:p>
          <a:p>
            <a:pPr>
              <a:buFont typeface="+mj-lt"/>
              <a:buAutoNum type="arabicPeriod"/>
            </a:pPr>
            <a:r>
              <a:rPr lang="en-US" b="1" dirty="0"/>
              <a:t>Solve the problem using SIMPLEX method</a:t>
            </a:r>
          </a:p>
          <a:p>
            <a:pPr>
              <a:buFont typeface="+mj-lt"/>
              <a:buAutoNum type="arabicPeriod"/>
            </a:pPr>
            <a:r>
              <a:rPr lang="en-US" b="1" dirty="0"/>
              <a:t>If all the Basic Variables are Integers, then Optimality has reached. Go to Step 8</a:t>
            </a:r>
          </a:p>
          <a:p>
            <a:pPr>
              <a:buFont typeface="+mj-lt"/>
              <a:buAutoNum type="arabicPeriod"/>
            </a:pPr>
            <a:r>
              <a:rPr lang="en-US" b="1" dirty="0"/>
              <a:t>In case of Non Integer variables, Find the FRACTIONAL part of </a:t>
            </a:r>
            <a:r>
              <a:rPr lang="en-US" b="1" dirty="0">
                <a:solidFill>
                  <a:srgbClr val="00B0F0"/>
                </a:solidFill>
              </a:rPr>
              <a:t>f</a:t>
            </a:r>
            <a:r>
              <a:rPr lang="en-US" b="1" dirty="0">
                <a:solidFill>
                  <a:schemeClr val="tx1"/>
                </a:solidFill>
              </a:rPr>
              <a:t>, i.e. </a:t>
            </a:r>
            <a:r>
              <a:rPr lang="en-US" b="1" dirty="0">
                <a:solidFill>
                  <a:srgbClr val="00B0F0"/>
                </a:solidFill>
              </a:rPr>
              <a:t>bi = [bi] + fi</a:t>
            </a:r>
            <a:r>
              <a:rPr lang="en-US" b="1" dirty="0">
                <a:solidFill>
                  <a:schemeClr val="tx1"/>
                </a:solidFill>
              </a:rPr>
              <a:t>, where </a:t>
            </a:r>
            <a:r>
              <a:rPr lang="en-US" b="1" dirty="0">
                <a:solidFill>
                  <a:srgbClr val="00B0F0"/>
                </a:solidFill>
              </a:rPr>
              <a:t>bi</a:t>
            </a:r>
            <a:r>
              <a:rPr lang="en-US" b="1" dirty="0">
                <a:solidFill>
                  <a:schemeClr val="tx1"/>
                </a:solidFill>
              </a:rPr>
              <a:t> is Integer part and </a:t>
            </a:r>
            <a:r>
              <a:rPr lang="en-US" b="1" dirty="0">
                <a:solidFill>
                  <a:srgbClr val="00B0F0"/>
                </a:solidFill>
              </a:rPr>
              <a:t>fi</a:t>
            </a:r>
            <a:r>
              <a:rPr lang="en-US" b="1" dirty="0">
                <a:solidFill>
                  <a:schemeClr val="tx1"/>
                </a:solidFill>
              </a:rPr>
              <a:t> is FRACTIONAL part</a:t>
            </a:r>
          </a:p>
          <a:p>
            <a:pPr>
              <a:buFont typeface="+mj-lt"/>
              <a:buAutoNum type="arabicPeriod"/>
            </a:pPr>
            <a:r>
              <a:rPr lang="en-US" b="1" dirty="0">
                <a:solidFill>
                  <a:schemeClr val="tx1"/>
                </a:solidFill>
              </a:rPr>
              <a:t>Choose the </a:t>
            </a:r>
            <a:r>
              <a:rPr lang="en-US" b="1" dirty="0">
                <a:solidFill>
                  <a:srgbClr val="00B0F0"/>
                </a:solidFill>
              </a:rPr>
              <a:t>largest fraction</a:t>
            </a:r>
            <a:r>
              <a:rPr lang="en-US" b="1" dirty="0">
                <a:solidFill>
                  <a:schemeClr val="tx1"/>
                </a:solidFill>
              </a:rPr>
              <a:t> amongst various </a:t>
            </a:r>
            <a:r>
              <a:rPr lang="en-US" b="1" dirty="0">
                <a:solidFill>
                  <a:srgbClr val="00B0F0"/>
                </a:solidFill>
              </a:rPr>
              <a:t>fi</a:t>
            </a:r>
            <a:r>
              <a:rPr lang="en-US" b="1" dirty="0">
                <a:solidFill>
                  <a:schemeClr val="tx1"/>
                </a:solidFill>
              </a:rPr>
              <a:t>, i.e. Max (fi). Treat the constraint corresponding to the maximum fraction as the source row (Equation). </a:t>
            </a:r>
          </a:p>
          <a:p>
            <a:pPr>
              <a:buFont typeface="+mj-lt"/>
              <a:buAutoNum type="arabicPeriod"/>
            </a:pPr>
            <a:r>
              <a:rPr lang="en-US" b="1" dirty="0">
                <a:solidFill>
                  <a:schemeClr val="tx1"/>
                </a:solidFill>
              </a:rPr>
              <a:t>Based on the source equation, Develop an </a:t>
            </a:r>
            <a:r>
              <a:rPr lang="en-US" b="1" dirty="0">
                <a:solidFill>
                  <a:srgbClr val="00B0F0"/>
                </a:solidFill>
              </a:rPr>
              <a:t>Additional Constraint (</a:t>
            </a:r>
            <a:r>
              <a:rPr lang="en-US" b="1" dirty="0" err="1">
                <a:solidFill>
                  <a:srgbClr val="00B0F0"/>
                </a:solidFill>
              </a:rPr>
              <a:t>Goromy’s</a:t>
            </a:r>
            <a:r>
              <a:rPr lang="en-US" b="1" dirty="0">
                <a:solidFill>
                  <a:srgbClr val="00B0F0"/>
                </a:solidFill>
              </a:rPr>
              <a:t> Constraint/ fractional cut)</a:t>
            </a:r>
          </a:p>
          <a:p>
            <a:pPr marL="0" indent="0">
              <a:buNone/>
            </a:pPr>
            <a:r>
              <a:rPr lang="en-US" b="1" dirty="0">
                <a:solidFill>
                  <a:srgbClr val="00B0F0"/>
                </a:solidFill>
              </a:rPr>
              <a:t>       fi = Si – Summation ((fi)(Non-Basic Variables))</a:t>
            </a:r>
          </a:p>
          <a:p>
            <a:pPr>
              <a:buFont typeface="+mj-lt"/>
              <a:buAutoNum type="arabicPeriod" startAt="7"/>
            </a:pPr>
            <a:r>
              <a:rPr lang="en-US" b="1" dirty="0">
                <a:solidFill>
                  <a:schemeClr val="tx1"/>
                </a:solidFill>
              </a:rPr>
              <a:t>Add the fractional cut as last row in latest optimal table and proceed further using </a:t>
            </a:r>
            <a:r>
              <a:rPr lang="en-US" b="1" dirty="0">
                <a:solidFill>
                  <a:srgbClr val="00B0F0"/>
                </a:solidFill>
              </a:rPr>
              <a:t>DUAL SIMPLEX </a:t>
            </a:r>
            <a:r>
              <a:rPr lang="en-US" b="1" dirty="0">
                <a:solidFill>
                  <a:schemeClr val="tx1"/>
                </a:solidFill>
              </a:rPr>
              <a:t>method and find the new optimum solution. If new solution is Integer then go to Step 8 else go to Step 4</a:t>
            </a:r>
          </a:p>
          <a:p>
            <a:pPr>
              <a:buFont typeface="+mj-lt"/>
              <a:buAutoNum type="arabicPeriod" startAt="7"/>
            </a:pPr>
            <a:r>
              <a:rPr lang="en-US" b="1" dirty="0">
                <a:solidFill>
                  <a:schemeClr val="tx1"/>
                </a:solidFill>
              </a:rPr>
              <a:t>Stop the process and write Optimal solution</a:t>
            </a:r>
          </a:p>
          <a:p>
            <a:endParaRPr lang="en-US" b="1" dirty="0">
              <a:solidFill>
                <a:srgbClr val="FF0000"/>
              </a:solidFill>
            </a:endParaRPr>
          </a:p>
        </p:txBody>
      </p:sp>
      <p:sp>
        <p:nvSpPr>
          <p:cNvPr id="7" name="Rounded Rectangle 6"/>
          <p:cNvSpPr/>
          <p:nvPr/>
        </p:nvSpPr>
        <p:spPr>
          <a:xfrm>
            <a:off x="677332" y="5464309"/>
            <a:ext cx="10228233" cy="452399"/>
          </a:xfrm>
          <a:prstGeom prst="roundRect">
            <a:avLst/>
          </a:prstGeom>
          <a:no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376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146" y="2629485"/>
            <a:ext cx="8596668" cy="3033933"/>
          </a:xfrm>
        </p:spPr>
        <p:txBody>
          <a:bodyPr>
            <a:normAutofit/>
          </a:bodyPr>
          <a:lstStyle/>
          <a:p>
            <a:pPr algn="ctr"/>
            <a:r>
              <a:rPr lang="en-US" sz="6000" dirty="0">
                <a:solidFill>
                  <a:schemeClr val="tx1"/>
                </a:solidFill>
              </a:rPr>
              <a:t>Branch </a:t>
            </a:r>
            <a:r>
              <a:rPr lang="en-US" sz="6000">
                <a:solidFill>
                  <a:schemeClr val="tx1"/>
                </a:solidFill>
              </a:rPr>
              <a:t>and Bound Method</a:t>
            </a:r>
            <a:endParaRPr lang="en-US" sz="6000" dirty="0">
              <a:solidFill>
                <a:schemeClr val="tx1"/>
              </a:solidFill>
            </a:endParaRPr>
          </a:p>
        </p:txBody>
      </p:sp>
    </p:spTree>
    <p:extLst>
      <p:ext uri="{BB962C8B-B14F-4D97-AF65-F5344CB8AC3E}">
        <p14:creationId xmlns:p14="http://schemas.microsoft.com/office/powerpoint/2010/main" val="21508217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A5EC925-1152-4B37-931A-ADBF20A0BCAD}"/>
              </a:ext>
            </a:extLst>
          </p:cNvPr>
          <p:cNvSpPr txBox="1">
            <a:spLocks/>
          </p:cNvSpPr>
          <p:nvPr/>
        </p:nvSpPr>
        <p:spPr>
          <a:xfrm>
            <a:off x="677333" y="870209"/>
            <a:ext cx="9459443" cy="45631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accent1">
                    <a:lumMod val="75000"/>
                  </a:schemeClr>
                </a:solidFill>
              </a:rPr>
              <a:t>Branch</a:t>
            </a:r>
          </a:p>
        </p:txBody>
      </p:sp>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677334" y="138688"/>
            <a:ext cx="8596668" cy="731520"/>
          </a:xfrm>
        </p:spPr>
        <p:txBody>
          <a:bodyPr/>
          <a:lstStyle/>
          <a:p>
            <a:r>
              <a:rPr lang="en-US" dirty="0"/>
              <a:t>Branch and Bound Method</a:t>
            </a:r>
          </a:p>
        </p:txBody>
      </p:sp>
      <p:sp>
        <p:nvSpPr>
          <p:cNvPr id="4" name="Content Placeholder 2">
            <a:extLst>
              <a:ext uri="{FF2B5EF4-FFF2-40B4-BE49-F238E27FC236}">
                <a16:creationId xmlns:a16="http://schemas.microsoft.com/office/drawing/2014/main" id="{C91E0A2B-1AE2-4F5F-ABFF-4E8F2ADAB390}"/>
              </a:ext>
            </a:extLst>
          </p:cNvPr>
          <p:cNvSpPr txBox="1">
            <a:spLocks/>
          </p:cNvSpPr>
          <p:nvPr/>
        </p:nvSpPr>
        <p:spPr>
          <a:xfrm>
            <a:off x="677333" y="1225665"/>
            <a:ext cx="9459443" cy="151753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Root and Branches</a:t>
            </a:r>
          </a:p>
          <a:p>
            <a:r>
              <a:rPr lang="en-US" b="1" dirty="0"/>
              <a:t>Modularity</a:t>
            </a:r>
          </a:p>
          <a:p>
            <a:r>
              <a:rPr lang="en-US" b="1" dirty="0"/>
              <a:t>In Integer Programming </a:t>
            </a:r>
          </a:p>
          <a:p>
            <a:pPr lvl="1"/>
            <a:r>
              <a:rPr lang="en-US" b="1" dirty="0"/>
              <a:t>Root – Core Problem</a:t>
            </a:r>
          </a:p>
          <a:p>
            <a:pPr lvl="1"/>
            <a:r>
              <a:rPr lang="en-US" b="1" dirty="0"/>
              <a:t>Branches – Sub Problems</a:t>
            </a:r>
          </a:p>
          <a:p>
            <a:endParaRPr lang="en-US" b="1" dirty="0">
              <a:solidFill>
                <a:srgbClr val="FF0000"/>
              </a:solidFill>
            </a:endParaRPr>
          </a:p>
        </p:txBody>
      </p:sp>
      <p:sp>
        <p:nvSpPr>
          <p:cNvPr id="5" name="Content Placeholder 2">
            <a:extLst>
              <a:ext uri="{FF2B5EF4-FFF2-40B4-BE49-F238E27FC236}">
                <a16:creationId xmlns:a16="http://schemas.microsoft.com/office/drawing/2014/main" id="{058EF716-A61B-44C4-9A98-66EFC6E00262}"/>
              </a:ext>
            </a:extLst>
          </p:cNvPr>
          <p:cNvSpPr txBox="1">
            <a:spLocks/>
          </p:cNvSpPr>
          <p:nvPr/>
        </p:nvSpPr>
        <p:spPr>
          <a:xfrm>
            <a:off x="677333" y="3284117"/>
            <a:ext cx="9459443" cy="45631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accent1">
                    <a:lumMod val="75000"/>
                  </a:schemeClr>
                </a:solidFill>
              </a:rPr>
              <a:t>Bound</a:t>
            </a:r>
          </a:p>
        </p:txBody>
      </p:sp>
      <p:sp>
        <p:nvSpPr>
          <p:cNvPr id="6" name="Content Placeholder 2">
            <a:extLst>
              <a:ext uri="{FF2B5EF4-FFF2-40B4-BE49-F238E27FC236}">
                <a16:creationId xmlns:a16="http://schemas.microsoft.com/office/drawing/2014/main" id="{C219C806-C510-40F3-81A3-65FBC7B2A667}"/>
              </a:ext>
            </a:extLst>
          </p:cNvPr>
          <p:cNvSpPr txBox="1">
            <a:spLocks/>
          </p:cNvSpPr>
          <p:nvPr/>
        </p:nvSpPr>
        <p:spPr>
          <a:xfrm>
            <a:off x="677333" y="3726063"/>
            <a:ext cx="9459443" cy="143104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Limits</a:t>
            </a:r>
          </a:p>
          <a:p>
            <a:r>
              <a:rPr lang="en-US" b="1" dirty="0"/>
              <a:t>Upper Bound ( &lt;= )</a:t>
            </a:r>
          </a:p>
          <a:p>
            <a:r>
              <a:rPr lang="en-US" b="1" dirty="0"/>
              <a:t>Lower Bound ( &gt;= )</a:t>
            </a:r>
            <a:endParaRPr lang="en-US" b="1" dirty="0">
              <a:solidFill>
                <a:srgbClr val="FF0000"/>
              </a:solidFill>
            </a:endParaRPr>
          </a:p>
        </p:txBody>
      </p:sp>
      <p:sp>
        <p:nvSpPr>
          <p:cNvPr id="7" name="Content Placeholder 2">
            <a:extLst>
              <a:ext uri="{FF2B5EF4-FFF2-40B4-BE49-F238E27FC236}">
                <a16:creationId xmlns:a16="http://schemas.microsoft.com/office/drawing/2014/main" id="{CD6FBC28-DD1D-4CF4-AB62-C5615B04A2C5}"/>
              </a:ext>
            </a:extLst>
          </p:cNvPr>
          <p:cNvSpPr txBox="1">
            <a:spLocks/>
          </p:cNvSpPr>
          <p:nvPr/>
        </p:nvSpPr>
        <p:spPr>
          <a:xfrm>
            <a:off x="677333" y="5142738"/>
            <a:ext cx="9459443" cy="45631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accent1">
                    <a:lumMod val="75000"/>
                  </a:schemeClr>
                </a:solidFill>
              </a:rPr>
              <a:t>Graphical Method to Solve IPP</a:t>
            </a:r>
          </a:p>
        </p:txBody>
      </p:sp>
      <p:sp>
        <p:nvSpPr>
          <p:cNvPr id="8" name="Oval 7">
            <a:extLst>
              <a:ext uri="{FF2B5EF4-FFF2-40B4-BE49-F238E27FC236}">
                <a16:creationId xmlns:a16="http://schemas.microsoft.com/office/drawing/2014/main" id="{428646C5-4860-4641-BC42-DAA0369BD748}"/>
              </a:ext>
            </a:extLst>
          </p:cNvPr>
          <p:cNvSpPr/>
          <p:nvPr/>
        </p:nvSpPr>
        <p:spPr>
          <a:xfrm>
            <a:off x="6739943" y="401962"/>
            <a:ext cx="2640169" cy="8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lumMod val="50000"/>
                  </a:schemeClr>
                </a:solidFill>
              </a:rPr>
              <a:t>Core Problem</a:t>
            </a:r>
          </a:p>
        </p:txBody>
      </p:sp>
      <p:sp>
        <p:nvSpPr>
          <p:cNvPr id="9" name="Oval 8">
            <a:extLst>
              <a:ext uri="{FF2B5EF4-FFF2-40B4-BE49-F238E27FC236}">
                <a16:creationId xmlns:a16="http://schemas.microsoft.com/office/drawing/2014/main" id="{9CEDA873-0251-4EDC-8767-FA5DE8EDECE4}"/>
              </a:ext>
            </a:extLst>
          </p:cNvPr>
          <p:cNvSpPr/>
          <p:nvPr/>
        </p:nvSpPr>
        <p:spPr>
          <a:xfrm>
            <a:off x="5531476" y="2002989"/>
            <a:ext cx="2640169" cy="8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lumMod val="50000"/>
                  </a:schemeClr>
                </a:solidFill>
              </a:rPr>
              <a:t>Problem 1</a:t>
            </a:r>
          </a:p>
        </p:txBody>
      </p:sp>
      <p:sp>
        <p:nvSpPr>
          <p:cNvPr id="10" name="Oval 9">
            <a:extLst>
              <a:ext uri="{FF2B5EF4-FFF2-40B4-BE49-F238E27FC236}">
                <a16:creationId xmlns:a16="http://schemas.microsoft.com/office/drawing/2014/main" id="{E1C47E46-4444-415D-ADD7-8FC3355947CE}"/>
              </a:ext>
            </a:extLst>
          </p:cNvPr>
          <p:cNvSpPr/>
          <p:nvPr/>
        </p:nvSpPr>
        <p:spPr>
          <a:xfrm>
            <a:off x="8479172" y="2002989"/>
            <a:ext cx="2640169" cy="8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lumMod val="50000"/>
                  </a:schemeClr>
                </a:solidFill>
              </a:rPr>
              <a:t>Problem 2</a:t>
            </a:r>
          </a:p>
        </p:txBody>
      </p:sp>
      <p:sp>
        <p:nvSpPr>
          <p:cNvPr id="11" name="Oval 10">
            <a:extLst>
              <a:ext uri="{FF2B5EF4-FFF2-40B4-BE49-F238E27FC236}">
                <a16:creationId xmlns:a16="http://schemas.microsoft.com/office/drawing/2014/main" id="{2A4351B8-E34F-4607-8C13-A3C9A3B49726}"/>
              </a:ext>
            </a:extLst>
          </p:cNvPr>
          <p:cNvSpPr/>
          <p:nvPr/>
        </p:nvSpPr>
        <p:spPr>
          <a:xfrm>
            <a:off x="6949516" y="3571516"/>
            <a:ext cx="2640169" cy="8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lumMod val="50000"/>
                  </a:schemeClr>
                </a:solidFill>
              </a:rPr>
              <a:t>Problem 3</a:t>
            </a:r>
          </a:p>
        </p:txBody>
      </p:sp>
      <p:sp>
        <p:nvSpPr>
          <p:cNvPr id="12" name="Oval 11">
            <a:extLst>
              <a:ext uri="{FF2B5EF4-FFF2-40B4-BE49-F238E27FC236}">
                <a16:creationId xmlns:a16="http://schemas.microsoft.com/office/drawing/2014/main" id="{9B6510D5-0BA5-48E0-B9AF-E25F7BDF5D5D}"/>
              </a:ext>
            </a:extLst>
          </p:cNvPr>
          <p:cNvSpPr/>
          <p:nvPr/>
        </p:nvSpPr>
        <p:spPr>
          <a:xfrm>
            <a:off x="9474586" y="3524468"/>
            <a:ext cx="2640169" cy="8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lumMod val="50000"/>
                  </a:schemeClr>
                </a:solidFill>
              </a:rPr>
              <a:t>Problem 4</a:t>
            </a:r>
          </a:p>
        </p:txBody>
      </p:sp>
      <p:cxnSp>
        <p:nvCxnSpPr>
          <p:cNvPr id="14" name="Straight Arrow Connector 13">
            <a:extLst>
              <a:ext uri="{FF2B5EF4-FFF2-40B4-BE49-F238E27FC236}">
                <a16:creationId xmlns:a16="http://schemas.microsoft.com/office/drawing/2014/main" id="{17C81384-17A2-4480-9A35-273CE1437E69}"/>
              </a:ext>
            </a:extLst>
          </p:cNvPr>
          <p:cNvCxnSpPr>
            <a:stCxn id="8" idx="4"/>
            <a:endCxn id="9" idx="0"/>
          </p:cNvCxnSpPr>
          <p:nvPr/>
        </p:nvCxnSpPr>
        <p:spPr>
          <a:xfrm flipH="1">
            <a:off x="6851561" y="1266343"/>
            <a:ext cx="1208467" cy="736646"/>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888B6C81-094D-410B-8124-785B16566411}"/>
              </a:ext>
            </a:extLst>
          </p:cNvPr>
          <p:cNvCxnSpPr>
            <a:cxnSpLocks/>
            <a:stCxn id="8" idx="4"/>
            <a:endCxn id="10" idx="0"/>
          </p:cNvCxnSpPr>
          <p:nvPr/>
        </p:nvCxnSpPr>
        <p:spPr>
          <a:xfrm>
            <a:off x="8060028" y="1266343"/>
            <a:ext cx="1739229" cy="736646"/>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FD61B88B-5D48-4148-910C-35E4B58D1F2C}"/>
              </a:ext>
            </a:extLst>
          </p:cNvPr>
          <p:cNvCxnSpPr>
            <a:cxnSpLocks/>
            <a:stCxn id="10" idx="4"/>
            <a:endCxn id="11" idx="0"/>
          </p:cNvCxnSpPr>
          <p:nvPr/>
        </p:nvCxnSpPr>
        <p:spPr>
          <a:xfrm flipH="1">
            <a:off x="8269601" y="2867370"/>
            <a:ext cx="1529656" cy="704146"/>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C32CCEDB-3B74-4416-A63A-7801C974C568}"/>
              </a:ext>
            </a:extLst>
          </p:cNvPr>
          <p:cNvCxnSpPr>
            <a:cxnSpLocks/>
            <a:stCxn id="10" idx="4"/>
            <a:endCxn id="12" idx="0"/>
          </p:cNvCxnSpPr>
          <p:nvPr/>
        </p:nvCxnSpPr>
        <p:spPr>
          <a:xfrm>
            <a:off x="9799257" y="2867370"/>
            <a:ext cx="995414" cy="657098"/>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grpSp>
        <p:nvGrpSpPr>
          <p:cNvPr id="49" name="Group 48">
            <a:extLst>
              <a:ext uri="{FF2B5EF4-FFF2-40B4-BE49-F238E27FC236}">
                <a16:creationId xmlns:a16="http://schemas.microsoft.com/office/drawing/2014/main" id="{751296C6-DAEF-4BF2-AACC-B4E6CA6BB9B4}"/>
              </a:ext>
            </a:extLst>
          </p:cNvPr>
          <p:cNvGrpSpPr/>
          <p:nvPr/>
        </p:nvGrpSpPr>
        <p:grpSpPr>
          <a:xfrm>
            <a:off x="5193743" y="5001547"/>
            <a:ext cx="3882149" cy="1523500"/>
            <a:chOff x="5193743" y="5001547"/>
            <a:chExt cx="3882149" cy="1523500"/>
          </a:xfrm>
        </p:grpSpPr>
        <p:cxnSp>
          <p:nvCxnSpPr>
            <p:cNvPr id="33" name="Straight Connector 32">
              <a:extLst>
                <a:ext uri="{FF2B5EF4-FFF2-40B4-BE49-F238E27FC236}">
                  <a16:creationId xmlns:a16="http://schemas.microsoft.com/office/drawing/2014/main" id="{9E4D6B58-8F12-4DE0-8915-83B154341007}"/>
                </a:ext>
              </a:extLst>
            </p:cNvPr>
            <p:cNvCxnSpPr>
              <a:cxnSpLocks/>
            </p:cNvCxnSpPr>
            <p:nvPr/>
          </p:nvCxnSpPr>
          <p:spPr>
            <a:xfrm>
              <a:off x="5462787" y="6156101"/>
              <a:ext cx="3320605"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35" name="Straight Connector 34">
              <a:extLst>
                <a:ext uri="{FF2B5EF4-FFF2-40B4-BE49-F238E27FC236}">
                  <a16:creationId xmlns:a16="http://schemas.microsoft.com/office/drawing/2014/main" id="{0A8AECF0-06FF-4000-9FB5-5225F01D05A4}"/>
                </a:ext>
              </a:extLst>
            </p:cNvPr>
            <p:cNvCxnSpPr>
              <a:cxnSpLocks/>
            </p:cNvCxnSpPr>
            <p:nvPr/>
          </p:nvCxnSpPr>
          <p:spPr>
            <a:xfrm flipV="1">
              <a:off x="8060027" y="5239554"/>
              <a:ext cx="0" cy="916547"/>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36" name="Straight Connector 35">
              <a:extLst>
                <a:ext uri="{FF2B5EF4-FFF2-40B4-BE49-F238E27FC236}">
                  <a16:creationId xmlns:a16="http://schemas.microsoft.com/office/drawing/2014/main" id="{C6197F41-B190-4720-945D-27EA44CF76BA}"/>
                </a:ext>
              </a:extLst>
            </p:cNvPr>
            <p:cNvCxnSpPr>
              <a:cxnSpLocks/>
            </p:cNvCxnSpPr>
            <p:nvPr/>
          </p:nvCxnSpPr>
          <p:spPr>
            <a:xfrm flipV="1">
              <a:off x="6153954" y="5239554"/>
              <a:ext cx="0" cy="916548"/>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41" name="Content Placeholder 2">
              <a:extLst>
                <a:ext uri="{FF2B5EF4-FFF2-40B4-BE49-F238E27FC236}">
                  <a16:creationId xmlns:a16="http://schemas.microsoft.com/office/drawing/2014/main" id="{412E7D1F-0075-4A6F-B4E6-4F712F92A00E}"/>
                </a:ext>
              </a:extLst>
            </p:cNvPr>
            <p:cNvSpPr txBox="1">
              <a:spLocks/>
            </p:cNvSpPr>
            <p:nvPr/>
          </p:nvSpPr>
          <p:spPr>
            <a:xfrm>
              <a:off x="5790463" y="5001547"/>
              <a:ext cx="726981" cy="34092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1200" b="1" dirty="0">
                  <a:solidFill>
                    <a:schemeClr val="tx2">
                      <a:lumMod val="50000"/>
                    </a:schemeClr>
                  </a:solidFill>
                </a:rPr>
                <a:t>Upper</a:t>
              </a:r>
            </a:p>
          </p:txBody>
        </p:sp>
        <p:sp>
          <p:nvSpPr>
            <p:cNvPr id="42" name="Content Placeholder 2">
              <a:extLst>
                <a:ext uri="{FF2B5EF4-FFF2-40B4-BE49-F238E27FC236}">
                  <a16:creationId xmlns:a16="http://schemas.microsoft.com/office/drawing/2014/main" id="{A1C05131-A3E4-4ACA-AD89-CA2DE4145AAD}"/>
                </a:ext>
              </a:extLst>
            </p:cNvPr>
            <p:cNvSpPr txBox="1">
              <a:spLocks/>
            </p:cNvSpPr>
            <p:nvPr/>
          </p:nvSpPr>
          <p:spPr>
            <a:xfrm>
              <a:off x="7696536" y="5001547"/>
              <a:ext cx="726981" cy="34092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1200" b="1" dirty="0">
                  <a:solidFill>
                    <a:schemeClr val="tx2">
                      <a:lumMod val="50000"/>
                    </a:schemeClr>
                  </a:solidFill>
                </a:rPr>
                <a:t>Lower</a:t>
              </a:r>
            </a:p>
          </p:txBody>
        </p:sp>
        <p:sp>
          <p:nvSpPr>
            <p:cNvPr id="43" name="Content Placeholder 2">
              <a:extLst>
                <a:ext uri="{FF2B5EF4-FFF2-40B4-BE49-F238E27FC236}">
                  <a16:creationId xmlns:a16="http://schemas.microsoft.com/office/drawing/2014/main" id="{FD2F4DAA-2426-45E3-8B43-16C40AC803B5}"/>
                </a:ext>
              </a:extLst>
            </p:cNvPr>
            <p:cNvSpPr txBox="1">
              <a:spLocks/>
            </p:cNvSpPr>
            <p:nvPr/>
          </p:nvSpPr>
          <p:spPr>
            <a:xfrm>
              <a:off x="7952154" y="5807429"/>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&gt;=</a:t>
              </a:r>
              <a:endParaRPr lang="en-US" b="1" dirty="0">
                <a:solidFill>
                  <a:srgbClr val="FF0000"/>
                </a:solidFill>
              </a:endParaRPr>
            </a:p>
          </p:txBody>
        </p:sp>
        <p:sp>
          <p:nvSpPr>
            <p:cNvPr id="44" name="Content Placeholder 2">
              <a:extLst>
                <a:ext uri="{FF2B5EF4-FFF2-40B4-BE49-F238E27FC236}">
                  <a16:creationId xmlns:a16="http://schemas.microsoft.com/office/drawing/2014/main" id="{A59553DB-C86D-44D4-9BB9-386D9F56E5DD}"/>
                </a:ext>
              </a:extLst>
            </p:cNvPr>
            <p:cNvSpPr txBox="1">
              <a:spLocks/>
            </p:cNvSpPr>
            <p:nvPr/>
          </p:nvSpPr>
          <p:spPr>
            <a:xfrm>
              <a:off x="5684919" y="5807429"/>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&lt;=</a:t>
              </a:r>
              <a:endParaRPr lang="en-US" b="1" dirty="0">
                <a:solidFill>
                  <a:srgbClr val="FF0000"/>
                </a:solidFill>
              </a:endParaRPr>
            </a:p>
          </p:txBody>
        </p:sp>
        <p:sp>
          <p:nvSpPr>
            <p:cNvPr id="45" name="Content Placeholder 2">
              <a:extLst>
                <a:ext uri="{FF2B5EF4-FFF2-40B4-BE49-F238E27FC236}">
                  <a16:creationId xmlns:a16="http://schemas.microsoft.com/office/drawing/2014/main" id="{FBE2A8F9-F9F0-4FDD-8477-661ECC1219F8}"/>
                </a:ext>
              </a:extLst>
            </p:cNvPr>
            <p:cNvSpPr txBox="1">
              <a:spLocks/>
            </p:cNvSpPr>
            <p:nvPr/>
          </p:nvSpPr>
          <p:spPr>
            <a:xfrm>
              <a:off x="5193743" y="6176376"/>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0</a:t>
              </a:r>
              <a:endParaRPr lang="en-US" b="1" dirty="0">
                <a:solidFill>
                  <a:srgbClr val="FF0000"/>
                </a:solidFill>
              </a:endParaRPr>
            </a:p>
          </p:txBody>
        </p:sp>
        <p:sp>
          <p:nvSpPr>
            <p:cNvPr id="46" name="Content Placeholder 2">
              <a:extLst>
                <a:ext uri="{FF2B5EF4-FFF2-40B4-BE49-F238E27FC236}">
                  <a16:creationId xmlns:a16="http://schemas.microsoft.com/office/drawing/2014/main" id="{DAA97652-DCAA-460A-83D2-4CC08B5B6AAD}"/>
                </a:ext>
              </a:extLst>
            </p:cNvPr>
            <p:cNvSpPr txBox="1">
              <a:spLocks/>
            </p:cNvSpPr>
            <p:nvPr/>
          </p:nvSpPr>
          <p:spPr>
            <a:xfrm>
              <a:off x="8479172" y="6176376"/>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10</a:t>
              </a:r>
              <a:endParaRPr lang="en-US" b="1" dirty="0">
                <a:solidFill>
                  <a:srgbClr val="FF0000"/>
                </a:solidFill>
              </a:endParaRPr>
            </a:p>
          </p:txBody>
        </p:sp>
        <p:sp>
          <p:nvSpPr>
            <p:cNvPr id="47" name="Content Placeholder 2">
              <a:extLst>
                <a:ext uri="{FF2B5EF4-FFF2-40B4-BE49-F238E27FC236}">
                  <a16:creationId xmlns:a16="http://schemas.microsoft.com/office/drawing/2014/main" id="{EBE409B1-7917-4144-A08E-7CEFF7CECFB8}"/>
                </a:ext>
              </a:extLst>
            </p:cNvPr>
            <p:cNvSpPr txBox="1">
              <a:spLocks/>
            </p:cNvSpPr>
            <p:nvPr/>
          </p:nvSpPr>
          <p:spPr>
            <a:xfrm>
              <a:off x="5864496" y="6176376"/>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3</a:t>
              </a:r>
              <a:endParaRPr lang="en-US" b="1" dirty="0">
                <a:solidFill>
                  <a:srgbClr val="FF0000"/>
                </a:solidFill>
              </a:endParaRPr>
            </a:p>
          </p:txBody>
        </p:sp>
        <p:sp>
          <p:nvSpPr>
            <p:cNvPr id="48" name="Content Placeholder 2">
              <a:extLst>
                <a:ext uri="{FF2B5EF4-FFF2-40B4-BE49-F238E27FC236}">
                  <a16:creationId xmlns:a16="http://schemas.microsoft.com/office/drawing/2014/main" id="{FCDB067D-91A5-4607-A4F2-704752EE0E64}"/>
                </a:ext>
              </a:extLst>
            </p:cNvPr>
            <p:cNvSpPr txBox="1">
              <a:spLocks/>
            </p:cNvSpPr>
            <p:nvPr/>
          </p:nvSpPr>
          <p:spPr>
            <a:xfrm>
              <a:off x="7754447" y="6176376"/>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7</a:t>
              </a:r>
              <a:endParaRPr lang="en-US" b="1" dirty="0">
                <a:solidFill>
                  <a:srgbClr val="FF0000"/>
                </a:solidFill>
              </a:endParaRPr>
            </a:p>
          </p:txBody>
        </p:sp>
      </p:grpSp>
    </p:spTree>
    <p:extLst>
      <p:ext uri="{BB962C8B-B14F-4D97-AF65-F5344CB8AC3E}">
        <p14:creationId xmlns:p14="http://schemas.microsoft.com/office/powerpoint/2010/main" val="400080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animBg="1"/>
      <p:bldP spid="9" grpId="0" animBg="1"/>
      <p:bldP spid="10" grpId="0" animBg="1"/>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677334" y="138688"/>
            <a:ext cx="8596668" cy="731520"/>
          </a:xfrm>
        </p:spPr>
        <p:txBody>
          <a:bodyPr/>
          <a:lstStyle/>
          <a:p>
            <a:r>
              <a:rPr lang="en-US" dirty="0"/>
              <a:t>Branch and Bound Example</a:t>
            </a:r>
          </a:p>
        </p:txBody>
      </p:sp>
      <p:sp>
        <p:nvSpPr>
          <p:cNvPr id="7" name="Content Placeholder 2">
            <a:extLst>
              <a:ext uri="{FF2B5EF4-FFF2-40B4-BE49-F238E27FC236}">
                <a16:creationId xmlns:a16="http://schemas.microsoft.com/office/drawing/2014/main" id="{45B6CC9B-0BA4-46D7-BD62-72AE0140AD8C}"/>
              </a:ext>
            </a:extLst>
          </p:cNvPr>
          <p:cNvSpPr txBox="1">
            <a:spLocks/>
          </p:cNvSpPr>
          <p:nvPr/>
        </p:nvSpPr>
        <p:spPr>
          <a:xfrm>
            <a:off x="733142" y="870208"/>
            <a:ext cx="3663494" cy="350137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 </a:t>
            </a: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t>(0 &lt;= x1, x2 &lt;= 7)</a:t>
            </a:r>
          </a:p>
          <a:p>
            <a:pPr marL="0" indent="0">
              <a:buFont typeface="Wingdings 3" charset="2"/>
              <a:buNone/>
            </a:pPr>
            <a:r>
              <a:rPr lang="en-US" sz="2000" i="1" dirty="0"/>
              <a:t>x1, x2 are integers</a:t>
            </a:r>
          </a:p>
        </p:txBody>
      </p:sp>
      <p:cxnSp>
        <p:nvCxnSpPr>
          <p:cNvPr id="4" name="Straight Arrow Connector 3">
            <a:extLst>
              <a:ext uri="{FF2B5EF4-FFF2-40B4-BE49-F238E27FC236}">
                <a16:creationId xmlns:a16="http://schemas.microsoft.com/office/drawing/2014/main" id="{5B5E38DB-36F0-4139-8835-9610A1C665F6}"/>
              </a:ext>
            </a:extLst>
          </p:cNvPr>
          <p:cNvCxnSpPr>
            <a:cxnSpLocks/>
          </p:cNvCxnSpPr>
          <p:nvPr/>
        </p:nvCxnSpPr>
        <p:spPr>
          <a:xfrm flipH="1">
            <a:off x="3657600" y="1059901"/>
            <a:ext cx="1664834" cy="4811"/>
          </a:xfrm>
          <a:prstGeom prst="straightConnector1">
            <a:avLst/>
          </a:prstGeom>
          <a:ln w="47625">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8" name="Oval 7">
            <a:extLst>
              <a:ext uri="{FF2B5EF4-FFF2-40B4-BE49-F238E27FC236}">
                <a16:creationId xmlns:a16="http://schemas.microsoft.com/office/drawing/2014/main" id="{702342E4-B9BD-465C-952C-B076FD8005D4}"/>
              </a:ext>
            </a:extLst>
          </p:cNvPr>
          <p:cNvSpPr/>
          <p:nvPr/>
        </p:nvSpPr>
        <p:spPr>
          <a:xfrm>
            <a:off x="5322434" y="839305"/>
            <a:ext cx="405009" cy="4411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9" name="Straight Arrow Connector 8">
            <a:extLst>
              <a:ext uri="{FF2B5EF4-FFF2-40B4-BE49-F238E27FC236}">
                <a16:creationId xmlns:a16="http://schemas.microsoft.com/office/drawing/2014/main" id="{23C9A8CA-5F68-4827-9B28-5242FB0E2E1D}"/>
              </a:ext>
            </a:extLst>
          </p:cNvPr>
          <p:cNvCxnSpPr>
            <a:cxnSpLocks/>
          </p:cNvCxnSpPr>
          <p:nvPr/>
        </p:nvCxnSpPr>
        <p:spPr>
          <a:xfrm flipH="1">
            <a:off x="3657600" y="2097981"/>
            <a:ext cx="1664834" cy="11332"/>
          </a:xfrm>
          <a:prstGeom prst="straightConnector1">
            <a:avLst/>
          </a:prstGeom>
          <a:ln w="47625">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2FC3C540-948F-4927-860A-E47F1A88F2A9}"/>
              </a:ext>
            </a:extLst>
          </p:cNvPr>
          <p:cNvCxnSpPr>
            <a:cxnSpLocks/>
          </p:cNvCxnSpPr>
          <p:nvPr/>
        </p:nvCxnSpPr>
        <p:spPr>
          <a:xfrm flipH="1">
            <a:off x="3657600" y="2710858"/>
            <a:ext cx="1664834" cy="0"/>
          </a:xfrm>
          <a:prstGeom prst="straightConnector1">
            <a:avLst/>
          </a:prstGeom>
          <a:ln w="47625">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6D3FFA90-998A-4B04-8984-5BF7B08E225C}"/>
              </a:ext>
            </a:extLst>
          </p:cNvPr>
          <p:cNvCxnSpPr>
            <a:cxnSpLocks/>
          </p:cNvCxnSpPr>
          <p:nvPr/>
        </p:nvCxnSpPr>
        <p:spPr>
          <a:xfrm flipH="1">
            <a:off x="3657600" y="3244013"/>
            <a:ext cx="1664832" cy="0"/>
          </a:xfrm>
          <a:prstGeom prst="straightConnector1">
            <a:avLst/>
          </a:prstGeom>
          <a:ln w="47625">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5" name="Right Brace 14">
            <a:extLst>
              <a:ext uri="{FF2B5EF4-FFF2-40B4-BE49-F238E27FC236}">
                <a16:creationId xmlns:a16="http://schemas.microsoft.com/office/drawing/2014/main" id="{82C16FC4-7EC6-4220-9BCE-100839AAD9F7}"/>
              </a:ext>
            </a:extLst>
          </p:cNvPr>
          <p:cNvSpPr/>
          <p:nvPr/>
        </p:nvSpPr>
        <p:spPr>
          <a:xfrm>
            <a:off x="3260178" y="1690787"/>
            <a:ext cx="384896" cy="774264"/>
          </a:xfrm>
          <a:prstGeom prst="rightBrace">
            <a:avLst>
              <a:gd name="adj1" fmla="val 18096"/>
              <a:gd name="adj2" fmla="val 51618"/>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6" name="Oval 15">
            <a:extLst>
              <a:ext uri="{FF2B5EF4-FFF2-40B4-BE49-F238E27FC236}">
                <a16:creationId xmlns:a16="http://schemas.microsoft.com/office/drawing/2014/main" id="{56AD2D5D-21C5-485B-A6A0-74CDE8553B56}"/>
              </a:ext>
            </a:extLst>
          </p:cNvPr>
          <p:cNvSpPr/>
          <p:nvPr/>
        </p:nvSpPr>
        <p:spPr>
          <a:xfrm>
            <a:off x="5322434" y="1877385"/>
            <a:ext cx="405009" cy="4411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 name="Oval 16">
            <a:extLst>
              <a:ext uri="{FF2B5EF4-FFF2-40B4-BE49-F238E27FC236}">
                <a16:creationId xmlns:a16="http://schemas.microsoft.com/office/drawing/2014/main" id="{46ADCCE9-EF56-4F8C-B108-37CE4B2D473E}"/>
              </a:ext>
            </a:extLst>
          </p:cNvPr>
          <p:cNvSpPr/>
          <p:nvPr/>
        </p:nvSpPr>
        <p:spPr>
          <a:xfrm>
            <a:off x="5322434" y="2490262"/>
            <a:ext cx="405009" cy="4411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 name="Oval 17">
            <a:extLst>
              <a:ext uri="{FF2B5EF4-FFF2-40B4-BE49-F238E27FC236}">
                <a16:creationId xmlns:a16="http://schemas.microsoft.com/office/drawing/2014/main" id="{A0F8465B-1D73-444E-B9C5-E438F97CB604}"/>
              </a:ext>
            </a:extLst>
          </p:cNvPr>
          <p:cNvSpPr/>
          <p:nvPr/>
        </p:nvSpPr>
        <p:spPr>
          <a:xfrm>
            <a:off x="5322434" y="3023417"/>
            <a:ext cx="405009" cy="4411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9" name="Content Placeholder 2">
            <a:extLst>
              <a:ext uri="{FF2B5EF4-FFF2-40B4-BE49-F238E27FC236}">
                <a16:creationId xmlns:a16="http://schemas.microsoft.com/office/drawing/2014/main" id="{4F22300A-DB05-4912-B465-1EA6F47F6B2F}"/>
              </a:ext>
            </a:extLst>
          </p:cNvPr>
          <p:cNvSpPr txBox="1">
            <a:spLocks/>
          </p:cNvSpPr>
          <p:nvPr/>
        </p:nvSpPr>
        <p:spPr>
          <a:xfrm>
            <a:off x="6350696" y="1493325"/>
            <a:ext cx="4223944"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t>0 &lt;= x1, x2 &lt;= 7</a:t>
            </a:r>
          </a:p>
        </p:txBody>
      </p:sp>
      <p:sp>
        <p:nvSpPr>
          <p:cNvPr id="30" name="Content Placeholder 2">
            <a:extLst>
              <a:ext uri="{FF2B5EF4-FFF2-40B4-BE49-F238E27FC236}">
                <a16:creationId xmlns:a16="http://schemas.microsoft.com/office/drawing/2014/main" id="{82738739-8D4D-4104-975E-B840D59A3F75}"/>
              </a:ext>
            </a:extLst>
          </p:cNvPr>
          <p:cNvSpPr txBox="1">
            <a:spLocks/>
          </p:cNvSpPr>
          <p:nvPr/>
        </p:nvSpPr>
        <p:spPr>
          <a:xfrm>
            <a:off x="6350696" y="714363"/>
            <a:ext cx="4223944" cy="731520"/>
          </a:xfrm>
          <a:prstGeom prst="rect">
            <a:avLst/>
          </a:prstGeom>
          <a:noFill/>
          <a:ln w="12700">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As Step 1, use 1, 2, 3 and 4 and term is </a:t>
            </a:r>
            <a:r>
              <a:rPr lang="en-US" sz="2000" b="1" dirty="0">
                <a:solidFill>
                  <a:schemeClr val="accent1">
                    <a:lumMod val="75000"/>
                  </a:schemeClr>
                </a:solidFill>
              </a:rPr>
              <a:t>SUB PROBLEM 1</a:t>
            </a:r>
          </a:p>
        </p:txBody>
      </p:sp>
      <p:sp>
        <p:nvSpPr>
          <p:cNvPr id="31" name="Content Placeholder 2">
            <a:extLst>
              <a:ext uri="{FF2B5EF4-FFF2-40B4-BE49-F238E27FC236}">
                <a16:creationId xmlns:a16="http://schemas.microsoft.com/office/drawing/2014/main" id="{F8D8E353-547B-4EAD-B755-6FDB3E22000E}"/>
              </a:ext>
            </a:extLst>
          </p:cNvPr>
          <p:cNvSpPr txBox="1">
            <a:spLocks/>
          </p:cNvSpPr>
          <p:nvPr/>
        </p:nvSpPr>
        <p:spPr>
          <a:xfrm>
            <a:off x="6350696" y="3795386"/>
            <a:ext cx="4177617" cy="45631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Use Graphical Method to Solve</a:t>
            </a:r>
            <a:r>
              <a:rPr lang="en-US" b="1" dirty="0">
                <a:solidFill>
                  <a:schemeClr val="accent1">
                    <a:lumMod val="75000"/>
                  </a:schemeClr>
                </a:solidFill>
              </a:rPr>
              <a:t> SUB PROBLEM 1</a:t>
            </a:r>
          </a:p>
        </p:txBody>
      </p:sp>
    </p:spTree>
    <p:extLst>
      <p:ext uri="{BB962C8B-B14F-4D97-AF65-F5344CB8AC3E}">
        <p14:creationId xmlns:p14="http://schemas.microsoft.com/office/powerpoint/2010/main" val="384758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animBg="1"/>
      <p:bldP spid="17" grpId="0" animBg="1"/>
      <p:bldP spid="18" grpId="0" animBg="1"/>
      <p:bldP spid="29" grpId="0"/>
      <p:bldP spid="30" grpId="0" animBg="1"/>
      <p:bldP spid="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677334" y="138688"/>
            <a:ext cx="8596668" cy="731520"/>
          </a:xfrm>
        </p:spPr>
        <p:txBody>
          <a:bodyPr>
            <a:normAutofit fontScale="90000"/>
          </a:bodyPr>
          <a:lstStyle/>
          <a:p>
            <a:r>
              <a:rPr lang="en-US" dirty="0"/>
              <a:t>Branch and Bound Example – Sub Problem 1</a:t>
            </a:r>
          </a:p>
        </p:txBody>
      </p:sp>
      <p:sp>
        <p:nvSpPr>
          <p:cNvPr id="7" name="Content Placeholder 2">
            <a:extLst>
              <a:ext uri="{FF2B5EF4-FFF2-40B4-BE49-F238E27FC236}">
                <a16:creationId xmlns:a16="http://schemas.microsoft.com/office/drawing/2014/main" id="{45B6CC9B-0BA4-46D7-BD62-72AE0140AD8C}"/>
              </a:ext>
            </a:extLst>
          </p:cNvPr>
          <p:cNvSpPr txBox="1">
            <a:spLocks/>
          </p:cNvSpPr>
          <p:nvPr/>
        </p:nvSpPr>
        <p:spPr>
          <a:xfrm>
            <a:off x="733142" y="870208"/>
            <a:ext cx="3663494" cy="281297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 </a:t>
            </a: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t>(0 &lt;= x1, x2 &lt;= 7)</a:t>
            </a:r>
          </a:p>
          <a:p>
            <a:pPr marL="0" indent="0">
              <a:buFont typeface="Wingdings 3" charset="2"/>
              <a:buNone/>
            </a:pPr>
            <a:r>
              <a:rPr lang="en-US" sz="2000" i="1" dirty="0"/>
              <a:t>x1, x2 are integers</a:t>
            </a:r>
          </a:p>
        </p:txBody>
      </p:sp>
      <p:cxnSp>
        <p:nvCxnSpPr>
          <p:cNvPr id="4" name="Straight Arrow Connector 3">
            <a:extLst>
              <a:ext uri="{FF2B5EF4-FFF2-40B4-BE49-F238E27FC236}">
                <a16:creationId xmlns:a16="http://schemas.microsoft.com/office/drawing/2014/main" id="{5B5E38DB-36F0-4139-8835-9610A1C665F6}"/>
              </a:ext>
            </a:extLst>
          </p:cNvPr>
          <p:cNvCxnSpPr>
            <a:cxnSpLocks/>
          </p:cNvCxnSpPr>
          <p:nvPr/>
        </p:nvCxnSpPr>
        <p:spPr>
          <a:xfrm flipH="1">
            <a:off x="3657600" y="1059901"/>
            <a:ext cx="1664834" cy="4811"/>
          </a:xfrm>
          <a:prstGeom prst="straightConnector1">
            <a:avLst/>
          </a:prstGeom>
          <a:ln w="47625">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8" name="Oval 7">
            <a:extLst>
              <a:ext uri="{FF2B5EF4-FFF2-40B4-BE49-F238E27FC236}">
                <a16:creationId xmlns:a16="http://schemas.microsoft.com/office/drawing/2014/main" id="{702342E4-B9BD-465C-952C-B076FD8005D4}"/>
              </a:ext>
            </a:extLst>
          </p:cNvPr>
          <p:cNvSpPr/>
          <p:nvPr/>
        </p:nvSpPr>
        <p:spPr>
          <a:xfrm>
            <a:off x="5322434" y="839305"/>
            <a:ext cx="405009" cy="4411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9" name="Straight Arrow Connector 8">
            <a:extLst>
              <a:ext uri="{FF2B5EF4-FFF2-40B4-BE49-F238E27FC236}">
                <a16:creationId xmlns:a16="http://schemas.microsoft.com/office/drawing/2014/main" id="{23C9A8CA-5F68-4827-9B28-5242FB0E2E1D}"/>
              </a:ext>
            </a:extLst>
          </p:cNvPr>
          <p:cNvCxnSpPr>
            <a:cxnSpLocks/>
          </p:cNvCxnSpPr>
          <p:nvPr/>
        </p:nvCxnSpPr>
        <p:spPr>
          <a:xfrm flipH="1">
            <a:off x="3657600" y="2097981"/>
            <a:ext cx="1664834" cy="11332"/>
          </a:xfrm>
          <a:prstGeom prst="straightConnector1">
            <a:avLst/>
          </a:prstGeom>
          <a:ln w="47625">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2FC3C540-948F-4927-860A-E47F1A88F2A9}"/>
              </a:ext>
            </a:extLst>
          </p:cNvPr>
          <p:cNvCxnSpPr>
            <a:cxnSpLocks/>
          </p:cNvCxnSpPr>
          <p:nvPr/>
        </p:nvCxnSpPr>
        <p:spPr>
          <a:xfrm flipH="1">
            <a:off x="3657600" y="2710858"/>
            <a:ext cx="1664834" cy="0"/>
          </a:xfrm>
          <a:prstGeom prst="straightConnector1">
            <a:avLst/>
          </a:prstGeom>
          <a:ln w="47625">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6D3FFA90-998A-4B04-8984-5BF7B08E225C}"/>
              </a:ext>
            </a:extLst>
          </p:cNvPr>
          <p:cNvCxnSpPr>
            <a:cxnSpLocks/>
          </p:cNvCxnSpPr>
          <p:nvPr/>
        </p:nvCxnSpPr>
        <p:spPr>
          <a:xfrm flipH="1">
            <a:off x="3657600" y="3244013"/>
            <a:ext cx="1664832" cy="0"/>
          </a:xfrm>
          <a:prstGeom prst="straightConnector1">
            <a:avLst/>
          </a:prstGeom>
          <a:ln w="47625">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5" name="Right Brace 14">
            <a:extLst>
              <a:ext uri="{FF2B5EF4-FFF2-40B4-BE49-F238E27FC236}">
                <a16:creationId xmlns:a16="http://schemas.microsoft.com/office/drawing/2014/main" id="{82C16FC4-7EC6-4220-9BCE-100839AAD9F7}"/>
              </a:ext>
            </a:extLst>
          </p:cNvPr>
          <p:cNvSpPr/>
          <p:nvPr/>
        </p:nvSpPr>
        <p:spPr>
          <a:xfrm>
            <a:off x="3260178" y="1690787"/>
            <a:ext cx="384896" cy="774264"/>
          </a:xfrm>
          <a:prstGeom prst="rightBrace">
            <a:avLst>
              <a:gd name="adj1" fmla="val 18096"/>
              <a:gd name="adj2" fmla="val 51618"/>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6" name="Oval 15">
            <a:extLst>
              <a:ext uri="{FF2B5EF4-FFF2-40B4-BE49-F238E27FC236}">
                <a16:creationId xmlns:a16="http://schemas.microsoft.com/office/drawing/2014/main" id="{56AD2D5D-21C5-485B-A6A0-74CDE8553B56}"/>
              </a:ext>
            </a:extLst>
          </p:cNvPr>
          <p:cNvSpPr/>
          <p:nvPr/>
        </p:nvSpPr>
        <p:spPr>
          <a:xfrm>
            <a:off x="5322434" y="1877385"/>
            <a:ext cx="405009" cy="4411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 name="Oval 16">
            <a:extLst>
              <a:ext uri="{FF2B5EF4-FFF2-40B4-BE49-F238E27FC236}">
                <a16:creationId xmlns:a16="http://schemas.microsoft.com/office/drawing/2014/main" id="{46ADCCE9-EF56-4F8C-B108-37CE4B2D473E}"/>
              </a:ext>
            </a:extLst>
          </p:cNvPr>
          <p:cNvSpPr/>
          <p:nvPr/>
        </p:nvSpPr>
        <p:spPr>
          <a:xfrm>
            <a:off x="5322434" y="2490262"/>
            <a:ext cx="405009" cy="4411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 name="Oval 17">
            <a:extLst>
              <a:ext uri="{FF2B5EF4-FFF2-40B4-BE49-F238E27FC236}">
                <a16:creationId xmlns:a16="http://schemas.microsoft.com/office/drawing/2014/main" id="{A0F8465B-1D73-444E-B9C5-E438F97CB604}"/>
              </a:ext>
            </a:extLst>
          </p:cNvPr>
          <p:cNvSpPr/>
          <p:nvPr/>
        </p:nvSpPr>
        <p:spPr>
          <a:xfrm>
            <a:off x="5322434" y="3023417"/>
            <a:ext cx="405009" cy="4411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9" name="Content Placeholder 2">
            <a:extLst>
              <a:ext uri="{FF2B5EF4-FFF2-40B4-BE49-F238E27FC236}">
                <a16:creationId xmlns:a16="http://schemas.microsoft.com/office/drawing/2014/main" id="{4F22300A-DB05-4912-B465-1EA6F47F6B2F}"/>
              </a:ext>
            </a:extLst>
          </p:cNvPr>
          <p:cNvSpPr txBox="1">
            <a:spLocks/>
          </p:cNvSpPr>
          <p:nvPr/>
        </p:nvSpPr>
        <p:spPr>
          <a:xfrm>
            <a:off x="6350696" y="1493325"/>
            <a:ext cx="4223944"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t>0 &lt;= x1, x2 &lt;= 7</a:t>
            </a:r>
          </a:p>
        </p:txBody>
      </p:sp>
      <p:sp>
        <p:nvSpPr>
          <p:cNvPr id="30" name="Content Placeholder 2">
            <a:extLst>
              <a:ext uri="{FF2B5EF4-FFF2-40B4-BE49-F238E27FC236}">
                <a16:creationId xmlns:a16="http://schemas.microsoft.com/office/drawing/2014/main" id="{82738739-8D4D-4104-975E-B840D59A3F75}"/>
              </a:ext>
            </a:extLst>
          </p:cNvPr>
          <p:cNvSpPr txBox="1">
            <a:spLocks/>
          </p:cNvSpPr>
          <p:nvPr/>
        </p:nvSpPr>
        <p:spPr>
          <a:xfrm>
            <a:off x="6350696" y="714363"/>
            <a:ext cx="4223944" cy="731520"/>
          </a:xfrm>
          <a:prstGeom prst="rect">
            <a:avLst/>
          </a:prstGeom>
          <a:noFill/>
          <a:ln w="12700">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As Step 1, use 1, 2, 3 and 4 and term is </a:t>
            </a:r>
            <a:r>
              <a:rPr lang="en-US" sz="2000" b="1" dirty="0">
                <a:solidFill>
                  <a:schemeClr val="accent1">
                    <a:lumMod val="75000"/>
                  </a:schemeClr>
                </a:solidFill>
              </a:rPr>
              <a:t>SUB PROBLEM 1</a:t>
            </a:r>
          </a:p>
        </p:txBody>
      </p:sp>
      <p:sp>
        <p:nvSpPr>
          <p:cNvPr id="31" name="Content Placeholder 2">
            <a:extLst>
              <a:ext uri="{FF2B5EF4-FFF2-40B4-BE49-F238E27FC236}">
                <a16:creationId xmlns:a16="http://schemas.microsoft.com/office/drawing/2014/main" id="{F8D8E353-547B-4EAD-B755-6FDB3E22000E}"/>
              </a:ext>
            </a:extLst>
          </p:cNvPr>
          <p:cNvSpPr txBox="1">
            <a:spLocks/>
          </p:cNvSpPr>
          <p:nvPr/>
        </p:nvSpPr>
        <p:spPr>
          <a:xfrm>
            <a:off x="6350696" y="3795386"/>
            <a:ext cx="4177617" cy="45631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Use Graphical Method to Solve</a:t>
            </a:r>
            <a:r>
              <a:rPr lang="en-US" b="1" dirty="0">
                <a:solidFill>
                  <a:schemeClr val="accent1">
                    <a:lumMod val="75000"/>
                  </a:schemeClr>
                </a:solidFill>
              </a:rPr>
              <a:t> SUB PROBLEM 1</a:t>
            </a:r>
          </a:p>
        </p:txBody>
      </p:sp>
      <p:sp>
        <p:nvSpPr>
          <p:cNvPr id="19" name="Content Placeholder 2">
            <a:extLst>
              <a:ext uri="{FF2B5EF4-FFF2-40B4-BE49-F238E27FC236}">
                <a16:creationId xmlns:a16="http://schemas.microsoft.com/office/drawing/2014/main" id="{83191F2E-93F3-448E-9E84-2BDBEFD7F2DA}"/>
              </a:ext>
            </a:extLst>
          </p:cNvPr>
          <p:cNvSpPr txBox="1">
            <a:spLocks/>
          </p:cNvSpPr>
          <p:nvPr/>
        </p:nvSpPr>
        <p:spPr>
          <a:xfrm>
            <a:off x="798051" y="3877690"/>
            <a:ext cx="4177617" cy="45631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Find the Values of x2 by assuming values of x1 first constraint</a:t>
            </a:r>
            <a:endParaRPr lang="en-US" b="1" dirty="0">
              <a:solidFill>
                <a:schemeClr val="accent1">
                  <a:lumMod val="75000"/>
                </a:schemeClr>
              </a:solidFill>
            </a:endParaRPr>
          </a:p>
        </p:txBody>
      </p:sp>
      <p:sp>
        <p:nvSpPr>
          <p:cNvPr id="20" name="Content Placeholder 2">
            <a:extLst>
              <a:ext uri="{FF2B5EF4-FFF2-40B4-BE49-F238E27FC236}">
                <a16:creationId xmlns:a16="http://schemas.microsoft.com/office/drawing/2014/main" id="{D0BC6DFF-066F-4457-8A15-E406EF01BB2A}"/>
              </a:ext>
            </a:extLst>
          </p:cNvPr>
          <p:cNvSpPr txBox="1">
            <a:spLocks/>
          </p:cNvSpPr>
          <p:nvPr/>
        </p:nvSpPr>
        <p:spPr>
          <a:xfrm>
            <a:off x="860206" y="4620614"/>
            <a:ext cx="3260856" cy="456313"/>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000" i="1" dirty="0"/>
              <a:t>- x1 + 3 x2 = 6</a:t>
            </a:r>
          </a:p>
        </p:txBody>
      </p:sp>
      <p:graphicFrame>
        <p:nvGraphicFramePr>
          <p:cNvPr id="2" name="Table 1">
            <a:extLst>
              <a:ext uri="{FF2B5EF4-FFF2-40B4-BE49-F238E27FC236}">
                <a16:creationId xmlns:a16="http://schemas.microsoft.com/office/drawing/2014/main" id="{CCEB16C9-BFA9-4DD4-8303-B3E01D6037C5}"/>
              </a:ext>
            </a:extLst>
          </p:cNvPr>
          <p:cNvGraphicFramePr>
            <a:graphicFrameLocks noGrp="1"/>
          </p:cNvGraphicFramePr>
          <p:nvPr>
            <p:extLst>
              <p:ext uri="{D42A27DB-BD31-4B8C-83A1-F6EECF244321}">
                <p14:modId xmlns:p14="http://schemas.microsoft.com/office/powerpoint/2010/main" val="2572675975"/>
              </p:ext>
            </p:extLst>
          </p:nvPr>
        </p:nvGraphicFramePr>
        <p:xfrm>
          <a:off x="860206" y="5161578"/>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51155">
                <a:tc>
                  <a:txBody>
                    <a:bodyPr/>
                    <a:lstStyle/>
                    <a:p>
                      <a:pPr algn="ctr"/>
                      <a:r>
                        <a:rPr lang="en-US" sz="1600" dirty="0"/>
                        <a:t> 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098566"/>
                  </a:ext>
                </a:extLst>
              </a:tr>
            </a:tbl>
          </a:graphicData>
        </a:graphic>
      </p:graphicFrame>
      <p:graphicFrame>
        <p:nvGraphicFramePr>
          <p:cNvPr id="22" name="Table 21">
            <a:extLst>
              <a:ext uri="{FF2B5EF4-FFF2-40B4-BE49-F238E27FC236}">
                <a16:creationId xmlns:a16="http://schemas.microsoft.com/office/drawing/2014/main" id="{0312AEA2-545D-4865-A8EA-0710D65152D0}"/>
              </a:ext>
            </a:extLst>
          </p:cNvPr>
          <p:cNvGraphicFramePr>
            <a:graphicFrameLocks noGrp="1"/>
          </p:cNvGraphicFramePr>
          <p:nvPr>
            <p:extLst>
              <p:ext uri="{D42A27DB-BD31-4B8C-83A1-F6EECF244321}">
                <p14:modId xmlns:p14="http://schemas.microsoft.com/office/powerpoint/2010/main" val="1329112728"/>
              </p:ext>
            </p:extLst>
          </p:nvPr>
        </p:nvGraphicFramePr>
        <p:xfrm>
          <a:off x="860206" y="5503747"/>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65045">
                <a:tc>
                  <a:txBody>
                    <a:bodyPr/>
                    <a:lstStyle/>
                    <a:p>
                      <a:pPr algn="ctr"/>
                      <a:r>
                        <a:rPr lang="en-US" sz="1600" dirty="0"/>
                        <a:t> 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90624"/>
                  </a:ext>
                </a:extLst>
              </a:tr>
            </a:tbl>
          </a:graphicData>
        </a:graphic>
      </p:graphicFrame>
      <p:sp>
        <p:nvSpPr>
          <p:cNvPr id="23" name="Content Placeholder 2">
            <a:extLst>
              <a:ext uri="{FF2B5EF4-FFF2-40B4-BE49-F238E27FC236}">
                <a16:creationId xmlns:a16="http://schemas.microsoft.com/office/drawing/2014/main" id="{C24949D2-A777-47D3-AF86-DD7EA777A1D6}"/>
              </a:ext>
            </a:extLst>
          </p:cNvPr>
          <p:cNvSpPr txBox="1">
            <a:spLocks/>
          </p:cNvSpPr>
          <p:nvPr/>
        </p:nvSpPr>
        <p:spPr>
          <a:xfrm>
            <a:off x="6350696" y="4532666"/>
            <a:ext cx="4177617" cy="45631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Find the Values of x2 by assuming values of x1 in second constraint</a:t>
            </a:r>
            <a:endParaRPr lang="en-US" b="1" dirty="0">
              <a:solidFill>
                <a:schemeClr val="accent1">
                  <a:lumMod val="75000"/>
                </a:schemeClr>
              </a:solidFill>
            </a:endParaRPr>
          </a:p>
        </p:txBody>
      </p:sp>
      <p:sp>
        <p:nvSpPr>
          <p:cNvPr id="24" name="Content Placeholder 2">
            <a:extLst>
              <a:ext uri="{FF2B5EF4-FFF2-40B4-BE49-F238E27FC236}">
                <a16:creationId xmlns:a16="http://schemas.microsoft.com/office/drawing/2014/main" id="{E11819C1-99EC-411E-AB27-8C2233AC56A0}"/>
              </a:ext>
            </a:extLst>
          </p:cNvPr>
          <p:cNvSpPr txBox="1">
            <a:spLocks/>
          </p:cNvSpPr>
          <p:nvPr/>
        </p:nvSpPr>
        <p:spPr>
          <a:xfrm>
            <a:off x="6412851" y="5207350"/>
            <a:ext cx="3260856" cy="456313"/>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000" i="1" dirty="0"/>
              <a:t>7 x1 +  x2 = 35</a:t>
            </a:r>
          </a:p>
        </p:txBody>
      </p:sp>
      <p:graphicFrame>
        <p:nvGraphicFramePr>
          <p:cNvPr id="25" name="Table 24">
            <a:extLst>
              <a:ext uri="{FF2B5EF4-FFF2-40B4-BE49-F238E27FC236}">
                <a16:creationId xmlns:a16="http://schemas.microsoft.com/office/drawing/2014/main" id="{D392B897-61BB-4569-8EEF-0390AA6C149A}"/>
              </a:ext>
            </a:extLst>
          </p:cNvPr>
          <p:cNvGraphicFramePr>
            <a:graphicFrameLocks noGrp="1"/>
          </p:cNvGraphicFramePr>
          <p:nvPr>
            <p:extLst>
              <p:ext uri="{D42A27DB-BD31-4B8C-83A1-F6EECF244321}">
                <p14:modId xmlns:p14="http://schemas.microsoft.com/office/powerpoint/2010/main" val="3264962477"/>
              </p:ext>
            </p:extLst>
          </p:nvPr>
        </p:nvGraphicFramePr>
        <p:xfrm>
          <a:off x="6412851" y="5748314"/>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51155">
                <a:tc>
                  <a:txBody>
                    <a:bodyPr/>
                    <a:lstStyle/>
                    <a:p>
                      <a:pPr algn="ctr"/>
                      <a:r>
                        <a:rPr lang="en-US" sz="1600" dirty="0"/>
                        <a:t> 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098566"/>
                  </a:ext>
                </a:extLst>
              </a:tr>
            </a:tbl>
          </a:graphicData>
        </a:graphic>
      </p:graphicFrame>
      <p:graphicFrame>
        <p:nvGraphicFramePr>
          <p:cNvPr id="26" name="Table 25">
            <a:extLst>
              <a:ext uri="{FF2B5EF4-FFF2-40B4-BE49-F238E27FC236}">
                <a16:creationId xmlns:a16="http://schemas.microsoft.com/office/drawing/2014/main" id="{92293C82-6911-4C45-9294-6C94E37604FE}"/>
              </a:ext>
            </a:extLst>
          </p:cNvPr>
          <p:cNvGraphicFramePr>
            <a:graphicFrameLocks noGrp="1"/>
          </p:cNvGraphicFramePr>
          <p:nvPr>
            <p:extLst>
              <p:ext uri="{D42A27DB-BD31-4B8C-83A1-F6EECF244321}">
                <p14:modId xmlns:p14="http://schemas.microsoft.com/office/powerpoint/2010/main" val="93877267"/>
              </p:ext>
            </p:extLst>
          </p:nvPr>
        </p:nvGraphicFramePr>
        <p:xfrm>
          <a:off x="6412851" y="6090483"/>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65045">
                <a:tc>
                  <a:txBody>
                    <a:bodyPr/>
                    <a:lstStyle/>
                    <a:p>
                      <a:pPr algn="ctr"/>
                      <a:r>
                        <a:rPr lang="en-US" sz="1600" dirty="0"/>
                        <a:t> 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t>35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90624"/>
                  </a:ext>
                </a:extLst>
              </a:tr>
            </a:tbl>
          </a:graphicData>
        </a:graphic>
      </p:graphicFrame>
    </p:spTree>
    <p:extLst>
      <p:ext uri="{BB962C8B-B14F-4D97-AF65-F5344CB8AC3E}">
        <p14:creationId xmlns:p14="http://schemas.microsoft.com/office/powerpoint/2010/main" val="3953021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animBg="1"/>
      <p:bldP spid="17" grpId="0" animBg="1"/>
      <p:bldP spid="18" grpId="0" animBg="1"/>
      <p:bldP spid="29" grpId="0"/>
      <p:bldP spid="30" grpId="0" animBg="1"/>
      <p:bldP spid="31" grpId="0"/>
      <p:bldP spid="19" grpId="0"/>
      <p:bldP spid="20" grpId="0"/>
      <p:bldP spid="23" grpId="0"/>
      <p:bldP spid="2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677334" y="138688"/>
            <a:ext cx="9368540" cy="731520"/>
          </a:xfrm>
        </p:spPr>
        <p:txBody>
          <a:bodyPr>
            <a:noAutofit/>
          </a:bodyPr>
          <a:lstStyle/>
          <a:p>
            <a:r>
              <a:rPr lang="en-US" dirty="0"/>
              <a:t>Branch and Bound Example – Sub Problem 1 </a:t>
            </a:r>
          </a:p>
        </p:txBody>
      </p:sp>
      <p:graphicFrame>
        <p:nvGraphicFramePr>
          <p:cNvPr id="54" name="Chart 53">
            <a:extLst>
              <a:ext uri="{FF2B5EF4-FFF2-40B4-BE49-F238E27FC236}">
                <a16:creationId xmlns:a16="http://schemas.microsoft.com/office/drawing/2014/main" id="{6F4CBB8C-6C51-4AC3-A972-D09D86F0D289}"/>
              </a:ext>
            </a:extLst>
          </p:cNvPr>
          <p:cNvGraphicFramePr/>
          <p:nvPr>
            <p:extLst>
              <p:ext uri="{D42A27DB-BD31-4B8C-83A1-F6EECF244321}">
                <p14:modId xmlns:p14="http://schemas.microsoft.com/office/powerpoint/2010/main" val="3851124378"/>
              </p:ext>
            </p:extLst>
          </p:nvPr>
        </p:nvGraphicFramePr>
        <p:xfrm>
          <a:off x="571689" y="870207"/>
          <a:ext cx="4655403" cy="4415777"/>
        </p:xfrm>
        <a:graphic>
          <a:graphicData uri="http://schemas.openxmlformats.org/drawingml/2006/chart">
            <c:chart xmlns:c="http://schemas.openxmlformats.org/drawingml/2006/chart" xmlns:r="http://schemas.openxmlformats.org/officeDocument/2006/relationships" r:id="rId2"/>
          </a:graphicData>
        </a:graphic>
      </p:graphicFrame>
      <p:sp>
        <p:nvSpPr>
          <p:cNvPr id="55" name="Content Placeholder 2">
            <a:extLst>
              <a:ext uri="{FF2B5EF4-FFF2-40B4-BE49-F238E27FC236}">
                <a16:creationId xmlns:a16="http://schemas.microsoft.com/office/drawing/2014/main" id="{7DA59440-37BC-482C-AA22-ED936AB5328A}"/>
              </a:ext>
            </a:extLst>
          </p:cNvPr>
          <p:cNvSpPr txBox="1">
            <a:spLocks/>
          </p:cNvSpPr>
          <p:nvPr/>
        </p:nvSpPr>
        <p:spPr>
          <a:xfrm>
            <a:off x="3722746" y="4174584"/>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1</a:t>
            </a:r>
          </a:p>
        </p:txBody>
      </p:sp>
      <p:sp>
        <p:nvSpPr>
          <p:cNvPr id="56" name="Content Placeholder 2">
            <a:extLst>
              <a:ext uri="{FF2B5EF4-FFF2-40B4-BE49-F238E27FC236}">
                <a16:creationId xmlns:a16="http://schemas.microsoft.com/office/drawing/2014/main" id="{EC72387B-6ADB-4506-B0EC-FE265EF04E76}"/>
              </a:ext>
            </a:extLst>
          </p:cNvPr>
          <p:cNvSpPr txBox="1">
            <a:spLocks/>
          </p:cNvSpPr>
          <p:nvPr/>
        </p:nvSpPr>
        <p:spPr>
          <a:xfrm>
            <a:off x="825216" y="1338795"/>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2</a:t>
            </a:r>
          </a:p>
        </p:txBody>
      </p:sp>
      <p:sp>
        <p:nvSpPr>
          <p:cNvPr id="57" name="Content Placeholder 2">
            <a:extLst>
              <a:ext uri="{FF2B5EF4-FFF2-40B4-BE49-F238E27FC236}">
                <a16:creationId xmlns:a16="http://schemas.microsoft.com/office/drawing/2014/main" id="{A2D595A5-0777-4916-A7BB-2C1F2AE7E139}"/>
              </a:ext>
            </a:extLst>
          </p:cNvPr>
          <p:cNvSpPr txBox="1">
            <a:spLocks/>
          </p:cNvSpPr>
          <p:nvPr/>
        </p:nvSpPr>
        <p:spPr>
          <a:xfrm>
            <a:off x="6848112" y="898277"/>
            <a:ext cx="4772199" cy="43100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600" i="1" dirty="0"/>
              <a:t>Bound – (0 &lt;= x1, x2 &lt;= 7)</a:t>
            </a:r>
          </a:p>
        </p:txBody>
      </p:sp>
      <p:cxnSp>
        <p:nvCxnSpPr>
          <p:cNvPr id="59" name="Straight Connector 58">
            <a:extLst>
              <a:ext uri="{FF2B5EF4-FFF2-40B4-BE49-F238E27FC236}">
                <a16:creationId xmlns:a16="http://schemas.microsoft.com/office/drawing/2014/main" id="{2D967785-90CC-440D-B30B-6F4186BF4E00}"/>
              </a:ext>
            </a:extLst>
          </p:cNvPr>
          <p:cNvCxnSpPr>
            <a:cxnSpLocks/>
            <a:endCxn id="62" idx="1"/>
          </p:cNvCxnSpPr>
          <p:nvPr/>
        </p:nvCxnSpPr>
        <p:spPr>
          <a:xfrm>
            <a:off x="959812" y="4808684"/>
            <a:ext cx="4924652"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Content Placeholder 2">
            <a:extLst>
              <a:ext uri="{FF2B5EF4-FFF2-40B4-BE49-F238E27FC236}">
                <a16:creationId xmlns:a16="http://schemas.microsoft.com/office/drawing/2014/main" id="{F43C078F-3FC5-40E0-A8DD-40D917AE5A84}"/>
              </a:ext>
            </a:extLst>
          </p:cNvPr>
          <p:cNvSpPr txBox="1">
            <a:spLocks/>
          </p:cNvSpPr>
          <p:nvPr/>
        </p:nvSpPr>
        <p:spPr>
          <a:xfrm>
            <a:off x="5884464" y="4621249"/>
            <a:ext cx="896203"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chemeClr val="tx1"/>
                </a:solidFill>
              </a:rPr>
              <a:t>0 &lt;= x1</a:t>
            </a:r>
          </a:p>
        </p:txBody>
      </p:sp>
      <p:cxnSp>
        <p:nvCxnSpPr>
          <p:cNvPr id="63" name="Straight Connector 62">
            <a:extLst>
              <a:ext uri="{FF2B5EF4-FFF2-40B4-BE49-F238E27FC236}">
                <a16:creationId xmlns:a16="http://schemas.microsoft.com/office/drawing/2014/main" id="{9AB7ABA3-B0ED-4FEB-A25B-38487200FE95}"/>
              </a:ext>
            </a:extLst>
          </p:cNvPr>
          <p:cNvCxnSpPr>
            <a:cxnSpLocks/>
            <a:endCxn id="64" idx="1"/>
          </p:cNvCxnSpPr>
          <p:nvPr/>
        </p:nvCxnSpPr>
        <p:spPr>
          <a:xfrm>
            <a:off x="959812" y="4152663"/>
            <a:ext cx="4893995"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Content Placeholder 2">
            <a:extLst>
              <a:ext uri="{FF2B5EF4-FFF2-40B4-BE49-F238E27FC236}">
                <a16:creationId xmlns:a16="http://schemas.microsoft.com/office/drawing/2014/main" id="{5AD8769D-0E27-4E9D-9F13-C1C9EBDAB8D4}"/>
              </a:ext>
            </a:extLst>
          </p:cNvPr>
          <p:cNvSpPr txBox="1">
            <a:spLocks/>
          </p:cNvSpPr>
          <p:nvPr/>
        </p:nvSpPr>
        <p:spPr>
          <a:xfrm>
            <a:off x="5853807" y="3965228"/>
            <a:ext cx="896203"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chemeClr val="tx1"/>
                </a:solidFill>
              </a:rPr>
              <a:t>x2 &lt;= 7</a:t>
            </a:r>
          </a:p>
        </p:txBody>
      </p:sp>
      <p:sp>
        <p:nvSpPr>
          <p:cNvPr id="65" name="Rectangle 64">
            <a:extLst>
              <a:ext uri="{FF2B5EF4-FFF2-40B4-BE49-F238E27FC236}">
                <a16:creationId xmlns:a16="http://schemas.microsoft.com/office/drawing/2014/main" id="{F0C90CDA-A298-4B6D-892E-07D1F18E8977}"/>
              </a:ext>
            </a:extLst>
          </p:cNvPr>
          <p:cNvSpPr/>
          <p:nvPr/>
        </p:nvSpPr>
        <p:spPr>
          <a:xfrm>
            <a:off x="1030677" y="4605613"/>
            <a:ext cx="2372111" cy="187431"/>
          </a:xfrm>
          <a:prstGeom prst="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Callout: Line 71">
            <a:extLst>
              <a:ext uri="{FF2B5EF4-FFF2-40B4-BE49-F238E27FC236}">
                <a16:creationId xmlns:a16="http://schemas.microsoft.com/office/drawing/2014/main" id="{4105975B-45FA-4EE1-9AB5-3DC65EA26C80}"/>
              </a:ext>
            </a:extLst>
          </p:cNvPr>
          <p:cNvSpPr/>
          <p:nvPr/>
        </p:nvSpPr>
        <p:spPr>
          <a:xfrm>
            <a:off x="626401" y="5464801"/>
            <a:ext cx="1038069" cy="188242"/>
          </a:xfrm>
          <a:prstGeom prst="borderCallout1">
            <a:avLst>
              <a:gd name="adj1" fmla="val 18750"/>
              <a:gd name="adj2" fmla="val -8333"/>
              <a:gd name="adj3" fmla="val -396053"/>
              <a:gd name="adj4" fmla="val 883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Most feasible</a:t>
            </a:r>
          </a:p>
        </p:txBody>
      </p:sp>
      <p:sp>
        <p:nvSpPr>
          <p:cNvPr id="74" name="Oval 73">
            <a:extLst>
              <a:ext uri="{FF2B5EF4-FFF2-40B4-BE49-F238E27FC236}">
                <a16:creationId xmlns:a16="http://schemas.microsoft.com/office/drawing/2014/main" id="{11F9D2FC-AFE7-4341-973B-8F59982D65B3}"/>
              </a:ext>
            </a:extLst>
          </p:cNvPr>
          <p:cNvSpPr/>
          <p:nvPr/>
        </p:nvSpPr>
        <p:spPr>
          <a:xfrm>
            <a:off x="903444" y="4711233"/>
            <a:ext cx="162839" cy="19489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66B1E3E-0C5A-4227-A3D7-E26D39ED46A0}"/>
              </a:ext>
            </a:extLst>
          </p:cNvPr>
          <p:cNvSpPr/>
          <p:nvPr/>
        </p:nvSpPr>
        <p:spPr>
          <a:xfrm>
            <a:off x="928541" y="4514011"/>
            <a:ext cx="162839" cy="19489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39DA3105-3CE6-4E7F-9F85-A6EF36750C1D}"/>
              </a:ext>
            </a:extLst>
          </p:cNvPr>
          <p:cNvSpPr/>
          <p:nvPr/>
        </p:nvSpPr>
        <p:spPr>
          <a:xfrm>
            <a:off x="3325389" y="4728853"/>
            <a:ext cx="162839" cy="19489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ontent Placeholder 2">
            <a:extLst>
              <a:ext uri="{FF2B5EF4-FFF2-40B4-BE49-F238E27FC236}">
                <a16:creationId xmlns:a16="http://schemas.microsoft.com/office/drawing/2014/main" id="{3D719701-24B8-4AC8-8D95-EDD9572A1249}"/>
              </a:ext>
            </a:extLst>
          </p:cNvPr>
          <p:cNvSpPr txBox="1">
            <a:spLocks/>
          </p:cNvSpPr>
          <p:nvPr/>
        </p:nvSpPr>
        <p:spPr>
          <a:xfrm>
            <a:off x="3053879" y="4152659"/>
            <a:ext cx="434349"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a:t>
            </a:r>
          </a:p>
        </p:txBody>
      </p:sp>
      <p:sp>
        <p:nvSpPr>
          <p:cNvPr id="78" name="Content Placeholder 2">
            <a:extLst>
              <a:ext uri="{FF2B5EF4-FFF2-40B4-BE49-F238E27FC236}">
                <a16:creationId xmlns:a16="http://schemas.microsoft.com/office/drawing/2014/main" id="{AB9D2B52-26A9-4002-9308-6081070EC779}"/>
              </a:ext>
            </a:extLst>
          </p:cNvPr>
          <p:cNvSpPr txBox="1">
            <a:spLocks/>
          </p:cNvSpPr>
          <p:nvPr/>
        </p:nvSpPr>
        <p:spPr>
          <a:xfrm>
            <a:off x="6848112" y="1713664"/>
            <a:ext cx="2473645" cy="317824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Solve the Two Equations</a:t>
            </a:r>
          </a:p>
          <a:p>
            <a:pPr marL="0" indent="0">
              <a:buNone/>
            </a:pPr>
            <a:r>
              <a:rPr lang="en-US" sz="1400" b="1" i="1" dirty="0">
                <a:solidFill>
                  <a:schemeClr val="tx1"/>
                </a:solidFill>
              </a:rPr>
              <a:t>- x1 + 3 x2 = 6</a:t>
            </a:r>
          </a:p>
          <a:p>
            <a:pPr marL="0" indent="0">
              <a:buNone/>
            </a:pPr>
            <a:r>
              <a:rPr lang="en-US" sz="1400" b="1" i="1" dirty="0">
                <a:solidFill>
                  <a:schemeClr val="tx1"/>
                </a:solidFill>
              </a:rPr>
              <a:t>7 x1 +  x2 = 35</a:t>
            </a:r>
          </a:p>
          <a:p>
            <a:pPr marL="0" indent="0">
              <a:buNone/>
            </a:pPr>
            <a:r>
              <a:rPr lang="en-US" sz="1400" b="1" i="1" dirty="0">
                <a:solidFill>
                  <a:schemeClr val="tx1"/>
                </a:solidFill>
              </a:rPr>
              <a:t>----------------------------</a:t>
            </a:r>
          </a:p>
          <a:p>
            <a:pPr marL="0" indent="0">
              <a:buNone/>
            </a:pPr>
            <a:r>
              <a:rPr lang="en-US" sz="1400" b="1" i="1" dirty="0">
                <a:solidFill>
                  <a:schemeClr val="tx1"/>
                </a:solidFill>
              </a:rPr>
              <a:t>(- x1 + 3 x2  = 6 ) *7</a:t>
            </a:r>
          </a:p>
          <a:p>
            <a:pPr marL="0" indent="0">
              <a:buNone/>
            </a:pPr>
            <a:r>
              <a:rPr lang="en-US" sz="1400" b="1" i="1" dirty="0">
                <a:solidFill>
                  <a:schemeClr val="tx1"/>
                </a:solidFill>
              </a:rPr>
              <a:t>-7 x1 + 21 x2 = 42</a:t>
            </a:r>
          </a:p>
          <a:p>
            <a:pPr marL="0" indent="0">
              <a:buNone/>
            </a:pPr>
            <a:r>
              <a:rPr lang="en-US" sz="1400" b="1" i="1" dirty="0">
                <a:solidFill>
                  <a:schemeClr val="tx1"/>
                </a:solidFill>
              </a:rPr>
              <a:t>----------------------------</a:t>
            </a:r>
          </a:p>
          <a:p>
            <a:pPr marL="0" indent="0">
              <a:buNone/>
            </a:pPr>
            <a:r>
              <a:rPr lang="en-US" sz="1400" b="1" i="1" dirty="0">
                <a:solidFill>
                  <a:schemeClr val="tx1"/>
                </a:solidFill>
              </a:rPr>
              <a:t>-7 x1 + 21 x2 = 42</a:t>
            </a:r>
          </a:p>
          <a:p>
            <a:pPr marL="0" indent="0">
              <a:buNone/>
            </a:pPr>
            <a:r>
              <a:rPr lang="en-US" sz="1400" b="1" i="1" dirty="0">
                <a:solidFill>
                  <a:schemeClr val="tx1"/>
                </a:solidFill>
              </a:rPr>
              <a:t> 7 x1 +      x2 = 35</a:t>
            </a:r>
          </a:p>
          <a:p>
            <a:pPr marL="0" indent="0">
              <a:buNone/>
            </a:pPr>
            <a:r>
              <a:rPr lang="en-US" sz="1400" b="1" i="1" dirty="0">
                <a:solidFill>
                  <a:schemeClr val="tx1"/>
                </a:solidFill>
              </a:rPr>
              <a:t>----------------------------</a:t>
            </a:r>
          </a:p>
          <a:p>
            <a:pPr marL="0" indent="0">
              <a:buNone/>
            </a:pPr>
            <a:endParaRPr lang="en-US" sz="1400" b="1" i="1" dirty="0">
              <a:solidFill>
                <a:schemeClr val="tx1"/>
              </a:solidFill>
            </a:endParaRPr>
          </a:p>
          <a:p>
            <a:pPr marL="0" indent="0">
              <a:buFont typeface="Wingdings 3" charset="2"/>
              <a:buNone/>
            </a:pPr>
            <a:endParaRPr lang="en-US" sz="1400" b="1" i="1" dirty="0">
              <a:solidFill>
                <a:schemeClr val="tx1"/>
              </a:solidFill>
            </a:endParaRPr>
          </a:p>
        </p:txBody>
      </p:sp>
      <p:sp>
        <p:nvSpPr>
          <p:cNvPr id="79" name="Content Placeholder 2">
            <a:extLst>
              <a:ext uri="{FF2B5EF4-FFF2-40B4-BE49-F238E27FC236}">
                <a16:creationId xmlns:a16="http://schemas.microsoft.com/office/drawing/2014/main" id="{76368457-40B1-4ED8-BA94-D008212385EC}"/>
              </a:ext>
            </a:extLst>
          </p:cNvPr>
          <p:cNvSpPr txBox="1">
            <a:spLocks/>
          </p:cNvSpPr>
          <p:nvPr/>
        </p:nvSpPr>
        <p:spPr>
          <a:xfrm>
            <a:off x="9098817" y="2380758"/>
            <a:ext cx="2473645" cy="2511147"/>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sz="1400" b="1" i="1" dirty="0">
              <a:solidFill>
                <a:schemeClr val="tx1"/>
              </a:solidFill>
            </a:endParaRPr>
          </a:p>
          <a:p>
            <a:pPr marL="0" indent="0">
              <a:buNone/>
            </a:pPr>
            <a:endParaRPr lang="en-US" sz="1400" b="1" i="1" dirty="0">
              <a:solidFill>
                <a:schemeClr val="tx1"/>
              </a:solidFill>
            </a:endParaRPr>
          </a:p>
          <a:p>
            <a:pPr marL="0" indent="0">
              <a:buNone/>
            </a:pPr>
            <a:endParaRPr lang="en-US" sz="1400" b="1" i="1" dirty="0">
              <a:solidFill>
                <a:schemeClr val="tx1"/>
              </a:solidFill>
            </a:endParaRPr>
          </a:p>
          <a:p>
            <a:pPr marL="0" indent="0">
              <a:buNone/>
            </a:pPr>
            <a:r>
              <a:rPr lang="en-US" sz="1400" b="1" i="1" dirty="0">
                <a:solidFill>
                  <a:schemeClr val="tx1"/>
                </a:solidFill>
              </a:rPr>
              <a:t>22 x2 = 77</a:t>
            </a:r>
          </a:p>
          <a:p>
            <a:pPr marL="0" indent="0">
              <a:buNone/>
            </a:pPr>
            <a:r>
              <a:rPr lang="en-US" sz="1400" b="1" i="1" dirty="0">
                <a:solidFill>
                  <a:schemeClr val="tx1"/>
                </a:solidFill>
              </a:rPr>
              <a:t>----------------------------</a:t>
            </a:r>
          </a:p>
          <a:p>
            <a:pPr marL="0" indent="0">
              <a:buNone/>
            </a:pPr>
            <a:r>
              <a:rPr lang="en-US" sz="1400" b="1" i="1" dirty="0">
                <a:solidFill>
                  <a:schemeClr val="tx1"/>
                </a:solidFill>
              </a:rPr>
              <a:t> x2 = 77/22</a:t>
            </a:r>
          </a:p>
          <a:p>
            <a:pPr marL="0" indent="0">
              <a:buNone/>
            </a:pPr>
            <a:r>
              <a:rPr lang="en-US" sz="1400" b="1" i="1" dirty="0">
                <a:solidFill>
                  <a:schemeClr val="tx1"/>
                </a:solidFill>
              </a:rPr>
              <a:t> x2 = 7/2</a:t>
            </a:r>
          </a:p>
          <a:p>
            <a:pPr marL="0" indent="0">
              <a:buNone/>
            </a:pPr>
            <a:endParaRPr lang="en-US" sz="1400" b="1" i="1" dirty="0">
              <a:solidFill>
                <a:schemeClr val="tx1"/>
              </a:solidFill>
            </a:endParaRPr>
          </a:p>
          <a:p>
            <a:pPr marL="0" indent="0">
              <a:buFont typeface="Wingdings 3" charset="2"/>
              <a:buNone/>
            </a:pPr>
            <a:endParaRPr lang="en-US" sz="1400" b="1" i="1" dirty="0">
              <a:solidFill>
                <a:schemeClr val="tx1"/>
              </a:solidFill>
            </a:endParaRPr>
          </a:p>
        </p:txBody>
      </p:sp>
      <p:cxnSp>
        <p:nvCxnSpPr>
          <p:cNvPr id="81" name="Straight Connector 80">
            <a:extLst>
              <a:ext uri="{FF2B5EF4-FFF2-40B4-BE49-F238E27FC236}">
                <a16:creationId xmlns:a16="http://schemas.microsoft.com/office/drawing/2014/main" id="{B0580EED-4245-4325-9816-342109E36FC1}"/>
              </a:ext>
            </a:extLst>
          </p:cNvPr>
          <p:cNvCxnSpPr/>
          <p:nvPr/>
        </p:nvCxnSpPr>
        <p:spPr>
          <a:xfrm flipH="1">
            <a:off x="6878769" y="3839719"/>
            <a:ext cx="695119" cy="1290180"/>
          </a:xfrm>
          <a:prstGeom prst="line">
            <a:avLst/>
          </a:prstGeom>
        </p:spPr>
        <p:style>
          <a:lnRef idx="1">
            <a:schemeClr val="dk1"/>
          </a:lnRef>
          <a:fillRef idx="0">
            <a:schemeClr val="dk1"/>
          </a:fillRef>
          <a:effectRef idx="0">
            <a:schemeClr val="dk1"/>
          </a:effectRef>
          <a:fontRef idx="minor">
            <a:schemeClr val="tx1"/>
          </a:fontRef>
        </p:style>
      </p:cxnSp>
      <p:grpSp>
        <p:nvGrpSpPr>
          <p:cNvPr id="101" name="Group 100">
            <a:extLst>
              <a:ext uri="{FF2B5EF4-FFF2-40B4-BE49-F238E27FC236}">
                <a16:creationId xmlns:a16="http://schemas.microsoft.com/office/drawing/2014/main" id="{57CC52E9-FF79-4B6E-854A-D2CE51426042}"/>
              </a:ext>
            </a:extLst>
          </p:cNvPr>
          <p:cNvGrpSpPr/>
          <p:nvPr/>
        </p:nvGrpSpPr>
        <p:grpSpPr>
          <a:xfrm rot="21411025">
            <a:off x="1070033" y="4607951"/>
            <a:ext cx="1340718" cy="332179"/>
            <a:chOff x="6493929" y="5561556"/>
            <a:chExt cx="1209579" cy="288099"/>
          </a:xfrm>
        </p:grpSpPr>
        <p:cxnSp>
          <p:nvCxnSpPr>
            <p:cNvPr id="84" name="Straight Arrow Connector 83">
              <a:extLst>
                <a:ext uri="{FF2B5EF4-FFF2-40B4-BE49-F238E27FC236}">
                  <a16:creationId xmlns:a16="http://schemas.microsoft.com/office/drawing/2014/main" id="{4036BA96-387F-47DF-A3FB-206E28FAB003}"/>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5" name="Straight Connector 84">
              <a:extLst>
                <a:ext uri="{FF2B5EF4-FFF2-40B4-BE49-F238E27FC236}">
                  <a16:creationId xmlns:a16="http://schemas.microsoft.com/office/drawing/2014/main" id="{6B8753D8-920F-4901-8EED-902C5A38B4ED}"/>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91" name="Straight Arrow Connector 90">
              <a:extLst>
                <a:ext uri="{FF2B5EF4-FFF2-40B4-BE49-F238E27FC236}">
                  <a16:creationId xmlns:a16="http://schemas.microsoft.com/office/drawing/2014/main" id="{AD04E1D4-6101-4FFC-AE6B-FC26A821459D}"/>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2" name="Straight Arrow Connector 91">
              <a:extLst>
                <a:ext uri="{FF2B5EF4-FFF2-40B4-BE49-F238E27FC236}">
                  <a16:creationId xmlns:a16="http://schemas.microsoft.com/office/drawing/2014/main" id="{696D98BE-A0E7-42AE-986C-D188ED44B642}"/>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3" name="Straight Arrow Connector 92">
              <a:extLst>
                <a:ext uri="{FF2B5EF4-FFF2-40B4-BE49-F238E27FC236}">
                  <a16:creationId xmlns:a16="http://schemas.microsoft.com/office/drawing/2014/main" id="{0E1D126F-2A72-456D-B257-7AAA2AFE14B0}"/>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4" name="Straight Arrow Connector 93">
              <a:extLst>
                <a:ext uri="{FF2B5EF4-FFF2-40B4-BE49-F238E27FC236}">
                  <a16:creationId xmlns:a16="http://schemas.microsoft.com/office/drawing/2014/main" id="{91D90884-B437-495F-B14B-CEDE6F2DA6B2}"/>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5" name="Straight Arrow Connector 94">
              <a:extLst>
                <a:ext uri="{FF2B5EF4-FFF2-40B4-BE49-F238E27FC236}">
                  <a16:creationId xmlns:a16="http://schemas.microsoft.com/office/drawing/2014/main" id="{4BDDE9DE-60E9-4C7D-8A8F-AC69CA67B721}"/>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6" name="Straight Arrow Connector 95">
              <a:extLst>
                <a:ext uri="{FF2B5EF4-FFF2-40B4-BE49-F238E27FC236}">
                  <a16:creationId xmlns:a16="http://schemas.microsoft.com/office/drawing/2014/main" id="{A6DB8908-035D-419E-82C6-FB9BAC86CD41}"/>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7" name="Straight Arrow Connector 96">
              <a:extLst>
                <a:ext uri="{FF2B5EF4-FFF2-40B4-BE49-F238E27FC236}">
                  <a16:creationId xmlns:a16="http://schemas.microsoft.com/office/drawing/2014/main" id="{4433B16E-F4B7-47D1-BFEC-5F944ECF3DCD}"/>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8" name="Straight Arrow Connector 97">
              <a:extLst>
                <a:ext uri="{FF2B5EF4-FFF2-40B4-BE49-F238E27FC236}">
                  <a16:creationId xmlns:a16="http://schemas.microsoft.com/office/drawing/2014/main" id="{E07AE485-9B7C-4651-9236-712D3147C58B}"/>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02" name="Group 101">
            <a:extLst>
              <a:ext uri="{FF2B5EF4-FFF2-40B4-BE49-F238E27FC236}">
                <a16:creationId xmlns:a16="http://schemas.microsoft.com/office/drawing/2014/main" id="{9D129918-42DC-4A20-ABA6-4974F4C783EB}"/>
              </a:ext>
            </a:extLst>
          </p:cNvPr>
          <p:cNvGrpSpPr/>
          <p:nvPr/>
        </p:nvGrpSpPr>
        <p:grpSpPr>
          <a:xfrm rot="3162187">
            <a:off x="791504" y="2287850"/>
            <a:ext cx="1209579" cy="288099"/>
            <a:chOff x="6493929" y="5561556"/>
            <a:chExt cx="1209579" cy="288099"/>
          </a:xfrm>
        </p:grpSpPr>
        <p:cxnSp>
          <p:nvCxnSpPr>
            <p:cNvPr id="103" name="Straight Arrow Connector 102">
              <a:extLst>
                <a:ext uri="{FF2B5EF4-FFF2-40B4-BE49-F238E27FC236}">
                  <a16:creationId xmlns:a16="http://schemas.microsoft.com/office/drawing/2014/main" id="{E40456D9-B465-4041-9AD5-F8D86C56A0F6}"/>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4" name="Straight Connector 103">
              <a:extLst>
                <a:ext uri="{FF2B5EF4-FFF2-40B4-BE49-F238E27FC236}">
                  <a16:creationId xmlns:a16="http://schemas.microsoft.com/office/drawing/2014/main" id="{E66697A6-6B19-48E3-AFE1-B47B086177A1}"/>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05" name="Straight Arrow Connector 104">
              <a:extLst>
                <a:ext uri="{FF2B5EF4-FFF2-40B4-BE49-F238E27FC236}">
                  <a16:creationId xmlns:a16="http://schemas.microsoft.com/office/drawing/2014/main" id="{FA77663F-AF77-4CF5-A3C2-316D7898A084}"/>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6" name="Straight Arrow Connector 105">
              <a:extLst>
                <a:ext uri="{FF2B5EF4-FFF2-40B4-BE49-F238E27FC236}">
                  <a16:creationId xmlns:a16="http://schemas.microsoft.com/office/drawing/2014/main" id="{2100A336-1347-4ADA-81FC-34DF20AB3A69}"/>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7" name="Straight Arrow Connector 106">
              <a:extLst>
                <a:ext uri="{FF2B5EF4-FFF2-40B4-BE49-F238E27FC236}">
                  <a16:creationId xmlns:a16="http://schemas.microsoft.com/office/drawing/2014/main" id="{8F0DCC39-9B9F-43D3-A004-EA1ADC0EFEE5}"/>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8" name="Straight Arrow Connector 107">
              <a:extLst>
                <a:ext uri="{FF2B5EF4-FFF2-40B4-BE49-F238E27FC236}">
                  <a16:creationId xmlns:a16="http://schemas.microsoft.com/office/drawing/2014/main" id="{2780BD8C-4C15-4276-B791-8ED522A7E3CD}"/>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9" name="Straight Arrow Connector 108">
              <a:extLst>
                <a:ext uri="{FF2B5EF4-FFF2-40B4-BE49-F238E27FC236}">
                  <a16:creationId xmlns:a16="http://schemas.microsoft.com/office/drawing/2014/main" id="{3D15ECD5-ED83-46BA-85BF-3364E01E2810}"/>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0" name="Straight Arrow Connector 109">
              <a:extLst>
                <a:ext uri="{FF2B5EF4-FFF2-40B4-BE49-F238E27FC236}">
                  <a16:creationId xmlns:a16="http://schemas.microsoft.com/office/drawing/2014/main" id="{76964ECE-7BEE-4DF4-A3B3-450AFE787C80}"/>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1" name="Straight Arrow Connector 110">
              <a:extLst>
                <a:ext uri="{FF2B5EF4-FFF2-40B4-BE49-F238E27FC236}">
                  <a16:creationId xmlns:a16="http://schemas.microsoft.com/office/drawing/2014/main" id="{83DA398E-C0F2-47A8-B63A-94C4ED295BE3}"/>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2" name="Straight Arrow Connector 111">
              <a:extLst>
                <a:ext uri="{FF2B5EF4-FFF2-40B4-BE49-F238E27FC236}">
                  <a16:creationId xmlns:a16="http://schemas.microsoft.com/office/drawing/2014/main" id="{428D4088-21EC-4CBF-A1D3-9A0276D4035A}"/>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13" name="Group 112">
            <a:extLst>
              <a:ext uri="{FF2B5EF4-FFF2-40B4-BE49-F238E27FC236}">
                <a16:creationId xmlns:a16="http://schemas.microsoft.com/office/drawing/2014/main" id="{74A7A012-D4A9-4066-A55E-84AD98223140}"/>
              </a:ext>
            </a:extLst>
          </p:cNvPr>
          <p:cNvGrpSpPr/>
          <p:nvPr/>
        </p:nvGrpSpPr>
        <p:grpSpPr>
          <a:xfrm rot="21411025">
            <a:off x="2515893" y="4546936"/>
            <a:ext cx="1209579" cy="288099"/>
            <a:chOff x="6493929" y="5561556"/>
            <a:chExt cx="1209579" cy="288099"/>
          </a:xfrm>
        </p:grpSpPr>
        <p:cxnSp>
          <p:nvCxnSpPr>
            <p:cNvPr id="114" name="Straight Arrow Connector 113">
              <a:extLst>
                <a:ext uri="{FF2B5EF4-FFF2-40B4-BE49-F238E27FC236}">
                  <a16:creationId xmlns:a16="http://schemas.microsoft.com/office/drawing/2014/main" id="{DD88BC33-EA86-4FBF-98EC-BC02E254C021}"/>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5" name="Straight Connector 114">
              <a:extLst>
                <a:ext uri="{FF2B5EF4-FFF2-40B4-BE49-F238E27FC236}">
                  <a16:creationId xmlns:a16="http://schemas.microsoft.com/office/drawing/2014/main" id="{D6114ECE-8466-4FA6-9663-C8E19EE63E88}"/>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16" name="Straight Arrow Connector 115">
              <a:extLst>
                <a:ext uri="{FF2B5EF4-FFF2-40B4-BE49-F238E27FC236}">
                  <a16:creationId xmlns:a16="http://schemas.microsoft.com/office/drawing/2014/main" id="{9C3A296B-6201-4426-B413-A89A044FE75E}"/>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7" name="Straight Arrow Connector 116">
              <a:extLst>
                <a:ext uri="{FF2B5EF4-FFF2-40B4-BE49-F238E27FC236}">
                  <a16:creationId xmlns:a16="http://schemas.microsoft.com/office/drawing/2014/main" id="{E40E2C16-77E5-4E17-BB70-D462362E41D1}"/>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8" name="Straight Arrow Connector 117">
              <a:extLst>
                <a:ext uri="{FF2B5EF4-FFF2-40B4-BE49-F238E27FC236}">
                  <a16:creationId xmlns:a16="http://schemas.microsoft.com/office/drawing/2014/main" id="{8D632D41-EA5A-40B7-8FA2-5EFA7833FBA3}"/>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9" name="Straight Arrow Connector 118">
              <a:extLst>
                <a:ext uri="{FF2B5EF4-FFF2-40B4-BE49-F238E27FC236}">
                  <a16:creationId xmlns:a16="http://schemas.microsoft.com/office/drawing/2014/main" id="{98BEEC2D-3BB8-4DD8-9A89-D843DB0BD091}"/>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0" name="Straight Arrow Connector 119">
              <a:extLst>
                <a:ext uri="{FF2B5EF4-FFF2-40B4-BE49-F238E27FC236}">
                  <a16:creationId xmlns:a16="http://schemas.microsoft.com/office/drawing/2014/main" id="{BBF60A2D-47D1-452D-8D60-E8CBD26858B9}"/>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1" name="Straight Arrow Connector 120">
              <a:extLst>
                <a:ext uri="{FF2B5EF4-FFF2-40B4-BE49-F238E27FC236}">
                  <a16:creationId xmlns:a16="http://schemas.microsoft.com/office/drawing/2014/main" id="{5CCB7068-7718-40D8-A0A1-F4FFF4B7047C}"/>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2" name="Straight Arrow Connector 121">
              <a:extLst>
                <a:ext uri="{FF2B5EF4-FFF2-40B4-BE49-F238E27FC236}">
                  <a16:creationId xmlns:a16="http://schemas.microsoft.com/office/drawing/2014/main" id="{438BB38B-A158-479C-A71A-22B33150B974}"/>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3" name="Straight Arrow Connector 122">
              <a:extLst>
                <a:ext uri="{FF2B5EF4-FFF2-40B4-BE49-F238E27FC236}">
                  <a16:creationId xmlns:a16="http://schemas.microsoft.com/office/drawing/2014/main" id="{3B91B483-C433-4476-96E4-751A80FCCADF}"/>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24" name="Group 123">
            <a:extLst>
              <a:ext uri="{FF2B5EF4-FFF2-40B4-BE49-F238E27FC236}">
                <a16:creationId xmlns:a16="http://schemas.microsoft.com/office/drawing/2014/main" id="{983BBA88-9D1C-4A20-958E-F895539B068D}"/>
              </a:ext>
            </a:extLst>
          </p:cNvPr>
          <p:cNvGrpSpPr/>
          <p:nvPr/>
        </p:nvGrpSpPr>
        <p:grpSpPr>
          <a:xfrm rot="3162187">
            <a:off x="1569918" y="3302578"/>
            <a:ext cx="1209579" cy="288099"/>
            <a:chOff x="6493929" y="5561556"/>
            <a:chExt cx="1209579" cy="288099"/>
          </a:xfrm>
        </p:grpSpPr>
        <p:cxnSp>
          <p:nvCxnSpPr>
            <p:cNvPr id="125" name="Straight Arrow Connector 124">
              <a:extLst>
                <a:ext uri="{FF2B5EF4-FFF2-40B4-BE49-F238E27FC236}">
                  <a16:creationId xmlns:a16="http://schemas.microsoft.com/office/drawing/2014/main" id="{1AC1C620-D049-4D9D-86FF-C442EDF1AF95}"/>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6" name="Straight Connector 125">
              <a:extLst>
                <a:ext uri="{FF2B5EF4-FFF2-40B4-BE49-F238E27FC236}">
                  <a16:creationId xmlns:a16="http://schemas.microsoft.com/office/drawing/2014/main" id="{AC3A9E74-E0B9-42F9-B9E9-04ED2F609074}"/>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27" name="Straight Arrow Connector 126">
              <a:extLst>
                <a:ext uri="{FF2B5EF4-FFF2-40B4-BE49-F238E27FC236}">
                  <a16:creationId xmlns:a16="http://schemas.microsoft.com/office/drawing/2014/main" id="{C1BE695A-5ADC-48DD-A250-6219E82CAEF8}"/>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8" name="Straight Arrow Connector 127">
              <a:extLst>
                <a:ext uri="{FF2B5EF4-FFF2-40B4-BE49-F238E27FC236}">
                  <a16:creationId xmlns:a16="http://schemas.microsoft.com/office/drawing/2014/main" id="{26F3F292-C350-47BE-BF08-B69A16A408E8}"/>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9" name="Straight Arrow Connector 128">
              <a:extLst>
                <a:ext uri="{FF2B5EF4-FFF2-40B4-BE49-F238E27FC236}">
                  <a16:creationId xmlns:a16="http://schemas.microsoft.com/office/drawing/2014/main" id="{00CC1213-3219-4E12-9B3F-B8F55EB78028}"/>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30" name="Straight Arrow Connector 129">
              <a:extLst>
                <a:ext uri="{FF2B5EF4-FFF2-40B4-BE49-F238E27FC236}">
                  <a16:creationId xmlns:a16="http://schemas.microsoft.com/office/drawing/2014/main" id="{53816B7E-914F-40AB-B697-BA2FF0F59467}"/>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31" name="Straight Arrow Connector 130">
              <a:extLst>
                <a:ext uri="{FF2B5EF4-FFF2-40B4-BE49-F238E27FC236}">
                  <a16:creationId xmlns:a16="http://schemas.microsoft.com/office/drawing/2014/main" id="{F17A4953-5039-46E0-AF14-5F0526E9F82B}"/>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32" name="Straight Arrow Connector 131">
              <a:extLst>
                <a:ext uri="{FF2B5EF4-FFF2-40B4-BE49-F238E27FC236}">
                  <a16:creationId xmlns:a16="http://schemas.microsoft.com/office/drawing/2014/main" id="{233D8F54-98BA-4DB5-8B15-8C67BCCF4BFB}"/>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33" name="Straight Arrow Connector 132">
              <a:extLst>
                <a:ext uri="{FF2B5EF4-FFF2-40B4-BE49-F238E27FC236}">
                  <a16:creationId xmlns:a16="http://schemas.microsoft.com/office/drawing/2014/main" id="{20B574F4-63FA-48BC-B8D9-BC601E683B93}"/>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34" name="Straight Arrow Connector 133">
              <a:extLst>
                <a:ext uri="{FF2B5EF4-FFF2-40B4-BE49-F238E27FC236}">
                  <a16:creationId xmlns:a16="http://schemas.microsoft.com/office/drawing/2014/main" id="{8D8C3DA3-8686-4ABF-9C77-F5060973C112}"/>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35" name="Group 134">
            <a:extLst>
              <a:ext uri="{FF2B5EF4-FFF2-40B4-BE49-F238E27FC236}">
                <a16:creationId xmlns:a16="http://schemas.microsoft.com/office/drawing/2014/main" id="{55B27275-B3F9-48C1-A01D-26817F069877}"/>
              </a:ext>
            </a:extLst>
          </p:cNvPr>
          <p:cNvGrpSpPr/>
          <p:nvPr/>
        </p:nvGrpSpPr>
        <p:grpSpPr>
          <a:xfrm rot="3162187">
            <a:off x="2266517" y="4210853"/>
            <a:ext cx="1209579" cy="288099"/>
            <a:chOff x="6493929" y="5561556"/>
            <a:chExt cx="1209579" cy="288099"/>
          </a:xfrm>
        </p:grpSpPr>
        <p:cxnSp>
          <p:nvCxnSpPr>
            <p:cNvPr id="136" name="Straight Arrow Connector 135">
              <a:extLst>
                <a:ext uri="{FF2B5EF4-FFF2-40B4-BE49-F238E27FC236}">
                  <a16:creationId xmlns:a16="http://schemas.microsoft.com/office/drawing/2014/main" id="{1CD8FF20-EEFB-4D11-B244-25DAC3DBE26F}"/>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37" name="Straight Connector 136">
              <a:extLst>
                <a:ext uri="{FF2B5EF4-FFF2-40B4-BE49-F238E27FC236}">
                  <a16:creationId xmlns:a16="http://schemas.microsoft.com/office/drawing/2014/main" id="{F9E4EE7E-08CB-4158-B1A0-A73B4B3755CD}"/>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38" name="Straight Arrow Connector 137">
              <a:extLst>
                <a:ext uri="{FF2B5EF4-FFF2-40B4-BE49-F238E27FC236}">
                  <a16:creationId xmlns:a16="http://schemas.microsoft.com/office/drawing/2014/main" id="{628BD649-DB81-4C47-A9CC-CA04A80C91B7}"/>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39" name="Straight Arrow Connector 138">
              <a:extLst>
                <a:ext uri="{FF2B5EF4-FFF2-40B4-BE49-F238E27FC236}">
                  <a16:creationId xmlns:a16="http://schemas.microsoft.com/office/drawing/2014/main" id="{91515A22-2457-4D5E-BF3A-8C4694A9118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0" name="Straight Arrow Connector 139">
              <a:extLst>
                <a:ext uri="{FF2B5EF4-FFF2-40B4-BE49-F238E27FC236}">
                  <a16:creationId xmlns:a16="http://schemas.microsoft.com/office/drawing/2014/main" id="{4264153E-8540-4A69-B7DF-5C3AE688F679}"/>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1" name="Straight Arrow Connector 140">
              <a:extLst>
                <a:ext uri="{FF2B5EF4-FFF2-40B4-BE49-F238E27FC236}">
                  <a16:creationId xmlns:a16="http://schemas.microsoft.com/office/drawing/2014/main" id="{CD4D5E3A-0DF7-4403-A26F-1DAEB7799EF7}"/>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2" name="Straight Arrow Connector 141">
              <a:extLst>
                <a:ext uri="{FF2B5EF4-FFF2-40B4-BE49-F238E27FC236}">
                  <a16:creationId xmlns:a16="http://schemas.microsoft.com/office/drawing/2014/main" id="{53954969-0AE4-426F-929C-577303175F29}"/>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3" name="Straight Arrow Connector 142">
              <a:extLst>
                <a:ext uri="{FF2B5EF4-FFF2-40B4-BE49-F238E27FC236}">
                  <a16:creationId xmlns:a16="http://schemas.microsoft.com/office/drawing/2014/main" id="{4EEF06A0-F30E-4924-A615-41568D3207B4}"/>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4" name="Straight Arrow Connector 143">
              <a:extLst>
                <a:ext uri="{FF2B5EF4-FFF2-40B4-BE49-F238E27FC236}">
                  <a16:creationId xmlns:a16="http://schemas.microsoft.com/office/drawing/2014/main" id="{B7CAA2A4-04D1-4455-B481-0F2CA1C238AC}"/>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5" name="Straight Arrow Connector 144">
              <a:extLst>
                <a:ext uri="{FF2B5EF4-FFF2-40B4-BE49-F238E27FC236}">
                  <a16:creationId xmlns:a16="http://schemas.microsoft.com/office/drawing/2014/main" id="{FEC874B8-B1E8-4834-B7AD-9B3DB8777456}"/>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sp>
        <p:nvSpPr>
          <p:cNvPr id="89" name="Content Placeholder 2">
            <a:extLst>
              <a:ext uri="{FF2B5EF4-FFF2-40B4-BE49-F238E27FC236}">
                <a16:creationId xmlns:a16="http://schemas.microsoft.com/office/drawing/2014/main" id="{73B69696-FF90-4C48-A29F-D89D4ED84EC4}"/>
              </a:ext>
            </a:extLst>
          </p:cNvPr>
          <p:cNvSpPr txBox="1">
            <a:spLocks/>
          </p:cNvSpPr>
          <p:nvPr/>
        </p:nvSpPr>
        <p:spPr>
          <a:xfrm>
            <a:off x="3071381" y="3738750"/>
            <a:ext cx="1568137"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Meeting point of Eq 1 &amp; Eq 2</a:t>
            </a:r>
          </a:p>
        </p:txBody>
      </p:sp>
      <p:graphicFrame>
        <p:nvGraphicFramePr>
          <p:cNvPr id="80" name="Table 79">
            <a:extLst>
              <a:ext uri="{FF2B5EF4-FFF2-40B4-BE49-F238E27FC236}">
                <a16:creationId xmlns:a16="http://schemas.microsoft.com/office/drawing/2014/main" id="{6BBF50B0-024B-4842-9447-E02ABD0B67E0}"/>
              </a:ext>
            </a:extLst>
          </p:cNvPr>
          <p:cNvGraphicFramePr>
            <a:graphicFrameLocks noGrp="1"/>
          </p:cNvGraphicFramePr>
          <p:nvPr>
            <p:extLst>
              <p:ext uri="{D42A27DB-BD31-4B8C-83A1-F6EECF244321}">
                <p14:modId xmlns:p14="http://schemas.microsoft.com/office/powerpoint/2010/main" val="843888099"/>
              </p:ext>
            </p:extLst>
          </p:nvPr>
        </p:nvGraphicFramePr>
        <p:xfrm>
          <a:off x="626465" y="5868493"/>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51155">
                <a:tc>
                  <a:txBody>
                    <a:bodyPr/>
                    <a:lstStyle/>
                    <a:p>
                      <a:pPr algn="ctr"/>
                      <a:r>
                        <a:rPr lang="en-US" sz="1600" dirty="0"/>
                        <a:t> 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098566"/>
                  </a:ext>
                </a:extLst>
              </a:tr>
            </a:tbl>
          </a:graphicData>
        </a:graphic>
      </p:graphicFrame>
      <p:graphicFrame>
        <p:nvGraphicFramePr>
          <p:cNvPr id="82" name="Table 81">
            <a:extLst>
              <a:ext uri="{FF2B5EF4-FFF2-40B4-BE49-F238E27FC236}">
                <a16:creationId xmlns:a16="http://schemas.microsoft.com/office/drawing/2014/main" id="{BEDF602B-05CC-4B89-9250-7FE5EB7CC404}"/>
              </a:ext>
            </a:extLst>
          </p:cNvPr>
          <p:cNvGraphicFramePr>
            <a:graphicFrameLocks noGrp="1"/>
          </p:cNvGraphicFramePr>
          <p:nvPr>
            <p:extLst>
              <p:ext uri="{D42A27DB-BD31-4B8C-83A1-F6EECF244321}">
                <p14:modId xmlns:p14="http://schemas.microsoft.com/office/powerpoint/2010/main" val="1674136649"/>
              </p:ext>
            </p:extLst>
          </p:nvPr>
        </p:nvGraphicFramePr>
        <p:xfrm>
          <a:off x="626465" y="6210662"/>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65045">
                <a:tc>
                  <a:txBody>
                    <a:bodyPr/>
                    <a:lstStyle/>
                    <a:p>
                      <a:pPr algn="ctr"/>
                      <a:r>
                        <a:rPr lang="en-US" sz="1600" dirty="0"/>
                        <a:t> 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90624"/>
                  </a:ext>
                </a:extLst>
              </a:tr>
            </a:tbl>
          </a:graphicData>
        </a:graphic>
      </p:graphicFrame>
      <p:graphicFrame>
        <p:nvGraphicFramePr>
          <p:cNvPr id="83" name="Table 82">
            <a:extLst>
              <a:ext uri="{FF2B5EF4-FFF2-40B4-BE49-F238E27FC236}">
                <a16:creationId xmlns:a16="http://schemas.microsoft.com/office/drawing/2014/main" id="{4778E009-AB67-457A-961B-6E946F869432}"/>
              </a:ext>
            </a:extLst>
          </p:cNvPr>
          <p:cNvGraphicFramePr>
            <a:graphicFrameLocks noGrp="1"/>
          </p:cNvGraphicFramePr>
          <p:nvPr>
            <p:extLst>
              <p:ext uri="{D42A27DB-BD31-4B8C-83A1-F6EECF244321}">
                <p14:modId xmlns:p14="http://schemas.microsoft.com/office/powerpoint/2010/main" val="130161374"/>
              </p:ext>
            </p:extLst>
          </p:nvPr>
        </p:nvGraphicFramePr>
        <p:xfrm>
          <a:off x="2900044" y="5873555"/>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51155">
                <a:tc>
                  <a:txBody>
                    <a:bodyPr/>
                    <a:lstStyle/>
                    <a:p>
                      <a:pPr algn="ctr"/>
                      <a:r>
                        <a:rPr lang="en-US" sz="1600" dirty="0"/>
                        <a:t> 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098566"/>
                  </a:ext>
                </a:extLst>
              </a:tr>
            </a:tbl>
          </a:graphicData>
        </a:graphic>
      </p:graphicFrame>
      <p:graphicFrame>
        <p:nvGraphicFramePr>
          <p:cNvPr id="86" name="Table 85">
            <a:extLst>
              <a:ext uri="{FF2B5EF4-FFF2-40B4-BE49-F238E27FC236}">
                <a16:creationId xmlns:a16="http://schemas.microsoft.com/office/drawing/2014/main" id="{BD991A33-A3CD-41CA-B08E-02C01466612A}"/>
              </a:ext>
            </a:extLst>
          </p:cNvPr>
          <p:cNvGraphicFramePr>
            <a:graphicFrameLocks noGrp="1"/>
          </p:cNvGraphicFramePr>
          <p:nvPr>
            <p:extLst>
              <p:ext uri="{D42A27DB-BD31-4B8C-83A1-F6EECF244321}">
                <p14:modId xmlns:p14="http://schemas.microsoft.com/office/powerpoint/2010/main" val="3534722708"/>
              </p:ext>
            </p:extLst>
          </p:nvPr>
        </p:nvGraphicFramePr>
        <p:xfrm>
          <a:off x="2900044" y="6215724"/>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65045">
                <a:tc>
                  <a:txBody>
                    <a:bodyPr/>
                    <a:lstStyle/>
                    <a:p>
                      <a:pPr algn="ctr"/>
                      <a:r>
                        <a:rPr lang="en-US" sz="1600" dirty="0"/>
                        <a:t> 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t>35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90624"/>
                  </a:ext>
                </a:extLst>
              </a:tr>
            </a:tbl>
          </a:graphicData>
        </a:graphic>
      </p:graphicFrame>
    </p:spTree>
    <p:extLst>
      <p:ext uri="{BB962C8B-B14F-4D97-AF65-F5344CB8AC3E}">
        <p14:creationId xmlns:p14="http://schemas.microsoft.com/office/powerpoint/2010/main" val="84042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01"/>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0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2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3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72"/>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65"/>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nodeType="clickEffect">
                                  <p:stCondLst>
                                    <p:cond delay="0"/>
                                  </p:stCondLst>
                                  <p:childTnLst>
                                    <p:set>
                                      <p:cBhvr>
                                        <p:cTn id="86" dur="1" fill="hold">
                                          <p:stCondLst>
                                            <p:cond delay="0"/>
                                          </p:stCondLst>
                                        </p:cTn>
                                        <p:tgtEl>
                                          <p:spTgt spid="63"/>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64"/>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59"/>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62"/>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8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78"/>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8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P spid="62" grpId="0"/>
      <p:bldP spid="62" grpId="1"/>
      <p:bldP spid="64" grpId="0"/>
      <p:bldP spid="64" grpId="1"/>
      <p:bldP spid="65" grpId="0" animBg="1"/>
      <p:bldP spid="65" grpId="1" animBg="1"/>
      <p:bldP spid="72" grpId="0" animBg="1"/>
      <p:bldP spid="72" grpId="1" animBg="1"/>
      <p:bldP spid="74" grpId="0" animBg="1"/>
      <p:bldP spid="75" grpId="0" animBg="1"/>
      <p:bldP spid="76" grpId="0" animBg="1"/>
      <p:bldP spid="77" grpId="0"/>
      <p:bldP spid="78" grpId="0"/>
      <p:bldP spid="79" grpId="0"/>
      <p:bldP spid="8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DB6FD65-1A8E-4464-88BD-FD4D33A7845E}"/>
              </a:ext>
            </a:extLst>
          </p:cNvPr>
          <p:cNvSpPr/>
          <p:nvPr/>
        </p:nvSpPr>
        <p:spPr>
          <a:xfrm>
            <a:off x="5175164" y="4546948"/>
            <a:ext cx="2841494" cy="4204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151241" y="87584"/>
            <a:ext cx="9205702" cy="731520"/>
          </a:xfrm>
        </p:spPr>
        <p:txBody>
          <a:bodyPr>
            <a:noAutofit/>
          </a:bodyPr>
          <a:lstStyle/>
          <a:p>
            <a:r>
              <a:rPr lang="en-US" dirty="0"/>
              <a:t>Branch and Bound Example – Sub Problem 1</a:t>
            </a:r>
          </a:p>
        </p:txBody>
      </p:sp>
      <p:sp>
        <p:nvSpPr>
          <p:cNvPr id="73" name="Content Placeholder 2">
            <a:extLst>
              <a:ext uri="{FF2B5EF4-FFF2-40B4-BE49-F238E27FC236}">
                <a16:creationId xmlns:a16="http://schemas.microsoft.com/office/drawing/2014/main" id="{5A9979EB-BE74-4357-8E51-D6F8C3E7F41F}"/>
              </a:ext>
            </a:extLst>
          </p:cNvPr>
          <p:cNvSpPr txBox="1">
            <a:spLocks/>
          </p:cNvSpPr>
          <p:nvPr/>
        </p:nvSpPr>
        <p:spPr>
          <a:xfrm>
            <a:off x="5353138" y="1077797"/>
            <a:ext cx="3327399" cy="191592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Find the Max Z in the most feasible area, </a:t>
            </a:r>
          </a:p>
          <a:p>
            <a:pPr marL="0" indent="0">
              <a:buFont typeface="Wingdings 3" charset="2"/>
              <a:buNone/>
            </a:pPr>
            <a:r>
              <a:rPr lang="en-US" sz="1400" b="1" i="1" dirty="0">
                <a:solidFill>
                  <a:schemeClr val="tx1"/>
                </a:solidFill>
              </a:rPr>
              <a:t>x1, x2 = 0, 0</a:t>
            </a:r>
          </a:p>
          <a:p>
            <a:pPr marL="0" indent="0">
              <a:buNone/>
            </a:pPr>
            <a:r>
              <a:rPr lang="en-US" sz="1400" b="1" i="1" dirty="0">
                <a:solidFill>
                  <a:schemeClr val="tx1"/>
                </a:solidFill>
              </a:rPr>
              <a:t>x1, x2 = 0, 2</a:t>
            </a:r>
          </a:p>
          <a:p>
            <a:pPr marL="0" indent="0">
              <a:buNone/>
            </a:pPr>
            <a:r>
              <a:rPr lang="en-US" sz="1400" b="1" i="1" dirty="0">
                <a:solidFill>
                  <a:schemeClr val="tx1"/>
                </a:solidFill>
              </a:rPr>
              <a:t>x1, x2 = 5, 0</a:t>
            </a:r>
          </a:p>
          <a:p>
            <a:pPr marL="0" indent="0">
              <a:buNone/>
            </a:pPr>
            <a:r>
              <a:rPr lang="en-US" sz="1400" b="1" i="1" dirty="0">
                <a:solidFill>
                  <a:schemeClr val="tx1"/>
                </a:solidFill>
              </a:rPr>
              <a:t>x1, x2 = 9/2, 7/2</a:t>
            </a:r>
          </a:p>
          <a:p>
            <a:pPr marL="0" indent="0">
              <a:buFont typeface="Wingdings 3" charset="2"/>
              <a:buNone/>
            </a:pPr>
            <a:endParaRPr lang="en-US" sz="1400" b="1" i="1" dirty="0">
              <a:solidFill>
                <a:schemeClr val="tx1"/>
              </a:solidFill>
            </a:endParaRPr>
          </a:p>
        </p:txBody>
      </p:sp>
      <p:sp>
        <p:nvSpPr>
          <p:cNvPr id="79" name="Content Placeholder 2">
            <a:extLst>
              <a:ext uri="{FF2B5EF4-FFF2-40B4-BE49-F238E27FC236}">
                <a16:creationId xmlns:a16="http://schemas.microsoft.com/office/drawing/2014/main" id="{76368457-40B1-4ED8-BA94-D008212385EC}"/>
              </a:ext>
            </a:extLst>
          </p:cNvPr>
          <p:cNvSpPr txBox="1">
            <a:spLocks/>
          </p:cNvSpPr>
          <p:nvPr/>
        </p:nvSpPr>
        <p:spPr>
          <a:xfrm>
            <a:off x="658782" y="870208"/>
            <a:ext cx="2473645" cy="164093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400" b="1" i="1" dirty="0">
                <a:solidFill>
                  <a:schemeClr val="tx1"/>
                </a:solidFill>
                <a:highlight>
                  <a:srgbClr val="FFFF00"/>
                </a:highlight>
              </a:rPr>
              <a:t>x2 = 7/2</a:t>
            </a:r>
          </a:p>
          <a:p>
            <a:pPr marL="0" indent="0">
              <a:buNone/>
            </a:pPr>
            <a:r>
              <a:rPr lang="en-US" sz="1400" b="1" i="1" dirty="0">
                <a:solidFill>
                  <a:schemeClr val="tx1"/>
                </a:solidFill>
              </a:rPr>
              <a:t>Use this value of x2 in one of the equation to obtain x1</a:t>
            </a:r>
          </a:p>
          <a:p>
            <a:pPr marL="0" indent="0">
              <a:buNone/>
            </a:pPr>
            <a:r>
              <a:rPr lang="en-US" sz="1400" b="1" i="1" dirty="0">
                <a:solidFill>
                  <a:schemeClr val="tx1"/>
                </a:solidFill>
              </a:rPr>
              <a:t>7 x1 + x2 = 35</a:t>
            </a:r>
          </a:p>
          <a:p>
            <a:pPr marL="0" indent="0">
              <a:buNone/>
            </a:pPr>
            <a:r>
              <a:rPr lang="en-US" sz="1400" b="1" i="1" dirty="0">
                <a:solidFill>
                  <a:schemeClr val="tx1"/>
                </a:solidFill>
              </a:rPr>
              <a:t>7 x1 + 7/2 = 35</a:t>
            </a:r>
          </a:p>
          <a:p>
            <a:pPr marL="0" indent="0">
              <a:buNone/>
            </a:pPr>
            <a:r>
              <a:rPr lang="en-US" sz="1400" b="1" i="1" dirty="0">
                <a:solidFill>
                  <a:schemeClr val="tx1"/>
                </a:solidFill>
                <a:highlight>
                  <a:srgbClr val="FFFF00"/>
                </a:highlight>
              </a:rPr>
              <a:t> x1 = 9/2</a:t>
            </a:r>
          </a:p>
          <a:p>
            <a:pPr marL="0" indent="0">
              <a:buNone/>
            </a:pPr>
            <a:endParaRPr lang="en-US" sz="1400" b="1" i="1" dirty="0">
              <a:solidFill>
                <a:schemeClr val="tx1"/>
              </a:solidFill>
            </a:endParaRPr>
          </a:p>
          <a:p>
            <a:pPr marL="0" indent="0">
              <a:buFont typeface="Wingdings 3" charset="2"/>
              <a:buNone/>
            </a:pPr>
            <a:endParaRPr lang="en-US" sz="1400" b="1" i="1" dirty="0">
              <a:solidFill>
                <a:schemeClr val="tx1"/>
              </a:solidFill>
            </a:endParaRPr>
          </a:p>
        </p:txBody>
      </p:sp>
      <p:graphicFrame>
        <p:nvGraphicFramePr>
          <p:cNvPr id="21" name="Chart 20">
            <a:extLst>
              <a:ext uri="{FF2B5EF4-FFF2-40B4-BE49-F238E27FC236}">
                <a16:creationId xmlns:a16="http://schemas.microsoft.com/office/drawing/2014/main" id="{E96CC87B-555E-4427-904B-753936B4221E}"/>
              </a:ext>
            </a:extLst>
          </p:cNvPr>
          <p:cNvGraphicFramePr/>
          <p:nvPr>
            <p:extLst>
              <p:ext uri="{D42A27DB-BD31-4B8C-83A1-F6EECF244321}">
                <p14:modId xmlns:p14="http://schemas.microsoft.com/office/powerpoint/2010/main" val="439943899"/>
              </p:ext>
            </p:extLst>
          </p:nvPr>
        </p:nvGraphicFramePr>
        <p:xfrm>
          <a:off x="758572" y="3242667"/>
          <a:ext cx="4126580" cy="3338354"/>
        </p:xfrm>
        <a:graphic>
          <a:graphicData uri="http://schemas.openxmlformats.org/drawingml/2006/chart">
            <c:chart xmlns:c="http://schemas.openxmlformats.org/drawingml/2006/chart" xmlns:r="http://schemas.openxmlformats.org/officeDocument/2006/relationships" r:id="rId2"/>
          </a:graphicData>
        </a:graphic>
      </p:graphicFrame>
      <p:sp>
        <p:nvSpPr>
          <p:cNvPr id="22" name="Content Placeholder 2">
            <a:extLst>
              <a:ext uri="{FF2B5EF4-FFF2-40B4-BE49-F238E27FC236}">
                <a16:creationId xmlns:a16="http://schemas.microsoft.com/office/drawing/2014/main" id="{328E52A2-EE30-427C-B36F-A845FE053824}"/>
              </a:ext>
            </a:extLst>
          </p:cNvPr>
          <p:cNvSpPr txBox="1">
            <a:spLocks/>
          </p:cNvSpPr>
          <p:nvPr/>
        </p:nvSpPr>
        <p:spPr>
          <a:xfrm>
            <a:off x="3739451" y="5697361"/>
            <a:ext cx="570137" cy="30549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1</a:t>
            </a:r>
          </a:p>
        </p:txBody>
      </p:sp>
      <p:sp>
        <p:nvSpPr>
          <p:cNvPr id="23" name="Content Placeholder 2">
            <a:extLst>
              <a:ext uri="{FF2B5EF4-FFF2-40B4-BE49-F238E27FC236}">
                <a16:creationId xmlns:a16="http://schemas.microsoft.com/office/drawing/2014/main" id="{759CE27B-649B-42C2-9DF8-81385112D8AB}"/>
              </a:ext>
            </a:extLst>
          </p:cNvPr>
          <p:cNvSpPr txBox="1">
            <a:spLocks/>
          </p:cNvSpPr>
          <p:nvPr/>
        </p:nvSpPr>
        <p:spPr>
          <a:xfrm>
            <a:off x="975589" y="3490850"/>
            <a:ext cx="569016" cy="30549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2</a:t>
            </a:r>
          </a:p>
        </p:txBody>
      </p:sp>
      <p:sp>
        <p:nvSpPr>
          <p:cNvPr id="31" name="Content Placeholder 2">
            <a:extLst>
              <a:ext uri="{FF2B5EF4-FFF2-40B4-BE49-F238E27FC236}">
                <a16:creationId xmlns:a16="http://schemas.microsoft.com/office/drawing/2014/main" id="{B7AFEB19-E16F-408D-9D14-E5CAC898DF54}"/>
              </a:ext>
            </a:extLst>
          </p:cNvPr>
          <p:cNvSpPr txBox="1">
            <a:spLocks/>
          </p:cNvSpPr>
          <p:nvPr/>
        </p:nvSpPr>
        <p:spPr>
          <a:xfrm>
            <a:off x="3132427" y="4913485"/>
            <a:ext cx="1059818" cy="30549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(9/2, 7/2)</a:t>
            </a:r>
          </a:p>
        </p:txBody>
      </p:sp>
      <p:cxnSp>
        <p:nvCxnSpPr>
          <p:cNvPr id="6" name="Straight Arrow Connector 5">
            <a:extLst>
              <a:ext uri="{FF2B5EF4-FFF2-40B4-BE49-F238E27FC236}">
                <a16:creationId xmlns:a16="http://schemas.microsoft.com/office/drawing/2014/main" id="{28A082F0-3F69-4A33-B6E9-550D66BC0DE3}"/>
              </a:ext>
            </a:extLst>
          </p:cNvPr>
          <p:cNvCxnSpPr>
            <a:cxnSpLocks/>
          </p:cNvCxnSpPr>
          <p:nvPr/>
        </p:nvCxnSpPr>
        <p:spPr>
          <a:xfrm flipH="1">
            <a:off x="3043825" y="5273458"/>
            <a:ext cx="458114" cy="729399"/>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2" name="Content Placeholder 2">
            <a:extLst>
              <a:ext uri="{FF2B5EF4-FFF2-40B4-BE49-F238E27FC236}">
                <a16:creationId xmlns:a16="http://schemas.microsoft.com/office/drawing/2014/main" id="{795D7CFF-31B0-4CAD-B8E9-6DFA915234DA}"/>
              </a:ext>
            </a:extLst>
          </p:cNvPr>
          <p:cNvSpPr txBox="1">
            <a:spLocks/>
          </p:cNvSpPr>
          <p:nvPr/>
        </p:nvSpPr>
        <p:spPr>
          <a:xfrm>
            <a:off x="5353138" y="3150309"/>
            <a:ext cx="2663520" cy="191592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pl-PL" b="1" i="1" dirty="0">
                <a:solidFill>
                  <a:schemeClr val="tx1"/>
                </a:solidFill>
              </a:rPr>
              <a:t>Max Z = 7 x1 + 9 x2</a:t>
            </a:r>
          </a:p>
          <a:p>
            <a:pPr marL="0" indent="0">
              <a:buFont typeface="Wingdings 3" charset="2"/>
              <a:buNone/>
            </a:pPr>
            <a:r>
              <a:rPr lang="en-US" sz="1400" b="1" i="1" dirty="0">
                <a:solidFill>
                  <a:schemeClr val="tx1"/>
                </a:solidFill>
              </a:rPr>
              <a:t>x1, x2 = 0, 0</a:t>
            </a:r>
          </a:p>
          <a:p>
            <a:pPr marL="0" indent="0">
              <a:buNone/>
            </a:pPr>
            <a:r>
              <a:rPr lang="en-US" sz="1400" b="1" i="1" dirty="0">
                <a:solidFill>
                  <a:schemeClr val="tx1"/>
                </a:solidFill>
              </a:rPr>
              <a:t>x1, x2 = 0, 2</a:t>
            </a:r>
          </a:p>
          <a:p>
            <a:pPr marL="0" indent="0">
              <a:buNone/>
            </a:pPr>
            <a:r>
              <a:rPr lang="en-US" sz="1400" b="1" i="1" dirty="0">
                <a:solidFill>
                  <a:schemeClr val="tx1"/>
                </a:solidFill>
              </a:rPr>
              <a:t>x1, x2 = 5, 0</a:t>
            </a:r>
          </a:p>
          <a:p>
            <a:pPr marL="0" indent="0">
              <a:buNone/>
            </a:pPr>
            <a:r>
              <a:rPr lang="en-US" sz="1400" b="1" i="1" dirty="0">
                <a:solidFill>
                  <a:schemeClr val="tx1"/>
                </a:solidFill>
              </a:rPr>
              <a:t>x1, x2 = 9/2, 7/2</a:t>
            </a:r>
          </a:p>
          <a:p>
            <a:pPr marL="0" indent="0">
              <a:buFont typeface="Wingdings 3" charset="2"/>
              <a:buNone/>
            </a:pPr>
            <a:endParaRPr lang="en-US" sz="1400" b="1" i="1" dirty="0">
              <a:solidFill>
                <a:schemeClr val="tx1"/>
              </a:solidFill>
            </a:endParaRPr>
          </a:p>
        </p:txBody>
      </p:sp>
      <p:sp>
        <p:nvSpPr>
          <p:cNvPr id="44" name="Content Placeholder 2">
            <a:extLst>
              <a:ext uri="{FF2B5EF4-FFF2-40B4-BE49-F238E27FC236}">
                <a16:creationId xmlns:a16="http://schemas.microsoft.com/office/drawing/2014/main" id="{E293EAE6-7AEF-4D63-842F-8B60673C8315}"/>
              </a:ext>
            </a:extLst>
          </p:cNvPr>
          <p:cNvSpPr txBox="1">
            <a:spLocks/>
          </p:cNvSpPr>
          <p:nvPr/>
        </p:nvSpPr>
        <p:spPr>
          <a:xfrm>
            <a:off x="7016837" y="3540954"/>
            <a:ext cx="824629" cy="142641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Z = 0 </a:t>
            </a:r>
          </a:p>
          <a:p>
            <a:pPr marL="0" indent="0">
              <a:buFont typeface="Wingdings 3" charset="2"/>
              <a:buNone/>
            </a:pPr>
            <a:r>
              <a:rPr lang="en-US" sz="1400" b="1" i="1" dirty="0">
                <a:solidFill>
                  <a:schemeClr val="tx1"/>
                </a:solidFill>
              </a:rPr>
              <a:t>Z = 18</a:t>
            </a:r>
          </a:p>
          <a:p>
            <a:pPr marL="0" indent="0">
              <a:buFont typeface="Wingdings 3" charset="2"/>
              <a:buNone/>
            </a:pPr>
            <a:r>
              <a:rPr lang="en-US" sz="1400" b="1" i="1" dirty="0">
                <a:solidFill>
                  <a:schemeClr val="tx1"/>
                </a:solidFill>
              </a:rPr>
              <a:t>Z = 35</a:t>
            </a:r>
          </a:p>
          <a:p>
            <a:pPr marL="0" indent="0">
              <a:buFont typeface="Wingdings 3" charset="2"/>
              <a:buNone/>
            </a:pPr>
            <a:r>
              <a:rPr lang="en-US" sz="1400" b="1" i="1" dirty="0">
                <a:solidFill>
                  <a:schemeClr val="tx1"/>
                </a:solidFill>
              </a:rPr>
              <a:t>Z = 63</a:t>
            </a:r>
          </a:p>
        </p:txBody>
      </p:sp>
      <p:sp>
        <p:nvSpPr>
          <p:cNvPr id="47" name="Content Placeholder 2">
            <a:extLst>
              <a:ext uri="{FF2B5EF4-FFF2-40B4-BE49-F238E27FC236}">
                <a16:creationId xmlns:a16="http://schemas.microsoft.com/office/drawing/2014/main" id="{162464D7-3775-4D71-B0E5-4123CB0DE911}"/>
              </a:ext>
            </a:extLst>
          </p:cNvPr>
          <p:cNvSpPr txBox="1">
            <a:spLocks/>
          </p:cNvSpPr>
          <p:nvPr/>
        </p:nvSpPr>
        <p:spPr>
          <a:xfrm>
            <a:off x="5353137" y="5107443"/>
            <a:ext cx="3327399" cy="66593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Obtained Solution in Non-Integer of sub Problem 1, hence we need to Branch out further</a:t>
            </a:r>
          </a:p>
        </p:txBody>
      </p:sp>
    </p:spTree>
    <p:extLst>
      <p:ext uri="{BB962C8B-B14F-4D97-AF65-F5344CB8AC3E}">
        <p14:creationId xmlns:p14="http://schemas.microsoft.com/office/powerpoint/2010/main" val="282649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3" grpId="0"/>
      <p:bldP spid="79" grpId="0"/>
      <p:bldGraphic spid="21" grpId="0">
        <p:bldAsOne/>
      </p:bldGraphic>
      <p:bldP spid="22" grpId="0"/>
      <p:bldP spid="23" grpId="0"/>
      <p:bldP spid="31" grpId="0"/>
      <p:bldP spid="42" grpId="0"/>
      <p:bldP spid="44" grpId="0"/>
      <p:bldP spid="4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677334" y="138688"/>
            <a:ext cx="8596668" cy="731520"/>
          </a:xfrm>
        </p:spPr>
        <p:txBody>
          <a:bodyPr/>
          <a:lstStyle/>
          <a:p>
            <a:r>
              <a:rPr lang="en-US" dirty="0"/>
              <a:t>Tree Diagram of IPP</a:t>
            </a:r>
          </a:p>
        </p:txBody>
      </p:sp>
      <p:sp>
        <p:nvSpPr>
          <p:cNvPr id="8" name="Freeform: Shape 7">
            <a:extLst>
              <a:ext uri="{FF2B5EF4-FFF2-40B4-BE49-F238E27FC236}">
                <a16:creationId xmlns:a16="http://schemas.microsoft.com/office/drawing/2014/main" id="{60D4C675-9C3D-4121-ADA3-BEA1B3D5D659}"/>
              </a:ext>
            </a:extLst>
          </p:cNvPr>
          <p:cNvSpPr/>
          <p:nvPr/>
        </p:nvSpPr>
        <p:spPr>
          <a:xfrm>
            <a:off x="5979914" y="2047576"/>
            <a:ext cx="1276945" cy="607709"/>
          </a:xfrm>
          <a:custGeom>
            <a:avLst/>
            <a:gdLst/>
            <a:ahLst/>
            <a:cxnLst/>
            <a:rect l="0" t="0" r="0" b="0"/>
            <a:pathLst>
              <a:path>
                <a:moveTo>
                  <a:pt x="0" y="0"/>
                </a:moveTo>
                <a:lnTo>
                  <a:pt x="0" y="414136"/>
                </a:lnTo>
                <a:lnTo>
                  <a:pt x="1276945" y="414136"/>
                </a:lnTo>
                <a:lnTo>
                  <a:pt x="1276945"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9" name="Freeform: Shape 8">
            <a:extLst>
              <a:ext uri="{FF2B5EF4-FFF2-40B4-BE49-F238E27FC236}">
                <a16:creationId xmlns:a16="http://schemas.microsoft.com/office/drawing/2014/main" id="{5E48B75B-6B20-4222-B13D-6792576C2F4E}"/>
              </a:ext>
            </a:extLst>
          </p:cNvPr>
          <p:cNvSpPr/>
          <p:nvPr/>
        </p:nvSpPr>
        <p:spPr>
          <a:xfrm>
            <a:off x="4702968" y="2047576"/>
            <a:ext cx="1276945" cy="607709"/>
          </a:xfrm>
          <a:custGeom>
            <a:avLst/>
            <a:gdLst/>
            <a:ahLst/>
            <a:cxnLst/>
            <a:rect l="0" t="0" r="0" b="0"/>
            <a:pathLst>
              <a:path>
                <a:moveTo>
                  <a:pt x="1276945" y="0"/>
                </a:moveTo>
                <a:lnTo>
                  <a:pt x="1276945" y="414136"/>
                </a:lnTo>
                <a:lnTo>
                  <a:pt x="0" y="414136"/>
                </a:lnTo>
                <a:lnTo>
                  <a:pt x="0"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1" name="Rectangle: Rounded Corners 10">
            <a:extLst>
              <a:ext uri="{FF2B5EF4-FFF2-40B4-BE49-F238E27FC236}">
                <a16:creationId xmlns:a16="http://schemas.microsoft.com/office/drawing/2014/main" id="{9EF38865-5C92-4307-9AAF-A6DDA631A51F}"/>
              </a:ext>
            </a:extLst>
          </p:cNvPr>
          <p:cNvSpPr/>
          <p:nvPr/>
        </p:nvSpPr>
        <p:spPr>
          <a:xfrm>
            <a:off x="4935140" y="720714"/>
            <a:ext cx="2089546" cy="1326862"/>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2" name="Freeform: Shape 11">
            <a:extLst>
              <a:ext uri="{FF2B5EF4-FFF2-40B4-BE49-F238E27FC236}">
                <a16:creationId xmlns:a16="http://schemas.microsoft.com/office/drawing/2014/main" id="{E3CA4121-004E-4F44-B56B-D7603C49B966}"/>
              </a:ext>
            </a:extLst>
          </p:cNvPr>
          <p:cNvSpPr/>
          <p:nvPr/>
        </p:nvSpPr>
        <p:spPr>
          <a:xfrm>
            <a:off x="5167312" y="941277"/>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1</a:t>
            </a:r>
          </a:p>
          <a:p>
            <a:r>
              <a:rPr lang="en-US" sz="1600" b="1" i="1" dirty="0">
                <a:solidFill>
                  <a:schemeClr val="tx1"/>
                </a:solidFill>
              </a:rPr>
              <a:t>x1= 9/2 </a:t>
            </a:r>
          </a:p>
          <a:p>
            <a:r>
              <a:rPr lang="en-US" sz="1600" b="1" i="1" dirty="0">
                <a:solidFill>
                  <a:schemeClr val="tx1"/>
                </a:solidFill>
              </a:rPr>
              <a:t>x2 = 7/2 </a:t>
            </a:r>
          </a:p>
          <a:p>
            <a:r>
              <a:rPr lang="en-US" sz="1600" b="1" i="1" dirty="0">
                <a:solidFill>
                  <a:schemeClr val="tx1"/>
                </a:solidFill>
              </a:rPr>
              <a:t>Z = 63</a:t>
            </a:r>
          </a:p>
        </p:txBody>
      </p:sp>
      <p:sp>
        <p:nvSpPr>
          <p:cNvPr id="13" name="Rectangle: Rounded Corners 12">
            <a:extLst>
              <a:ext uri="{FF2B5EF4-FFF2-40B4-BE49-F238E27FC236}">
                <a16:creationId xmlns:a16="http://schemas.microsoft.com/office/drawing/2014/main" id="{1EA46457-53D0-4C1A-BCED-E3F1337BE1FD}"/>
              </a:ext>
            </a:extLst>
          </p:cNvPr>
          <p:cNvSpPr/>
          <p:nvPr/>
        </p:nvSpPr>
        <p:spPr>
          <a:xfrm>
            <a:off x="365819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4" name="Freeform: Shape 13">
            <a:extLst>
              <a:ext uri="{FF2B5EF4-FFF2-40B4-BE49-F238E27FC236}">
                <a16:creationId xmlns:a16="http://schemas.microsoft.com/office/drawing/2014/main" id="{3BE24BB1-ACEA-4BCB-972F-EAB2CCB6751F}"/>
              </a:ext>
            </a:extLst>
          </p:cNvPr>
          <p:cNvSpPr/>
          <p:nvPr/>
        </p:nvSpPr>
        <p:spPr>
          <a:xfrm>
            <a:off x="389036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pPr algn="ctr" defTabSz="2622550">
              <a:lnSpc>
                <a:spcPct val="90000"/>
              </a:lnSpc>
              <a:spcBef>
                <a:spcPct val="0"/>
              </a:spcBef>
              <a:spcAft>
                <a:spcPct val="35000"/>
              </a:spcAft>
            </a:pPr>
            <a:r>
              <a:rPr lang="en-US" sz="1600" b="1" i="1" dirty="0">
                <a:solidFill>
                  <a:schemeClr val="tx1"/>
                </a:solidFill>
              </a:rPr>
              <a:t>Solution of </a:t>
            </a:r>
            <a:r>
              <a:rPr lang="en-US" sz="1600" b="1" i="1" dirty="0">
                <a:solidFill>
                  <a:srgbClr val="00B0F0"/>
                </a:solidFill>
              </a:rPr>
              <a:t>SUB PROBLEM 2</a:t>
            </a:r>
          </a:p>
        </p:txBody>
      </p:sp>
      <p:sp>
        <p:nvSpPr>
          <p:cNvPr id="18" name="Rectangle: Rounded Corners 17">
            <a:extLst>
              <a:ext uri="{FF2B5EF4-FFF2-40B4-BE49-F238E27FC236}">
                <a16:creationId xmlns:a16="http://schemas.microsoft.com/office/drawing/2014/main" id="{D16132BE-7CEE-4EDF-AEE1-D7F04CE635FE}"/>
              </a:ext>
            </a:extLst>
          </p:cNvPr>
          <p:cNvSpPr/>
          <p:nvPr/>
        </p:nvSpPr>
        <p:spPr>
          <a:xfrm>
            <a:off x="621208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20" name="Freeform: Shape 19">
            <a:extLst>
              <a:ext uri="{FF2B5EF4-FFF2-40B4-BE49-F238E27FC236}">
                <a16:creationId xmlns:a16="http://schemas.microsoft.com/office/drawing/2014/main" id="{630CFEDC-228F-4212-A3E8-D4EAF836AC6C}"/>
              </a:ext>
            </a:extLst>
          </p:cNvPr>
          <p:cNvSpPr/>
          <p:nvPr/>
        </p:nvSpPr>
        <p:spPr>
          <a:xfrm>
            <a:off x="644425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pPr algn="ctr" defTabSz="2622550">
              <a:lnSpc>
                <a:spcPct val="90000"/>
              </a:lnSpc>
              <a:spcBef>
                <a:spcPct val="0"/>
              </a:spcBef>
              <a:spcAft>
                <a:spcPct val="35000"/>
              </a:spcAft>
            </a:pPr>
            <a:r>
              <a:rPr lang="en-US" sz="1600" b="1" i="1" dirty="0">
                <a:solidFill>
                  <a:schemeClr val="tx1"/>
                </a:solidFill>
              </a:rPr>
              <a:t>Solution of </a:t>
            </a:r>
            <a:r>
              <a:rPr lang="en-US" sz="1600" b="1" i="1" dirty="0">
                <a:solidFill>
                  <a:srgbClr val="00B0F0"/>
                </a:solidFill>
              </a:rPr>
              <a:t>SUB PROBLEM 3</a:t>
            </a:r>
          </a:p>
        </p:txBody>
      </p:sp>
      <p:sp>
        <p:nvSpPr>
          <p:cNvPr id="19" name="Content Placeholder 2">
            <a:extLst>
              <a:ext uri="{FF2B5EF4-FFF2-40B4-BE49-F238E27FC236}">
                <a16:creationId xmlns:a16="http://schemas.microsoft.com/office/drawing/2014/main" id="{5F410E98-933D-46DD-8380-0CBBEF08DE7C}"/>
              </a:ext>
            </a:extLst>
          </p:cNvPr>
          <p:cNvSpPr txBox="1">
            <a:spLocks/>
          </p:cNvSpPr>
          <p:nvPr/>
        </p:nvSpPr>
        <p:spPr>
          <a:xfrm>
            <a:off x="1650395" y="1947702"/>
            <a:ext cx="2873408" cy="67301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600" b="1" i="1" dirty="0">
                <a:solidFill>
                  <a:schemeClr val="tx1"/>
                </a:solidFill>
              </a:rPr>
              <a:t>How to Split the Problem in further Sub problems</a:t>
            </a:r>
            <a:endParaRPr lang="en-US" sz="1400" b="1" i="1" dirty="0">
              <a:solidFill>
                <a:schemeClr val="tx1"/>
              </a:solidFill>
            </a:endParaRPr>
          </a:p>
          <a:p>
            <a:pPr marL="0" indent="0" algn="ctr">
              <a:buFont typeface="Wingdings 3" charset="2"/>
              <a:buNone/>
            </a:pPr>
            <a:endParaRPr lang="en-US" sz="1400" b="1" i="1" dirty="0">
              <a:solidFill>
                <a:schemeClr val="tx1"/>
              </a:solidFill>
            </a:endParaRPr>
          </a:p>
        </p:txBody>
      </p:sp>
    </p:spTree>
    <p:extLst>
      <p:ext uri="{BB962C8B-B14F-4D97-AF65-F5344CB8AC3E}">
        <p14:creationId xmlns:p14="http://schemas.microsoft.com/office/powerpoint/2010/main" val="340371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A51EE1BF-91F2-4D66-9DC2-FBE3F5BD0A6E}"/>
              </a:ext>
            </a:extLst>
          </p:cNvPr>
          <p:cNvSpPr txBox="1">
            <a:spLocks/>
          </p:cNvSpPr>
          <p:nvPr/>
        </p:nvSpPr>
        <p:spPr>
          <a:xfrm>
            <a:off x="733142" y="870208"/>
            <a:ext cx="7496458"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 </a:t>
            </a:r>
            <a:r>
              <a:rPr lang="en-US" sz="2000" b="1" dirty="0">
                <a:solidFill>
                  <a:schemeClr val="tx1"/>
                </a:solidFill>
              </a:rPr>
              <a:t>As the solution of Sub Problem 1 is non-Integer, take Integer part of the variable and split it into two</a:t>
            </a:r>
          </a:p>
        </p:txBody>
      </p:sp>
      <p:sp>
        <p:nvSpPr>
          <p:cNvPr id="15" name="Content Placeholder 2">
            <a:extLst>
              <a:ext uri="{FF2B5EF4-FFF2-40B4-BE49-F238E27FC236}">
                <a16:creationId xmlns:a16="http://schemas.microsoft.com/office/drawing/2014/main" id="{6696E22A-E799-453B-B680-0CE9A31F66F7}"/>
              </a:ext>
            </a:extLst>
          </p:cNvPr>
          <p:cNvSpPr txBox="1">
            <a:spLocks/>
          </p:cNvSpPr>
          <p:nvPr/>
        </p:nvSpPr>
        <p:spPr>
          <a:xfrm>
            <a:off x="733142" y="1601729"/>
            <a:ext cx="2924458" cy="9160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400" b="1" i="1" dirty="0">
                <a:solidFill>
                  <a:schemeClr val="tx1"/>
                </a:solidFill>
              </a:rPr>
              <a:t>x1 = 9/2</a:t>
            </a:r>
          </a:p>
          <a:p>
            <a:pPr marL="0" indent="0">
              <a:buNone/>
            </a:pPr>
            <a:r>
              <a:rPr lang="en-US" sz="1400" b="1" i="1" dirty="0">
                <a:solidFill>
                  <a:schemeClr val="tx1"/>
                </a:solidFill>
              </a:rPr>
              <a:t>Take integer part of it as </a:t>
            </a:r>
            <a:r>
              <a:rPr lang="en-US" sz="1400" b="1" i="1" dirty="0">
                <a:solidFill>
                  <a:schemeClr val="tx1"/>
                </a:solidFill>
                <a:highlight>
                  <a:srgbClr val="FFFF00"/>
                </a:highlight>
              </a:rPr>
              <a:t>4</a:t>
            </a:r>
          </a:p>
          <a:p>
            <a:pPr marL="0" indent="0">
              <a:buFont typeface="Wingdings 3" charset="2"/>
              <a:buNone/>
            </a:pPr>
            <a:endParaRPr lang="en-US" sz="1400" b="1" i="1" dirty="0">
              <a:solidFill>
                <a:schemeClr val="tx1"/>
              </a:solidFill>
            </a:endParaRPr>
          </a:p>
        </p:txBody>
      </p:sp>
      <p:grpSp>
        <p:nvGrpSpPr>
          <p:cNvPr id="8" name="Group 7">
            <a:extLst>
              <a:ext uri="{FF2B5EF4-FFF2-40B4-BE49-F238E27FC236}">
                <a16:creationId xmlns:a16="http://schemas.microsoft.com/office/drawing/2014/main" id="{9A7E310D-EF0B-4BFB-83B2-94B06A9E7D83}"/>
              </a:ext>
            </a:extLst>
          </p:cNvPr>
          <p:cNvGrpSpPr/>
          <p:nvPr/>
        </p:nvGrpSpPr>
        <p:grpSpPr>
          <a:xfrm>
            <a:off x="602689" y="2517733"/>
            <a:ext cx="3433339" cy="1523500"/>
            <a:chOff x="602689" y="2517733"/>
            <a:chExt cx="3433339" cy="1523500"/>
          </a:xfrm>
        </p:grpSpPr>
        <p:cxnSp>
          <p:nvCxnSpPr>
            <p:cNvPr id="17" name="Straight Connector 16">
              <a:extLst>
                <a:ext uri="{FF2B5EF4-FFF2-40B4-BE49-F238E27FC236}">
                  <a16:creationId xmlns:a16="http://schemas.microsoft.com/office/drawing/2014/main" id="{18405D63-1C4B-4C80-989F-9D9A8B8A7ADC}"/>
                </a:ext>
              </a:extLst>
            </p:cNvPr>
            <p:cNvCxnSpPr>
              <a:cxnSpLocks/>
            </p:cNvCxnSpPr>
            <p:nvPr/>
          </p:nvCxnSpPr>
          <p:spPr>
            <a:xfrm>
              <a:off x="715423" y="3672287"/>
              <a:ext cx="3320605"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49CAB05C-59A3-4B1F-884B-A41EB65EB103}"/>
                </a:ext>
              </a:extLst>
            </p:cNvPr>
            <p:cNvCxnSpPr>
              <a:cxnSpLocks/>
            </p:cNvCxnSpPr>
            <p:nvPr/>
          </p:nvCxnSpPr>
          <p:spPr>
            <a:xfrm flipV="1">
              <a:off x="3312663" y="2755740"/>
              <a:ext cx="0" cy="916547"/>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4306D086-4D35-4BB6-876A-F99D90EAEABC}"/>
                </a:ext>
              </a:extLst>
            </p:cNvPr>
            <p:cNvCxnSpPr>
              <a:cxnSpLocks/>
            </p:cNvCxnSpPr>
            <p:nvPr/>
          </p:nvCxnSpPr>
          <p:spPr>
            <a:xfrm flipV="1">
              <a:off x="1406590" y="2755740"/>
              <a:ext cx="0" cy="916548"/>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20" name="Content Placeholder 2">
              <a:extLst>
                <a:ext uri="{FF2B5EF4-FFF2-40B4-BE49-F238E27FC236}">
                  <a16:creationId xmlns:a16="http://schemas.microsoft.com/office/drawing/2014/main" id="{50BA26DC-CB61-45ED-8F89-41B79DA943EA}"/>
                </a:ext>
              </a:extLst>
            </p:cNvPr>
            <p:cNvSpPr txBox="1">
              <a:spLocks/>
            </p:cNvSpPr>
            <p:nvPr/>
          </p:nvSpPr>
          <p:spPr>
            <a:xfrm>
              <a:off x="1043099" y="2517733"/>
              <a:ext cx="726981" cy="34092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1200" b="1" dirty="0">
                  <a:solidFill>
                    <a:schemeClr val="tx2">
                      <a:lumMod val="50000"/>
                    </a:schemeClr>
                  </a:solidFill>
                </a:rPr>
                <a:t>Upper</a:t>
              </a:r>
            </a:p>
          </p:txBody>
        </p:sp>
        <p:sp>
          <p:nvSpPr>
            <p:cNvPr id="24" name="Content Placeholder 2">
              <a:extLst>
                <a:ext uri="{FF2B5EF4-FFF2-40B4-BE49-F238E27FC236}">
                  <a16:creationId xmlns:a16="http://schemas.microsoft.com/office/drawing/2014/main" id="{7C2C56D7-7979-4B46-92C3-E4201D0DB887}"/>
                </a:ext>
              </a:extLst>
            </p:cNvPr>
            <p:cNvSpPr txBox="1">
              <a:spLocks/>
            </p:cNvSpPr>
            <p:nvPr/>
          </p:nvSpPr>
          <p:spPr>
            <a:xfrm>
              <a:off x="2949172" y="2517733"/>
              <a:ext cx="726981" cy="34092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1200" b="1" dirty="0">
                  <a:solidFill>
                    <a:schemeClr val="tx2">
                      <a:lumMod val="50000"/>
                    </a:schemeClr>
                  </a:solidFill>
                </a:rPr>
                <a:t>Lower</a:t>
              </a:r>
            </a:p>
          </p:txBody>
        </p:sp>
        <p:sp>
          <p:nvSpPr>
            <p:cNvPr id="25" name="Content Placeholder 2">
              <a:extLst>
                <a:ext uri="{FF2B5EF4-FFF2-40B4-BE49-F238E27FC236}">
                  <a16:creationId xmlns:a16="http://schemas.microsoft.com/office/drawing/2014/main" id="{BF43D011-BCE4-419D-A89E-817313064922}"/>
                </a:ext>
              </a:extLst>
            </p:cNvPr>
            <p:cNvSpPr txBox="1">
              <a:spLocks/>
            </p:cNvSpPr>
            <p:nvPr/>
          </p:nvSpPr>
          <p:spPr>
            <a:xfrm>
              <a:off x="2519933" y="3310864"/>
              <a:ext cx="858478"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 x1&gt;=</a:t>
              </a:r>
              <a:endParaRPr lang="en-US" b="1" dirty="0">
                <a:solidFill>
                  <a:srgbClr val="FF0000"/>
                </a:solidFill>
              </a:endParaRPr>
            </a:p>
          </p:txBody>
        </p:sp>
        <p:sp>
          <p:nvSpPr>
            <p:cNvPr id="26" name="Content Placeholder 2">
              <a:extLst>
                <a:ext uri="{FF2B5EF4-FFF2-40B4-BE49-F238E27FC236}">
                  <a16:creationId xmlns:a16="http://schemas.microsoft.com/office/drawing/2014/main" id="{29908341-8A16-4AF5-A253-0518F5CA4586}"/>
                </a:ext>
              </a:extLst>
            </p:cNvPr>
            <p:cNvSpPr txBox="1">
              <a:spLocks/>
            </p:cNvSpPr>
            <p:nvPr/>
          </p:nvSpPr>
          <p:spPr>
            <a:xfrm>
              <a:off x="602689" y="3323616"/>
              <a:ext cx="858478"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  x1&lt;=</a:t>
              </a:r>
              <a:endParaRPr lang="en-US" b="1" dirty="0">
                <a:solidFill>
                  <a:srgbClr val="FF0000"/>
                </a:solidFill>
              </a:endParaRPr>
            </a:p>
          </p:txBody>
        </p:sp>
        <p:sp>
          <p:nvSpPr>
            <p:cNvPr id="29" name="Content Placeholder 2">
              <a:extLst>
                <a:ext uri="{FF2B5EF4-FFF2-40B4-BE49-F238E27FC236}">
                  <a16:creationId xmlns:a16="http://schemas.microsoft.com/office/drawing/2014/main" id="{A32E30F4-9744-4280-9C95-5CEEE54359CD}"/>
                </a:ext>
              </a:extLst>
            </p:cNvPr>
            <p:cNvSpPr txBox="1">
              <a:spLocks/>
            </p:cNvSpPr>
            <p:nvPr/>
          </p:nvSpPr>
          <p:spPr>
            <a:xfrm>
              <a:off x="1090324" y="3692562"/>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4</a:t>
              </a:r>
              <a:endParaRPr lang="en-US" b="1" dirty="0">
                <a:solidFill>
                  <a:srgbClr val="FF0000"/>
                </a:solidFill>
              </a:endParaRPr>
            </a:p>
          </p:txBody>
        </p:sp>
        <p:sp>
          <p:nvSpPr>
            <p:cNvPr id="30" name="Content Placeholder 2">
              <a:extLst>
                <a:ext uri="{FF2B5EF4-FFF2-40B4-BE49-F238E27FC236}">
                  <a16:creationId xmlns:a16="http://schemas.microsoft.com/office/drawing/2014/main" id="{60D96F81-0DAD-4620-BD47-407A7CEB1D32}"/>
                </a:ext>
              </a:extLst>
            </p:cNvPr>
            <p:cNvSpPr txBox="1">
              <a:spLocks/>
            </p:cNvSpPr>
            <p:nvPr/>
          </p:nvSpPr>
          <p:spPr>
            <a:xfrm>
              <a:off x="3007083" y="3692562"/>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5</a:t>
              </a:r>
              <a:endParaRPr lang="en-US" b="1" dirty="0">
                <a:solidFill>
                  <a:srgbClr val="FF0000"/>
                </a:solidFill>
              </a:endParaRPr>
            </a:p>
          </p:txBody>
        </p:sp>
        <p:cxnSp>
          <p:nvCxnSpPr>
            <p:cNvPr id="32" name="Straight Connector 31">
              <a:extLst>
                <a:ext uri="{FF2B5EF4-FFF2-40B4-BE49-F238E27FC236}">
                  <a16:creationId xmlns:a16="http://schemas.microsoft.com/office/drawing/2014/main" id="{C4FABEF5-B545-4DAA-99DF-1789D5CD27DC}"/>
                </a:ext>
              </a:extLst>
            </p:cNvPr>
            <p:cNvCxnSpPr>
              <a:cxnSpLocks/>
            </p:cNvCxnSpPr>
            <p:nvPr/>
          </p:nvCxnSpPr>
          <p:spPr>
            <a:xfrm flipV="1">
              <a:off x="2350673" y="3347639"/>
              <a:ext cx="0" cy="368947"/>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33" name="Content Placeholder 2">
              <a:extLst>
                <a:ext uri="{FF2B5EF4-FFF2-40B4-BE49-F238E27FC236}">
                  <a16:creationId xmlns:a16="http://schemas.microsoft.com/office/drawing/2014/main" id="{A8601C89-214B-49EB-A9AB-5D39F84DF1BD}"/>
                </a:ext>
              </a:extLst>
            </p:cNvPr>
            <p:cNvSpPr txBox="1">
              <a:spLocks/>
            </p:cNvSpPr>
            <p:nvPr/>
          </p:nvSpPr>
          <p:spPr>
            <a:xfrm>
              <a:off x="2077365" y="3682424"/>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4.5</a:t>
              </a:r>
              <a:endParaRPr lang="en-US" b="1" dirty="0">
                <a:solidFill>
                  <a:srgbClr val="FF0000"/>
                </a:solidFill>
              </a:endParaRPr>
            </a:p>
          </p:txBody>
        </p:sp>
      </p:grpSp>
      <p:sp>
        <p:nvSpPr>
          <p:cNvPr id="34" name="Oval 33">
            <a:extLst>
              <a:ext uri="{FF2B5EF4-FFF2-40B4-BE49-F238E27FC236}">
                <a16:creationId xmlns:a16="http://schemas.microsoft.com/office/drawing/2014/main" id="{853C52C3-EDF6-40D4-A34B-3A759C4F8665}"/>
              </a:ext>
            </a:extLst>
          </p:cNvPr>
          <p:cNvSpPr/>
          <p:nvPr/>
        </p:nvSpPr>
        <p:spPr>
          <a:xfrm>
            <a:off x="86506" y="4588292"/>
            <a:ext cx="2264168" cy="8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2">
                    <a:lumMod val="50000"/>
                  </a:schemeClr>
                </a:solidFill>
              </a:rPr>
              <a:t>Sub Problem 3</a:t>
            </a:r>
          </a:p>
        </p:txBody>
      </p:sp>
      <p:sp>
        <p:nvSpPr>
          <p:cNvPr id="35" name="Oval 34">
            <a:extLst>
              <a:ext uri="{FF2B5EF4-FFF2-40B4-BE49-F238E27FC236}">
                <a16:creationId xmlns:a16="http://schemas.microsoft.com/office/drawing/2014/main" id="{9B898D08-003A-42CD-8123-E72A1D41B04C}"/>
              </a:ext>
            </a:extLst>
          </p:cNvPr>
          <p:cNvSpPr/>
          <p:nvPr/>
        </p:nvSpPr>
        <p:spPr>
          <a:xfrm>
            <a:off x="2674085" y="4607586"/>
            <a:ext cx="2640169" cy="8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Sub Problem 2</a:t>
            </a:r>
          </a:p>
        </p:txBody>
      </p:sp>
      <p:cxnSp>
        <p:nvCxnSpPr>
          <p:cNvPr id="36" name="Straight Arrow Connector 35">
            <a:extLst>
              <a:ext uri="{FF2B5EF4-FFF2-40B4-BE49-F238E27FC236}">
                <a16:creationId xmlns:a16="http://schemas.microsoft.com/office/drawing/2014/main" id="{9086291E-23B5-47A4-9F13-897F68152942}"/>
              </a:ext>
            </a:extLst>
          </p:cNvPr>
          <p:cNvCxnSpPr>
            <a:cxnSpLocks/>
            <a:stCxn id="29" idx="2"/>
            <a:endCxn id="34" idx="0"/>
          </p:cNvCxnSpPr>
          <p:nvPr/>
        </p:nvCxnSpPr>
        <p:spPr>
          <a:xfrm flipH="1">
            <a:off x="1218590" y="4041233"/>
            <a:ext cx="170094" cy="547059"/>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B7CF5D67-DDB9-46E7-8C0A-8426151F3CEB}"/>
              </a:ext>
            </a:extLst>
          </p:cNvPr>
          <p:cNvCxnSpPr>
            <a:cxnSpLocks/>
            <a:stCxn id="30" idx="2"/>
            <a:endCxn id="35" idx="0"/>
          </p:cNvCxnSpPr>
          <p:nvPr/>
        </p:nvCxnSpPr>
        <p:spPr>
          <a:xfrm>
            <a:off x="3305443" y="4041233"/>
            <a:ext cx="688727" cy="566353"/>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39" name="Content Placeholder 2">
            <a:extLst>
              <a:ext uri="{FF2B5EF4-FFF2-40B4-BE49-F238E27FC236}">
                <a16:creationId xmlns:a16="http://schemas.microsoft.com/office/drawing/2014/main" id="{A42AE5DD-AD01-4F47-98B7-1BF51B8B6222}"/>
              </a:ext>
            </a:extLst>
          </p:cNvPr>
          <p:cNvSpPr txBox="1">
            <a:spLocks/>
          </p:cNvSpPr>
          <p:nvPr/>
        </p:nvSpPr>
        <p:spPr>
          <a:xfrm>
            <a:off x="7553195" y="2489037"/>
            <a:ext cx="4223944"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t>0 &lt;= x1, x2 &lt;= 7</a:t>
            </a:r>
          </a:p>
        </p:txBody>
      </p:sp>
      <p:sp>
        <p:nvSpPr>
          <p:cNvPr id="27" name="Title 1">
            <a:extLst>
              <a:ext uri="{FF2B5EF4-FFF2-40B4-BE49-F238E27FC236}">
                <a16:creationId xmlns:a16="http://schemas.microsoft.com/office/drawing/2014/main" id="{A2590C87-6C60-44A4-85B4-A69A87FFEB4B}"/>
              </a:ext>
            </a:extLst>
          </p:cNvPr>
          <p:cNvSpPr>
            <a:spLocks noGrp="1"/>
          </p:cNvSpPr>
          <p:nvPr>
            <p:ph type="title"/>
          </p:nvPr>
        </p:nvSpPr>
        <p:spPr>
          <a:xfrm>
            <a:off x="151241" y="87584"/>
            <a:ext cx="9205702" cy="731520"/>
          </a:xfrm>
        </p:spPr>
        <p:txBody>
          <a:bodyPr>
            <a:noAutofit/>
          </a:bodyPr>
          <a:lstStyle/>
          <a:p>
            <a:r>
              <a:rPr lang="en-US" dirty="0"/>
              <a:t>Branch and Bound Example – Sub Problem 1</a:t>
            </a:r>
          </a:p>
        </p:txBody>
      </p:sp>
    </p:spTree>
    <p:extLst>
      <p:ext uri="{BB962C8B-B14F-4D97-AF65-F5344CB8AC3E}">
        <p14:creationId xmlns:p14="http://schemas.microsoft.com/office/powerpoint/2010/main" val="381053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4" grpId="0" animBg="1"/>
      <p:bldP spid="35" grpId="0" animBg="1"/>
      <p:bldP spid="3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A51EE1BF-91F2-4D66-9DC2-FBE3F5BD0A6E}"/>
              </a:ext>
            </a:extLst>
          </p:cNvPr>
          <p:cNvSpPr txBox="1">
            <a:spLocks/>
          </p:cNvSpPr>
          <p:nvPr/>
        </p:nvSpPr>
        <p:spPr>
          <a:xfrm>
            <a:off x="733142" y="731620"/>
            <a:ext cx="3638442" cy="43249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rgbClr val="00B0F0"/>
                </a:solidFill>
              </a:rPr>
              <a:t>Sub Problem 2</a:t>
            </a:r>
          </a:p>
        </p:txBody>
      </p:sp>
      <p:sp>
        <p:nvSpPr>
          <p:cNvPr id="39" name="Content Placeholder 2">
            <a:extLst>
              <a:ext uri="{FF2B5EF4-FFF2-40B4-BE49-F238E27FC236}">
                <a16:creationId xmlns:a16="http://schemas.microsoft.com/office/drawing/2014/main" id="{A42AE5DD-AD01-4F47-98B7-1BF51B8B6222}"/>
              </a:ext>
            </a:extLst>
          </p:cNvPr>
          <p:cNvSpPr txBox="1">
            <a:spLocks/>
          </p:cNvSpPr>
          <p:nvPr/>
        </p:nvSpPr>
        <p:spPr>
          <a:xfrm>
            <a:off x="733142" y="1313630"/>
            <a:ext cx="4223944"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highlight>
                  <a:srgbClr val="FFFF00"/>
                </a:highlight>
              </a:rPr>
              <a:t>x1 &gt;= 5</a:t>
            </a:r>
          </a:p>
        </p:txBody>
      </p:sp>
      <p:sp>
        <p:nvSpPr>
          <p:cNvPr id="23" name="Content Placeholder 2">
            <a:extLst>
              <a:ext uri="{FF2B5EF4-FFF2-40B4-BE49-F238E27FC236}">
                <a16:creationId xmlns:a16="http://schemas.microsoft.com/office/drawing/2014/main" id="{13FF86F0-5267-45FD-B9B3-506684C0E95A}"/>
              </a:ext>
            </a:extLst>
          </p:cNvPr>
          <p:cNvSpPr txBox="1">
            <a:spLocks/>
          </p:cNvSpPr>
          <p:nvPr/>
        </p:nvSpPr>
        <p:spPr>
          <a:xfrm>
            <a:off x="5495120" y="731619"/>
            <a:ext cx="3638442" cy="43249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rgbClr val="00B0F0"/>
                </a:solidFill>
              </a:rPr>
              <a:t>Sub Problem 3</a:t>
            </a:r>
          </a:p>
        </p:txBody>
      </p:sp>
      <p:sp>
        <p:nvSpPr>
          <p:cNvPr id="27" name="Content Placeholder 2">
            <a:extLst>
              <a:ext uri="{FF2B5EF4-FFF2-40B4-BE49-F238E27FC236}">
                <a16:creationId xmlns:a16="http://schemas.microsoft.com/office/drawing/2014/main" id="{BF92058F-1183-4C51-95A3-7A24AD5EC3A2}"/>
              </a:ext>
            </a:extLst>
          </p:cNvPr>
          <p:cNvSpPr txBox="1">
            <a:spLocks/>
          </p:cNvSpPr>
          <p:nvPr/>
        </p:nvSpPr>
        <p:spPr>
          <a:xfrm>
            <a:off x="5603285" y="1258390"/>
            <a:ext cx="4223944"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highlight>
                  <a:srgbClr val="FFFF00"/>
                </a:highlight>
              </a:rPr>
              <a:t> x1 &lt;= 4</a:t>
            </a:r>
          </a:p>
        </p:txBody>
      </p:sp>
      <p:sp>
        <p:nvSpPr>
          <p:cNvPr id="28" name="Content Placeholder 2">
            <a:extLst>
              <a:ext uri="{FF2B5EF4-FFF2-40B4-BE49-F238E27FC236}">
                <a16:creationId xmlns:a16="http://schemas.microsoft.com/office/drawing/2014/main" id="{CF6D8989-58B4-4005-84AA-D85E5FDE1958}"/>
              </a:ext>
            </a:extLst>
          </p:cNvPr>
          <p:cNvSpPr txBox="1">
            <a:spLocks/>
          </p:cNvSpPr>
          <p:nvPr/>
        </p:nvSpPr>
        <p:spPr>
          <a:xfrm>
            <a:off x="576197" y="3903789"/>
            <a:ext cx="4703986" cy="120683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Use Graphical Method to Solve</a:t>
            </a:r>
            <a:r>
              <a:rPr lang="en-US" b="1" dirty="0">
                <a:solidFill>
                  <a:schemeClr val="accent1">
                    <a:lumMod val="75000"/>
                  </a:schemeClr>
                </a:solidFill>
              </a:rPr>
              <a:t> SUB PROBLEM 2 </a:t>
            </a:r>
            <a:r>
              <a:rPr lang="en-US" b="1" dirty="0">
                <a:solidFill>
                  <a:schemeClr val="tx1"/>
                </a:solidFill>
              </a:rPr>
              <a:t>and analyze the result for integer values</a:t>
            </a:r>
          </a:p>
        </p:txBody>
      </p:sp>
      <p:sp>
        <p:nvSpPr>
          <p:cNvPr id="31" name="Content Placeholder 2">
            <a:extLst>
              <a:ext uri="{FF2B5EF4-FFF2-40B4-BE49-F238E27FC236}">
                <a16:creationId xmlns:a16="http://schemas.microsoft.com/office/drawing/2014/main" id="{BAF4FE95-668F-4B5E-8BEF-AC3DACCFAB26}"/>
              </a:ext>
            </a:extLst>
          </p:cNvPr>
          <p:cNvSpPr txBox="1">
            <a:spLocks/>
          </p:cNvSpPr>
          <p:nvPr/>
        </p:nvSpPr>
        <p:spPr>
          <a:xfrm>
            <a:off x="5495120" y="3921414"/>
            <a:ext cx="4703986" cy="120683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Use the same values as Sub Problem 1 to plot the graph and use the new constraint</a:t>
            </a:r>
          </a:p>
        </p:txBody>
      </p:sp>
      <p:graphicFrame>
        <p:nvGraphicFramePr>
          <p:cNvPr id="38" name="Table 37">
            <a:extLst>
              <a:ext uri="{FF2B5EF4-FFF2-40B4-BE49-F238E27FC236}">
                <a16:creationId xmlns:a16="http://schemas.microsoft.com/office/drawing/2014/main" id="{A01402D3-1CC2-4AB0-9F1B-92C4B56EF925}"/>
              </a:ext>
            </a:extLst>
          </p:cNvPr>
          <p:cNvGraphicFramePr>
            <a:graphicFrameLocks noGrp="1"/>
          </p:cNvGraphicFramePr>
          <p:nvPr>
            <p:extLst>
              <p:ext uri="{D42A27DB-BD31-4B8C-83A1-F6EECF244321}">
                <p14:modId xmlns:p14="http://schemas.microsoft.com/office/powerpoint/2010/main" val="774009665"/>
              </p:ext>
            </p:extLst>
          </p:nvPr>
        </p:nvGraphicFramePr>
        <p:xfrm>
          <a:off x="5495120" y="4969343"/>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51155">
                <a:tc>
                  <a:txBody>
                    <a:bodyPr/>
                    <a:lstStyle/>
                    <a:p>
                      <a:pPr algn="ctr"/>
                      <a:r>
                        <a:rPr lang="en-US" sz="1600" dirty="0"/>
                        <a:t> 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098566"/>
                  </a:ext>
                </a:extLst>
              </a:tr>
            </a:tbl>
          </a:graphicData>
        </a:graphic>
      </p:graphicFrame>
      <p:graphicFrame>
        <p:nvGraphicFramePr>
          <p:cNvPr id="40" name="Table 39">
            <a:extLst>
              <a:ext uri="{FF2B5EF4-FFF2-40B4-BE49-F238E27FC236}">
                <a16:creationId xmlns:a16="http://schemas.microsoft.com/office/drawing/2014/main" id="{69593945-7E25-41E5-A21F-57F87845AAAB}"/>
              </a:ext>
            </a:extLst>
          </p:cNvPr>
          <p:cNvGraphicFramePr>
            <a:graphicFrameLocks noGrp="1"/>
          </p:cNvGraphicFramePr>
          <p:nvPr>
            <p:extLst>
              <p:ext uri="{D42A27DB-BD31-4B8C-83A1-F6EECF244321}">
                <p14:modId xmlns:p14="http://schemas.microsoft.com/office/powerpoint/2010/main" val="1326933518"/>
              </p:ext>
            </p:extLst>
          </p:nvPr>
        </p:nvGraphicFramePr>
        <p:xfrm>
          <a:off x="5495120" y="5311512"/>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65045">
                <a:tc>
                  <a:txBody>
                    <a:bodyPr/>
                    <a:lstStyle/>
                    <a:p>
                      <a:pPr algn="ctr"/>
                      <a:r>
                        <a:rPr lang="en-US" sz="1600" dirty="0"/>
                        <a:t> 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90624"/>
                  </a:ext>
                </a:extLst>
              </a:tr>
            </a:tbl>
          </a:graphicData>
        </a:graphic>
      </p:graphicFrame>
      <p:graphicFrame>
        <p:nvGraphicFramePr>
          <p:cNvPr id="41" name="Table 40">
            <a:extLst>
              <a:ext uri="{FF2B5EF4-FFF2-40B4-BE49-F238E27FC236}">
                <a16:creationId xmlns:a16="http://schemas.microsoft.com/office/drawing/2014/main" id="{12B5B326-F7E2-4A48-AC31-2A70112B8565}"/>
              </a:ext>
            </a:extLst>
          </p:cNvPr>
          <p:cNvGraphicFramePr>
            <a:graphicFrameLocks noGrp="1"/>
          </p:cNvGraphicFramePr>
          <p:nvPr>
            <p:extLst>
              <p:ext uri="{D42A27DB-BD31-4B8C-83A1-F6EECF244321}">
                <p14:modId xmlns:p14="http://schemas.microsoft.com/office/powerpoint/2010/main" val="2737145831"/>
              </p:ext>
            </p:extLst>
          </p:nvPr>
        </p:nvGraphicFramePr>
        <p:xfrm>
          <a:off x="7847113" y="4962454"/>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51155">
                <a:tc>
                  <a:txBody>
                    <a:bodyPr/>
                    <a:lstStyle/>
                    <a:p>
                      <a:pPr algn="ctr"/>
                      <a:r>
                        <a:rPr lang="en-US" sz="1600" dirty="0"/>
                        <a:t> 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098566"/>
                  </a:ext>
                </a:extLst>
              </a:tr>
            </a:tbl>
          </a:graphicData>
        </a:graphic>
      </p:graphicFrame>
      <p:graphicFrame>
        <p:nvGraphicFramePr>
          <p:cNvPr id="42" name="Table 41">
            <a:extLst>
              <a:ext uri="{FF2B5EF4-FFF2-40B4-BE49-F238E27FC236}">
                <a16:creationId xmlns:a16="http://schemas.microsoft.com/office/drawing/2014/main" id="{E4C8415D-5238-4EB0-825C-C21C10B2F17B}"/>
              </a:ext>
            </a:extLst>
          </p:cNvPr>
          <p:cNvGraphicFramePr>
            <a:graphicFrameLocks noGrp="1"/>
          </p:cNvGraphicFramePr>
          <p:nvPr>
            <p:extLst>
              <p:ext uri="{D42A27DB-BD31-4B8C-83A1-F6EECF244321}">
                <p14:modId xmlns:p14="http://schemas.microsoft.com/office/powerpoint/2010/main" val="3557509464"/>
              </p:ext>
            </p:extLst>
          </p:nvPr>
        </p:nvGraphicFramePr>
        <p:xfrm>
          <a:off x="7847113" y="5304623"/>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65045">
                <a:tc>
                  <a:txBody>
                    <a:bodyPr/>
                    <a:lstStyle/>
                    <a:p>
                      <a:pPr algn="ctr"/>
                      <a:r>
                        <a:rPr lang="en-US" sz="1600" dirty="0"/>
                        <a:t> 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90624"/>
                  </a:ext>
                </a:extLst>
              </a:tr>
            </a:tbl>
          </a:graphicData>
        </a:graphic>
      </p:graphicFrame>
      <p:sp>
        <p:nvSpPr>
          <p:cNvPr id="15" name="Title 1">
            <a:extLst>
              <a:ext uri="{FF2B5EF4-FFF2-40B4-BE49-F238E27FC236}">
                <a16:creationId xmlns:a16="http://schemas.microsoft.com/office/drawing/2014/main" id="{BF1B3E40-7AD9-456F-8FB7-9BDE64E18690}"/>
              </a:ext>
            </a:extLst>
          </p:cNvPr>
          <p:cNvSpPr>
            <a:spLocks noGrp="1"/>
          </p:cNvSpPr>
          <p:nvPr>
            <p:ph type="title"/>
          </p:nvPr>
        </p:nvSpPr>
        <p:spPr>
          <a:xfrm>
            <a:off x="151241" y="87584"/>
            <a:ext cx="9205702" cy="731520"/>
          </a:xfrm>
        </p:spPr>
        <p:txBody>
          <a:bodyPr>
            <a:noAutofit/>
          </a:bodyPr>
          <a:lstStyle/>
          <a:p>
            <a:r>
              <a:rPr lang="en-US" dirty="0"/>
              <a:t>Branch and Bound Example – Sub Problem 1</a:t>
            </a:r>
          </a:p>
        </p:txBody>
      </p:sp>
      <p:cxnSp>
        <p:nvCxnSpPr>
          <p:cNvPr id="6" name="Straight Connector 5">
            <a:extLst>
              <a:ext uri="{FF2B5EF4-FFF2-40B4-BE49-F238E27FC236}">
                <a16:creationId xmlns:a16="http://schemas.microsoft.com/office/drawing/2014/main" id="{F4F51BD9-8A0D-48D1-8E49-75554441C37C}"/>
              </a:ext>
            </a:extLst>
          </p:cNvPr>
          <p:cNvCxnSpPr/>
          <p:nvPr/>
        </p:nvCxnSpPr>
        <p:spPr>
          <a:xfrm>
            <a:off x="576197" y="3723289"/>
            <a:ext cx="962290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8811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27" grpId="0"/>
      <p:bldP spid="28" grpId="0"/>
      <p:bldP spid="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 name="Chart 53">
            <a:extLst>
              <a:ext uri="{FF2B5EF4-FFF2-40B4-BE49-F238E27FC236}">
                <a16:creationId xmlns:a16="http://schemas.microsoft.com/office/drawing/2014/main" id="{6F4CBB8C-6C51-4AC3-A972-D09D86F0D289}"/>
              </a:ext>
            </a:extLst>
          </p:cNvPr>
          <p:cNvGraphicFramePr/>
          <p:nvPr>
            <p:extLst>
              <p:ext uri="{D42A27DB-BD31-4B8C-83A1-F6EECF244321}">
                <p14:modId xmlns:p14="http://schemas.microsoft.com/office/powerpoint/2010/main" val="2975744077"/>
              </p:ext>
            </p:extLst>
          </p:nvPr>
        </p:nvGraphicFramePr>
        <p:xfrm>
          <a:off x="571689" y="870207"/>
          <a:ext cx="4655403" cy="4415777"/>
        </p:xfrm>
        <a:graphic>
          <a:graphicData uri="http://schemas.openxmlformats.org/drawingml/2006/chart">
            <c:chart xmlns:c="http://schemas.openxmlformats.org/drawingml/2006/chart" xmlns:r="http://schemas.openxmlformats.org/officeDocument/2006/relationships" r:id="rId2"/>
          </a:graphicData>
        </a:graphic>
      </p:graphicFrame>
      <p:sp>
        <p:nvSpPr>
          <p:cNvPr id="55" name="Content Placeholder 2">
            <a:extLst>
              <a:ext uri="{FF2B5EF4-FFF2-40B4-BE49-F238E27FC236}">
                <a16:creationId xmlns:a16="http://schemas.microsoft.com/office/drawing/2014/main" id="{7DA59440-37BC-482C-AA22-ED936AB5328A}"/>
              </a:ext>
            </a:extLst>
          </p:cNvPr>
          <p:cNvSpPr txBox="1">
            <a:spLocks/>
          </p:cNvSpPr>
          <p:nvPr/>
        </p:nvSpPr>
        <p:spPr>
          <a:xfrm>
            <a:off x="3722746" y="4174584"/>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1</a:t>
            </a:r>
          </a:p>
        </p:txBody>
      </p:sp>
      <p:sp>
        <p:nvSpPr>
          <p:cNvPr id="56" name="Content Placeholder 2">
            <a:extLst>
              <a:ext uri="{FF2B5EF4-FFF2-40B4-BE49-F238E27FC236}">
                <a16:creationId xmlns:a16="http://schemas.microsoft.com/office/drawing/2014/main" id="{EC72387B-6ADB-4506-B0EC-FE265EF04E76}"/>
              </a:ext>
            </a:extLst>
          </p:cNvPr>
          <p:cNvSpPr txBox="1">
            <a:spLocks/>
          </p:cNvSpPr>
          <p:nvPr/>
        </p:nvSpPr>
        <p:spPr>
          <a:xfrm>
            <a:off x="825216" y="1338795"/>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2</a:t>
            </a:r>
          </a:p>
        </p:txBody>
      </p:sp>
      <p:sp>
        <p:nvSpPr>
          <p:cNvPr id="57" name="Content Placeholder 2">
            <a:extLst>
              <a:ext uri="{FF2B5EF4-FFF2-40B4-BE49-F238E27FC236}">
                <a16:creationId xmlns:a16="http://schemas.microsoft.com/office/drawing/2014/main" id="{A2D595A5-0777-4916-A7BB-2C1F2AE7E139}"/>
              </a:ext>
            </a:extLst>
          </p:cNvPr>
          <p:cNvSpPr txBox="1">
            <a:spLocks/>
          </p:cNvSpPr>
          <p:nvPr/>
        </p:nvSpPr>
        <p:spPr>
          <a:xfrm>
            <a:off x="5480619" y="912934"/>
            <a:ext cx="5548660" cy="43100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600" i="1" dirty="0"/>
              <a:t>Most Feasible solution will be at point x1 = 5 &amp; x2 = 0</a:t>
            </a:r>
          </a:p>
        </p:txBody>
      </p:sp>
      <p:sp>
        <p:nvSpPr>
          <p:cNvPr id="72" name="Callout: Line 71">
            <a:extLst>
              <a:ext uri="{FF2B5EF4-FFF2-40B4-BE49-F238E27FC236}">
                <a16:creationId xmlns:a16="http://schemas.microsoft.com/office/drawing/2014/main" id="{4105975B-45FA-4EE1-9AB5-3DC65EA26C80}"/>
              </a:ext>
            </a:extLst>
          </p:cNvPr>
          <p:cNvSpPr/>
          <p:nvPr/>
        </p:nvSpPr>
        <p:spPr>
          <a:xfrm>
            <a:off x="2767271" y="5604859"/>
            <a:ext cx="1038069" cy="188242"/>
          </a:xfrm>
          <a:prstGeom prst="borderCallout1">
            <a:avLst>
              <a:gd name="adj1" fmla="val 18750"/>
              <a:gd name="adj2" fmla="val -8333"/>
              <a:gd name="adj3" fmla="val -382745"/>
              <a:gd name="adj4" fmla="val 582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Most feasible</a:t>
            </a:r>
          </a:p>
        </p:txBody>
      </p:sp>
      <p:sp>
        <p:nvSpPr>
          <p:cNvPr id="76" name="Oval 75">
            <a:extLst>
              <a:ext uri="{FF2B5EF4-FFF2-40B4-BE49-F238E27FC236}">
                <a16:creationId xmlns:a16="http://schemas.microsoft.com/office/drawing/2014/main" id="{39DA3105-3CE6-4E7F-9F85-A6EF36750C1D}"/>
              </a:ext>
            </a:extLst>
          </p:cNvPr>
          <p:cNvSpPr/>
          <p:nvPr/>
        </p:nvSpPr>
        <p:spPr>
          <a:xfrm>
            <a:off x="3325389" y="4728853"/>
            <a:ext cx="162839" cy="19489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2">
            <a:extLst>
              <a:ext uri="{FF2B5EF4-FFF2-40B4-BE49-F238E27FC236}">
                <a16:creationId xmlns:a16="http://schemas.microsoft.com/office/drawing/2014/main" id="{732D78DB-77E4-4136-8E88-457E6D69A81D}"/>
              </a:ext>
            </a:extLst>
          </p:cNvPr>
          <p:cNvSpPr txBox="1">
            <a:spLocks/>
          </p:cNvSpPr>
          <p:nvPr/>
        </p:nvSpPr>
        <p:spPr>
          <a:xfrm>
            <a:off x="3305427" y="1320512"/>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3</a:t>
            </a:r>
          </a:p>
        </p:txBody>
      </p:sp>
      <p:grpSp>
        <p:nvGrpSpPr>
          <p:cNvPr id="33" name="Group 32">
            <a:extLst>
              <a:ext uri="{FF2B5EF4-FFF2-40B4-BE49-F238E27FC236}">
                <a16:creationId xmlns:a16="http://schemas.microsoft.com/office/drawing/2014/main" id="{B3DFB6ED-2E9E-4899-9121-93D698CB910A}"/>
              </a:ext>
            </a:extLst>
          </p:cNvPr>
          <p:cNvGrpSpPr/>
          <p:nvPr/>
        </p:nvGrpSpPr>
        <p:grpSpPr>
          <a:xfrm rot="21411025">
            <a:off x="996716" y="4609428"/>
            <a:ext cx="1209579" cy="288099"/>
            <a:chOff x="6493929" y="5561556"/>
            <a:chExt cx="1209579" cy="288099"/>
          </a:xfrm>
        </p:grpSpPr>
        <p:cxnSp>
          <p:nvCxnSpPr>
            <p:cNvPr id="34" name="Straight Arrow Connector 33">
              <a:extLst>
                <a:ext uri="{FF2B5EF4-FFF2-40B4-BE49-F238E27FC236}">
                  <a16:creationId xmlns:a16="http://schemas.microsoft.com/office/drawing/2014/main" id="{F1F07807-6A80-4D0F-B348-47F60BEF8A62}"/>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5" name="Straight Connector 34">
              <a:extLst>
                <a:ext uri="{FF2B5EF4-FFF2-40B4-BE49-F238E27FC236}">
                  <a16:creationId xmlns:a16="http://schemas.microsoft.com/office/drawing/2014/main" id="{97837384-F487-49B4-B98F-26CD684B1538}"/>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FFFC553C-353A-45E3-879E-85B48FD975EC}"/>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A1E677F2-F92F-4A06-A18D-C07CE48BC65B}"/>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64EAA961-16D2-44BD-A36B-C32441C68EBF}"/>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349FAB16-ABEA-440B-9179-147D82C16293}"/>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07CF6063-5CB7-45E8-A50C-44AB50DAAA50}"/>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C5301998-B959-4C47-B672-23BA9F71ACC8}"/>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3ABF26CC-869F-4920-8C1C-3F2F5B9268E9}"/>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6553DA54-168C-489F-9A16-80A57E120D1C}"/>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44" name="Group 43">
            <a:extLst>
              <a:ext uri="{FF2B5EF4-FFF2-40B4-BE49-F238E27FC236}">
                <a16:creationId xmlns:a16="http://schemas.microsoft.com/office/drawing/2014/main" id="{FDD5E59C-5CD2-400E-ACEC-68BDA586918A}"/>
              </a:ext>
            </a:extLst>
          </p:cNvPr>
          <p:cNvGrpSpPr/>
          <p:nvPr/>
        </p:nvGrpSpPr>
        <p:grpSpPr>
          <a:xfrm rot="16200000">
            <a:off x="2998644" y="3466654"/>
            <a:ext cx="1209579" cy="288099"/>
            <a:chOff x="6493929" y="5561556"/>
            <a:chExt cx="1209579" cy="288099"/>
          </a:xfrm>
        </p:grpSpPr>
        <p:cxnSp>
          <p:nvCxnSpPr>
            <p:cNvPr id="45" name="Straight Arrow Connector 44">
              <a:extLst>
                <a:ext uri="{FF2B5EF4-FFF2-40B4-BE49-F238E27FC236}">
                  <a16:creationId xmlns:a16="http://schemas.microsoft.com/office/drawing/2014/main" id="{ED51C6D3-2C13-41FA-BBBB-902C54A1E205}"/>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6" name="Straight Connector 45">
              <a:extLst>
                <a:ext uri="{FF2B5EF4-FFF2-40B4-BE49-F238E27FC236}">
                  <a16:creationId xmlns:a16="http://schemas.microsoft.com/office/drawing/2014/main" id="{F6D67A47-C5BF-43C0-9585-A815F0ACE5F5}"/>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22010D7B-F02B-4300-AE74-BB6F144F6FA7}"/>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6C6206FF-FC5E-450D-89AA-90E83F16D68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7CF5EE16-0C3B-4399-B128-D206976270C6}"/>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9AE33266-85EC-4CAE-9D51-546D5F16740E}"/>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1" name="Straight Arrow Connector 50">
              <a:extLst>
                <a:ext uri="{FF2B5EF4-FFF2-40B4-BE49-F238E27FC236}">
                  <a16:creationId xmlns:a16="http://schemas.microsoft.com/office/drawing/2014/main" id="{89DC71C9-D7D8-4314-9C62-EAE6EC393FA6}"/>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5A0B3306-175F-4BD1-BFC2-30BC0160C8ED}"/>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3" name="Straight Arrow Connector 52">
              <a:extLst>
                <a:ext uri="{FF2B5EF4-FFF2-40B4-BE49-F238E27FC236}">
                  <a16:creationId xmlns:a16="http://schemas.microsoft.com/office/drawing/2014/main" id="{EBA33204-88C8-4486-8EDE-207E95A68279}"/>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8" name="Straight Arrow Connector 57">
              <a:extLst>
                <a:ext uri="{FF2B5EF4-FFF2-40B4-BE49-F238E27FC236}">
                  <a16:creationId xmlns:a16="http://schemas.microsoft.com/office/drawing/2014/main" id="{4D0E1AA2-7488-49EB-BB36-B21E41F7AC8F}"/>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60" name="Group 59">
            <a:extLst>
              <a:ext uri="{FF2B5EF4-FFF2-40B4-BE49-F238E27FC236}">
                <a16:creationId xmlns:a16="http://schemas.microsoft.com/office/drawing/2014/main" id="{D3BF01D1-BD22-4DDB-BBC1-3AB51699E47C}"/>
              </a:ext>
            </a:extLst>
          </p:cNvPr>
          <p:cNvGrpSpPr/>
          <p:nvPr/>
        </p:nvGrpSpPr>
        <p:grpSpPr>
          <a:xfrm rot="21411025">
            <a:off x="2289592" y="4540299"/>
            <a:ext cx="1209579" cy="288099"/>
            <a:chOff x="6493929" y="5561556"/>
            <a:chExt cx="1209579" cy="288099"/>
          </a:xfrm>
        </p:grpSpPr>
        <p:cxnSp>
          <p:nvCxnSpPr>
            <p:cNvPr id="61" name="Straight Arrow Connector 60">
              <a:extLst>
                <a:ext uri="{FF2B5EF4-FFF2-40B4-BE49-F238E27FC236}">
                  <a16:creationId xmlns:a16="http://schemas.microsoft.com/office/drawing/2014/main" id="{FCDA30FD-0115-4056-A61C-CF2110D85771}"/>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66" name="Straight Connector 65">
              <a:extLst>
                <a:ext uri="{FF2B5EF4-FFF2-40B4-BE49-F238E27FC236}">
                  <a16:creationId xmlns:a16="http://schemas.microsoft.com/office/drawing/2014/main" id="{8EE2392E-D432-46DD-BA40-1E717AE12DB7}"/>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67" name="Straight Arrow Connector 66">
              <a:extLst>
                <a:ext uri="{FF2B5EF4-FFF2-40B4-BE49-F238E27FC236}">
                  <a16:creationId xmlns:a16="http://schemas.microsoft.com/office/drawing/2014/main" id="{FC223BB2-B8D9-4067-B502-0145A6AAA07D}"/>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68" name="Straight Arrow Connector 67">
              <a:extLst>
                <a:ext uri="{FF2B5EF4-FFF2-40B4-BE49-F238E27FC236}">
                  <a16:creationId xmlns:a16="http://schemas.microsoft.com/office/drawing/2014/main" id="{A6B87A29-04D2-4196-8305-611555701BF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69" name="Straight Arrow Connector 68">
              <a:extLst>
                <a:ext uri="{FF2B5EF4-FFF2-40B4-BE49-F238E27FC236}">
                  <a16:creationId xmlns:a16="http://schemas.microsoft.com/office/drawing/2014/main" id="{F1FEFF60-6189-43C4-BEDA-38EDADF01E1C}"/>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70" name="Straight Arrow Connector 69">
              <a:extLst>
                <a:ext uri="{FF2B5EF4-FFF2-40B4-BE49-F238E27FC236}">
                  <a16:creationId xmlns:a16="http://schemas.microsoft.com/office/drawing/2014/main" id="{F629C09D-1925-4C87-A7BE-13CF8696E0A8}"/>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71" name="Straight Arrow Connector 70">
              <a:extLst>
                <a:ext uri="{FF2B5EF4-FFF2-40B4-BE49-F238E27FC236}">
                  <a16:creationId xmlns:a16="http://schemas.microsoft.com/office/drawing/2014/main" id="{5F844978-302F-43F3-A5CF-61B3D32A8C27}"/>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73" name="Straight Arrow Connector 72">
              <a:extLst>
                <a:ext uri="{FF2B5EF4-FFF2-40B4-BE49-F238E27FC236}">
                  <a16:creationId xmlns:a16="http://schemas.microsoft.com/office/drawing/2014/main" id="{61323439-947F-424D-B1F5-1F3AAF4B9A8E}"/>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0" name="Straight Arrow Connector 79">
              <a:extLst>
                <a:ext uri="{FF2B5EF4-FFF2-40B4-BE49-F238E27FC236}">
                  <a16:creationId xmlns:a16="http://schemas.microsoft.com/office/drawing/2014/main" id="{6D28B557-402D-4C21-9DA2-F40EE50FE1A7}"/>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2" name="Straight Arrow Connector 81">
              <a:extLst>
                <a:ext uri="{FF2B5EF4-FFF2-40B4-BE49-F238E27FC236}">
                  <a16:creationId xmlns:a16="http://schemas.microsoft.com/office/drawing/2014/main" id="{AE782930-4C6E-4EBD-90FE-8B3190CE67BC}"/>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83" name="Group 82">
            <a:extLst>
              <a:ext uri="{FF2B5EF4-FFF2-40B4-BE49-F238E27FC236}">
                <a16:creationId xmlns:a16="http://schemas.microsoft.com/office/drawing/2014/main" id="{87ED5AB6-D368-4077-8EB3-02F56F187AB8}"/>
              </a:ext>
            </a:extLst>
          </p:cNvPr>
          <p:cNvGrpSpPr/>
          <p:nvPr/>
        </p:nvGrpSpPr>
        <p:grpSpPr>
          <a:xfrm rot="3135510">
            <a:off x="719435" y="2240059"/>
            <a:ext cx="1209579" cy="288099"/>
            <a:chOff x="6493929" y="5561556"/>
            <a:chExt cx="1209579" cy="288099"/>
          </a:xfrm>
        </p:grpSpPr>
        <p:cxnSp>
          <p:nvCxnSpPr>
            <p:cNvPr id="84" name="Straight Arrow Connector 83">
              <a:extLst>
                <a:ext uri="{FF2B5EF4-FFF2-40B4-BE49-F238E27FC236}">
                  <a16:creationId xmlns:a16="http://schemas.microsoft.com/office/drawing/2014/main" id="{2736389F-FE05-45D6-B0E7-B3DF6B182784}"/>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5" name="Straight Connector 84">
              <a:extLst>
                <a:ext uri="{FF2B5EF4-FFF2-40B4-BE49-F238E27FC236}">
                  <a16:creationId xmlns:a16="http://schemas.microsoft.com/office/drawing/2014/main" id="{6604032B-7BB0-46A5-B68D-7E02AAA9D07B}"/>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86" name="Straight Arrow Connector 85">
              <a:extLst>
                <a:ext uri="{FF2B5EF4-FFF2-40B4-BE49-F238E27FC236}">
                  <a16:creationId xmlns:a16="http://schemas.microsoft.com/office/drawing/2014/main" id="{74FD972D-7BE0-4FC6-BF81-0A25398F67E1}"/>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7" name="Straight Arrow Connector 86">
              <a:extLst>
                <a:ext uri="{FF2B5EF4-FFF2-40B4-BE49-F238E27FC236}">
                  <a16:creationId xmlns:a16="http://schemas.microsoft.com/office/drawing/2014/main" id="{EB7525BF-C8C1-461A-96F6-EDA6B1B31E5C}"/>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8" name="Straight Arrow Connector 87">
              <a:extLst>
                <a:ext uri="{FF2B5EF4-FFF2-40B4-BE49-F238E27FC236}">
                  <a16:creationId xmlns:a16="http://schemas.microsoft.com/office/drawing/2014/main" id="{3CBCACA8-7FC3-44F9-88E4-F1C4556A0C72}"/>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9" name="Straight Arrow Connector 88">
              <a:extLst>
                <a:ext uri="{FF2B5EF4-FFF2-40B4-BE49-F238E27FC236}">
                  <a16:creationId xmlns:a16="http://schemas.microsoft.com/office/drawing/2014/main" id="{0FB5CC76-3589-45C2-9BEA-6ADB9A326CA6}"/>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0" name="Straight Arrow Connector 89">
              <a:extLst>
                <a:ext uri="{FF2B5EF4-FFF2-40B4-BE49-F238E27FC236}">
                  <a16:creationId xmlns:a16="http://schemas.microsoft.com/office/drawing/2014/main" id="{7436E379-07D9-4ED3-8D8E-A538A5C28304}"/>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1" name="Straight Arrow Connector 90">
              <a:extLst>
                <a:ext uri="{FF2B5EF4-FFF2-40B4-BE49-F238E27FC236}">
                  <a16:creationId xmlns:a16="http://schemas.microsoft.com/office/drawing/2014/main" id="{40E9687C-7187-4EA9-A661-05B1F767A6A8}"/>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2" name="Straight Arrow Connector 91">
              <a:extLst>
                <a:ext uri="{FF2B5EF4-FFF2-40B4-BE49-F238E27FC236}">
                  <a16:creationId xmlns:a16="http://schemas.microsoft.com/office/drawing/2014/main" id="{C650CA33-AC42-4666-B073-87D57BA8C054}"/>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3" name="Straight Arrow Connector 92">
              <a:extLst>
                <a:ext uri="{FF2B5EF4-FFF2-40B4-BE49-F238E27FC236}">
                  <a16:creationId xmlns:a16="http://schemas.microsoft.com/office/drawing/2014/main" id="{DBFE86EF-0DF6-47BB-919A-7BA6E27FC02F}"/>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94" name="Group 93">
            <a:extLst>
              <a:ext uri="{FF2B5EF4-FFF2-40B4-BE49-F238E27FC236}">
                <a16:creationId xmlns:a16="http://schemas.microsoft.com/office/drawing/2014/main" id="{6D7E1EB8-447C-4717-B3D3-D0A2B472399C}"/>
              </a:ext>
            </a:extLst>
          </p:cNvPr>
          <p:cNvGrpSpPr/>
          <p:nvPr/>
        </p:nvGrpSpPr>
        <p:grpSpPr>
          <a:xfrm rot="3135510">
            <a:off x="1533392" y="3287316"/>
            <a:ext cx="1209579" cy="288099"/>
            <a:chOff x="6493929" y="5561556"/>
            <a:chExt cx="1209579" cy="288099"/>
          </a:xfrm>
        </p:grpSpPr>
        <p:cxnSp>
          <p:nvCxnSpPr>
            <p:cNvPr id="95" name="Straight Arrow Connector 94">
              <a:extLst>
                <a:ext uri="{FF2B5EF4-FFF2-40B4-BE49-F238E27FC236}">
                  <a16:creationId xmlns:a16="http://schemas.microsoft.com/office/drawing/2014/main" id="{9B2B788F-56F9-4C25-9EAF-8E45ED1C33A2}"/>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6" name="Straight Connector 95">
              <a:extLst>
                <a:ext uri="{FF2B5EF4-FFF2-40B4-BE49-F238E27FC236}">
                  <a16:creationId xmlns:a16="http://schemas.microsoft.com/office/drawing/2014/main" id="{8BDD0953-F65A-4D8B-A246-508D00216097}"/>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97" name="Straight Arrow Connector 96">
              <a:extLst>
                <a:ext uri="{FF2B5EF4-FFF2-40B4-BE49-F238E27FC236}">
                  <a16:creationId xmlns:a16="http://schemas.microsoft.com/office/drawing/2014/main" id="{E8EE42D7-4BAB-4CFE-9B57-DF693F7C5164}"/>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8" name="Straight Arrow Connector 97">
              <a:extLst>
                <a:ext uri="{FF2B5EF4-FFF2-40B4-BE49-F238E27FC236}">
                  <a16:creationId xmlns:a16="http://schemas.microsoft.com/office/drawing/2014/main" id="{9257D854-A04F-4B1D-B280-198DC2351F66}"/>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9" name="Straight Arrow Connector 98">
              <a:extLst>
                <a:ext uri="{FF2B5EF4-FFF2-40B4-BE49-F238E27FC236}">
                  <a16:creationId xmlns:a16="http://schemas.microsoft.com/office/drawing/2014/main" id="{D4424D2A-EA05-4CC2-8B53-83C2B53B2285}"/>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0" name="Straight Arrow Connector 99">
              <a:extLst>
                <a:ext uri="{FF2B5EF4-FFF2-40B4-BE49-F238E27FC236}">
                  <a16:creationId xmlns:a16="http://schemas.microsoft.com/office/drawing/2014/main" id="{39186B56-C730-449E-9FA0-AB9703F99567}"/>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1" name="Straight Arrow Connector 100">
              <a:extLst>
                <a:ext uri="{FF2B5EF4-FFF2-40B4-BE49-F238E27FC236}">
                  <a16:creationId xmlns:a16="http://schemas.microsoft.com/office/drawing/2014/main" id="{68B52066-C489-44F6-97BB-9040F727D832}"/>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2" name="Straight Arrow Connector 101">
              <a:extLst>
                <a:ext uri="{FF2B5EF4-FFF2-40B4-BE49-F238E27FC236}">
                  <a16:creationId xmlns:a16="http://schemas.microsoft.com/office/drawing/2014/main" id="{45F1228E-A06F-4043-B0D6-789503C9DFE1}"/>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3" name="Straight Arrow Connector 102">
              <a:extLst>
                <a:ext uri="{FF2B5EF4-FFF2-40B4-BE49-F238E27FC236}">
                  <a16:creationId xmlns:a16="http://schemas.microsoft.com/office/drawing/2014/main" id="{A1D26866-F330-4C9C-9CD5-6C9B40A29207}"/>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4" name="Straight Arrow Connector 103">
              <a:extLst>
                <a:ext uri="{FF2B5EF4-FFF2-40B4-BE49-F238E27FC236}">
                  <a16:creationId xmlns:a16="http://schemas.microsoft.com/office/drawing/2014/main" id="{08814139-2C51-43BB-8AA2-3EDF5A041BD4}"/>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05" name="Group 104">
            <a:extLst>
              <a:ext uri="{FF2B5EF4-FFF2-40B4-BE49-F238E27FC236}">
                <a16:creationId xmlns:a16="http://schemas.microsoft.com/office/drawing/2014/main" id="{88163EB6-47BC-450F-BCA7-2FB2C1CD41BC}"/>
              </a:ext>
            </a:extLst>
          </p:cNvPr>
          <p:cNvGrpSpPr/>
          <p:nvPr/>
        </p:nvGrpSpPr>
        <p:grpSpPr>
          <a:xfrm rot="3135510">
            <a:off x="2329751" y="4304346"/>
            <a:ext cx="1209579" cy="288099"/>
            <a:chOff x="6493929" y="5561556"/>
            <a:chExt cx="1209579" cy="288099"/>
          </a:xfrm>
        </p:grpSpPr>
        <p:cxnSp>
          <p:nvCxnSpPr>
            <p:cNvPr id="106" name="Straight Arrow Connector 105">
              <a:extLst>
                <a:ext uri="{FF2B5EF4-FFF2-40B4-BE49-F238E27FC236}">
                  <a16:creationId xmlns:a16="http://schemas.microsoft.com/office/drawing/2014/main" id="{277CADC4-00EF-4EA9-AA3A-F7B23A857A35}"/>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7" name="Straight Connector 106">
              <a:extLst>
                <a:ext uri="{FF2B5EF4-FFF2-40B4-BE49-F238E27FC236}">
                  <a16:creationId xmlns:a16="http://schemas.microsoft.com/office/drawing/2014/main" id="{5B2F9A46-D563-4ECA-B529-C8995DAC72E8}"/>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08" name="Straight Arrow Connector 107">
              <a:extLst>
                <a:ext uri="{FF2B5EF4-FFF2-40B4-BE49-F238E27FC236}">
                  <a16:creationId xmlns:a16="http://schemas.microsoft.com/office/drawing/2014/main" id="{7ABCF3B1-DF0D-4487-99E4-E16FF9FF015B}"/>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9" name="Straight Arrow Connector 108">
              <a:extLst>
                <a:ext uri="{FF2B5EF4-FFF2-40B4-BE49-F238E27FC236}">
                  <a16:creationId xmlns:a16="http://schemas.microsoft.com/office/drawing/2014/main" id="{BACC2049-F1CA-49C3-B490-37E4ED021540}"/>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0" name="Straight Arrow Connector 109">
              <a:extLst>
                <a:ext uri="{FF2B5EF4-FFF2-40B4-BE49-F238E27FC236}">
                  <a16:creationId xmlns:a16="http://schemas.microsoft.com/office/drawing/2014/main" id="{1BA7D805-DC3C-481E-952B-0624297A5095}"/>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1" name="Straight Arrow Connector 110">
              <a:extLst>
                <a:ext uri="{FF2B5EF4-FFF2-40B4-BE49-F238E27FC236}">
                  <a16:creationId xmlns:a16="http://schemas.microsoft.com/office/drawing/2014/main" id="{C486E16E-A50D-4DED-BF8F-8B5D18CB04F2}"/>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2" name="Straight Arrow Connector 111">
              <a:extLst>
                <a:ext uri="{FF2B5EF4-FFF2-40B4-BE49-F238E27FC236}">
                  <a16:creationId xmlns:a16="http://schemas.microsoft.com/office/drawing/2014/main" id="{A858777B-4E50-4C7F-873F-AFDD538335BD}"/>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3" name="Straight Arrow Connector 112">
              <a:extLst>
                <a:ext uri="{FF2B5EF4-FFF2-40B4-BE49-F238E27FC236}">
                  <a16:creationId xmlns:a16="http://schemas.microsoft.com/office/drawing/2014/main" id="{A8D4D08F-D833-4531-964F-AD4119357457}"/>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4" name="Straight Arrow Connector 113">
              <a:extLst>
                <a:ext uri="{FF2B5EF4-FFF2-40B4-BE49-F238E27FC236}">
                  <a16:creationId xmlns:a16="http://schemas.microsoft.com/office/drawing/2014/main" id="{1181FF1A-0C8B-4C95-AE64-1D324C38D287}"/>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5" name="Straight Arrow Connector 114">
              <a:extLst>
                <a:ext uri="{FF2B5EF4-FFF2-40B4-BE49-F238E27FC236}">
                  <a16:creationId xmlns:a16="http://schemas.microsoft.com/office/drawing/2014/main" id="{6650F82F-2DE6-4992-ABFB-51B78688C095}"/>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16" name="Group 115">
            <a:extLst>
              <a:ext uri="{FF2B5EF4-FFF2-40B4-BE49-F238E27FC236}">
                <a16:creationId xmlns:a16="http://schemas.microsoft.com/office/drawing/2014/main" id="{B0ABA629-D78E-4AB6-A831-2CCC5E261D39}"/>
              </a:ext>
            </a:extLst>
          </p:cNvPr>
          <p:cNvGrpSpPr/>
          <p:nvPr/>
        </p:nvGrpSpPr>
        <p:grpSpPr>
          <a:xfrm rot="16200000">
            <a:off x="3018466" y="2153157"/>
            <a:ext cx="1209579" cy="288099"/>
            <a:chOff x="6493929" y="5561556"/>
            <a:chExt cx="1209579" cy="288099"/>
          </a:xfrm>
        </p:grpSpPr>
        <p:cxnSp>
          <p:nvCxnSpPr>
            <p:cNvPr id="117" name="Straight Arrow Connector 116">
              <a:extLst>
                <a:ext uri="{FF2B5EF4-FFF2-40B4-BE49-F238E27FC236}">
                  <a16:creationId xmlns:a16="http://schemas.microsoft.com/office/drawing/2014/main" id="{F8210A28-9267-4190-90E4-892F932B87BD}"/>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8" name="Straight Connector 117">
              <a:extLst>
                <a:ext uri="{FF2B5EF4-FFF2-40B4-BE49-F238E27FC236}">
                  <a16:creationId xmlns:a16="http://schemas.microsoft.com/office/drawing/2014/main" id="{1DCF3BEE-A7F0-44C7-8B0F-0DCA6E71C9ED}"/>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19" name="Straight Arrow Connector 118">
              <a:extLst>
                <a:ext uri="{FF2B5EF4-FFF2-40B4-BE49-F238E27FC236}">
                  <a16:creationId xmlns:a16="http://schemas.microsoft.com/office/drawing/2014/main" id="{0FA82494-4127-4343-B1A0-27A0DF1B76B2}"/>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0" name="Straight Arrow Connector 119">
              <a:extLst>
                <a:ext uri="{FF2B5EF4-FFF2-40B4-BE49-F238E27FC236}">
                  <a16:creationId xmlns:a16="http://schemas.microsoft.com/office/drawing/2014/main" id="{AAEC8570-43CA-44F5-A919-873F99851C2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1" name="Straight Arrow Connector 120">
              <a:extLst>
                <a:ext uri="{FF2B5EF4-FFF2-40B4-BE49-F238E27FC236}">
                  <a16:creationId xmlns:a16="http://schemas.microsoft.com/office/drawing/2014/main" id="{BE270607-1A6F-4F1B-B614-F8A178FCC6F7}"/>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2" name="Straight Arrow Connector 121">
              <a:extLst>
                <a:ext uri="{FF2B5EF4-FFF2-40B4-BE49-F238E27FC236}">
                  <a16:creationId xmlns:a16="http://schemas.microsoft.com/office/drawing/2014/main" id="{380483A3-09BE-4339-B0DA-4D7BA55583BB}"/>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3" name="Straight Arrow Connector 122">
              <a:extLst>
                <a:ext uri="{FF2B5EF4-FFF2-40B4-BE49-F238E27FC236}">
                  <a16:creationId xmlns:a16="http://schemas.microsoft.com/office/drawing/2014/main" id="{CB600AFD-C366-4A55-9D8B-BAC2C167D154}"/>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4" name="Straight Arrow Connector 123">
              <a:extLst>
                <a:ext uri="{FF2B5EF4-FFF2-40B4-BE49-F238E27FC236}">
                  <a16:creationId xmlns:a16="http://schemas.microsoft.com/office/drawing/2014/main" id="{C909804A-4B39-4D20-A3D0-E40670B72276}"/>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5" name="Straight Arrow Connector 124">
              <a:extLst>
                <a:ext uri="{FF2B5EF4-FFF2-40B4-BE49-F238E27FC236}">
                  <a16:creationId xmlns:a16="http://schemas.microsoft.com/office/drawing/2014/main" id="{A99C0B74-E496-4B67-AE5B-EBBB0431C856}"/>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6" name="Straight Arrow Connector 125">
              <a:extLst>
                <a:ext uri="{FF2B5EF4-FFF2-40B4-BE49-F238E27FC236}">
                  <a16:creationId xmlns:a16="http://schemas.microsoft.com/office/drawing/2014/main" id="{350CDEB7-0F06-4E5F-B593-EDC6F34E630E}"/>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sp>
        <p:nvSpPr>
          <p:cNvPr id="127" name="Content Placeholder 2">
            <a:extLst>
              <a:ext uri="{FF2B5EF4-FFF2-40B4-BE49-F238E27FC236}">
                <a16:creationId xmlns:a16="http://schemas.microsoft.com/office/drawing/2014/main" id="{58C8EDD3-F10F-46C6-8C8E-1C883ED5E454}"/>
              </a:ext>
            </a:extLst>
          </p:cNvPr>
          <p:cNvSpPr txBox="1">
            <a:spLocks/>
          </p:cNvSpPr>
          <p:nvPr/>
        </p:nvSpPr>
        <p:spPr>
          <a:xfrm>
            <a:off x="5524511" y="1502099"/>
            <a:ext cx="4223944" cy="1272093"/>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Find Max Z = 7 x1 + 9 x2</a:t>
            </a:r>
          </a:p>
          <a:p>
            <a:pPr marL="0" indent="0">
              <a:buNone/>
            </a:pPr>
            <a:r>
              <a:rPr lang="en-US" sz="2000" b="1" dirty="0">
                <a:solidFill>
                  <a:schemeClr val="tx1"/>
                </a:solidFill>
              </a:rPr>
              <a:t>Max Z = 7*5 + 9*0</a:t>
            </a:r>
          </a:p>
          <a:p>
            <a:pPr marL="0" indent="0">
              <a:buNone/>
            </a:pPr>
            <a:r>
              <a:rPr lang="en-US" sz="2000" b="1" i="1" dirty="0">
                <a:solidFill>
                  <a:schemeClr val="tx1"/>
                </a:solidFill>
              </a:rPr>
              <a:t>Max Z = 35</a:t>
            </a:r>
          </a:p>
        </p:txBody>
      </p:sp>
      <p:sp>
        <p:nvSpPr>
          <p:cNvPr id="128" name="Title 1">
            <a:extLst>
              <a:ext uri="{FF2B5EF4-FFF2-40B4-BE49-F238E27FC236}">
                <a16:creationId xmlns:a16="http://schemas.microsoft.com/office/drawing/2014/main" id="{27A4849C-2807-49F5-8C5A-C36AC61008C5}"/>
              </a:ext>
            </a:extLst>
          </p:cNvPr>
          <p:cNvSpPr>
            <a:spLocks noGrp="1"/>
          </p:cNvSpPr>
          <p:nvPr>
            <p:ph type="title"/>
          </p:nvPr>
        </p:nvSpPr>
        <p:spPr>
          <a:xfrm>
            <a:off x="151241" y="87584"/>
            <a:ext cx="9205702" cy="731520"/>
          </a:xfrm>
        </p:spPr>
        <p:txBody>
          <a:bodyPr>
            <a:noAutofit/>
          </a:bodyPr>
          <a:lstStyle/>
          <a:p>
            <a:r>
              <a:rPr lang="en-US" dirty="0"/>
              <a:t>Branch and Bound Example – Sub Problem 2</a:t>
            </a:r>
          </a:p>
        </p:txBody>
      </p:sp>
    </p:spTree>
    <p:extLst>
      <p:ext uri="{BB962C8B-B14F-4D97-AF65-F5344CB8AC3E}">
        <p14:creationId xmlns:p14="http://schemas.microsoft.com/office/powerpoint/2010/main" val="13666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3"/>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3"/>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94"/>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0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44"/>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1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7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72" grpId="0" animBg="1"/>
      <p:bldP spid="72" grpId="1" animBg="1"/>
      <p:bldP spid="76" grpId="0" animBg="1"/>
      <p:bldP spid="12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677334" y="138688"/>
            <a:ext cx="8596668" cy="731520"/>
          </a:xfrm>
        </p:spPr>
        <p:txBody>
          <a:bodyPr/>
          <a:lstStyle/>
          <a:p>
            <a:r>
              <a:rPr lang="en-US" dirty="0"/>
              <a:t>Tree Diagram of IPP</a:t>
            </a:r>
          </a:p>
        </p:txBody>
      </p:sp>
      <p:sp>
        <p:nvSpPr>
          <p:cNvPr id="6" name="Freeform: Shape 5">
            <a:extLst>
              <a:ext uri="{FF2B5EF4-FFF2-40B4-BE49-F238E27FC236}">
                <a16:creationId xmlns:a16="http://schemas.microsoft.com/office/drawing/2014/main" id="{708221BF-D8F5-4EB3-BB99-ED0DC33B1A5D}"/>
              </a:ext>
            </a:extLst>
          </p:cNvPr>
          <p:cNvSpPr/>
          <p:nvPr/>
        </p:nvSpPr>
        <p:spPr>
          <a:xfrm>
            <a:off x="5979914" y="2047576"/>
            <a:ext cx="1276945" cy="607709"/>
          </a:xfrm>
          <a:custGeom>
            <a:avLst/>
            <a:gdLst/>
            <a:ahLst/>
            <a:cxnLst/>
            <a:rect l="0" t="0" r="0" b="0"/>
            <a:pathLst>
              <a:path>
                <a:moveTo>
                  <a:pt x="0" y="0"/>
                </a:moveTo>
                <a:lnTo>
                  <a:pt x="0" y="414136"/>
                </a:lnTo>
                <a:lnTo>
                  <a:pt x="1276945" y="414136"/>
                </a:lnTo>
                <a:lnTo>
                  <a:pt x="1276945"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7" name="Freeform: Shape 6">
            <a:extLst>
              <a:ext uri="{FF2B5EF4-FFF2-40B4-BE49-F238E27FC236}">
                <a16:creationId xmlns:a16="http://schemas.microsoft.com/office/drawing/2014/main" id="{42F5677B-1C81-43A5-9220-AFC2C1C5E2AF}"/>
              </a:ext>
            </a:extLst>
          </p:cNvPr>
          <p:cNvSpPr/>
          <p:nvPr/>
        </p:nvSpPr>
        <p:spPr>
          <a:xfrm>
            <a:off x="4702968" y="2047576"/>
            <a:ext cx="1276945" cy="607709"/>
          </a:xfrm>
          <a:custGeom>
            <a:avLst/>
            <a:gdLst/>
            <a:ahLst/>
            <a:cxnLst/>
            <a:rect l="0" t="0" r="0" b="0"/>
            <a:pathLst>
              <a:path>
                <a:moveTo>
                  <a:pt x="1276945" y="0"/>
                </a:moveTo>
                <a:lnTo>
                  <a:pt x="1276945" y="414136"/>
                </a:lnTo>
                <a:lnTo>
                  <a:pt x="0" y="414136"/>
                </a:lnTo>
                <a:lnTo>
                  <a:pt x="0"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8" name="Rectangle: Rounded Corners 7">
            <a:extLst>
              <a:ext uri="{FF2B5EF4-FFF2-40B4-BE49-F238E27FC236}">
                <a16:creationId xmlns:a16="http://schemas.microsoft.com/office/drawing/2014/main" id="{04FFB954-673E-4317-84F4-874FB4F4D16F}"/>
              </a:ext>
            </a:extLst>
          </p:cNvPr>
          <p:cNvSpPr/>
          <p:nvPr/>
        </p:nvSpPr>
        <p:spPr>
          <a:xfrm>
            <a:off x="4935140" y="720714"/>
            <a:ext cx="2089546" cy="1326862"/>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9" name="Freeform: Shape 8">
            <a:extLst>
              <a:ext uri="{FF2B5EF4-FFF2-40B4-BE49-F238E27FC236}">
                <a16:creationId xmlns:a16="http://schemas.microsoft.com/office/drawing/2014/main" id="{A615EF24-971B-42E6-BC88-031A5AB4A7A0}"/>
              </a:ext>
            </a:extLst>
          </p:cNvPr>
          <p:cNvSpPr/>
          <p:nvPr/>
        </p:nvSpPr>
        <p:spPr>
          <a:xfrm>
            <a:off x="5167312" y="941277"/>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1</a:t>
            </a:r>
          </a:p>
          <a:p>
            <a:r>
              <a:rPr lang="en-US" sz="1600" b="1" i="1" dirty="0">
                <a:solidFill>
                  <a:schemeClr val="tx1"/>
                </a:solidFill>
              </a:rPr>
              <a:t>x1= 9/2 </a:t>
            </a:r>
          </a:p>
          <a:p>
            <a:r>
              <a:rPr lang="en-US" sz="1600" b="1" i="1" dirty="0">
                <a:solidFill>
                  <a:schemeClr val="tx1"/>
                </a:solidFill>
              </a:rPr>
              <a:t>x2 = 7/2 </a:t>
            </a:r>
          </a:p>
          <a:p>
            <a:r>
              <a:rPr lang="en-US" sz="1600" b="1" i="1" dirty="0">
                <a:solidFill>
                  <a:schemeClr val="tx1"/>
                </a:solidFill>
              </a:rPr>
              <a:t>Z = 63</a:t>
            </a:r>
          </a:p>
        </p:txBody>
      </p:sp>
      <p:sp>
        <p:nvSpPr>
          <p:cNvPr id="10" name="Rectangle: Rounded Corners 9">
            <a:extLst>
              <a:ext uri="{FF2B5EF4-FFF2-40B4-BE49-F238E27FC236}">
                <a16:creationId xmlns:a16="http://schemas.microsoft.com/office/drawing/2014/main" id="{BBC9FA31-AE9E-4344-8E2F-06CBBBF6B210}"/>
              </a:ext>
            </a:extLst>
          </p:cNvPr>
          <p:cNvSpPr/>
          <p:nvPr/>
        </p:nvSpPr>
        <p:spPr>
          <a:xfrm>
            <a:off x="365819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1" name="Freeform: Shape 10">
            <a:extLst>
              <a:ext uri="{FF2B5EF4-FFF2-40B4-BE49-F238E27FC236}">
                <a16:creationId xmlns:a16="http://schemas.microsoft.com/office/drawing/2014/main" id="{F732362F-DF91-4A7F-89E4-6D952AE0D70F}"/>
              </a:ext>
            </a:extLst>
          </p:cNvPr>
          <p:cNvSpPr/>
          <p:nvPr/>
        </p:nvSpPr>
        <p:spPr>
          <a:xfrm>
            <a:off x="389036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2</a:t>
            </a:r>
          </a:p>
          <a:p>
            <a:r>
              <a:rPr lang="en-US" sz="1600" b="1" i="1" dirty="0">
                <a:solidFill>
                  <a:schemeClr val="tx1"/>
                </a:solidFill>
              </a:rPr>
              <a:t>x1= 5 </a:t>
            </a:r>
          </a:p>
          <a:p>
            <a:r>
              <a:rPr lang="en-US" sz="1600" b="1" i="1" dirty="0">
                <a:solidFill>
                  <a:schemeClr val="tx1"/>
                </a:solidFill>
              </a:rPr>
              <a:t>x2 = 0 </a:t>
            </a:r>
          </a:p>
          <a:p>
            <a:r>
              <a:rPr lang="en-US" sz="1600" b="1" i="1" dirty="0">
                <a:solidFill>
                  <a:schemeClr val="tx1"/>
                </a:solidFill>
              </a:rPr>
              <a:t>Z = 35</a:t>
            </a:r>
          </a:p>
        </p:txBody>
      </p:sp>
      <p:sp>
        <p:nvSpPr>
          <p:cNvPr id="12" name="Rectangle: Rounded Corners 11">
            <a:extLst>
              <a:ext uri="{FF2B5EF4-FFF2-40B4-BE49-F238E27FC236}">
                <a16:creationId xmlns:a16="http://schemas.microsoft.com/office/drawing/2014/main" id="{815559D8-CFE6-4E93-9B26-0815D872828F}"/>
              </a:ext>
            </a:extLst>
          </p:cNvPr>
          <p:cNvSpPr/>
          <p:nvPr/>
        </p:nvSpPr>
        <p:spPr>
          <a:xfrm>
            <a:off x="621208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3" name="Freeform: Shape 12">
            <a:extLst>
              <a:ext uri="{FF2B5EF4-FFF2-40B4-BE49-F238E27FC236}">
                <a16:creationId xmlns:a16="http://schemas.microsoft.com/office/drawing/2014/main" id="{B0481F9C-DA05-4CDA-A12F-F1459E453191}"/>
              </a:ext>
            </a:extLst>
          </p:cNvPr>
          <p:cNvSpPr/>
          <p:nvPr/>
        </p:nvSpPr>
        <p:spPr>
          <a:xfrm>
            <a:off x="644425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t" anchorCtr="0">
            <a:noAutofit/>
          </a:bodyPr>
          <a:lstStyle/>
          <a:p>
            <a:r>
              <a:rPr lang="en-US" sz="1600" b="1" i="1" dirty="0">
                <a:solidFill>
                  <a:schemeClr val="tx1"/>
                </a:solidFill>
              </a:rPr>
              <a:t>Solution of </a:t>
            </a:r>
            <a:r>
              <a:rPr lang="en-US" sz="1600" b="1" i="1" dirty="0">
                <a:solidFill>
                  <a:srgbClr val="00B0F0"/>
                </a:solidFill>
              </a:rPr>
              <a:t>SUB PROBLEM 3</a:t>
            </a:r>
          </a:p>
        </p:txBody>
      </p:sp>
      <p:sp>
        <p:nvSpPr>
          <p:cNvPr id="20" name="Content Placeholder 2">
            <a:extLst>
              <a:ext uri="{FF2B5EF4-FFF2-40B4-BE49-F238E27FC236}">
                <a16:creationId xmlns:a16="http://schemas.microsoft.com/office/drawing/2014/main" id="{6256C063-7210-46F7-AC39-7D9AF10B2039}"/>
              </a:ext>
            </a:extLst>
          </p:cNvPr>
          <p:cNvSpPr txBox="1">
            <a:spLocks/>
          </p:cNvSpPr>
          <p:nvPr/>
        </p:nvSpPr>
        <p:spPr>
          <a:xfrm>
            <a:off x="3222592" y="4286527"/>
            <a:ext cx="2873408" cy="67301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600" b="1" i="1" dirty="0">
                <a:solidFill>
                  <a:schemeClr val="tx1"/>
                </a:solidFill>
              </a:rPr>
              <a:t>Since solution has all integers, there is no need for further Branching</a:t>
            </a:r>
            <a:endParaRPr lang="en-US" sz="1400" b="1" i="1" dirty="0">
              <a:solidFill>
                <a:schemeClr val="tx1"/>
              </a:solidFill>
            </a:endParaRPr>
          </a:p>
          <a:p>
            <a:pPr marL="0" indent="0" algn="ctr">
              <a:buFont typeface="Wingdings 3" charset="2"/>
              <a:buNone/>
            </a:pPr>
            <a:endParaRPr lang="en-US" sz="1400" b="1" i="1" dirty="0">
              <a:solidFill>
                <a:schemeClr val="tx1"/>
              </a:solidFill>
            </a:endParaRPr>
          </a:p>
        </p:txBody>
      </p:sp>
    </p:spTree>
    <p:extLst>
      <p:ext uri="{BB962C8B-B14F-4D97-AF65-F5344CB8AC3E}">
        <p14:creationId xmlns:p14="http://schemas.microsoft.com/office/powerpoint/2010/main" val="524629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13FF86F0-5267-45FD-B9B3-506684C0E95A}"/>
              </a:ext>
            </a:extLst>
          </p:cNvPr>
          <p:cNvSpPr txBox="1">
            <a:spLocks/>
          </p:cNvSpPr>
          <p:nvPr/>
        </p:nvSpPr>
        <p:spPr>
          <a:xfrm>
            <a:off x="484709" y="730780"/>
            <a:ext cx="3638442" cy="43249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rgbClr val="00B0F0"/>
                </a:solidFill>
              </a:rPr>
              <a:t>Sub Problem 3</a:t>
            </a:r>
          </a:p>
        </p:txBody>
      </p:sp>
      <p:sp>
        <p:nvSpPr>
          <p:cNvPr id="27" name="Content Placeholder 2">
            <a:extLst>
              <a:ext uri="{FF2B5EF4-FFF2-40B4-BE49-F238E27FC236}">
                <a16:creationId xmlns:a16="http://schemas.microsoft.com/office/drawing/2014/main" id="{BF92058F-1183-4C51-95A3-7A24AD5EC3A2}"/>
              </a:ext>
            </a:extLst>
          </p:cNvPr>
          <p:cNvSpPr txBox="1">
            <a:spLocks/>
          </p:cNvSpPr>
          <p:nvPr/>
        </p:nvSpPr>
        <p:spPr>
          <a:xfrm>
            <a:off x="592874" y="1257551"/>
            <a:ext cx="4223944"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highlight>
                  <a:srgbClr val="FFFF00"/>
                </a:highlight>
              </a:rPr>
              <a:t> x1 &lt;= 4</a:t>
            </a:r>
          </a:p>
        </p:txBody>
      </p:sp>
      <p:sp>
        <p:nvSpPr>
          <p:cNvPr id="28" name="Content Placeholder 2">
            <a:extLst>
              <a:ext uri="{FF2B5EF4-FFF2-40B4-BE49-F238E27FC236}">
                <a16:creationId xmlns:a16="http://schemas.microsoft.com/office/drawing/2014/main" id="{CF6D8989-58B4-4005-84AA-D85E5FDE1958}"/>
              </a:ext>
            </a:extLst>
          </p:cNvPr>
          <p:cNvSpPr txBox="1">
            <a:spLocks/>
          </p:cNvSpPr>
          <p:nvPr/>
        </p:nvSpPr>
        <p:spPr>
          <a:xfrm>
            <a:off x="4296427" y="824203"/>
            <a:ext cx="4703986" cy="120683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Use Graphical Method to Solve</a:t>
            </a:r>
            <a:r>
              <a:rPr lang="en-US" b="1" dirty="0">
                <a:solidFill>
                  <a:schemeClr val="accent1">
                    <a:lumMod val="75000"/>
                  </a:schemeClr>
                </a:solidFill>
              </a:rPr>
              <a:t> SUB PROBLEM 3 </a:t>
            </a:r>
            <a:r>
              <a:rPr lang="en-US" b="1" dirty="0">
                <a:solidFill>
                  <a:schemeClr val="tx1"/>
                </a:solidFill>
              </a:rPr>
              <a:t>and analyze the result for integer values</a:t>
            </a:r>
          </a:p>
        </p:txBody>
      </p:sp>
      <p:sp>
        <p:nvSpPr>
          <p:cNvPr id="31" name="Content Placeholder 2">
            <a:extLst>
              <a:ext uri="{FF2B5EF4-FFF2-40B4-BE49-F238E27FC236}">
                <a16:creationId xmlns:a16="http://schemas.microsoft.com/office/drawing/2014/main" id="{BAF4FE95-668F-4B5E-8BEF-AC3DACCFAB26}"/>
              </a:ext>
            </a:extLst>
          </p:cNvPr>
          <p:cNvSpPr txBox="1">
            <a:spLocks/>
          </p:cNvSpPr>
          <p:nvPr/>
        </p:nvSpPr>
        <p:spPr>
          <a:xfrm>
            <a:off x="4296427" y="1895546"/>
            <a:ext cx="4703986" cy="120683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Use the same values as Sub Problem 1 to plot the graph and use the new constraint</a:t>
            </a:r>
          </a:p>
        </p:txBody>
      </p:sp>
      <p:graphicFrame>
        <p:nvGraphicFramePr>
          <p:cNvPr id="38" name="Table 37">
            <a:extLst>
              <a:ext uri="{FF2B5EF4-FFF2-40B4-BE49-F238E27FC236}">
                <a16:creationId xmlns:a16="http://schemas.microsoft.com/office/drawing/2014/main" id="{A01402D3-1CC2-4AB0-9F1B-92C4B56EF925}"/>
              </a:ext>
            </a:extLst>
          </p:cNvPr>
          <p:cNvGraphicFramePr>
            <a:graphicFrameLocks noGrp="1"/>
          </p:cNvGraphicFramePr>
          <p:nvPr>
            <p:extLst>
              <p:ext uri="{D42A27DB-BD31-4B8C-83A1-F6EECF244321}">
                <p14:modId xmlns:p14="http://schemas.microsoft.com/office/powerpoint/2010/main" val="1216815147"/>
              </p:ext>
            </p:extLst>
          </p:nvPr>
        </p:nvGraphicFramePr>
        <p:xfrm>
          <a:off x="4417408" y="2882163"/>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51155">
                <a:tc>
                  <a:txBody>
                    <a:bodyPr/>
                    <a:lstStyle/>
                    <a:p>
                      <a:pPr algn="ctr"/>
                      <a:r>
                        <a:rPr lang="en-US" sz="1600" dirty="0"/>
                        <a:t> 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098566"/>
                  </a:ext>
                </a:extLst>
              </a:tr>
            </a:tbl>
          </a:graphicData>
        </a:graphic>
      </p:graphicFrame>
      <p:graphicFrame>
        <p:nvGraphicFramePr>
          <p:cNvPr id="40" name="Table 39">
            <a:extLst>
              <a:ext uri="{FF2B5EF4-FFF2-40B4-BE49-F238E27FC236}">
                <a16:creationId xmlns:a16="http://schemas.microsoft.com/office/drawing/2014/main" id="{69593945-7E25-41E5-A21F-57F87845AAAB}"/>
              </a:ext>
            </a:extLst>
          </p:cNvPr>
          <p:cNvGraphicFramePr>
            <a:graphicFrameLocks noGrp="1"/>
          </p:cNvGraphicFramePr>
          <p:nvPr>
            <p:extLst>
              <p:ext uri="{D42A27DB-BD31-4B8C-83A1-F6EECF244321}">
                <p14:modId xmlns:p14="http://schemas.microsoft.com/office/powerpoint/2010/main" val="3313314727"/>
              </p:ext>
            </p:extLst>
          </p:nvPr>
        </p:nvGraphicFramePr>
        <p:xfrm>
          <a:off x="4417408" y="3224332"/>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65045">
                <a:tc>
                  <a:txBody>
                    <a:bodyPr/>
                    <a:lstStyle/>
                    <a:p>
                      <a:pPr algn="ctr"/>
                      <a:r>
                        <a:rPr lang="en-US" sz="1600" dirty="0"/>
                        <a:t> 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90624"/>
                  </a:ext>
                </a:extLst>
              </a:tr>
            </a:tbl>
          </a:graphicData>
        </a:graphic>
      </p:graphicFrame>
      <p:graphicFrame>
        <p:nvGraphicFramePr>
          <p:cNvPr id="41" name="Table 40">
            <a:extLst>
              <a:ext uri="{FF2B5EF4-FFF2-40B4-BE49-F238E27FC236}">
                <a16:creationId xmlns:a16="http://schemas.microsoft.com/office/drawing/2014/main" id="{12B5B326-F7E2-4A48-AC31-2A70112B8565}"/>
              </a:ext>
            </a:extLst>
          </p:cNvPr>
          <p:cNvGraphicFramePr>
            <a:graphicFrameLocks noGrp="1"/>
          </p:cNvGraphicFramePr>
          <p:nvPr>
            <p:extLst>
              <p:ext uri="{D42A27DB-BD31-4B8C-83A1-F6EECF244321}">
                <p14:modId xmlns:p14="http://schemas.microsoft.com/office/powerpoint/2010/main" val="4221539349"/>
              </p:ext>
            </p:extLst>
          </p:nvPr>
        </p:nvGraphicFramePr>
        <p:xfrm>
          <a:off x="6769401" y="2875274"/>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51155">
                <a:tc>
                  <a:txBody>
                    <a:bodyPr/>
                    <a:lstStyle/>
                    <a:p>
                      <a:pPr algn="ctr"/>
                      <a:r>
                        <a:rPr lang="en-US" sz="1600" dirty="0"/>
                        <a:t> x1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098566"/>
                  </a:ext>
                </a:extLst>
              </a:tr>
            </a:tbl>
          </a:graphicData>
        </a:graphic>
      </p:graphicFrame>
      <p:graphicFrame>
        <p:nvGraphicFramePr>
          <p:cNvPr id="42" name="Table 41">
            <a:extLst>
              <a:ext uri="{FF2B5EF4-FFF2-40B4-BE49-F238E27FC236}">
                <a16:creationId xmlns:a16="http://schemas.microsoft.com/office/drawing/2014/main" id="{E4C8415D-5238-4EB0-825C-C21C10B2F17B}"/>
              </a:ext>
            </a:extLst>
          </p:cNvPr>
          <p:cNvGraphicFramePr>
            <a:graphicFrameLocks noGrp="1"/>
          </p:cNvGraphicFramePr>
          <p:nvPr>
            <p:extLst>
              <p:ext uri="{D42A27DB-BD31-4B8C-83A1-F6EECF244321}">
                <p14:modId xmlns:p14="http://schemas.microsoft.com/office/powerpoint/2010/main" val="2384870771"/>
              </p:ext>
            </p:extLst>
          </p:nvPr>
        </p:nvGraphicFramePr>
        <p:xfrm>
          <a:off x="6769401" y="3217443"/>
          <a:ext cx="1785648" cy="335280"/>
        </p:xfrm>
        <a:graphic>
          <a:graphicData uri="http://schemas.openxmlformats.org/drawingml/2006/table">
            <a:tbl>
              <a:tblPr bandRow="1">
                <a:tableStyleId>{5C22544A-7EE6-4342-B048-85BDC9FD1C3A}</a:tableStyleId>
              </a:tblPr>
              <a:tblGrid>
                <a:gridCol w="502715">
                  <a:extLst>
                    <a:ext uri="{9D8B030D-6E8A-4147-A177-3AD203B41FA5}">
                      <a16:colId xmlns:a16="http://schemas.microsoft.com/office/drawing/2014/main" val="786397990"/>
                    </a:ext>
                  </a:extLst>
                </a:gridCol>
                <a:gridCol w="380592">
                  <a:extLst>
                    <a:ext uri="{9D8B030D-6E8A-4147-A177-3AD203B41FA5}">
                      <a16:colId xmlns:a16="http://schemas.microsoft.com/office/drawing/2014/main" val="1210286388"/>
                    </a:ext>
                  </a:extLst>
                </a:gridCol>
                <a:gridCol w="452159">
                  <a:extLst>
                    <a:ext uri="{9D8B030D-6E8A-4147-A177-3AD203B41FA5}">
                      <a16:colId xmlns:a16="http://schemas.microsoft.com/office/drawing/2014/main" val="3018585227"/>
                    </a:ext>
                  </a:extLst>
                </a:gridCol>
                <a:gridCol w="450182">
                  <a:extLst>
                    <a:ext uri="{9D8B030D-6E8A-4147-A177-3AD203B41FA5}">
                      <a16:colId xmlns:a16="http://schemas.microsoft.com/office/drawing/2014/main" val="3174581298"/>
                    </a:ext>
                  </a:extLst>
                </a:gridCol>
              </a:tblGrid>
              <a:tr h="265045">
                <a:tc>
                  <a:txBody>
                    <a:bodyPr/>
                    <a:lstStyle/>
                    <a:p>
                      <a:pPr algn="ctr"/>
                      <a:r>
                        <a:rPr lang="en-US" sz="1600" dirty="0"/>
                        <a:t> x2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90624"/>
                  </a:ext>
                </a:extLst>
              </a:tr>
            </a:tbl>
          </a:graphicData>
        </a:graphic>
      </p:graphicFrame>
      <p:sp>
        <p:nvSpPr>
          <p:cNvPr id="15" name="Title 1">
            <a:extLst>
              <a:ext uri="{FF2B5EF4-FFF2-40B4-BE49-F238E27FC236}">
                <a16:creationId xmlns:a16="http://schemas.microsoft.com/office/drawing/2014/main" id="{BF1B3E40-7AD9-456F-8FB7-9BDE64E18690}"/>
              </a:ext>
            </a:extLst>
          </p:cNvPr>
          <p:cNvSpPr>
            <a:spLocks noGrp="1"/>
          </p:cNvSpPr>
          <p:nvPr>
            <p:ph type="title"/>
          </p:nvPr>
        </p:nvSpPr>
        <p:spPr>
          <a:xfrm>
            <a:off x="151241" y="87584"/>
            <a:ext cx="9205702" cy="731520"/>
          </a:xfrm>
        </p:spPr>
        <p:txBody>
          <a:bodyPr>
            <a:noAutofit/>
          </a:bodyPr>
          <a:lstStyle/>
          <a:p>
            <a:r>
              <a:rPr lang="en-US" dirty="0"/>
              <a:t>Branch and Bound Example – Sub Problem 3</a:t>
            </a:r>
          </a:p>
        </p:txBody>
      </p:sp>
    </p:spTree>
    <p:extLst>
      <p:ext uri="{BB962C8B-B14F-4D97-AF65-F5344CB8AC3E}">
        <p14:creationId xmlns:p14="http://schemas.microsoft.com/office/powerpoint/2010/main" val="180545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Rectangle 139">
            <a:extLst>
              <a:ext uri="{FF2B5EF4-FFF2-40B4-BE49-F238E27FC236}">
                <a16:creationId xmlns:a16="http://schemas.microsoft.com/office/drawing/2014/main" id="{674F2F0A-CCE4-4B2A-B552-37AF19ABE487}"/>
              </a:ext>
            </a:extLst>
          </p:cNvPr>
          <p:cNvSpPr/>
          <p:nvPr/>
        </p:nvSpPr>
        <p:spPr>
          <a:xfrm>
            <a:off x="7800101" y="3636919"/>
            <a:ext cx="2513767" cy="438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4" name="Chart 53">
            <a:extLst>
              <a:ext uri="{FF2B5EF4-FFF2-40B4-BE49-F238E27FC236}">
                <a16:creationId xmlns:a16="http://schemas.microsoft.com/office/drawing/2014/main" id="{6F4CBB8C-6C51-4AC3-A972-D09D86F0D289}"/>
              </a:ext>
            </a:extLst>
          </p:cNvPr>
          <p:cNvGraphicFramePr/>
          <p:nvPr>
            <p:extLst>
              <p:ext uri="{D42A27DB-BD31-4B8C-83A1-F6EECF244321}">
                <p14:modId xmlns:p14="http://schemas.microsoft.com/office/powerpoint/2010/main" val="914848866"/>
              </p:ext>
            </p:extLst>
          </p:nvPr>
        </p:nvGraphicFramePr>
        <p:xfrm>
          <a:off x="571689" y="870207"/>
          <a:ext cx="4655403" cy="4415777"/>
        </p:xfrm>
        <a:graphic>
          <a:graphicData uri="http://schemas.openxmlformats.org/drawingml/2006/chart">
            <c:chart xmlns:c="http://schemas.openxmlformats.org/drawingml/2006/chart" xmlns:r="http://schemas.openxmlformats.org/officeDocument/2006/relationships" r:id="rId2"/>
          </a:graphicData>
        </a:graphic>
      </p:graphicFrame>
      <p:sp>
        <p:nvSpPr>
          <p:cNvPr id="55" name="Content Placeholder 2">
            <a:extLst>
              <a:ext uri="{FF2B5EF4-FFF2-40B4-BE49-F238E27FC236}">
                <a16:creationId xmlns:a16="http://schemas.microsoft.com/office/drawing/2014/main" id="{7DA59440-37BC-482C-AA22-ED936AB5328A}"/>
              </a:ext>
            </a:extLst>
          </p:cNvPr>
          <p:cNvSpPr txBox="1">
            <a:spLocks/>
          </p:cNvSpPr>
          <p:nvPr/>
        </p:nvSpPr>
        <p:spPr>
          <a:xfrm>
            <a:off x="3722746" y="4174584"/>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1</a:t>
            </a:r>
          </a:p>
        </p:txBody>
      </p:sp>
      <p:sp>
        <p:nvSpPr>
          <p:cNvPr id="56" name="Content Placeholder 2">
            <a:extLst>
              <a:ext uri="{FF2B5EF4-FFF2-40B4-BE49-F238E27FC236}">
                <a16:creationId xmlns:a16="http://schemas.microsoft.com/office/drawing/2014/main" id="{EC72387B-6ADB-4506-B0EC-FE265EF04E76}"/>
              </a:ext>
            </a:extLst>
          </p:cNvPr>
          <p:cNvSpPr txBox="1">
            <a:spLocks/>
          </p:cNvSpPr>
          <p:nvPr/>
        </p:nvSpPr>
        <p:spPr>
          <a:xfrm>
            <a:off x="825216" y="1338795"/>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2</a:t>
            </a:r>
          </a:p>
        </p:txBody>
      </p:sp>
      <p:sp>
        <p:nvSpPr>
          <p:cNvPr id="21" name="Content Placeholder 2">
            <a:extLst>
              <a:ext uri="{FF2B5EF4-FFF2-40B4-BE49-F238E27FC236}">
                <a16:creationId xmlns:a16="http://schemas.microsoft.com/office/drawing/2014/main" id="{732D78DB-77E4-4136-8E88-457E6D69A81D}"/>
              </a:ext>
            </a:extLst>
          </p:cNvPr>
          <p:cNvSpPr txBox="1">
            <a:spLocks/>
          </p:cNvSpPr>
          <p:nvPr/>
        </p:nvSpPr>
        <p:spPr>
          <a:xfrm>
            <a:off x="2848969" y="1308167"/>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3</a:t>
            </a:r>
          </a:p>
        </p:txBody>
      </p:sp>
      <p:grpSp>
        <p:nvGrpSpPr>
          <p:cNvPr id="33" name="Group 32">
            <a:extLst>
              <a:ext uri="{FF2B5EF4-FFF2-40B4-BE49-F238E27FC236}">
                <a16:creationId xmlns:a16="http://schemas.microsoft.com/office/drawing/2014/main" id="{B3DFB6ED-2E9E-4899-9121-93D698CB910A}"/>
              </a:ext>
            </a:extLst>
          </p:cNvPr>
          <p:cNvGrpSpPr/>
          <p:nvPr/>
        </p:nvGrpSpPr>
        <p:grpSpPr>
          <a:xfrm rot="21411025">
            <a:off x="996716" y="4609428"/>
            <a:ext cx="1209579" cy="288099"/>
            <a:chOff x="6493929" y="5561556"/>
            <a:chExt cx="1209579" cy="288099"/>
          </a:xfrm>
        </p:grpSpPr>
        <p:cxnSp>
          <p:nvCxnSpPr>
            <p:cNvPr id="34" name="Straight Arrow Connector 33">
              <a:extLst>
                <a:ext uri="{FF2B5EF4-FFF2-40B4-BE49-F238E27FC236}">
                  <a16:creationId xmlns:a16="http://schemas.microsoft.com/office/drawing/2014/main" id="{F1F07807-6A80-4D0F-B348-47F60BEF8A62}"/>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5" name="Straight Connector 34">
              <a:extLst>
                <a:ext uri="{FF2B5EF4-FFF2-40B4-BE49-F238E27FC236}">
                  <a16:creationId xmlns:a16="http://schemas.microsoft.com/office/drawing/2014/main" id="{97837384-F487-49B4-B98F-26CD684B1538}"/>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FFFC553C-353A-45E3-879E-85B48FD975EC}"/>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A1E677F2-F92F-4A06-A18D-C07CE48BC65B}"/>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64EAA961-16D2-44BD-A36B-C32441C68EBF}"/>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349FAB16-ABEA-440B-9179-147D82C16293}"/>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07CF6063-5CB7-45E8-A50C-44AB50DAAA50}"/>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C5301998-B959-4C47-B672-23BA9F71ACC8}"/>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3ABF26CC-869F-4920-8C1C-3F2F5B9268E9}"/>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6553DA54-168C-489F-9A16-80A57E120D1C}"/>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44" name="Group 43">
            <a:extLst>
              <a:ext uri="{FF2B5EF4-FFF2-40B4-BE49-F238E27FC236}">
                <a16:creationId xmlns:a16="http://schemas.microsoft.com/office/drawing/2014/main" id="{FDD5E59C-5CD2-400E-ACEC-68BDA586918A}"/>
              </a:ext>
            </a:extLst>
          </p:cNvPr>
          <p:cNvGrpSpPr/>
          <p:nvPr/>
        </p:nvGrpSpPr>
        <p:grpSpPr>
          <a:xfrm rot="5400000">
            <a:off x="2145465" y="3554951"/>
            <a:ext cx="1209579" cy="288099"/>
            <a:chOff x="6493929" y="5561556"/>
            <a:chExt cx="1209579" cy="288099"/>
          </a:xfrm>
        </p:grpSpPr>
        <p:cxnSp>
          <p:nvCxnSpPr>
            <p:cNvPr id="45" name="Straight Arrow Connector 44">
              <a:extLst>
                <a:ext uri="{FF2B5EF4-FFF2-40B4-BE49-F238E27FC236}">
                  <a16:creationId xmlns:a16="http://schemas.microsoft.com/office/drawing/2014/main" id="{ED51C6D3-2C13-41FA-BBBB-902C54A1E205}"/>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6" name="Straight Connector 45">
              <a:extLst>
                <a:ext uri="{FF2B5EF4-FFF2-40B4-BE49-F238E27FC236}">
                  <a16:creationId xmlns:a16="http://schemas.microsoft.com/office/drawing/2014/main" id="{F6D67A47-C5BF-43C0-9585-A815F0ACE5F5}"/>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22010D7B-F02B-4300-AE74-BB6F144F6FA7}"/>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6C6206FF-FC5E-450D-89AA-90E83F16D68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7CF5EE16-0C3B-4399-B128-D206976270C6}"/>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9AE33266-85EC-4CAE-9D51-546D5F16740E}"/>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1" name="Straight Arrow Connector 50">
              <a:extLst>
                <a:ext uri="{FF2B5EF4-FFF2-40B4-BE49-F238E27FC236}">
                  <a16:creationId xmlns:a16="http://schemas.microsoft.com/office/drawing/2014/main" id="{89DC71C9-D7D8-4314-9C62-EAE6EC393FA6}"/>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5A0B3306-175F-4BD1-BFC2-30BC0160C8ED}"/>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3" name="Straight Arrow Connector 52">
              <a:extLst>
                <a:ext uri="{FF2B5EF4-FFF2-40B4-BE49-F238E27FC236}">
                  <a16:creationId xmlns:a16="http://schemas.microsoft.com/office/drawing/2014/main" id="{EBA33204-88C8-4486-8EDE-207E95A68279}"/>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8" name="Straight Arrow Connector 57">
              <a:extLst>
                <a:ext uri="{FF2B5EF4-FFF2-40B4-BE49-F238E27FC236}">
                  <a16:creationId xmlns:a16="http://schemas.microsoft.com/office/drawing/2014/main" id="{4D0E1AA2-7488-49EB-BB36-B21E41F7AC8F}"/>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60" name="Group 59">
            <a:extLst>
              <a:ext uri="{FF2B5EF4-FFF2-40B4-BE49-F238E27FC236}">
                <a16:creationId xmlns:a16="http://schemas.microsoft.com/office/drawing/2014/main" id="{D3BF01D1-BD22-4DDB-BBC1-3AB51699E47C}"/>
              </a:ext>
            </a:extLst>
          </p:cNvPr>
          <p:cNvGrpSpPr/>
          <p:nvPr/>
        </p:nvGrpSpPr>
        <p:grpSpPr>
          <a:xfrm rot="21411025">
            <a:off x="2289592" y="4540299"/>
            <a:ext cx="1209579" cy="288099"/>
            <a:chOff x="6493929" y="5561556"/>
            <a:chExt cx="1209579" cy="288099"/>
          </a:xfrm>
        </p:grpSpPr>
        <p:cxnSp>
          <p:nvCxnSpPr>
            <p:cNvPr id="61" name="Straight Arrow Connector 60">
              <a:extLst>
                <a:ext uri="{FF2B5EF4-FFF2-40B4-BE49-F238E27FC236}">
                  <a16:creationId xmlns:a16="http://schemas.microsoft.com/office/drawing/2014/main" id="{FCDA30FD-0115-4056-A61C-CF2110D85771}"/>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66" name="Straight Connector 65">
              <a:extLst>
                <a:ext uri="{FF2B5EF4-FFF2-40B4-BE49-F238E27FC236}">
                  <a16:creationId xmlns:a16="http://schemas.microsoft.com/office/drawing/2014/main" id="{8EE2392E-D432-46DD-BA40-1E717AE12DB7}"/>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67" name="Straight Arrow Connector 66">
              <a:extLst>
                <a:ext uri="{FF2B5EF4-FFF2-40B4-BE49-F238E27FC236}">
                  <a16:creationId xmlns:a16="http://schemas.microsoft.com/office/drawing/2014/main" id="{FC223BB2-B8D9-4067-B502-0145A6AAA07D}"/>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68" name="Straight Arrow Connector 67">
              <a:extLst>
                <a:ext uri="{FF2B5EF4-FFF2-40B4-BE49-F238E27FC236}">
                  <a16:creationId xmlns:a16="http://schemas.microsoft.com/office/drawing/2014/main" id="{A6B87A29-04D2-4196-8305-611555701BF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69" name="Straight Arrow Connector 68">
              <a:extLst>
                <a:ext uri="{FF2B5EF4-FFF2-40B4-BE49-F238E27FC236}">
                  <a16:creationId xmlns:a16="http://schemas.microsoft.com/office/drawing/2014/main" id="{F1FEFF60-6189-43C4-BEDA-38EDADF01E1C}"/>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70" name="Straight Arrow Connector 69">
              <a:extLst>
                <a:ext uri="{FF2B5EF4-FFF2-40B4-BE49-F238E27FC236}">
                  <a16:creationId xmlns:a16="http://schemas.microsoft.com/office/drawing/2014/main" id="{F629C09D-1925-4C87-A7BE-13CF8696E0A8}"/>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71" name="Straight Arrow Connector 70">
              <a:extLst>
                <a:ext uri="{FF2B5EF4-FFF2-40B4-BE49-F238E27FC236}">
                  <a16:creationId xmlns:a16="http://schemas.microsoft.com/office/drawing/2014/main" id="{5F844978-302F-43F3-A5CF-61B3D32A8C27}"/>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73" name="Straight Arrow Connector 72">
              <a:extLst>
                <a:ext uri="{FF2B5EF4-FFF2-40B4-BE49-F238E27FC236}">
                  <a16:creationId xmlns:a16="http://schemas.microsoft.com/office/drawing/2014/main" id="{61323439-947F-424D-B1F5-1F3AAF4B9A8E}"/>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0" name="Straight Arrow Connector 79">
              <a:extLst>
                <a:ext uri="{FF2B5EF4-FFF2-40B4-BE49-F238E27FC236}">
                  <a16:creationId xmlns:a16="http://schemas.microsoft.com/office/drawing/2014/main" id="{6D28B557-402D-4C21-9DA2-F40EE50FE1A7}"/>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2" name="Straight Arrow Connector 81">
              <a:extLst>
                <a:ext uri="{FF2B5EF4-FFF2-40B4-BE49-F238E27FC236}">
                  <a16:creationId xmlns:a16="http://schemas.microsoft.com/office/drawing/2014/main" id="{AE782930-4C6E-4EBD-90FE-8B3190CE67BC}"/>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83" name="Group 82">
            <a:extLst>
              <a:ext uri="{FF2B5EF4-FFF2-40B4-BE49-F238E27FC236}">
                <a16:creationId xmlns:a16="http://schemas.microsoft.com/office/drawing/2014/main" id="{87ED5AB6-D368-4077-8EB3-02F56F187AB8}"/>
              </a:ext>
            </a:extLst>
          </p:cNvPr>
          <p:cNvGrpSpPr/>
          <p:nvPr/>
        </p:nvGrpSpPr>
        <p:grpSpPr>
          <a:xfrm rot="3135510">
            <a:off x="719435" y="2240059"/>
            <a:ext cx="1209579" cy="288099"/>
            <a:chOff x="6493929" y="5561556"/>
            <a:chExt cx="1209579" cy="288099"/>
          </a:xfrm>
        </p:grpSpPr>
        <p:cxnSp>
          <p:nvCxnSpPr>
            <p:cNvPr id="84" name="Straight Arrow Connector 83">
              <a:extLst>
                <a:ext uri="{FF2B5EF4-FFF2-40B4-BE49-F238E27FC236}">
                  <a16:creationId xmlns:a16="http://schemas.microsoft.com/office/drawing/2014/main" id="{2736389F-FE05-45D6-B0E7-B3DF6B182784}"/>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5" name="Straight Connector 84">
              <a:extLst>
                <a:ext uri="{FF2B5EF4-FFF2-40B4-BE49-F238E27FC236}">
                  <a16:creationId xmlns:a16="http://schemas.microsoft.com/office/drawing/2014/main" id="{6604032B-7BB0-46A5-B68D-7E02AAA9D07B}"/>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86" name="Straight Arrow Connector 85">
              <a:extLst>
                <a:ext uri="{FF2B5EF4-FFF2-40B4-BE49-F238E27FC236}">
                  <a16:creationId xmlns:a16="http://schemas.microsoft.com/office/drawing/2014/main" id="{74FD972D-7BE0-4FC6-BF81-0A25398F67E1}"/>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7" name="Straight Arrow Connector 86">
              <a:extLst>
                <a:ext uri="{FF2B5EF4-FFF2-40B4-BE49-F238E27FC236}">
                  <a16:creationId xmlns:a16="http://schemas.microsoft.com/office/drawing/2014/main" id="{EB7525BF-C8C1-461A-96F6-EDA6B1B31E5C}"/>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8" name="Straight Arrow Connector 87">
              <a:extLst>
                <a:ext uri="{FF2B5EF4-FFF2-40B4-BE49-F238E27FC236}">
                  <a16:creationId xmlns:a16="http://schemas.microsoft.com/office/drawing/2014/main" id="{3CBCACA8-7FC3-44F9-88E4-F1C4556A0C72}"/>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9" name="Straight Arrow Connector 88">
              <a:extLst>
                <a:ext uri="{FF2B5EF4-FFF2-40B4-BE49-F238E27FC236}">
                  <a16:creationId xmlns:a16="http://schemas.microsoft.com/office/drawing/2014/main" id="{0FB5CC76-3589-45C2-9BEA-6ADB9A326CA6}"/>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0" name="Straight Arrow Connector 89">
              <a:extLst>
                <a:ext uri="{FF2B5EF4-FFF2-40B4-BE49-F238E27FC236}">
                  <a16:creationId xmlns:a16="http://schemas.microsoft.com/office/drawing/2014/main" id="{7436E379-07D9-4ED3-8D8E-A538A5C28304}"/>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1" name="Straight Arrow Connector 90">
              <a:extLst>
                <a:ext uri="{FF2B5EF4-FFF2-40B4-BE49-F238E27FC236}">
                  <a16:creationId xmlns:a16="http://schemas.microsoft.com/office/drawing/2014/main" id="{40E9687C-7187-4EA9-A661-05B1F767A6A8}"/>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2" name="Straight Arrow Connector 91">
              <a:extLst>
                <a:ext uri="{FF2B5EF4-FFF2-40B4-BE49-F238E27FC236}">
                  <a16:creationId xmlns:a16="http://schemas.microsoft.com/office/drawing/2014/main" id="{C650CA33-AC42-4666-B073-87D57BA8C054}"/>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3" name="Straight Arrow Connector 92">
              <a:extLst>
                <a:ext uri="{FF2B5EF4-FFF2-40B4-BE49-F238E27FC236}">
                  <a16:creationId xmlns:a16="http://schemas.microsoft.com/office/drawing/2014/main" id="{DBFE86EF-0DF6-47BB-919A-7BA6E27FC02F}"/>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94" name="Group 93">
            <a:extLst>
              <a:ext uri="{FF2B5EF4-FFF2-40B4-BE49-F238E27FC236}">
                <a16:creationId xmlns:a16="http://schemas.microsoft.com/office/drawing/2014/main" id="{6D7E1EB8-447C-4717-B3D3-D0A2B472399C}"/>
              </a:ext>
            </a:extLst>
          </p:cNvPr>
          <p:cNvGrpSpPr/>
          <p:nvPr/>
        </p:nvGrpSpPr>
        <p:grpSpPr>
          <a:xfrm rot="3135510">
            <a:off x="1533392" y="3287316"/>
            <a:ext cx="1209579" cy="288099"/>
            <a:chOff x="6493929" y="5561556"/>
            <a:chExt cx="1209579" cy="288099"/>
          </a:xfrm>
        </p:grpSpPr>
        <p:cxnSp>
          <p:nvCxnSpPr>
            <p:cNvPr id="95" name="Straight Arrow Connector 94">
              <a:extLst>
                <a:ext uri="{FF2B5EF4-FFF2-40B4-BE49-F238E27FC236}">
                  <a16:creationId xmlns:a16="http://schemas.microsoft.com/office/drawing/2014/main" id="{9B2B788F-56F9-4C25-9EAF-8E45ED1C33A2}"/>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6" name="Straight Connector 95">
              <a:extLst>
                <a:ext uri="{FF2B5EF4-FFF2-40B4-BE49-F238E27FC236}">
                  <a16:creationId xmlns:a16="http://schemas.microsoft.com/office/drawing/2014/main" id="{8BDD0953-F65A-4D8B-A246-508D00216097}"/>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97" name="Straight Arrow Connector 96">
              <a:extLst>
                <a:ext uri="{FF2B5EF4-FFF2-40B4-BE49-F238E27FC236}">
                  <a16:creationId xmlns:a16="http://schemas.microsoft.com/office/drawing/2014/main" id="{E8EE42D7-4BAB-4CFE-9B57-DF693F7C5164}"/>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8" name="Straight Arrow Connector 97">
              <a:extLst>
                <a:ext uri="{FF2B5EF4-FFF2-40B4-BE49-F238E27FC236}">
                  <a16:creationId xmlns:a16="http://schemas.microsoft.com/office/drawing/2014/main" id="{9257D854-A04F-4B1D-B280-198DC2351F66}"/>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9" name="Straight Arrow Connector 98">
              <a:extLst>
                <a:ext uri="{FF2B5EF4-FFF2-40B4-BE49-F238E27FC236}">
                  <a16:creationId xmlns:a16="http://schemas.microsoft.com/office/drawing/2014/main" id="{D4424D2A-EA05-4CC2-8B53-83C2B53B2285}"/>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0" name="Straight Arrow Connector 99">
              <a:extLst>
                <a:ext uri="{FF2B5EF4-FFF2-40B4-BE49-F238E27FC236}">
                  <a16:creationId xmlns:a16="http://schemas.microsoft.com/office/drawing/2014/main" id="{39186B56-C730-449E-9FA0-AB9703F99567}"/>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1" name="Straight Arrow Connector 100">
              <a:extLst>
                <a:ext uri="{FF2B5EF4-FFF2-40B4-BE49-F238E27FC236}">
                  <a16:creationId xmlns:a16="http://schemas.microsoft.com/office/drawing/2014/main" id="{68B52066-C489-44F6-97BB-9040F727D832}"/>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2" name="Straight Arrow Connector 101">
              <a:extLst>
                <a:ext uri="{FF2B5EF4-FFF2-40B4-BE49-F238E27FC236}">
                  <a16:creationId xmlns:a16="http://schemas.microsoft.com/office/drawing/2014/main" id="{45F1228E-A06F-4043-B0D6-789503C9DFE1}"/>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3" name="Straight Arrow Connector 102">
              <a:extLst>
                <a:ext uri="{FF2B5EF4-FFF2-40B4-BE49-F238E27FC236}">
                  <a16:creationId xmlns:a16="http://schemas.microsoft.com/office/drawing/2014/main" id="{A1D26866-F330-4C9C-9CD5-6C9B40A29207}"/>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4" name="Straight Arrow Connector 103">
              <a:extLst>
                <a:ext uri="{FF2B5EF4-FFF2-40B4-BE49-F238E27FC236}">
                  <a16:creationId xmlns:a16="http://schemas.microsoft.com/office/drawing/2014/main" id="{08814139-2C51-43BB-8AA2-3EDF5A041BD4}"/>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05" name="Group 104">
            <a:extLst>
              <a:ext uri="{FF2B5EF4-FFF2-40B4-BE49-F238E27FC236}">
                <a16:creationId xmlns:a16="http://schemas.microsoft.com/office/drawing/2014/main" id="{88163EB6-47BC-450F-BCA7-2FB2C1CD41BC}"/>
              </a:ext>
            </a:extLst>
          </p:cNvPr>
          <p:cNvGrpSpPr/>
          <p:nvPr/>
        </p:nvGrpSpPr>
        <p:grpSpPr>
          <a:xfrm rot="3135510">
            <a:off x="2329751" y="4304346"/>
            <a:ext cx="1209579" cy="288099"/>
            <a:chOff x="6493929" y="5561556"/>
            <a:chExt cx="1209579" cy="288099"/>
          </a:xfrm>
        </p:grpSpPr>
        <p:cxnSp>
          <p:nvCxnSpPr>
            <p:cNvPr id="106" name="Straight Arrow Connector 105">
              <a:extLst>
                <a:ext uri="{FF2B5EF4-FFF2-40B4-BE49-F238E27FC236}">
                  <a16:creationId xmlns:a16="http://schemas.microsoft.com/office/drawing/2014/main" id="{277CADC4-00EF-4EA9-AA3A-F7B23A857A35}"/>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7" name="Straight Connector 106">
              <a:extLst>
                <a:ext uri="{FF2B5EF4-FFF2-40B4-BE49-F238E27FC236}">
                  <a16:creationId xmlns:a16="http://schemas.microsoft.com/office/drawing/2014/main" id="{5B2F9A46-D563-4ECA-B529-C8995DAC72E8}"/>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08" name="Straight Arrow Connector 107">
              <a:extLst>
                <a:ext uri="{FF2B5EF4-FFF2-40B4-BE49-F238E27FC236}">
                  <a16:creationId xmlns:a16="http://schemas.microsoft.com/office/drawing/2014/main" id="{7ABCF3B1-DF0D-4487-99E4-E16FF9FF015B}"/>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9" name="Straight Arrow Connector 108">
              <a:extLst>
                <a:ext uri="{FF2B5EF4-FFF2-40B4-BE49-F238E27FC236}">
                  <a16:creationId xmlns:a16="http://schemas.microsoft.com/office/drawing/2014/main" id="{BACC2049-F1CA-49C3-B490-37E4ED021540}"/>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0" name="Straight Arrow Connector 109">
              <a:extLst>
                <a:ext uri="{FF2B5EF4-FFF2-40B4-BE49-F238E27FC236}">
                  <a16:creationId xmlns:a16="http://schemas.microsoft.com/office/drawing/2014/main" id="{1BA7D805-DC3C-481E-952B-0624297A5095}"/>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1" name="Straight Arrow Connector 110">
              <a:extLst>
                <a:ext uri="{FF2B5EF4-FFF2-40B4-BE49-F238E27FC236}">
                  <a16:creationId xmlns:a16="http://schemas.microsoft.com/office/drawing/2014/main" id="{C486E16E-A50D-4DED-BF8F-8B5D18CB04F2}"/>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2" name="Straight Arrow Connector 111">
              <a:extLst>
                <a:ext uri="{FF2B5EF4-FFF2-40B4-BE49-F238E27FC236}">
                  <a16:creationId xmlns:a16="http://schemas.microsoft.com/office/drawing/2014/main" id="{A858777B-4E50-4C7F-873F-AFDD538335BD}"/>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3" name="Straight Arrow Connector 112">
              <a:extLst>
                <a:ext uri="{FF2B5EF4-FFF2-40B4-BE49-F238E27FC236}">
                  <a16:creationId xmlns:a16="http://schemas.microsoft.com/office/drawing/2014/main" id="{A8D4D08F-D833-4531-964F-AD4119357457}"/>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4" name="Straight Arrow Connector 113">
              <a:extLst>
                <a:ext uri="{FF2B5EF4-FFF2-40B4-BE49-F238E27FC236}">
                  <a16:creationId xmlns:a16="http://schemas.microsoft.com/office/drawing/2014/main" id="{1181FF1A-0C8B-4C95-AE64-1D324C38D287}"/>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5" name="Straight Arrow Connector 114">
              <a:extLst>
                <a:ext uri="{FF2B5EF4-FFF2-40B4-BE49-F238E27FC236}">
                  <a16:creationId xmlns:a16="http://schemas.microsoft.com/office/drawing/2014/main" id="{6650F82F-2DE6-4992-ABFB-51B78688C095}"/>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16" name="Group 115">
            <a:extLst>
              <a:ext uri="{FF2B5EF4-FFF2-40B4-BE49-F238E27FC236}">
                <a16:creationId xmlns:a16="http://schemas.microsoft.com/office/drawing/2014/main" id="{B0ABA629-D78E-4AB6-A831-2CCC5E261D39}"/>
              </a:ext>
            </a:extLst>
          </p:cNvPr>
          <p:cNvGrpSpPr/>
          <p:nvPr/>
        </p:nvGrpSpPr>
        <p:grpSpPr>
          <a:xfrm rot="5400000">
            <a:off x="2141517" y="2242090"/>
            <a:ext cx="1209579" cy="288099"/>
            <a:chOff x="6493929" y="5561556"/>
            <a:chExt cx="1209579" cy="288099"/>
          </a:xfrm>
        </p:grpSpPr>
        <p:cxnSp>
          <p:nvCxnSpPr>
            <p:cNvPr id="117" name="Straight Arrow Connector 116">
              <a:extLst>
                <a:ext uri="{FF2B5EF4-FFF2-40B4-BE49-F238E27FC236}">
                  <a16:creationId xmlns:a16="http://schemas.microsoft.com/office/drawing/2014/main" id="{F8210A28-9267-4190-90E4-892F932B87BD}"/>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8" name="Straight Connector 117">
              <a:extLst>
                <a:ext uri="{FF2B5EF4-FFF2-40B4-BE49-F238E27FC236}">
                  <a16:creationId xmlns:a16="http://schemas.microsoft.com/office/drawing/2014/main" id="{1DCF3BEE-A7F0-44C7-8B0F-0DCA6E71C9ED}"/>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19" name="Straight Arrow Connector 118">
              <a:extLst>
                <a:ext uri="{FF2B5EF4-FFF2-40B4-BE49-F238E27FC236}">
                  <a16:creationId xmlns:a16="http://schemas.microsoft.com/office/drawing/2014/main" id="{0FA82494-4127-4343-B1A0-27A0DF1B76B2}"/>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0" name="Straight Arrow Connector 119">
              <a:extLst>
                <a:ext uri="{FF2B5EF4-FFF2-40B4-BE49-F238E27FC236}">
                  <a16:creationId xmlns:a16="http://schemas.microsoft.com/office/drawing/2014/main" id="{AAEC8570-43CA-44F5-A919-873F99851C2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1" name="Straight Arrow Connector 120">
              <a:extLst>
                <a:ext uri="{FF2B5EF4-FFF2-40B4-BE49-F238E27FC236}">
                  <a16:creationId xmlns:a16="http://schemas.microsoft.com/office/drawing/2014/main" id="{BE270607-1A6F-4F1B-B614-F8A178FCC6F7}"/>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2" name="Straight Arrow Connector 121">
              <a:extLst>
                <a:ext uri="{FF2B5EF4-FFF2-40B4-BE49-F238E27FC236}">
                  <a16:creationId xmlns:a16="http://schemas.microsoft.com/office/drawing/2014/main" id="{380483A3-09BE-4339-B0DA-4D7BA55583BB}"/>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3" name="Straight Arrow Connector 122">
              <a:extLst>
                <a:ext uri="{FF2B5EF4-FFF2-40B4-BE49-F238E27FC236}">
                  <a16:creationId xmlns:a16="http://schemas.microsoft.com/office/drawing/2014/main" id="{CB600AFD-C366-4A55-9D8B-BAC2C167D154}"/>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4" name="Straight Arrow Connector 123">
              <a:extLst>
                <a:ext uri="{FF2B5EF4-FFF2-40B4-BE49-F238E27FC236}">
                  <a16:creationId xmlns:a16="http://schemas.microsoft.com/office/drawing/2014/main" id="{C909804A-4B39-4D20-A3D0-E40670B72276}"/>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5" name="Straight Arrow Connector 124">
              <a:extLst>
                <a:ext uri="{FF2B5EF4-FFF2-40B4-BE49-F238E27FC236}">
                  <a16:creationId xmlns:a16="http://schemas.microsoft.com/office/drawing/2014/main" id="{A99C0B74-E496-4B67-AE5B-EBBB0431C856}"/>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6" name="Straight Arrow Connector 125">
              <a:extLst>
                <a:ext uri="{FF2B5EF4-FFF2-40B4-BE49-F238E27FC236}">
                  <a16:creationId xmlns:a16="http://schemas.microsoft.com/office/drawing/2014/main" id="{350CDEB7-0F06-4E5F-B593-EDC6F34E630E}"/>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sp>
        <p:nvSpPr>
          <p:cNvPr id="128" name="Title 1">
            <a:extLst>
              <a:ext uri="{FF2B5EF4-FFF2-40B4-BE49-F238E27FC236}">
                <a16:creationId xmlns:a16="http://schemas.microsoft.com/office/drawing/2014/main" id="{C05FD364-EB96-45E6-AD46-4A7F3E3C9807}"/>
              </a:ext>
            </a:extLst>
          </p:cNvPr>
          <p:cNvSpPr>
            <a:spLocks noGrp="1"/>
          </p:cNvSpPr>
          <p:nvPr>
            <p:ph type="title"/>
          </p:nvPr>
        </p:nvSpPr>
        <p:spPr>
          <a:xfrm>
            <a:off x="151241" y="87584"/>
            <a:ext cx="9205702" cy="731520"/>
          </a:xfrm>
        </p:spPr>
        <p:txBody>
          <a:bodyPr>
            <a:noAutofit/>
          </a:bodyPr>
          <a:lstStyle/>
          <a:p>
            <a:r>
              <a:rPr lang="en-US" dirty="0"/>
              <a:t>Branch and Bound Example – Sub Problem 3</a:t>
            </a:r>
          </a:p>
        </p:txBody>
      </p:sp>
      <p:sp>
        <p:nvSpPr>
          <p:cNvPr id="130" name="Callout: Line 129">
            <a:extLst>
              <a:ext uri="{FF2B5EF4-FFF2-40B4-BE49-F238E27FC236}">
                <a16:creationId xmlns:a16="http://schemas.microsoft.com/office/drawing/2014/main" id="{4AA101B6-710B-4CE7-AE54-0F31F9DCC63C}"/>
              </a:ext>
            </a:extLst>
          </p:cNvPr>
          <p:cNvSpPr/>
          <p:nvPr/>
        </p:nvSpPr>
        <p:spPr>
          <a:xfrm>
            <a:off x="1130392" y="5435432"/>
            <a:ext cx="1038069" cy="188242"/>
          </a:xfrm>
          <a:prstGeom prst="borderCallout1">
            <a:avLst>
              <a:gd name="adj1" fmla="val 18750"/>
              <a:gd name="adj2" fmla="val -8333"/>
              <a:gd name="adj3" fmla="val -396053"/>
              <a:gd name="adj4" fmla="val 883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Most feasible</a:t>
            </a:r>
          </a:p>
        </p:txBody>
      </p:sp>
      <p:sp>
        <p:nvSpPr>
          <p:cNvPr id="131" name="Content Placeholder 2">
            <a:extLst>
              <a:ext uri="{FF2B5EF4-FFF2-40B4-BE49-F238E27FC236}">
                <a16:creationId xmlns:a16="http://schemas.microsoft.com/office/drawing/2014/main" id="{5EEC6E32-9FBD-4D36-9513-30BB5CBEB181}"/>
              </a:ext>
            </a:extLst>
          </p:cNvPr>
          <p:cNvSpPr txBox="1">
            <a:spLocks/>
          </p:cNvSpPr>
          <p:nvPr/>
        </p:nvSpPr>
        <p:spPr>
          <a:xfrm>
            <a:off x="5502529" y="907155"/>
            <a:ext cx="3327399" cy="1606352"/>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Find the Max Z in the most feasible area, </a:t>
            </a:r>
          </a:p>
          <a:p>
            <a:pPr marL="0" indent="0">
              <a:buFont typeface="Wingdings 3" charset="2"/>
              <a:buNone/>
            </a:pPr>
            <a:r>
              <a:rPr lang="en-US" sz="1400" b="1" i="1" dirty="0">
                <a:solidFill>
                  <a:schemeClr val="tx1"/>
                </a:solidFill>
              </a:rPr>
              <a:t>x1, x2 = 0, 0</a:t>
            </a:r>
          </a:p>
          <a:p>
            <a:pPr marL="0" indent="0">
              <a:buNone/>
            </a:pPr>
            <a:r>
              <a:rPr lang="en-US" sz="1400" b="1" i="1" dirty="0">
                <a:solidFill>
                  <a:schemeClr val="tx1"/>
                </a:solidFill>
              </a:rPr>
              <a:t>x1, x2 = 0, 2</a:t>
            </a:r>
          </a:p>
          <a:p>
            <a:pPr marL="0" indent="0">
              <a:buNone/>
            </a:pPr>
            <a:r>
              <a:rPr lang="en-US" sz="1400" b="1" i="1" dirty="0">
                <a:solidFill>
                  <a:schemeClr val="tx1"/>
                </a:solidFill>
              </a:rPr>
              <a:t>x1, x2 = 4, 0</a:t>
            </a:r>
          </a:p>
        </p:txBody>
      </p:sp>
      <p:cxnSp>
        <p:nvCxnSpPr>
          <p:cNvPr id="132" name="Straight Arrow Connector 131">
            <a:extLst>
              <a:ext uri="{FF2B5EF4-FFF2-40B4-BE49-F238E27FC236}">
                <a16:creationId xmlns:a16="http://schemas.microsoft.com/office/drawing/2014/main" id="{4D74EC3B-71A3-4823-AA1B-A1537158C858}"/>
              </a:ext>
            </a:extLst>
          </p:cNvPr>
          <p:cNvCxnSpPr>
            <a:cxnSpLocks/>
          </p:cNvCxnSpPr>
          <p:nvPr/>
        </p:nvCxnSpPr>
        <p:spPr>
          <a:xfrm flipH="1">
            <a:off x="2967648" y="3744970"/>
            <a:ext cx="458114" cy="729399"/>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33" name="Content Placeholder 2">
            <a:extLst>
              <a:ext uri="{FF2B5EF4-FFF2-40B4-BE49-F238E27FC236}">
                <a16:creationId xmlns:a16="http://schemas.microsoft.com/office/drawing/2014/main" id="{DB0ADB81-F863-4E30-99FF-153525C5E2D3}"/>
              </a:ext>
            </a:extLst>
          </p:cNvPr>
          <p:cNvSpPr txBox="1">
            <a:spLocks/>
          </p:cNvSpPr>
          <p:nvPr/>
        </p:nvSpPr>
        <p:spPr>
          <a:xfrm>
            <a:off x="3184303" y="3324715"/>
            <a:ext cx="1568137"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Meeting point of Eq 1 &amp; Eq 3</a:t>
            </a:r>
          </a:p>
        </p:txBody>
      </p:sp>
      <p:sp>
        <p:nvSpPr>
          <p:cNvPr id="134" name="Content Placeholder 2">
            <a:extLst>
              <a:ext uri="{FF2B5EF4-FFF2-40B4-BE49-F238E27FC236}">
                <a16:creationId xmlns:a16="http://schemas.microsoft.com/office/drawing/2014/main" id="{364BFD33-C92D-4230-B496-1C7C16007F13}"/>
              </a:ext>
            </a:extLst>
          </p:cNvPr>
          <p:cNvSpPr txBox="1">
            <a:spLocks/>
          </p:cNvSpPr>
          <p:nvPr/>
        </p:nvSpPr>
        <p:spPr>
          <a:xfrm>
            <a:off x="5464308" y="2566244"/>
            <a:ext cx="2473645" cy="317824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Solve the Equation 1 &amp; 3</a:t>
            </a:r>
          </a:p>
          <a:p>
            <a:pPr marL="0" indent="0">
              <a:buNone/>
            </a:pPr>
            <a:r>
              <a:rPr lang="en-US" sz="1400" b="1" i="1" dirty="0">
                <a:solidFill>
                  <a:schemeClr val="tx1"/>
                </a:solidFill>
              </a:rPr>
              <a:t>- x1 + 3 x2 = 6</a:t>
            </a:r>
          </a:p>
          <a:p>
            <a:pPr marL="0" indent="0">
              <a:buNone/>
            </a:pPr>
            <a:r>
              <a:rPr lang="en-US" sz="1400" b="1" i="1" dirty="0">
                <a:solidFill>
                  <a:schemeClr val="tx1"/>
                </a:solidFill>
              </a:rPr>
              <a:t>x1 = 4</a:t>
            </a:r>
          </a:p>
          <a:p>
            <a:pPr marL="0" indent="0">
              <a:buNone/>
            </a:pPr>
            <a:r>
              <a:rPr lang="en-US" sz="1400" b="1" i="1" dirty="0">
                <a:solidFill>
                  <a:schemeClr val="tx1"/>
                </a:solidFill>
              </a:rPr>
              <a:t>----------------------------</a:t>
            </a:r>
          </a:p>
          <a:p>
            <a:pPr marL="0" indent="0">
              <a:buNone/>
            </a:pPr>
            <a:r>
              <a:rPr lang="en-US" sz="1400" b="1" i="1" dirty="0">
                <a:solidFill>
                  <a:schemeClr val="tx1"/>
                </a:solidFill>
              </a:rPr>
              <a:t>Replace value of x1 as 4</a:t>
            </a:r>
          </a:p>
          <a:p>
            <a:pPr marL="0" indent="0">
              <a:buNone/>
            </a:pPr>
            <a:r>
              <a:rPr lang="en-US" sz="1400" b="1" i="1" dirty="0">
                <a:solidFill>
                  <a:schemeClr val="tx1"/>
                </a:solidFill>
              </a:rPr>
              <a:t>-4 + 3 x2 = 6</a:t>
            </a:r>
          </a:p>
          <a:p>
            <a:pPr marL="0" indent="0">
              <a:buNone/>
            </a:pPr>
            <a:r>
              <a:rPr lang="en-US" sz="1400" b="1" i="1" dirty="0">
                <a:solidFill>
                  <a:schemeClr val="tx1"/>
                </a:solidFill>
              </a:rPr>
              <a:t>----------------------------</a:t>
            </a:r>
          </a:p>
          <a:p>
            <a:pPr marL="0" indent="0">
              <a:buNone/>
            </a:pPr>
            <a:r>
              <a:rPr lang="en-US" sz="1400" b="1" i="1" dirty="0">
                <a:solidFill>
                  <a:schemeClr val="tx1"/>
                </a:solidFill>
              </a:rPr>
              <a:t>3 x2 = 10</a:t>
            </a:r>
          </a:p>
          <a:p>
            <a:pPr marL="0" indent="0">
              <a:buNone/>
            </a:pPr>
            <a:r>
              <a:rPr lang="en-US" sz="1400" b="1" i="1" dirty="0">
                <a:solidFill>
                  <a:schemeClr val="tx1"/>
                </a:solidFill>
              </a:rPr>
              <a:t>x2 = 10/3</a:t>
            </a:r>
          </a:p>
          <a:p>
            <a:pPr marL="0" indent="0">
              <a:buNone/>
            </a:pPr>
            <a:r>
              <a:rPr lang="en-US" sz="1400" b="1" i="1" dirty="0">
                <a:solidFill>
                  <a:schemeClr val="tx1"/>
                </a:solidFill>
              </a:rPr>
              <a:t>----------------------------</a:t>
            </a:r>
          </a:p>
          <a:p>
            <a:pPr marL="0" indent="0">
              <a:buNone/>
            </a:pPr>
            <a:endParaRPr lang="en-US" sz="1400" b="1" i="1" dirty="0">
              <a:solidFill>
                <a:schemeClr val="tx1"/>
              </a:solidFill>
            </a:endParaRPr>
          </a:p>
          <a:p>
            <a:pPr marL="0" indent="0">
              <a:buFont typeface="Wingdings 3" charset="2"/>
              <a:buNone/>
            </a:pPr>
            <a:endParaRPr lang="en-US" sz="1400" b="1" i="1" dirty="0">
              <a:solidFill>
                <a:schemeClr val="tx1"/>
              </a:solidFill>
            </a:endParaRPr>
          </a:p>
        </p:txBody>
      </p:sp>
      <p:sp>
        <p:nvSpPr>
          <p:cNvPr id="135" name="Content Placeholder 2">
            <a:extLst>
              <a:ext uri="{FF2B5EF4-FFF2-40B4-BE49-F238E27FC236}">
                <a16:creationId xmlns:a16="http://schemas.microsoft.com/office/drawing/2014/main" id="{4222AD76-3B42-458D-8E6E-C773952301F9}"/>
              </a:ext>
            </a:extLst>
          </p:cNvPr>
          <p:cNvSpPr txBox="1">
            <a:spLocks/>
          </p:cNvSpPr>
          <p:nvPr/>
        </p:nvSpPr>
        <p:spPr>
          <a:xfrm>
            <a:off x="8120120" y="1387424"/>
            <a:ext cx="2473645" cy="872127"/>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400" b="1" i="1" dirty="0">
                <a:solidFill>
                  <a:schemeClr val="tx1"/>
                </a:solidFill>
              </a:rPr>
              <a:t>The Point will be</a:t>
            </a:r>
          </a:p>
          <a:p>
            <a:pPr marL="0" indent="0">
              <a:buNone/>
            </a:pPr>
            <a:r>
              <a:rPr lang="en-US" sz="1400" b="1" i="1" dirty="0">
                <a:solidFill>
                  <a:schemeClr val="tx1"/>
                </a:solidFill>
              </a:rPr>
              <a:t> x1 = 4, x2 = 10/3</a:t>
            </a:r>
          </a:p>
        </p:txBody>
      </p:sp>
      <p:sp>
        <p:nvSpPr>
          <p:cNvPr id="136" name="Content Placeholder 2">
            <a:extLst>
              <a:ext uri="{FF2B5EF4-FFF2-40B4-BE49-F238E27FC236}">
                <a16:creationId xmlns:a16="http://schemas.microsoft.com/office/drawing/2014/main" id="{02DF4504-50EA-49DB-B408-E5C200D46043}"/>
              </a:ext>
            </a:extLst>
          </p:cNvPr>
          <p:cNvSpPr txBox="1">
            <a:spLocks/>
          </p:cNvSpPr>
          <p:nvPr/>
        </p:nvSpPr>
        <p:spPr>
          <a:xfrm>
            <a:off x="3293339" y="3637676"/>
            <a:ext cx="1059818" cy="30549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(4, 10/3)</a:t>
            </a:r>
          </a:p>
        </p:txBody>
      </p:sp>
      <p:sp>
        <p:nvSpPr>
          <p:cNvPr id="138" name="Content Placeholder 2">
            <a:extLst>
              <a:ext uri="{FF2B5EF4-FFF2-40B4-BE49-F238E27FC236}">
                <a16:creationId xmlns:a16="http://schemas.microsoft.com/office/drawing/2014/main" id="{8D8B4DCC-29D7-4150-8BB7-CC0D875AAFBA}"/>
              </a:ext>
            </a:extLst>
          </p:cNvPr>
          <p:cNvSpPr txBox="1">
            <a:spLocks/>
          </p:cNvSpPr>
          <p:nvPr/>
        </p:nvSpPr>
        <p:spPr>
          <a:xfrm>
            <a:off x="7840222" y="4194956"/>
            <a:ext cx="3327399" cy="66593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Obtained Solution in Non-Integer of sub Problem 1, hence we need to go to next steps</a:t>
            </a:r>
          </a:p>
        </p:txBody>
      </p:sp>
      <p:sp>
        <p:nvSpPr>
          <p:cNvPr id="139" name="Content Placeholder 2">
            <a:extLst>
              <a:ext uri="{FF2B5EF4-FFF2-40B4-BE49-F238E27FC236}">
                <a16:creationId xmlns:a16="http://schemas.microsoft.com/office/drawing/2014/main" id="{3AB83B82-47C3-4E16-A804-56DACE16F964}"/>
              </a:ext>
            </a:extLst>
          </p:cNvPr>
          <p:cNvSpPr txBox="1">
            <a:spLocks/>
          </p:cNvSpPr>
          <p:nvPr/>
        </p:nvSpPr>
        <p:spPr>
          <a:xfrm>
            <a:off x="9451018" y="2639427"/>
            <a:ext cx="824629" cy="142641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Z = 0 </a:t>
            </a:r>
          </a:p>
          <a:p>
            <a:pPr marL="0" indent="0">
              <a:buFont typeface="Wingdings 3" charset="2"/>
              <a:buNone/>
            </a:pPr>
            <a:r>
              <a:rPr lang="en-US" sz="1400" b="1" i="1" dirty="0">
                <a:solidFill>
                  <a:schemeClr val="tx1"/>
                </a:solidFill>
              </a:rPr>
              <a:t>Z = 35</a:t>
            </a:r>
          </a:p>
          <a:p>
            <a:pPr marL="0" indent="0">
              <a:buFont typeface="Wingdings 3" charset="2"/>
              <a:buNone/>
            </a:pPr>
            <a:r>
              <a:rPr lang="en-US" sz="1400" b="1" i="1" dirty="0">
                <a:solidFill>
                  <a:schemeClr val="tx1"/>
                </a:solidFill>
              </a:rPr>
              <a:t>Z = 28</a:t>
            </a:r>
          </a:p>
          <a:p>
            <a:pPr marL="0" indent="0">
              <a:buFont typeface="Wingdings 3" charset="2"/>
              <a:buNone/>
            </a:pPr>
            <a:r>
              <a:rPr lang="en-US" sz="1400" b="1" i="1" dirty="0">
                <a:solidFill>
                  <a:schemeClr val="tx1"/>
                </a:solidFill>
              </a:rPr>
              <a:t>Z = 58</a:t>
            </a:r>
          </a:p>
        </p:txBody>
      </p:sp>
      <p:sp>
        <p:nvSpPr>
          <p:cNvPr id="137" name="Content Placeholder 2">
            <a:extLst>
              <a:ext uri="{FF2B5EF4-FFF2-40B4-BE49-F238E27FC236}">
                <a16:creationId xmlns:a16="http://schemas.microsoft.com/office/drawing/2014/main" id="{B8A03B02-7CDF-471E-9289-62F5325D34FC}"/>
              </a:ext>
            </a:extLst>
          </p:cNvPr>
          <p:cNvSpPr txBox="1">
            <a:spLocks/>
          </p:cNvSpPr>
          <p:nvPr/>
        </p:nvSpPr>
        <p:spPr>
          <a:xfrm>
            <a:off x="7878323" y="2237822"/>
            <a:ext cx="2663520" cy="191592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pl-PL" b="1" i="1" dirty="0">
                <a:solidFill>
                  <a:schemeClr val="tx1"/>
                </a:solidFill>
              </a:rPr>
              <a:t>Max Z = 7 x1 + 9 x2</a:t>
            </a:r>
          </a:p>
          <a:p>
            <a:pPr marL="0" indent="0">
              <a:buFont typeface="Wingdings 3" charset="2"/>
              <a:buNone/>
            </a:pPr>
            <a:r>
              <a:rPr lang="en-US" sz="1400" b="1" i="1" dirty="0">
                <a:solidFill>
                  <a:schemeClr val="tx1"/>
                </a:solidFill>
              </a:rPr>
              <a:t>x1, x2 = 0, 0</a:t>
            </a:r>
          </a:p>
          <a:p>
            <a:pPr marL="0" indent="0">
              <a:buNone/>
            </a:pPr>
            <a:r>
              <a:rPr lang="en-US" sz="1400" b="1" i="1" dirty="0">
                <a:solidFill>
                  <a:schemeClr val="tx1"/>
                </a:solidFill>
              </a:rPr>
              <a:t>x1, x2 = 0, 2</a:t>
            </a:r>
          </a:p>
          <a:p>
            <a:pPr marL="0" indent="0">
              <a:buNone/>
            </a:pPr>
            <a:r>
              <a:rPr lang="en-US" sz="1400" b="1" i="1" dirty="0">
                <a:solidFill>
                  <a:schemeClr val="tx1"/>
                </a:solidFill>
              </a:rPr>
              <a:t>x1, x2 = 4, 0</a:t>
            </a:r>
          </a:p>
          <a:p>
            <a:pPr marL="0" indent="0">
              <a:buNone/>
            </a:pPr>
            <a:r>
              <a:rPr lang="en-US" sz="1400" b="1" i="1" dirty="0">
                <a:solidFill>
                  <a:schemeClr val="tx1"/>
                </a:solidFill>
              </a:rPr>
              <a:t>x1, x2 = 4, 10/3</a:t>
            </a:r>
          </a:p>
          <a:p>
            <a:pPr marL="0" indent="0">
              <a:buFont typeface="Wingdings 3" charset="2"/>
              <a:buNone/>
            </a:pPr>
            <a:endParaRPr lang="en-US" sz="1400" b="1" i="1" dirty="0">
              <a:solidFill>
                <a:schemeClr val="tx1"/>
              </a:solidFill>
            </a:endParaRPr>
          </a:p>
        </p:txBody>
      </p:sp>
    </p:spTree>
    <p:extLst>
      <p:ext uri="{BB962C8B-B14F-4D97-AF65-F5344CB8AC3E}">
        <p14:creationId xmlns:p14="http://schemas.microsoft.com/office/powerpoint/2010/main" val="406088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3"/>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3"/>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94"/>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0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44"/>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1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3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3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133"/>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3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3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3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30" grpId="0" animBg="1"/>
      <p:bldP spid="130" grpId="1" animBg="1"/>
      <p:bldP spid="131" grpId="0"/>
      <p:bldP spid="133" grpId="0"/>
      <p:bldP spid="133" grpId="1"/>
      <p:bldP spid="134" grpId="0"/>
      <p:bldP spid="135" grpId="0"/>
      <p:bldP spid="136" grpId="0"/>
      <p:bldP spid="138" grpId="0"/>
      <p:bldP spid="139" grpId="0"/>
      <p:bldP spid="13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677334" y="138688"/>
            <a:ext cx="8596668" cy="731520"/>
          </a:xfrm>
        </p:spPr>
        <p:txBody>
          <a:bodyPr/>
          <a:lstStyle/>
          <a:p>
            <a:r>
              <a:rPr lang="en-US" dirty="0"/>
              <a:t>Tree Diagram of IPP</a:t>
            </a:r>
          </a:p>
        </p:txBody>
      </p:sp>
      <p:sp>
        <p:nvSpPr>
          <p:cNvPr id="6" name="Freeform: Shape 5">
            <a:extLst>
              <a:ext uri="{FF2B5EF4-FFF2-40B4-BE49-F238E27FC236}">
                <a16:creationId xmlns:a16="http://schemas.microsoft.com/office/drawing/2014/main" id="{708221BF-D8F5-4EB3-BB99-ED0DC33B1A5D}"/>
              </a:ext>
            </a:extLst>
          </p:cNvPr>
          <p:cNvSpPr/>
          <p:nvPr/>
        </p:nvSpPr>
        <p:spPr>
          <a:xfrm>
            <a:off x="5979914" y="2047576"/>
            <a:ext cx="1276945" cy="607709"/>
          </a:xfrm>
          <a:custGeom>
            <a:avLst/>
            <a:gdLst/>
            <a:ahLst/>
            <a:cxnLst/>
            <a:rect l="0" t="0" r="0" b="0"/>
            <a:pathLst>
              <a:path>
                <a:moveTo>
                  <a:pt x="0" y="0"/>
                </a:moveTo>
                <a:lnTo>
                  <a:pt x="0" y="414136"/>
                </a:lnTo>
                <a:lnTo>
                  <a:pt x="1276945" y="414136"/>
                </a:lnTo>
                <a:lnTo>
                  <a:pt x="1276945"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7" name="Freeform: Shape 6">
            <a:extLst>
              <a:ext uri="{FF2B5EF4-FFF2-40B4-BE49-F238E27FC236}">
                <a16:creationId xmlns:a16="http://schemas.microsoft.com/office/drawing/2014/main" id="{42F5677B-1C81-43A5-9220-AFC2C1C5E2AF}"/>
              </a:ext>
            </a:extLst>
          </p:cNvPr>
          <p:cNvSpPr/>
          <p:nvPr/>
        </p:nvSpPr>
        <p:spPr>
          <a:xfrm>
            <a:off x="4702968" y="2047576"/>
            <a:ext cx="1276945" cy="607709"/>
          </a:xfrm>
          <a:custGeom>
            <a:avLst/>
            <a:gdLst/>
            <a:ahLst/>
            <a:cxnLst/>
            <a:rect l="0" t="0" r="0" b="0"/>
            <a:pathLst>
              <a:path>
                <a:moveTo>
                  <a:pt x="1276945" y="0"/>
                </a:moveTo>
                <a:lnTo>
                  <a:pt x="1276945" y="414136"/>
                </a:lnTo>
                <a:lnTo>
                  <a:pt x="0" y="414136"/>
                </a:lnTo>
                <a:lnTo>
                  <a:pt x="0"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8" name="Rectangle: Rounded Corners 7">
            <a:extLst>
              <a:ext uri="{FF2B5EF4-FFF2-40B4-BE49-F238E27FC236}">
                <a16:creationId xmlns:a16="http://schemas.microsoft.com/office/drawing/2014/main" id="{04FFB954-673E-4317-84F4-874FB4F4D16F}"/>
              </a:ext>
            </a:extLst>
          </p:cNvPr>
          <p:cNvSpPr/>
          <p:nvPr/>
        </p:nvSpPr>
        <p:spPr>
          <a:xfrm>
            <a:off x="4935140" y="720714"/>
            <a:ext cx="2089546" cy="1326862"/>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9" name="Freeform: Shape 8">
            <a:extLst>
              <a:ext uri="{FF2B5EF4-FFF2-40B4-BE49-F238E27FC236}">
                <a16:creationId xmlns:a16="http://schemas.microsoft.com/office/drawing/2014/main" id="{A615EF24-971B-42E6-BC88-031A5AB4A7A0}"/>
              </a:ext>
            </a:extLst>
          </p:cNvPr>
          <p:cNvSpPr/>
          <p:nvPr/>
        </p:nvSpPr>
        <p:spPr>
          <a:xfrm>
            <a:off x="5167312" y="941277"/>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1</a:t>
            </a:r>
          </a:p>
          <a:p>
            <a:r>
              <a:rPr lang="en-US" sz="1600" b="1" i="1" dirty="0">
                <a:solidFill>
                  <a:schemeClr val="tx1"/>
                </a:solidFill>
              </a:rPr>
              <a:t>x1= 9/2 </a:t>
            </a:r>
          </a:p>
          <a:p>
            <a:r>
              <a:rPr lang="en-US" sz="1600" b="1" i="1" dirty="0">
                <a:solidFill>
                  <a:schemeClr val="tx1"/>
                </a:solidFill>
              </a:rPr>
              <a:t>x2 = 7/2 </a:t>
            </a:r>
          </a:p>
          <a:p>
            <a:r>
              <a:rPr lang="en-US" sz="1600" b="1" i="1" dirty="0">
                <a:solidFill>
                  <a:schemeClr val="tx1"/>
                </a:solidFill>
              </a:rPr>
              <a:t>Z = 63</a:t>
            </a:r>
          </a:p>
        </p:txBody>
      </p:sp>
      <p:sp>
        <p:nvSpPr>
          <p:cNvPr id="10" name="Rectangle: Rounded Corners 9">
            <a:extLst>
              <a:ext uri="{FF2B5EF4-FFF2-40B4-BE49-F238E27FC236}">
                <a16:creationId xmlns:a16="http://schemas.microsoft.com/office/drawing/2014/main" id="{BBC9FA31-AE9E-4344-8E2F-06CBBBF6B210}"/>
              </a:ext>
            </a:extLst>
          </p:cNvPr>
          <p:cNvSpPr/>
          <p:nvPr/>
        </p:nvSpPr>
        <p:spPr>
          <a:xfrm>
            <a:off x="365819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1" name="Freeform: Shape 10">
            <a:extLst>
              <a:ext uri="{FF2B5EF4-FFF2-40B4-BE49-F238E27FC236}">
                <a16:creationId xmlns:a16="http://schemas.microsoft.com/office/drawing/2014/main" id="{F732362F-DF91-4A7F-89E4-6D952AE0D70F}"/>
              </a:ext>
            </a:extLst>
          </p:cNvPr>
          <p:cNvSpPr/>
          <p:nvPr/>
        </p:nvSpPr>
        <p:spPr>
          <a:xfrm>
            <a:off x="389036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2</a:t>
            </a:r>
          </a:p>
          <a:p>
            <a:r>
              <a:rPr lang="en-US" sz="1600" b="1" i="1" dirty="0">
                <a:solidFill>
                  <a:schemeClr val="tx1"/>
                </a:solidFill>
              </a:rPr>
              <a:t>x1= 5 </a:t>
            </a:r>
          </a:p>
          <a:p>
            <a:r>
              <a:rPr lang="en-US" sz="1600" b="1" i="1" dirty="0">
                <a:solidFill>
                  <a:schemeClr val="tx1"/>
                </a:solidFill>
              </a:rPr>
              <a:t>x2 = 0 </a:t>
            </a:r>
          </a:p>
          <a:p>
            <a:r>
              <a:rPr lang="en-US" sz="1600" b="1" i="1" dirty="0">
                <a:solidFill>
                  <a:schemeClr val="tx1"/>
                </a:solidFill>
              </a:rPr>
              <a:t>Z = 35</a:t>
            </a:r>
          </a:p>
        </p:txBody>
      </p:sp>
      <p:sp>
        <p:nvSpPr>
          <p:cNvPr id="12" name="Rectangle: Rounded Corners 11">
            <a:extLst>
              <a:ext uri="{FF2B5EF4-FFF2-40B4-BE49-F238E27FC236}">
                <a16:creationId xmlns:a16="http://schemas.microsoft.com/office/drawing/2014/main" id="{815559D8-CFE6-4E93-9B26-0815D872828F}"/>
              </a:ext>
            </a:extLst>
          </p:cNvPr>
          <p:cNvSpPr/>
          <p:nvPr/>
        </p:nvSpPr>
        <p:spPr>
          <a:xfrm>
            <a:off x="621208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3" name="Freeform: Shape 12">
            <a:extLst>
              <a:ext uri="{FF2B5EF4-FFF2-40B4-BE49-F238E27FC236}">
                <a16:creationId xmlns:a16="http://schemas.microsoft.com/office/drawing/2014/main" id="{B0481F9C-DA05-4CDA-A12F-F1459E453191}"/>
              </a:ext>
            </a:extLst>
          </p:cNvPr>
          <p:cNvSpPr/>
          <p:nvPr/>
        </p:nvSpPr>
        <p:spPr>
          <a:xfrm>
            <a:off x="644425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3</a:t>
            </a:r>
          </a:p>
          <a:p>
            <a:r>
              <a:rPr lang="en-US" sz="1600" b="1" i="1" dirty="0">
                <a:solidFill>
                  <a:schemeClr val="tx1"/>
                </a:solidFill>
              </a:rPr>
              <a:t>x1= 4 </a:t>
            </a:r>
          </a:p>
          <a:p>
            <a:r>
              <a:rPr lang="en-US" sz="1600" b="1" i="1" dirty="0">
                <a:solidFill>
                  <a:schemeClr val="tx1"/>
                </a:solidFill>
              </a:rPr>
              <a:t>x2 = 10/3 </a:t>
            </a:r>
          </a:p>
          <a:p>
            <a:r>
              <a:rPr lang="en-US" sz="1600" b="1" i="1" dirty="0">
                <a:solidFill>
                  <a:schemeClr val="tx1"/>
                </a:solidFill>
              </a:rPr>
              <a:t>Z = 58</a:t>
            </a:r>
          </a:p>
        </p:txBody>
      </p:sp>
      <p:sp>
        <p:nvSpPr>
          <p:cNvPr id="20" name="Content Placeholder 2">
            <a:extLst>
              <a:ext uri="{FF2B5EF4-FFF2-40B4-BE49-F238E27FC236}">
                <a16:creationId xmlns:a16="http://schemas.microsoft.com/office/drawing/2014/main" id="{6256C063-7210-46F7-AC39-7D9AF10B2039}"/>
              </a:ext>
            </a:extLst>
          </p:cNvPr>
          <p:cNvSpPr txBox="1">
            <a:spLocks/>
          </p:cNvSpPr>
          <p:nvPr/>
        </p:nvSpPr>
        <p:spPr>
          <a:xfrm>
            <a:off x="8533802" y="2982207"/>
            <a:ext cx="2217932" cy="67301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600" b="1" i="1" dirty="0">
                <a:solidFill>
                  <a:schemeClr val="tx1"/>
                </a:solidFill>
              </a:rPr>
              <a:t>Since solution has non-integers, there is  need for further Branching</a:t>
            </a:r>
            <a:endParaRPr lang="en-US" sz="1400" b="1" i="1" dirty="0">
              <a:solidFill>
                <a:schemeClr val="tx1"/>
              </a:solidFill>
            </a:endParaRPr>
          </a:p>
          <a:p>
            <a:pPr marL="0" indent="0" algn="ctr">
              <a:buFont typeface="Wingdings 3" charset="2"/>
              <a:buNone/>
            </a:pPr>
            <a:endParaRPr lang="en-US" sz="1400" b="1" i="1" dirty="0">
              <a:solidFill>
                <a:schemeClr val="tx1"/>
              </a:solidFill>
            </a:endParaRPr>
          </a:p>
        </p:txBody>
      </p:sp>
      <p:sp>
        <p:nvSpPr>
          <p:cNvPr id="15" name="Freeform: Shape 14">
            <a:extLst>
              <a:ext uri="{FF2B5EF4-FFF2-40B4-BE49-F238E27FC236}">
                <a16:creationId xmlns:a16="http://schemas.microsoft.com/office/drawing/2014/main" id="{97606F36-0196-4BE6-BC02-B94620F4E649}"/>
              </a:ext>
            </a:extLst>
          </p:cNvPr>
          <p:cNvSpPr/>
          <p:nvPr/>
        </p:nvSpPr>
        <p:spPr>
          <a:xfrm>
            <a:off x="7429580" y="4202712"/>
            <a:ext cx="1200324" cy="535285"/>
          </a:xfrm>
          <a:custGeom>
            <a:avLst/>
            <a:gdLst/>
            <a:ahLst/>
            <a:cxnLst/>
            <a:rect l="0" t="0" r="0" b="0"/>
            <a:pathLst>
              <a:path>
                <a:moveTo>
                  <a:pt x="0" y="0"/>
                </a:moveTo>
                <a:lnTo>
                  <a:pt x="0" y="319112"/>
                </a:lnTo>
                <a:lnTo>
                  <a:pt x="1200324" y="319112"/>
                </a:lnTo>
                <a:lnTo>
                  <a:pt x="1200324" y="535285"/>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sp>
      <p:sp>
        <p:nvSpPr>
          <p:cNvPr id="16" name="Freeform: Shape 15">
            <a:extLst>
              <a:ext uri="{FF2B5EF4-FFF2-40B4-BE49-F238E27FC236}">
                <a16:creationId xmlns:a16="http://schemas.microsoft.com/office/drawing/2014/main" id="{521E1A52-1CFB-4115-88AC-830D9BCB9AC3}"/>
              </a:ext>
            </a:extLst>
          </p:cNvPr>
          <p:cNvSpPr/>
          <p:nvPr/>
        </p:nvSpPr>
        <p:spPr>
          <a:xfrm>
            <a:off x="6229255" y="4202712"/>
            <a:ext cx="1200324" cy="535285"/>
          </a:xfrm>
          <a:custGeom>
            <a:avLst/>
            <a:gdLst/>
            <a:ahLst/>
            <a:cxnLst/>
            <a:rect l="0" t="0" r="0" b="0"/>
            <a:pathLst>
              <a:path>
                <a:moveTo>
                  <a:pt x="1200324" y="0"/>
                </a:moveTo>
                <a:lnTo>
                  <a:pt x="1200324" y="319112"/>
                </a:lnTo>
                <a:lnTo>
                  <a:pt x="0" y="319112"/>
                </a:lnTo>
                <a:lnTo>
                  <a:pt x="0" y="535285"/>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sp>
      <p:sp>
        <p:nvSpPr>
          <p:cNvPr id="17" name="Rectangle: Rounded Corners 16">
            <a:extLst>
              <a:ext uri="{FF2B5EF4-FFF2-40B4-BE49-F238E27FC236}">
                <a16:creationId xmlns:a16="http://schemas.microsoft.com/office/drawing/2014/main" id="{C879F8A6-6760-4E93-AE89-1F41E7EB3711}"/>
              </a:ext>
            </a:extLst>
          </p:cNvPr>
          <p:cNvSpPr/>
          <p:nvPr/>
        </p:nvSpPr>
        <p:spPr>
          <a:xfrm>
            <a:off x="5167312" y="473564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8" name="Freeform: Shape 17">
            <a:extLst>
              <a:ext uri="{FF2B5EF4-FFF2-40B4-BE49-F238E27FC236}">
                <a16:creationId xmlns:a16="http://schemas.microsoft.com/office/drawing/2014/main" id="{A4DABDBB-27D0-42A5-A1CA-31265BCFD0B6}"/>
              </a:ext>
            </a:extLst>
          </p:cNvPr>
          <p:cNvSpPr/>
          <p:nvPr/>
        </p:nvSpPr>
        <p:spPr>
          <a:xfrm>
            <a:off x="5399484" y="495621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4</a:t>
            </a:r>
          </a:p>
        </p:txBody>
      </p:sp>
      <p:sp>
        <p:nvSpPr>
          <p:cNvPr id="19" name="Rectangle: Rounded Corners 18">
            <a:extLst>
              <a:ext uri="{FF2B5EF4-FFF2-40B4-BE49-F238E27FC236}">
                <a16:creationId xmlns:a16="http://schemas.microsoft.com/office/drawing/2014/main" id="{785F1BF5-598F-43DF-8245-F8622E85923D}"/>
              </a:ext>
            </a:extLst>
          </p:cNvPr>
          <p:cNvSpPr/>
          <p:nvPr/>
        </p:nvSpPr>
        <p:spPr>
          <a:xfrm>
            <a:off x="7745725" y="4767285"/>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21" name="Freeform: Shape 20">
            <a:extLst>
              <a:ext uri="{FF2B5EF4-FFF2-40B4-BE49-F238E27FC236}">
                <a16:creationId xmlns:a16="http://schemas.microsoft.com/office/drawing/2014/main" id="{4BCF3BE7-3D0E-404C-B8B2-97BA36A8B1FF}"/>
              </a:ext>
            </a:extLst>
          </p:cNvPr>
          <p:cNvSpPr/>
          <p:nvPr/>
        </p:nvSpPr>
        <p:spPr>
          <a:xfrm>
            <a:off x="7977897" y="4987849"/>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5</a:t>
            </a:r>
          </a:p>
        </p:txBody>
      </p:sp>
    </p:spTree>
    <p:extLst>
      <p:ext uri="{BB962C8B-B14F-4D97-AF65-F5344CB8AC3E}">
        <p14:creationId xmlns:p14="http://schemas.microsoft.com/office/powerpoint/2010/main" val="354854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8" grpId="0" animBg="1"/>
      <p:bldP spid="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A51EE1BF-91F2-4D66-9DC2-FBE3F5BD0A6E}"/>
              </a:ext>
            </a:extLst>
          </p:cNvPr>
          <p:cNvSpPr txBox="1">
            <a:spLocks/>
          </p:cNvSpPr>
          <p:nvPr/>
        </p:nvSpPr>
        <p:spPr>
          <a:xfrm>
            <a:off x="733142" y="870208"/>
            <a:ext cx="7496458"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 </a:t>
            </a:r>
            <a:r>
              <a:rPr lang="en-US" sz="2000" b="1" dirty="0">
                <a:solidFill>
                  <a:schemeClr val="tx1"/>
                </a:solidFill>
              </a:rPr>
              <a:t>As the solution of Sub Problem 3 is non-Integer, take Integer part of the variable and split it into two</a:t>
            </a:r>
          </a:p>
        </p:txBody>
      </p:sp>
      <p:sp>
        <p:nvSpPr>
          <p:cNvPr id="15" name="Content Placeholder 2">
            <a:extLst>
              <a:ext uri="{FF2B5EF4-FFF2-40B4-BE49-F238E27FC236}">
                <a16:creationId xmlns:a16="http://schemas.microsoft.com/office/drawing/2014/main" id="{6696E22A-E799-453B-B680-0CE9A31F66F7}"/>
              </a:ext>
            </a:extLst>
          </p:cNvPr>
          <p:cNvSpPr txBox="1">
            <a:spLocks/>
          </p:cNvSpPr>
          <p:nvPr/>
        </p:nvSpPr>
        <p:spPr>
          <a:xfrm>
            <a:off x="733142" y="1601729"/>
            <a:ext cx="2924458" cy="9160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400" b="1" i="1" dirty="0">
                <a:solidFill>
                  <a:schemeClr val="tx1"/>
                </a:solidFill>
              </a:rPr>
              <a:t>x2 = 10/3</a:t>
            </a:r>
          </a:p>
          <a:p>
            <a:pPr marL="0" indent="0">
              <a:buNone/>
            </a:pPr>
            <a:r>
              <a:rPr lang="en-US" sz="1400" b="1" i="1" dirty="0">
                <a:solidFill>
                  <a:schemeClr val="tx1"/>
                </a:solidFill>
              </a:rPr>
              <a:t>Take integer part of it as </a:t>
            </a:r>
            <a:r>
              <a:rPr lang="en-US" sz="1400" b="1" i="1" dirty="0">
                <a:solidFill>
                  <a:schemeClr val="tx1"/>
                </a:solidFill>
                <a:highlight>
                  <a:srgbClr val="FFFF00"/>
                </a:highlight>
              </a:rPr>
              <a:t>3</a:t>
            </a:r>
          </a:p>
          <a:p>
            <a:pPr marL="0" indent="0">
              <a:buFont typeface="Wingdings 3" charset="2"/>
              <a:buNone/>
            </a:pPr>
            <a:endParaRPr lang="en-US" sz="1400" b="1" i="1" dirty="0">
              <a:solidFill>
                <a:schemeClr val="tx1"/>
              </a:solidFill>
            </a:endParaRPr>
          </a:p>
        </p:txBody>
      </p:sp>
      <p:grpSp>
        <p:nvGrpSpPr>
          <p:cNvPr id="8" name="Group 7">
            <a:extLst>
              <a:ext uri="{FF2B5EF4-FFF2-40B4-BE49-F238E27FC236}">
                <a16:creationId xmlns:a16="http://schemas.microsoft.com/office/drawing/2014/main" id="{9A7E310D-EF0B-4BFB-83B2-94B06A9E7D83}"/>
              </a:ext>
            </a:extLst>
          </p:cNvPr>
          <p:cNvGrpSpPr/>
          <p:nvPr/>
        </p:nvGrpSpPr>
        <p:grpSpPr>
          <a:xfrm>
            <a:off x="602689" y="2517733"/>
            <a:ext cx="3433339" cy="1523500"/>
            <a:chOff x="602689" y="2517733"/>
            <a:chExt cx="3433339" cy="1523500"/>
          </a:xfrm>
        </p:grpSpPr>
        <p:cxnSp>
          <p:nvCxnSpPr>
            <p:cNvPr id="17" name="Straight Connector 16">
              <a:extLst>
                <a:ext uri="{FF2B5EF4-FFF2-40B4-BE49-F238E27FC236}">
                  <a16:creationId xmlns:a16="http://schemas.microsoft.com/office/drawing/2014/main" id="{18405D63-1C4B-4C80-989F-9D9A8B8A7ADC}"/>
                </a:ext>
              </a:extLst>
            </p:cNvPr>
            <p:cNvCxnSpPr>
              <a:cxnSpLocks/>
            </p:cNvCxnSpPr>
            <p:nvPr/>
          </p:nvCxnSpPr>
          <p:spPr>
            <a:xfrm>
              <a:off x="715423" y="3672287"/>
              <a:ext cx="3320605"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49CAB05C-59A3-4B1F-884B-A41EB65EB103}"/>
                </a:ext>
              </a:extLst>
            </p:cNvPr>
            <p:cNvCxnSpPr>
              <a:cxnSpLocks/>
            </p:cNvCxnSpPr>
            <p:nvPr/>
          </p:nvCxnSpPr>
          <p:spPr>
            <a:xfrm flipV="1">
              <a:off x="3312663" y="2755740"/>
              <a:ext cx="0" cy="916547"/>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4306D086-4D35-4BB6-876A-F99D90EAEABC}"/>
                </a:ext>
              </a:extLst>
            </p:cNvPr>
            <p:cNvCxnSpPr>
              <a:cxnSpLocks/>
            </p:cNvCxnSpPr>
            <p:nvPr/>
          </p:nvCxnSpPr>
          <p:spPr>
            <a:xfrm flipV="1">
              <a:off x="1406590" y="2755740"/>
              <a:ext cx="0" cy="916548"/>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20" name="Content Placeholder 2">
              <a:extLst>
                <a:ext uri="{FF2B5EF4-FFF2-40B4-BE49-F238E27FC236}">
                  <a16:creationId xmlns:a16="http://schemas.microsoft.com/office/drawing/2014/main" id="{50BA26DC-CB61-45ED-8F89-41B79DA943EA}"/>
                </a:ext>
              </a:extLst>
            </p:cNvPr>
            <p:cNvSpPr txBox="1">
              <a:spLocks/>
            </p:cNvSpPr>
            <p:nvPr/>
          </p:nvSpPr>
          <p:spPr>
            <a:xfrm>
              <a:off x="1043099" y="2517733"/>
              <a:ext cx="726981" cy="34092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1200" b="1" dirty="0">
                  <a:solidFill>
                    <a:schemeClr val="tx2">
                      <a:lumMod val="50000"/>
                    </a:schemeClr>
                  </a:solidFill>
                </a:rPr>
                <a:t>Upper</a:t>
              </a:r>
            </a:p>
          </p:txBody>
        </p:sp>
        <p:sp>
          <p:nvSpPr>
            <p:cNvPr id="24" name="Content Placeholder 2">
              <a:extLst>
                <a:ext uri="{FF2B5EF4-FFF2-40B4-BE49-F238E27FC236}">
                  <a16:creationId xmlns:a16="http://schemas.microsoft.com/office/drawing/2014/main" id="{7C2C56D7-7979-4B46-92C3-E4201D0DB887}"/>
                </a:ext>
              </a:extLst>
            </p:cNvPr>
            <p:cNvSpPr txBox="1">
              <a:spLocks/>
            </p:cNvSpPr>
            <p:nvPr/>
          </p:nvSpPr>
          <p:spPr>
            <a:xfrm>
              <a:off x="2949172" y="2517733"/>
              <a:ext cx="726981" cy="34092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1200" b="1" dirty="0">
                  <a:solidFill>
                    <a:schemeClr val="tx2">
                      <a:lumMod val="50000"/>
                    </a:schemeClr>
                  </a:solidFill>
                </a:rPr>
                <a:t>Lower</a:t>
              </a:r>
            </a:p>
          </p:txBody>
        </p:sp>
        <p:sp>
          <p:nvSpPr>
            <p:cNvPr id="25" name="Content Placeholder 2">
              <a:extLst>
                <a:ext uri="{FF2B5EF4-FFF2-40B4-BE49-F238E27FC236}">
                  <a16:creationId xmlns:a16="http://schemas.microsoft.com/office/drawing/2014/main" id="{BF43D011-BCE4-419D-A89E-817313064922}"/>
                </a:ext>
              </a:extLst>
            </p:cNvPr>
            <p:cNvSpPr txBox="1">
              <a:spLocks/>
            </p:cNvSpPr>
            <p:nvPr/>
          </p:nvSpPr>
          <p:spPr>
            <a:xfrm>
              <a:off x="2519933" y="3310864"/>
              <a:ext cx="858478"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 x2&gt;=</a:t>
              </a:r>
              <a:endParaRPr lang="en-US" b="1" dirty="0">
                <a:solidFill>
                  <a:srgbClr val="FF0000"/>
                </a:solidFill>
              </a:endParaRPr>
            </a:p>
          </p:txBody>
        </p:sp>
        <p:sp>
          <p:nvSpPr>
            <p:cNvPr id="26" name="Content Placeholder 2">
              <a:extLst>
                <a:ext uri="{FF2B5EF4-FFF2-40B4-BE49-F238E27FC236}">
                  <a16:creationId xmlns:a16="http://schemas.microsoft.com/office/drawing/2014/main" id="{29908341-8A16-4AF5-A253-0518F5CA4586}"/>
                </a:ext>
              </a:extLst>
            </p:cNvPr>
            <p:cNvSpPr txBox="1">
              <a:spLocks/>
            </p:cNvSpPr>
            <p:nvPr/>
          </p:nvSpPr>
          <p:spPr>
            <a:xfrm>
              <a:off x="602689" y="3323616"/>
              <a:ext cx="858478"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  x2&lt;=</a:t>
              </a:r>
              <a:endParaRPr lang="en-US" b="1" dirty="0">
                <a:solidFill>
                  <a:srgbClr val="FF0000"/>
                </a:solidFill>
              </a:endParaRPr>
            </a:p>
          </p:txBody>
        </p:sp>
        <p:sp>
          <p:nvSpPr>
            <p:cNvPr id="29" name="Content Placeholder 2">
              <a:extLst>
                <a:ext uri="{FF2B5EF4-FFF2-40B4-BE49-F238E27FC236}">
                  <a16:creationId xmlns:a16="http://schemas.microsoft.com/office/drawing/2014/main" id="{A32E30F4-9744-4280-9C95-5CEEE54359CD}"/>
                </a:ext>
              </a:extLst>
            </p:cNvPr>
            <p:cNvSpPr txBox="1">
              <a:spLocks/>
            </p:cNvSpPr>
            <p:nvPr/>
          </p:nvSpPr>
          <p:spPr>
            <a:xfrm>
              <a:off x="1090324" y="3692562"/>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3</a:t>
              </a:r>
              <a:endParaRPr lang="en-US" b="1" dirty="0">
                <a:solidFill>
                  <a:srgbClr val="FF0000"/>
                </a:solidFill>
              </a:endParaRPr>
            </a:p>
          </p:txBody>
        </p:sp>
        <p:sp>
          <p:nvSpPr>
            <p:cNvPr id="30" name="Content Placeholder 2">
              <a:extLst>
                <a:ext uri="{FF2B5EF4-FFF2-40B4-BE49-F238E27FC236}">
                  <a16:creationId xmlns:a16="http://schemas.microsoft.com/office/drawing/2014/main" id="{60D96F81-0DAD-4620-BD47-407A7CEB1D32}"/>
                </a:ext>
              </a:extLst>
            </p:cNvPr>
            <p:cNvSpPr txBox="1">
              <a:spLocks/>
            </p:cNvSpPr>
            <p:nvPr/>
          </p:nvSpPr>
          <p:spPr>
            <a:xfrm>
              <a:off x="3007083" y="3692562"/>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4</a:t>
              </a:r>
              <a:endParaRPr lang="en-US" b="1" dirty="0">
                <a:solidFill>
                  <a:srgbClr val="FF0000"/>
                </a:solidFill>
              </a:endParaRPr>
            </a:p>
          </p:txBody>
        </p:sp>
        <p:cxnSp>
          <p:nvCxnSpPr>
            <p:cNvPr id="32" name="Straight Connector 31">
              <a:extLst>
                <a:ext uri="{FF2B5EF4-FFF2-40B4-BE49-F238E27FC236}">
                  <a16:creationId xmlns:a16="http://schemas.microsoft.com/office/drawing/2014/main" id="{C4FABEF5-B545-4DAA-99DF-1789D5CD27DC}"/>
                </a:ext>
              </a:extLst>
            </p:cNvPr>
            <p:cNvCxnSpPr>
              <a:cxnSpLocks/>
            </p:cNvCxnSpPr>
            <p:nvPr/>
          </p:nvCxnSpPr>
          <p:spPr>
            <a:xfrm flipV="1">
              <a:off x="2350673" y="3347639"/>
              <a:ext cx="0" cy="368947"/>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33" name="Content Placeholder 2">
              <a:extLst>
                <a:ext uri="{FF2B5EF4-FFF2-40B4-BE49-F238E27FC236}">
                  <a16:creationId xmlns:a16="http://schemas.microsoft.com/office/drawing/2014/main" id="{A8601C89-214B-49EB-A9AB-5D39F84DF1BD}"/>
                </a:ext>
              </a:extLst>
            </p:cNvPr>
            <p:cNvSpPr txBox="1">
              <a:spLocks/>
            </p:cNvSpPr>
            <p:nvPr/>
          </p:nvSpPr>
          <p:spPr>
            <a:xfrm>
              <a:off x="2077365" y="3682424"/>
              <a:ext cx="596720" cy="3486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b="1" dirty="0"/>
                <a:t>3.3</a:t>
              </a:r>
              <a:endParaRPr lang="en-US" b="1" dirty="0">
                <a:solidFill>
                  <a:srgbClr val="FF0000"/>
                </a:solidFill>
              </a:endParaRPr>
            </a:p>
          </p:txBody>
        </p:sp>
      </p:grpSp>
      <p:sp>
        <p:nvSpPr>
          <p:cNvPr id="34" name="Oval 33">
            <a:extLst>
              <a:ext uri="{FF2B5EF4-FFF2-40B4-BE49-F238E27FC236}">
                <a16:creationId xmlns:a16="http://schemas.microsoft.com/office/drawing/2014/main" id="{853C52C3-EDF6-40D4-A34B-3A759C4F8665}"/>
              </a:ext>
            </a:extLst>
          </p:cNvPr>
          <p:cNvSpPr/>
          <p:nvPr/>
        </p:nvSpPr>
        <p:spPr>
          <a:xfrm>
            <a:off x="86505" y="4588292"/>
            <a:ext cx="2433427" cy="8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Sub Problem 5</a:t>
            </a:r>
          </a:p>
        </p:txBody>
      </p:sp>
      <p:sp>
        <p:nvSpPr>
          <p:cNvPr id="35" name="Oval 34">
            <a:extLst>
              <a:ext uri="{FF2B5EF4-FFF2-40B4-BE49-F238E27FC236}">
                <a16:creationId xmlns:a16="http://schemas.microsoft.com/office/drawing/2014/main" id="{9B898D08-003A-42CD-8123-E72A1D41B04C}"/>
              </a:ext>
            </a:extLst>
          </p:cNvPr>
          <p:cNvSpPr/>
          <p:nvPr/>
        </p:nvSpPr>
        <p:spPr>
          <a:xfrm>
            <a:off x="2674085" y="4607586"/>
            <a:ext cx="2640169" cy="8643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Sub Problem 4</a:t>
            </a:r>
          </a:p>
        </p:txBody>
      </p:sp>
      <p:cxnSp>
        <p:nvCxnSpPr>
          <p:cNvPr id="36" name="Straight Arrow Connector 35">
            <a:extLst>
              <a:ext uri="{FF2B5EF4-FFF2-40B4-BE49-F238E27FC236}">
                <a16:creationId xmlns:a16="http://schemas.microsoft.com/office/drawing/2014/main" id="{9086291E-23B5-47A4-9F13-897F68152942}"/>
              </a:ext>
            </a:extLst>
          </p:cNvPr>
          <p:cNvCxnSpPr>
            <a:cxnSpLocks/>
            <a:stCxn id="29" idx="2"/>
            <a:endCxn id="34" idx="0"/>
          </p:cNvCxnSpPr>
          <p:nvPr/>
        </p:nvCxnSpPr>
        <p:spPr>
          <a:xfrm flipH="1">
            <a:off x="1303219" y="4041233"/>
            <a:ext cx="85465" cy="547059"/>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B7CF5D67-DDB9-46E7-8C0A-8426151F3CEB}"/>
              </a:ext>
            </a:extLst>
          </p:cNvPr>
          <p:cNvCxnSpPr>
            <a:cxnSpLocks/>
            <a:stCxn id="30" idx="2"/>
            <a:endCxn id="35" idx="0"/>
          </p:cNvCxnSpPr>
          <p:nvPr/>
        </p:nvCxnSpPr>
        <p:spPr>
          <a:xfrm>
            <a:off x="3305443" y="4041233"/>
            <a:ext cx="688727" cy="566353"/>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27" name="Title 1">
            <a:extLst>
              <a:ext uri="{FF2B5EF4-FFF2-40B4-BE49-F238E27FC236}">
                <a16:creationId xmlns:a16="http://schemas.microsoft.com/office/drawing/2014/main" id="{A2590C87-6C60-44A4-85B4-A69A87FFEB4B}"/>
              </a:ext>
            </a:extLst>
          </p:cNvPr>
          <p:cNvSpPr>
            <a:spLocks noGrp="1"/>
          </p:cNvSpPr>
          <p:nvPr>
            <p:ph type="title"/>
          </p:nvPr>
        </p:nvSpPr>
        <p:spPr>
          <a:xfrm>
            <a:off x="151241" y="87584"/>
            <a:ext cx="9205702" cy="731520"/>
          </a:xfrm>
        </p:spPr>
        <p:txBody>
          <a:bodyPr>
            <a:noAutofit/>
          </a:bodyPr>
          <a:lstStyle/>
          <a:p>
            <a:r>
              <a:rPr lang="en-US" dirty="0"/>
              <a:t>Branch and Bound Example – Sub Problem 3</a:t>
            </a:r>
          </a:p>
        </p:txBody>
      </p:sp>
      <p:sp>
        <p:nvSpPr>
          <p:cNvPr id="23" name="Content Placeholder 2">
            <a:extLst>
              <a:ext uri="{FF2B5EF4-FFF2-40B4-BE49-F238E27FC236}">
                <a16:creationId xmlns:a16="http://schemas.microsoft.com/office/drawing/2014/main" id="{6D62788C-C156-46A5-AA99-6510831FFA38}"/>
              </a:ext>
            </a:extLst>
          </p:cNvPr>
          <p:cNvSpPr txBox="1">
            <a:spLocks/>
          </p:cNvSpPr>
          <p:nvPr/>
        </p:nvSpPr>
        <p:spPr>
          <a:xfrm>
            <a:off x="8398859" y="1331971"/>
            <a:ext cx="2560968"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t> x1 &lt;= 4</a:t>
            </a:r>
          </a:p>
          <a:p>
            <a:pPr marL="0" indent="0">
              <a:buFont typeface="Wingdings 3" charset="2"/>
              <a:buNone/>
            </a:pPr>
            <a:r>
              <a:rPr lang="en-US" sz="2000" i="1" dirty="0">
                <a:highlight>
                  <a:srgbClr val="FFFF00"/>
                </a:highlight>
              </a:rPr>
              <a:t> x2  &gt;=4</a:t>
            </a:r>
          </a:p>
        </p:txBody>
      </p:sp>
      <p:sp>
        <p:nvSpPr>
          <p:cNvPr id="28" name="Content Placeholder 2">
            <a:extLst>
              <a:ext uri="{FF2B5EF4-FFF2-40B4-BE49-F238E27FC236}">
                <a16:creationId xmlns:a16="http://schemas.microsoft.com/office/drawing/2014/main" id="{125140A0-A89A-4978-928C-1EF33E0A7A7A}"/>
              </a:ext>
            </a:extLst>
          </p:cNvPr>
          <p:cNvSpPr txBox="1">
            <a:spLocks/>
          </p:cNvSpPr>
          <p:nvPr/>
        </p:nvSpPr>
        <p:spPr>
          <a:xfrm>
            <a:off x="6410379" y="1331971"/>
            <a:ext cx="3638442" cy="43249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rgbClr val="00B0F0"/>
                </a:solidFill>
              </a:rPr>
              <a:t>Sub Problem 4</a:t>
            </a:r>
          </a:p>
        </p:txBody>
      </p:sp>
      <p:sp>
        <p:nvSpPr>
          <p:cNvPr id="31" name="Content Placeholder 2">
            <a:extLst>
              <a:ext uri="{FF2B5EF4-FFF2-40B4-BE49-F238E27FC236}">
                <a16:creationId xmlns:a16="http://schemas.microsoft.com/office/drawing/2014/main" id="{D8B62339-44C5-4AA7-A05F-51490ED8C19B}"/>
              </a:ext>
            </a:extLst>
          </p:cNvPr>
          <p:cNvSpPr txBox="1">
            <a:spLocks/>
          </p:cNvSpPr>
          <p:nvPr/>
        </p:nvSpPr>
        <p:spPr>
          <a:xfrm>
            <a:off x="8398859" y="4030879"/>
            <a:ext cx="3184222"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t> x1 &lt;= 4</a:t>
            </a:r>
          </a:p>
          <a:p>
            <a:pPr marL="0" indent="0">
              <a:buFont typeface="Wingdings 3" charset="2"/>
              <a:buNone/>
            </a:pPr>
            <a:r>
              <a:rPr lang="en-US" sz="2000" i="1" dirty="0">
                <a:highlight>
                  <a:srgbClr val="FFFF00"/>
                </a:highlight>
              </a:rPr>
              <a:t> x2 &lt;= 3  </a:t>
            </a:r>
          </a:p>
        </p:txBody>
      </p:sp>
      <p:sp>
        <p:nvSpPr>
          <p:cNvPr id="38" name="Content Placeholder 2">
            <a:extLst>
              <a:ext uri="{FF2B5EF4-FFF2-40B4-BE49-F238E27FC236}">
                <a16:creationId xmlns:a16="http://schemas.microsoft.com/office/drawing/2014/main" id="{6C6D3E13-DA87-426D-B970-6C52FF57888A}"/>
              </a:ext>
            </a:extLst>
          </p:cNvPr>
          <p:cNvSpPr txBox="1">
            <a:spLocks/>
          </p:cNvSpPr>
          <p:nvPr/>
        </p:nvSpPr>
        <p:spPr>
          <a:xfrm>
            <a:off x="6410379" y="4041233"/>
            <a:ext cx="2220054" cy="43249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rgbClr val="00B0F0"/>
                </a:solidFill>
              </a:rPr>
              <a:t>Sub Problem 5</a:t>
            </a:r>
          </a:p>
        </p:txBody>
      </p:sp>
    </p:spTree>
    <p:extLst>
      <p:ext uri="{BB962C8B-B14F-4D97-AF65-F5344CB8AC3E}">
        <p14:creationId xmlns:p14="http://schemas.microsoft.com/office/powerpoint/2010/main" val="7797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4" grpId="0" animBg="1"/>
      <p:bldP spid="35" grpId="0" animBg="1"/>
      <p:bldP spid="23" grpId="0"/>
      <p:bldP spid="28" grpId="0"/>
      <p:bldP spid="31" grpId="0"/>
      <p:bldP spid="3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 name="Chart 53">
            <a:extLst>
              <a:ext uri="{FF2B5EF4-FFF2-40B4-BE49-F238E27FC236}">
                <a16:creationId xmlns:a16="http://schemas.microsoft.com/office/drawing/2014/main" id="{6F4CBB8C-6C51-4AC3-A972-D09D86F0D289}"/>
              </a:ext>
            </a:extLst>
          </p:cNvPr>
          <p:cNvGraphicFramePr/>
          <p:nvPr>
            <p:extLst>
              <p:ext uri="{D42A27DB-BD31-4B8C-83A1-F6EECF244321}">
                <p14:modId xmlns:p14="http://schemas.microsoft.com/office/powerpoint/2010/main" val="2625494182"/>
              </p:ext>
            </p:extLst>
          </p:nvPr>
        </p:nvGraphicFramePr>
        <p:xfrm>
          <a:off x="571689" y="870207"/>
          <a:ext cx="4655403" cy="4415777"/>
        </p:xfrm>
        <a:graphic>
          <a:graphicData uri="http://schemas.openxmlformats.org/drawingml/2006/chart">
            <c:chart xmlns:c="http://schemas.openxmlformats.org/drawingml/2006/chart" xmlns:r="http://schemas.openxmlformats.org/officeDocument/2006/relationships" r:id="rId2"/>
          </a:graphicData>
        </a:graphic>
      </p:graphicFrame>
      <p:sp>
        <p:nvSpPr>
          <p:cNvPr id="55" name="Content Placeholder 2">
            <a:extLst>
              <a:ext uri="{FF2B5EF4-FFF2-40B4-BE49-F238E27FC236}">
                <a16:creationId xmlns:a16="http://schemas.microsoft.com/office/drawing/2014/main" id="{7DA59440-37BC-482C-AA22-ED936AB5328A}"/>
              </a:ext>
            </a:extLst>
          </p:cNvPr>
          <p:cNvSpPr txBox="1">
            <a:spLocks/>
          </p:cNvSpPr>
          <p:nvPr/>
        </p:nvSpPr>
        <p:spPr>
          <a:xfrm>
            <a:off x="981275" y="4388560"/>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1</a:t>
            </a:r>
          </a:p>
        </p:txBody>
      </p:sp>
      <p:sp>
        <p:nvSpPr>
          <p:cNvPr id="56" name="Content Placeholder 2">
            <a:extLst>
              <a:ext uri="{FF2B5EF4-FFF2-40B4-BE49-F238E27FC236}">
                <a16:creationId xmlns:a16="http://schemas.microsoft.com/office/drawing/2014/main" id="{EC72387B-6ADB-4506-B0EC-FE265EF04E76}"/>
              </a:ext>
            </a:extLst>
          </p:cNvPr>
          <p:cNvSpPr txBox="1">
            <a:spLocks/>
          </p:cNvSpPr>
          <p:nvPr/>
        </p:nvSpPr>
        <p:spPr>
          <a:xfrm>
            <a:off x="825216" y="1338795"/>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2</a:t>
            </a:r>
          </a:p>
        </p:txBody>
      </p:sp>
      <p:sp>
        <p:nvSpPr>
          <p:cNvPr id="21" name="Content Placeholder 2">
            <a:extLst>
              <a:ext uri="{FF2B5EF4-FFF2-40B4-BE49-F238E27FC236}">
                <a16:creationId xmlns:a16="http://schemas.microsoft.com/office/drawing/2014/main" id="{732D78DB-77E4-4136-8E88-457E6D69A81D}"/>
              </a:ext>
            </a:extLst>
          </p:cNvPr>
          <p:cNvSpPr txBox="1">
            <a:spLocks/>
          </p:cNvSpPr>
          <p:nvPr/>
        </p:nvSpPr>
        <p:spPr>
          <a:xfrm>
            <a:off x="2103378" y="1268486"/>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3</a:t>
            </a:r>
          </a:p>
        </p:txBody>
      </p:sp>
      <p:grpSp>
        <p:nvGrpSpPr>
          <p:cNvPr id="33" name="Group 32">
            <a:extLst>
              <a:ext uri="{FF2B5EF4-FFF2-40B4-BE49-F238E27FC236}">
                <a16:creationId xmlns:a16="http://schemas.microsoft.com/office/drawing/2014/main" id="{B3DFB6ED-2E9E-4899-9121-93D698CB910A}"/>
              </a:ext>
            </a:extLst>
          </p:cNvPr>
          <p:cNvGrpSpPr/>
          <p:nvPr/>
        </p:nvGrpSpPr>
        <p:grpSpPr>
          <a:xfrm rot="21411025">
            <a:off x="996716" y="4609428"/>
            <a:ext cx="1209579" cy="288099"/>
            <a:chOff x="6493929" y="5561556"/>
            <a:chExt cx="1209579" cy="288099"/>
          </a:xfrm>
        </p:grpSpPr>
        <p:cxnSp>
          <p:nvCxnSpPr>
            <p:cNvPr id="34" name="Straight Arrow Connector 33">
              <a:extLst>
                <a:ext uri="{FF2B5EF4-FFF2-40B4-BE49-F238E27FC236}">
                  <a16:creationId xmlns:a16="http://schemas.microsoft.com/office/drawing/2014/main" id="{F1F07807-6A80-4D0F-B348-47F60BEF8A62}"/>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5" name="Straight Connector 34">
              <a:extLst>
                <a:ext uri="{FF2B5EF4-FFF2-40B4-BE49-F238E27FC236}">
                  <a16:creationId xmlns:a16="http://schemas.microsoft.com/office/drawing/2014/main" id="{97837384-F487-49B4-B98F-26CD684B1538}"/>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FFFC553C-353A-45E3-879E-85B48FD975EC}"/>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A1E677F2-F92F-4A06-A18D-C07CE48BC65B}"/>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64EAA961-16D2-44BD-A36B-C32441C68EBF}"/>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349FAB16-ABEA-440B-9179-147D82C16293}"/>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07CF6063-5CB7-45E8-A50C-44AB50DAAA50}"/>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C5301998-B959-4C47-B672-23BA9F71ACC8}"/>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3ABF26CC-869F-4920-8C1C-3F2F5B9268E9}"/>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6553DA54-168C-489F-9A16-80A57E120D1C}"/>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44" name="Group 43">
            <a:extLst>
              <a:ext uri="{FF2B5EF4-FFF2-40B4-BE49-F238E27FC236}">
                <a16:creationId xmlns:a16="http://schemas.microsoft.com/office/drawing/2014/main" id="{FDD5E59C-5CD2-400E-ACEC-68BDA586918A}"/>
              </a:ext>
            </a:extLst>
          </p:cNvPr>
          <p:cNvGrpSpPr/>
          <p:nvPr/>
        </p:nvGrpSpPr>
        <p:grpSpPr>
          <a:xfrm rot="5400000">
            <a:off x="1482336" y="3477066"/>
            <a:ext cx="1209579" cy="288099"/>
            <a:chOff x="6493929" y="5561556"/>
            <a:chExt cx="1209579" cy="288099"/>
          </a:xfrm>
        </p:grpSpPr>
        <p:cxnSp>
          <p:nvCxnSpPr>
            <p:cNvPr id="45" name="Straight Arrow Connector 44">
              <a:extLst>
                <a:ext uri="{FF2B5EF4-FFF2-40B4-BE49-F238E27FC236}">
                  <a16:creationId xmlns:a16="http://schemas.microsoft.com/office/drawing/2014/main" id="{ED51C6D3-2C13-41FA-BBBB-902C54A1E205}"/>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6" name="Straight Connector 45">
              <a:extLst>
                <a:ext uri="{FF2B5EF4-FFF2-40B4-BE49-F238E27FC236}">
                  <a16:creationId xmlns:a16="http://schemas.microsoft.com/office/drawing/2014/main" id="{F6D67A47-C5BF-43C0-9585-A815F0ACE5F5}"/>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22010D7B-F02B-4300-AE74-BB6F144F6FA7}"/>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6C6206FF-FC5E-450D-89AA-90E83F16D68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7CF5EE16-0C3B-4399-B128-D206976270C6}"/>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9AE33266-85EC-4CAE-9D51-546D5F16740E}"/>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1" name="Straight Arrow Connector 50">
              <a:extLst>
                <a:ext uri="{FF2B5EF4-FFF2-40B4-BE49-F238E27FC236}">
                  <a16:creationId xmlns:a16="http://schemas.microsoft.com/office/drawing/2014/main" id="{89DC71C9-D7D8-4314-9C62-EAE6EC393FA6}"/>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5A0B3306-175F-4BD1-BFC2-30BC0160C8ED}"/>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3" name="Straight Arrow Connector 52">
              <a:extLst>
                <a:ext uri="{FF2B5EF4-FFF2-40B4-BE49-F238E27FC236}">
                  <a16:creationId xmlns:a16="http://schemas.microsoft.com/office/drawing/2014/main" id="{EBA33204-88C8-4486-8EDE-207E95A68279}"/>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8" name="Straight Arrow Connector 57">
              <a:extLst>
                <a:ext uri="{FF2B5EF4-FFF2-40B4-BE49-F238E27FC236}">
                  <a16:creationId xmlns:a16="http://schemas.microsoft.com/office/drawing/2014/main" id="{4D0E1AA2-7488-49EB-BB36-B21E41F7AC8F}"/>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83" name="Group 82">
            <a:extLst>
              <a:ext uri="{FF2B5EF4-FFF2-40B4-BE49-F238E27FC236}">
                <a16:creationId xmlns:a16="http://schemas.microsoft.com/office/drawing/2014/main" id="{87ED5AB6-D368-4077-8EB3-02F56F187AB8}"/>
              </a:ext>
            </a:extLst>
          </p:cNvPr>
          <p:cNvGrpSpPr/>
          <p:nvPr/>
        </p:nvGrpSpPr>
        <p:grpSpPr>
          <a:xfrm rot="3739811">
            <a:off x="665226" y="2411464"/>
            <a:ext cx="1209579" cy="288099"/>
            <a:chOff x="6493929" y="5561556"/>
            <a:chExt cx="1209579" cy="288099"/>
          </a:xfrm>
        </p:grpSpPr>
        <p:cxnSp>
          <p:nvCxnSpPr>
            <p:cNvPr id="84" name="Straight Arrow Connector 83">
              <a:extLst>
                <a:ext uri="{FF2B5EF4-FFF2-40B4-BE49-F238E27FC236}">
                  <a16:creationId xmlns:a16="http://schemas.microsoft.com/office/drawing/2014/main" id="{2736389F-FE05-45D6-B0E7-B3DF6B182784}"/>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5" name="Straight Connector 84">
              <a:extLst>
                <a:ext uri="{FF2B5EF4-FFF2-40B4-BE49-F238E27FC236}">
                  <a16:creationId xmlns:a16="http://schemas.microsoft.com/office/drawing/2014/main" id="{6604032B-7BB0-46A5-B68D-7E02AAA9D07B}"/>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86" name="Straight Arrow Connector 85">
              <a:extLst>
                <a:ext uri="{FF2B5EF4-FFF2-40B4-BE49-F238E27FC236}">
                  <a16:creationId xmlns:a16="http://schemas.microsoft.com/office/drawing/2014/main" id="{74FD972D-7BE0-4FC6-BF81-0A25398F67E1}"/>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7" name="Straight Arrow Connector 86">
              <a:extLst>
                <a:ext uri="{FF2B5EF4-FFF2-40B4-BE49-F238E27FC236}">
                  <a16:creationId xmlns:a16="http://schemas.microsoft.com/office/drawing/2014/main" id="{EB7525BF-C8C1-461A-96F6-EDA6B1B31E5C}"/>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8" name="Straight Arrow Connector 87">
              <a:extLst>
                <a:ext uri="{FF2B5EF4-FFF2-40B4-BE49-F238E27FC236}">
                  <a16:creationId xmlns:a16="http://schemas.microsoft.com/office/drawing/2014/main" id="{3CBCACA8-7FC3-44F9-88E4-F1C4556A0C72}"/>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9" name="Straight Arrow Connector 88">
              <a:extLst>
                <a:ext uri="{FF2B5EF4-FFF2-40B4-BE49-F238E27FC236}">
                  <a16:creationId xmlns:a16="http://schemas.microsoft.com/office/drawing/2014/main" id="{0FB5CC76-3589-45C2-9BEA-6ADB9A326CA6}"/>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0" name="Straight Arrow Connector 89">
              <a:extLst>
                <a:ext uri="{FF2B5EF4-FFF2-40B4-BE49-F238E27FC236}">
                  <a16:creationId xmlns:a16="http://schemas.microsoft.com/office/drawing/2014/main" id="{7436E379-07D9-4ED3-8D8E-A538A5C28304}"/>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1" name="Straight Arrow Connector 90">
              <a:extLst>
                <a:ext uri="{FF2B5EF4-FFF2-40B4-BE49-F238E27FC236}">
                  <a16:creationId xmlns:a16="http://schemas.microsoft.com/office/drawing/2014/main" id="{40E9687C-7187-4EA9-A661-05B1F767A6A8}"/>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2" name="Straight Arrow Connector 91">
              <a:extLst>
                <a:ext uri="{FF2B5EF4-FFF2-40B4-BE49-F238E27FC236}">
                  <a16:creationId xmlns:a16="http://schemas.microsoft.com/office/drawing/2014/main" id="{C650CA33-AC42-4666-B073-87D57BA8C054}"/>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3" name="Straight Arrow Connector 92">
              <a:extLst>
                <a:ext uri="{FF2B5EF4-FFF2-40B4-BE49-F238E27FC236}">
                  <a16:creationId xmlns:a16="http://schemas.microsoft.com/office/drawing/2014/main" id="{DBFE86EF-0DF6-47BB-919A-7BA6E27FC02F}"/>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94" name="Group 93">
            <a:extLst>
              <a:ext uri="{FF2B5EF4-FFF2-40B4-BE49-F238E27FC236}">
                <a16:creationId xmlns:a16="http://schemas.microsoft.com/office/drawing/2014/main" id="{6D7E1EB8-447C-4717-B3D3-D0A2B472399C}"/>
              </a:ext>
            </a:extLst>
          </p:cNvPr>
          <p:cNvGrpSpPr/>
          <p:nvPr/>
        </p:nvGrpSpPr>
        <p:grpSpPr>
          <a:xfrm rot="3727007">
            <a:off x="1259815" y="3554951"/>
            <a:ext cx="1209579" cy="288099"/>
            <a:chOff x="6493929" y="5561556"/>
            <a:chExt cx="1209579" cy="288099"/>
          </a:xfrm>
        </p:grpSpPr>
        <p:cxnSp>
          <p:nvCxnSpPr>
            <p:cNvPr id="95" name="Straight Arrow Connector 94">
              <a:extLst>
                <a:ext uri="{FF2B5EF4-FFF2-40B4-BE49-F238E27FC236}">
                  <a16:creationId xmlns:a16="http://schemas.microsoft.com/office/drawing/2014/main" id="{9B2B788F-56F9-4C25-9EAF-8E45ED1C33A2}"/>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6" name="Straight Connector 95">
              <a:extLst>
                <a:ext uri="{FF2B5EF4-FFF2-40B4-BE49-F238E27FC236}">
                  <a16:creationId xmlns:a16="http://schemas.microsoft.com/office/drawing/2014/main" id="{8BDD0953-F65A-4D8B-A246-508D00216097}"/>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97" name="Straight Arrow Connector 96">
              <a:extLst>
                <a:ext uri="{FF2B5EF4-FFF2-40B4-BE49-F238E27FC236}">
                  <a16:creationId xmlns:a16="http://schemas.microsoft.com/office/drawing/2014/main" id="{E8EE42D7-4BAB-4CFE-9B57-DF693F7C5164}"/>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8" name="Straight Arrow Connector 97">
              <a:extLst>
                <a:ext uri="{FF2B5EF4-FFF2-40B4-BE49-F238E27FC236}">
                  <a16:creationId xmlns:a16="http://schemas.microsoft.com/office/drawing/2014/main" id="{9257D854-A04F-4B1D-B280-198DC2351F66}"/>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9" name="Straight Arrow Connector 98">
              <a:extLst>
                <a:ext uri="{FF2B5EF4-FFF2-40B4-BE49-F238E27FC236}">
                  <a16:creationId xmlns:a16="http://schemas.microsoft.com/office/drawing/2014/main" id="{D4424D2A-EA05-4CC2-8B53-83C2B53B2285}"/>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0" name="Straight Arrow Connector 99">
              <a:extLst>
                <a:ext uri="{FF2B5EF4-FFF2-40B4-BE49-F238E27FC236}">
                  <a16:creationId xmlns:a16="http://schemas.microsoft.com/office/drawing/2014/main" id="{39186B56-C730-449E-9FA0-AB9703F99567}"/>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1" name="Straight Arrow Connector 100">
              <a:extLst>
                <a:ext uri="{FF2B5EF4-FFF2-40B4-BE49-F238E27FC236}">
                  <a16:creationId xmlns:a16="http://schemas.microsoft.com/office/drawing/2014/main" id="{68B52066-C489-44F6-97BB-9040F727D832}"/>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2" name="Straight Arrow Connector 101">
              <a:extLst>
                <a:ext uri="{FF2B5EF4-FFF2-40B4-BE49-F238E27FC236}">
                  <a16:creationId xmlns:a16="http://schemas.microsoft.com/office/drawing/2014/main" id="{45F1228E-A06F-4043-B0D6-789503C9DFE1}"/>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3" name="Straight Arrow Connector 102">
              <a:extLst>
                <a:ext uri="{FF2B5EF4-FFF2-40B4-BE49-F238E27FC236}">
                  <a16:creationId xmlns:a16="http://schemas.microsoft.com/office/drawing/2014/main" id="{A1D26866-F330-4C9C-9CD5-6C9B40A29207}"/>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4" name="Straight Arrow Connector 103">
              <a:extLst>
                <a:ext uri="{FF2B5EF4-FFF2-40B4-BE49-F238E27FC236}">
                  <a16:creationId xmlns:a16="http://schemas.microsoft.com/office/drawing/2014/main" id="{08814139-2C51-43BB-8AA2-3EDF5A041BD4}"/>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16" name="Group 115">
            <a:extLst>
              <a:ext uri="{FF2B5EF4-FFF2-40B4-BE49-F238E27FC236}">
                <a16:creationId xmlns:a16="http://schemas.microsoft.com/office/drawing/2014/main" id="{B0ABA629-D78E-4AB6-A831-2CCC5E261D39}"/>
              </a:ext>
            </a:extLst>
          </p:cNvPr>
          <p:cNvGrpSpPr/>
          <p:nvPr/>
        </p:nvGrpSpPr>
        <p:grpSpPr>
          <a:xfrm rot="5400000">
            <a:off x="1491154" y="2191380"/>
            <a:ext cx="1209579" cy="288099"/>
            <a:chOff x="6493929" y="5561556"/>
            <a:chExt cx="1209579" cy="288099"/>
          </a:xfrm>
        </p:grpSpPr>
        <p:cxnSp>
          <p:nvCxnSpPr>
            <p:cNvPr id="117" name="Straight Arrow Connector 116">
              <a:extLst>
                <a:ext uri="{FF2B5EF4-FFF2-40B4-BE49-F238E27FC236}">
                  <a16:creationId xmlns:a16="http://schemas.microsoft.com/office/drawing/2014/main" id="{F8210A28-9267-4190-90E4-892F932B87BD}"/>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8" name="Straight Connector 117">
              <a:extLst>
                <a:ext uri="{FF2B5EF4-FFF2-40B4-BE49-F238E27FC236}">
                  <a16:creationId xmlns:a16="http://schemas.microsoft.com/office/drawing/2014/main" id="{1DCF3BEE-A7F0-44C7-8B0F-0DCA6E71C9ED}"/>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19" name="Straight Arrow Connector 118">
              <a:extLst>
                <a:ext uri="{FF2B5EF4-FFF2-40B4-BE49-F238E27FC236}">
                  <a16:creationId xmlns:a16="http://schemas.microsoft.com/office/drawing/2014/main" id="{0FA82494-4127-4343-B1A0-27A0DF1B76B2}"/>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0" name="Straight Arrow Connector 119">
              <a:extLst>
                <a:ext uri="{FF2B5EF4-FFF2-40B4-BE49-F238E27FC236}">
                  <a16:creationId xmlns:a16="http://schemas.microsoft.com/office/drawing/2014/main" id="{AAEC8570-43CA-44F5-A919-873F99851C2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1" name="Straight Arrow Connector 120">
              <a:extLst>
                <a:ext uri="{FF2B5EF4-FFF2-40B4-BE49-F238E27FC236}">
                  <a16:creationId xmlns:a16="http://schemas.microsoft.com/office/drawing/2014/main" id="{BE270607-1A6F-4F1B-B614-F8A178FCC6F7}"/>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2" name="Straight Arrow Connector 121">
              <a:extLst>
                <a:ext uri="{FF2B5EF4-FFF2-40B4-BE49-F238E27FC236}">
                  <a16:creationId xmlns:a16="http://schemas.microsoft.com/office/drawing/2014/main" id="{380483A3-09BE-4339-B0DA-4D7BA55583BB}"/>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3" name="Straight Arrow Connector 122">
              <a:extLst>
                <a:ext uri="{FF2B5EF4-FFF2-40B4-BE49-F238E27FC236}">
                  <a16:creationId xmlns:a16="http://schemas.microsoft.com/office/drawing/2014/main" id="{CB600AFD-C366-4A55-9D8B-BAC2C167D154}"/>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4" name="Straight Arrow Connector 123">
              <a:extLst>
                <a:ext uri="{FF2B5EF4-FFF2-40B4-BE49-F238E27FC236}">
                  <a16:creationId xmlns:a16="http://schemas.microsoft.com/office/drawing/2014/main" id="{C909804A-4B39-4D20-A3D0-E40670B72276}"/>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5" name="Straight Arrow Connector 124">
              <a:extLst>
                <a:ext uri="{FF2B5EF4-FFF2-40B4-BE49-F238E27FC236}">
                  <a16:creationId xmlns:a16="http://schemas.microsoft.com/office/drawing/2014/main" id="{A99C0B74-E496-4B67-AE5B-EBBB0431C856}"/>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6" name="Straight Arrow Connector 125">
              <a:extLst>
                <a:ext uri="{FF2B5EF4-FFF2-40B4-BE49-F238E27FC236}">
                  <a16:creationId xmlns:a16="http://schemas.microsoft.com/office/drawing/2014/main" id="{350CDEB7-0F06-4E5F-B593-EDC6F34E630E}"/>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sp>
        <p:nvSpPr>
          <p:cNvPr id="128" name="Title 1">
            <a:extLst>
              <a:ext uri="{FF2B5EF4-FFF2-40B4-BE49-F238E27FC236}">
                <a16:creationId xmlns:a16="http://schemas.microsoft.com/office/drawing/2014/main" id="{C05FD364-EB96-45E6-AD46-4A7F3E3C9807}"/>
              </a:ext>
            </a:extLst>
          </p:cNvPr>
          <p:cNvSpPr>
            <a:spLocks noGrp="1"/>
          </p:cNvSpPr>
          <p:nvPr>
            <p:ph type="title"/>
          </p:nvPr>
        </p:nvSpPr>
        <p:spPr>
          <a:xfrm>
            <a:off x="151241" y="87584"/>
            <a:ext cx="9205702" cy="731520"/>
          </a:xfrm>
        </p:spPr>
        <p:txBody>
          <a:bodyPr>
            <a:noAutofit/>
          </a:bodyPr>
          <a:lstStyle/>
          <a:p>
            <a:r>
              <a:rPr lang="en-US" dirty="0"/>
              <a:t>Branch and Bound Example – Sub Problem 4</a:t>
            </a:r>
          </a:p>
        </p:txBody>
      </p:sp>
      <p:sp>
        <p:nvSpPr>
          <p:cNvPr id="138" name="Content Placeholder 2">
            <a:extLst>
              <a:ext uri="{FF2B5EF4-FFF2-40B4-BE49-F238E27FC236}">
                <a16:creationId xmlns:a16="http://schemas.microsoft.com/office/drawing/2014/main" id="{8D8B4DCC-29D7-4150-8BB7-CC0D875AAFBA}"/>
              </a:ext>
            </a:extLst>
          </p:cNvPr>
          <p:cNvSpPr txBox="1">
            <a:spLocks/>
          </p:cNvSpPr>
          <p:nvPr/>
        </p:nvSpPr>
        <p:spPr>
          <a:xfrm>
            <a:off x="5552783" y="3757939"/>
            <a:ext cx="4696141" cy="66593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No Optimum Feasible Solution found with this Sub Problem 4</a:t>
            </a:r>
          </a:p>
        </p:txBody>
      </p:sp>
      <p:sp>
        <p:nvSpPr>
          <p:cNvPr id="127" name="Content Placeholder 2">
            <a:extLst>
              <a:ext uri="{FF2B5EF4-FFF2-40B4-BE49-F238E27FC236}">
                <a16:creationId xmlns:a16="http://schemas.microsoft.com/office/drawing/2014/main" id="{ACA5795F-6683-474A-968F-DE5D4746DBAA}"/>
              </a:ext>
            </a:extLst>
          </p:cNvPr>
          <p:cNvSpPr txBox="1">
            <a:spLocks/>
          </p:cNvSpPr>
          <p:nvPr/>
        </p:nvSpPr>
        <p:spPr>
          <a:xfrm>
            <a:off x="3999844" y="4225905"/>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4</a:t>
            </a:r>
          </a:p>
        </p:txBody>
      </p:sp>
      <p:grpSp>
        <p:nvGrpSpPr>
          <p:cNvPr id="129" name="Group 128">
            <a:extLst>
              <a:ext uri="{FF2B5EF4-FFF2-40B4-BE49-F238E27FC236}">
                <a16:creationId xmlns:a16="http://schemas.microsoft.com/office/drawing/2014/main" id="{17C2FF13-EC38-4656-927B-F378F0D332C9}"/>
              </a:ext>
            </a:extLst>
          </p:cNvPr>
          <p:cNvGrpSpPr/>
          <p:nvPr/>
        </p:nvGrpSpPr>
        <p:grpSpPr>
          <a:xfrm rot="10800000">
            <a:off x="1120776" y="4117260"/>
            <a:ext cx="1209579" cy="288099"/>
            <a:chOff x="6493929" y="5561556"/>
            <a:chExt cx="1209579" cy="288099"/>
          </a:xfrm>
        </p:grpSpPr>
        <p:cxnSp>
          <p:nvCxnSpPr>
            <p:cNvPr id="141" name="Straight Arrow Connector 140">
              <a:extLst>
                <a:ext uri="{FF2B5EF4-FFF2-40B4-BE49-F238E27FC236}">
                  <a16:creationId xmlns:a16="http://schemas.microsoft.com/office/drawing/2014/main" id="{2935072B-B60E-446F-A5A0-A7D49E7AFF0D}"/>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2" name="Straight Connector 141">
              <a:extLst>
                <a:ext uri="{FF2B5EF4-FFF2-40B4-BE49-F238E27FC236}">
                  <a16:creationId xmlns:a16="http://schemas.microsoft.com/office/drawing/2014/main" id="{0967817A-274A-4182-ADD6-90DAD993FFBA}"/>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43" name="Straight Arrow Connector 142">
              <a:extLst>
                <a:ext uri="{FF2B5EF4-FFF2-40B4-BE49-F238E27FC236}">
                  <a16:creationId xmlns:a16="http://schemas.microsoft.com/office/drawing/2014/main" id="{245D7CC9-04F2-4A6A-B252-D0797F4FB6A1}"/>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4" name="Straight Arrow Connector 143">
              <a:extLst>
                <a:ext uri="{FF2B5EF4-FFF2-40B4-BE49-F238E27FC236}">
                  <a16:creationId xmlns:a16="http://schemas.microsoft.com/office/drawing/2014/main" id="{9B606138-E33F-4534-B76C-D725687869D0}"/>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5" name="Straight Arrow Connector 144">
              <a:extLst>
                <a:ext uri="{FF2B5EF4-FFF2-40B4-BE49-F238E27FC236}">
                  <a16:creationId xmlns:a16="http://schemas.microsoft.com/office/drawing/2014/main" id="{DE47DC20-05B0-45EB-9254-F88FF619D92C}"/>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6" name="Straight Arrow Connector 145">
              <a:extLst>
                <a:ext uri="{FF2B5EF4-FFF2-40B4-BE49-F238E27FC236}">
                  <a16:creationId xmlns:a16="http://schemas.microsoft.com/office/drawing/2014/main" id="{53C37850-5BDD-444A-AB4D-466782691543}"/>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7" name="Straight Arrow Connector 146">
              <a:extLst>
                <a:ext uri="{FF2B5EF4-FFF2-40B4-BE49-F238E27FC236}">
                  <a16:creationId xmlns:a16="http://schemas.microsoft.com/office/drawing/2014/main" id="{E0AD4FCC-3D59-48B3-9B76-F715E17F9EFF}"/>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8" name="Straight Arrow Connector 147">
              <a:extLst>
                <a:ext uri="{FF2B5EF4-FFF2-40B4-BE49-F238E27FC236}">
                  <a16:creationId xmlns:a16="http://schemas.microsoft.com/office/drawing/2014/main" id="{14F8AC49-CF65-45D7-98CC-0A491F0280E6}"/>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9" name="Straight Arrow Connector 148">
              <a:extLst>
                <a:ext uri="{FF2B5EF4-FFF2-40B4-BE49-F238E27FC236}">
                  <a16:creationId xmlns:a16="http://schemas.microsoft.com/office/drawing/2014/main" id="{64D80437-BFFD-44E9-B149-91771429E536}"/>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0" name="Straight Arrow Connector 149">
              <a:extLst>
                <a:ext uri="{FF2B5EF4-FFF2-40B4-BE49-F238E27FC236}">
                  <a16:creationId xmlns:a16="http://schemas.microsoft.com/office/drawing/2014/main" id="{E4AC046C-E83E-4313-BF56-FB88BD70E7BC}"/>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51" name="Group 150">
            <a:extLst>
              <a:ext uri="{FF2B5EF4-FFF2-40B4-BE49-F238E27FC236}">
                <a16:creationId xmlns:a16="http://schemas.microsoft.com/office/drawing/2014/main" id="{CE77D90B-939F-4D16-BBFC-FC7335DA4EAF}"/>
              </a:ext>
            </a:extLst>
          </p:cNvPr>
          <p:cNvGrpSpPr/>
          <p:nvPr/>
        </p:nvGrpSpPr>
        <p:grpSpPr>
          <a:xfrm rot="10800000">
            <a:off x="2443375" y="4122314"/>
            <a:ext cx="1209579" cy="288099"/>
            <a:chOff x="6493929" y="5561556"/>
            <a:chExt cx="1209579" cy="288099"/>
          </a:xfrm>
        </p:grpSpPr>
        <p:cxnSp>
          <p:nvCxnSpPr>
            <p:cNvPr id="152" name="Straight Arrow Connector 151">
              <a:extLst>
                <a:ext uri="{FF2B5EF4-FFF2-40B4-BE49-F238E27FC236}">
                  <a16:creationId xmlns:a16="http://schemas.microsoft.com/office/drawing/2014/main" id="{31785E63-EEE1-4CF1-86AD-E036F9546D1B}"/>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3" name="Straight Connector 152">
              <a:extLst>
                <a:ext uri="{FF2B5EF4-FFF2-40B4-BE49-F238E27FC236}">
                  <a16:creationId xmlns:a16="http://schemas.microsoft.com/office/drawing/2014/main" id="{833165BC-AB77-46D9-BB0D-980F92AE908B}"/>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54" name="Straight Arrow Connector 153">
              <a:extLst>
                <a:ext uri="{FF2B5EF4-FFF2-40B4-BE49-F238E27FC236}">
                  <a16:creationId xmlns:a16="http://schemas.microsoft.com/office/drawing/2014/main" id="{B3407D83-D79B-43C6-9C46-B5573DF82073}"/>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5" name="Straight Arrow Connector 154">
              <a:extLst>
                <a:ext uri="{FF2B5EF4-FFF2-40B4-BE49-F238E27FC236}">
                  <a16:creationId xmlns:a16="http://schemas.microsoft.com/office/drawing/2014/main" id="{5B6A1B0A-998D-405F-89A5-7B77FBCA0E9A}"/>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6" name="Straight Arrow Connector 155">
              <a:extLst>
                <a:ext uri="{FF2B5EF4-FFF2-40B4-BE49-F238E27FC236}">
                  <a16:creationId xmlns:a16="http://schemas.microsoft.com/office/drawing/2014/main" id="{7C85AEE0-E642-4634-B12A-7C2A63D8C1F1}"/>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7" name="Straight Arrow Connector 156">
              <a:extLst>
                <a:ext uri="{FF2B5EF4-FFF2-40B4-BE49-F238E27FC236}">
                  <a16:creationId xmlns:a16="http://schemas.microsoft.com/office/drawing/2014/main" id="{D8406267-12F6-4EA7-BE0D-3EE54EDE8D94}"/>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8" name="Straight Arrow Connector 157">
              <a:extLst>
                <a:ext uri="{FF2B5EF4-FFF2-40B4-BE49-F238E27FC236}">
                  <a16:creationId xmlns:a16="http://schemas.microsoft.com/office/drawing/2014/main" id="{35587F77-BF08-4333-BF4B-17F32C66285F}"/>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9" name="Straight Arrow Connector 158">
              <a:extLst>
                <a:ext uri="{FF2B5EF4-FFF2-40B4-BE49-F238E27FC236}">
                  <a16:creationId xmlns:a16="http://schemas.microsoft.com/office/drawing/2014/main" id="{461148FB-6068-4B4D-B8B2-D69175AAB643}"/>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60" name="Straight Arrow Connector 159">
              <a:extLst>
                <a:ext uri="{FF2B5EF4-FFF2-40B4-BE49-F238E27FC236}">
                  <a16:creationId xmlns:a16="http://schemas.microsoft.com/office/drawing/2014/main" id="{997CCBF7-DE35-4743-8D00-180A7CFFB866}"/>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61" name="Straight Arrow Connector 160">
              <a:extLst>
                <a:ext uri="{FF2B5EF4-FFF2-40B4-BE49-F238E27FC236}">
                  <a16:creationId xmlns:a16="http://schemas.microsoft.com/office/drawing/2014/main" id="{A941CEBA-CF81-4229-BF2E-30A3DB2EACD3}"/>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sp>
        <p:nvSpPr>
          <p:cNvPr id="162" name="Content Placeholder 2">
            <a:extLst>
              <a:ext uri="{FF2B5EF4-FFF2-40B4-BE49-F238E27FC236}">
                <a16:creationId xmlns:a16="http://schemas.microsoft.com/office/drawing/2014/main" id="{E4E4051C-CD1E-4D8C-A756-36CEF0517557}"/>
              </a:ext>
            </a:extLst>
          </p:cNvPr>
          <p:cNvSpPr txBox="1">
            <a:spLocks/>
          </p:cNvSpPr>
          <p:nvPr/>
        </p:nvSpPr>
        <p:spPr>
          <a:xfrm>
            <a:off x="5537807" y="928800"/>
            <a:ext cx="2560968"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t> x1 &lt;= 4</a:t>
            </a:r>
          </a:p>
          <a:p>
            <a:pPr marL="0" indent="0">
              <a:buFont typeface="Wingdings 3" charset="2"/>
              <a:buNone/>
            </a:pPr>
            <a:r>
              <a:rPr lang="en-US" sz="2000" i="1" dirty="0">
                <a:highlight>
                  <a:srgbClr val="FFFF00"/>
                </a:highlight>
              </a:rPr>
              <a:t> x2  &gt;=4</a:t>
            </a:r>
          </a:p>
        </p:txBody>
      </p:sp>
    </p:spTree>
    <p:extLst>
      <p:ext uri="{BB962C8B-B14F-4D97-AF65-F5344CB8AC3E}">
        <p14:creationId xmlns:p14="http://schemas.microsoft.com/office/powerpoint/2010/main" val="3225181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83"/>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9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4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1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129"/>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5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p:bldP spid="16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677334" y="138688"/>
            <a:ext cx="8596668" cy="731520"/>
          </a:xfrm>
        </p:spPr>
        <p:txBody>
          <a:bodyPr/>
          <a:lstStyle/>
          <a:p>
            <a:r>
              <a:rPr lang="en-US" dirty="0"/>
              <a:t>Tree Diagram of IPP</a:t>
            </a:r>
          </a:p>
        </p:txBody>
      </p:sp>
      <p:sp>
        <p:nvSpPr>
          <p:cNvPr id="6" name="Freeform: Shape 5">
            <a:extLst>
              <a:ext uri="{FF2B5EF4-FFF2-40B4-BE49-F238E27FC236}">
                <a16:creationId xmlns:a16="http://schemas.microsoft.com/office/drawing/2014/main" id="{708221BF-D8F5-4EB3-BB99-ED0DC33B1A5D}"/>
              </a:ext>
            </a:extLst>
          </p:cNvPr>
          <p:cNvSpPr/>
          <p:nvPr/>
        </p:nvSpPr>
        <p:spPr>
          <a:xfrm>
            <a:off x="5979914" y="2047576"/>
            <a:ext cx="1276945" cy="607709"/>
          </a:xfrm>
          <a:custGeom>
            <a:avLst/>
            <a:gdLst/>
            <a:ahLst/>
            <a:cxnLst/>
            <a:rect l="0" t="0" r="0" b="0"/>
            <a:pathLst>
              <a:path>
                <a:moveTo>
                  <a:pt x="0" y="0"/>
                </a:moveTo>
                <a:lnTo>
                  <a:pt x="0" y="414136"/>
                </a:lnTo>
                <a:lnTo>
                  <a:pt x="1276945" y="414136"/>
                </a:lnTo>
                <a:lnTo>
                  <a:pt x="1276945"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7" name="Freeform: Shape 6">
            <a:extLst>
              <a:ext uri="{FF2B5EF4-FFF2-40B4-BE49-F238E27FC236}">
                <a16:creationId xmlns:a16="http://schemas.microsoft.com/office/drawing/2014/main" id="{42F5677B-1C81-43A5-9220-AFC2C1C5E2AF}"/>
              </a:ext>
            </a:extLst>
          </p:cNvPr>
          <p:cNvSpPr/>
          <p:nvPr/>
        </p:nvSpPr>
        <p:spPr>
          <a:xfrm>
            <a:off x="4702968" y="2047576"/>
            <a:ext cx="1276945" cy="607709"/>
          </a:xfrm>
          <a:custGeom>
            <a:avLst/>
            <a:gdLst/>
            <a:ahLst/>
            <a:cxnLst/>
            <a:rect l="0" t="0" r="0" b="0"/>
            <a:pathLst>
              <a:path>
                <a:moveTo>
                  <a:pt x="1276945" y="0"/>
                </a:moveTo>
                <a:lnTo>
                  <a:pt x="1276945" y="414136"/>
                </a:lnTo>
                <a:lnTo>
                  <a:pt x="0" y="414136"/>
                </a:lnTo>
                <a:lnTo>
                  <a:pt x="0"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8" name="Rectangle: Rounded Corners 7">
            <a:extLst>
              <a:ext uri="{FF2B5EF4-FFF2-40B4-BE49-F238E27FC236}">
                <a16:creationId xmlns:a16="http://schemas.microsoft.com/office/drawing/2014/main" id="{04FFB954-673E-4317-84F4-874FB4F4D16F}"/>
              </a:ext>
            </a:extLst>
          </p:cNvPr>
          <p:cNvSpPr/>
          <p:nvPr/>
        </p:nvSpPr>
        <p:spPr>
          <a:xfrm>
            <a:off x="4935140" y="720714"/>
            <a:ext cx="2089546" cy="1326862"/>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9" name="Freeform: Shape 8">
            <a:extLst>
              <a:ext uri="{FF2B5EF4-FFF2-40B4-BE49-F238E27FC236}">
                <a16:creationId xmlns:a16="http://schemas.microsoft.com/office/drawing/2014/main" id="{A615EF24-971B-42E6-BC88-031A5AB4A7A0}"/>
              </a:ext>
            </a:extLst>
          </p:cNvPr>
          <p:cNvSpPr/>
          <p:nvPr/>
        </p:nvSpPr>
        <p:spPr>
          <a:xfrm>
            <a:off x="5167312" y="941277"/>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1</a:t>
            </a:r>
          </a:p>
          <a:p>
            <a:r>
              <a:rPr lang="en-US" sz="1600" b="1" i="1" dirty="0">
                <a:solidFill>
                  <a:schemeClr val="tx1"/>
                </a:solidFill>
              </a:rPr>
              <a:t>x1= 9/2 </a:t>
            </a:r>
          </a:p>
          <a:p>
            <a:r>
              <a:rPr lang="en-US" sz="1600" b="1" i="1" dirty="0">
                <a:solidFill>
                  <a:schemeClr val="tx1"/>
                </a:solidFill>
              </a:rPr>
              <a:t>x2 = 7/2 </a:t>
            </a:r>
          </a:p>
          <a:p>
            <a:r>
              <a:rPr lang="en-US" sz="1600" b="1" i="1" dirty="0">
                <a:solidFill>
                  <a:schemeClr val="tx1"/>
                </a:solidFill>
              </a:rPr>
              <a:t>Z = 63</a:t>
            </a:r>
          </a:p>
        </p:txBody>
      </p:sp>
      <p:sp>
        <p:nvSpPr>
          <p:cNvPr id="10" name="Rectangle: Rounded Corners 9">
            <a:extLst>
              <a:ext uri="{FF2B5EF4-FFF2-40B4-BE49-F238E27FC236}">
                <a16:creationId xmlns:a16="http://schemas.microsoft.com/office/drawing/2014/main" id="{BBC9FA31-AE9E-4344-8E2F-06CBBBF6B210}"/>
              </a:ext>
            </a:extLst>
          </p:cNvPr>
          <p:cNvSpPr/>
          <p:nvPr/>
        </p:nvSpPr>
        <p:spPr>
          <a:xfrm>
            <a:off x="365819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1" name="Freeform: Shape 10">
            <a:extLst>
              <a:ext uri="{FF2B5EF4-FFF2-40B4-BE49-F238E27FC236}">
                <a16:creationId xmlns:a16="http://schemas.microsoft.com/office/drawing/2014/main" id="{F732362F-DF91-4A7F-89E4-6D952AE0D70F}"/>
              </a:ext>
            </a:extLst>
          </p:cNvPr>
          <p:cNvSpPr/>
          <p:nvPr/>
        </p:nvSpPr>
        <p:spPr>
          <a:xfrm>
            <a:off x="389036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2</a:t>
            </a:r>
          </a:p>
          <a:p>
            <a:r>
              <a:rPr lang="en-US" sz="1600" b="1" i="1" dirty="0">
                <a:solidFill>
                  <a:schemeClr val="tx1"/>
                </a:solidFill>
              </a:rPr>
              <a:t>x1= 5 </a:t>
            </a:r>
          </a:p>
          <a:p>
            <a:r>
              <a:rPr lang="en-US" sz="1600" b="1" i="1" dirty="0">
                <a:solidFill>
                  <a:schemeClr val="tx1"/>
                </a:solidFill>
              </a:rPr>
              <a:t>x2 = 0 </a:t>
            </a:r>
          </a:p>
          <a:p>
            <a:r>
              <a:rPr lang="en-US" sz="1600" b="1" i="1" dirty="0">
                <a:solidFill>
                  <a:schemeClr val="tx1"/>
                </a:solidFill>
              </a:rPr>
              <a:t>Z = 35</a:t>
            </a:r>
          </a:p>
        </p:txBody>
      </p:sp>
      <p:sp>
        <p:nvSpPr>
          <p:cNvPr id="12" name="Rectangle: Rounded Corners 11">
            <a:extLst>
              <a:ext uri="{FF2B5EF4-FFF2-40B4-BE49-F238E27FC236}">
                <a16:creationId xmlns:a16="http://schemas.microsoft.com/office/drawing/2014/main" id="{815559D8-CFE6-4E93-9B26-0815D872828F}"/>
              </a:ext>
            </a:extLst>
          </p:cNvPr>
          <p:cNvSpPr/>
          <p:nvPr/>
        </p:nvSpPr>
        <p:spPr>
          <a:xfrm>
            <a:off x="621208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3" name="Freeform: Shape 12">
            <a:extLst>
              <a:ext uri="{FF2B5EF4-FFF2-40B4-BE49-F238E27FC236}">
                <a16:creationId xmlns:a16="http://schemas.microsoft.com/office/drawing/2014/main" id="{B0481F9C-DA05-4CDA-A12F-F1459E453191}"/>
              </a:ext>
            </a:extLst>
          </p:cNvPr>
          <p:cNvSpPr/>
          <p:nvPr/>
        </p:nvSpPr>
        <p:spPr>
          <a:xfrm>
            <a:off x="644425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3</a:t>
            </a:r>
          </a:p>
          <a:p>
            <a:r>
              <a:rPr lang="en-US" sz="1600" b="1" i="1" dirty="0">
                <a:solidFill>
                  <a:schemeClr val="tx1"/>
                </a:solidFill>
              </a:rPr>
              <a:t>x1= 4 </a:t>
            </a:r>
          </a:p>
          <a:p>
            <a:r>
              <a:rPr lang="en-US" sz="1600" b="1" i="1" dirty="0">
                <a:solidFill>
                  <a:schemeClr val="tx1"/>
                </a:solidFill>
              </a:rPr>
              <a:t>x2 = 10/3 </a:t>
            </a:r>
          </a:p>
          <a:p>
            <a:r>
              <a:rPr lang="en-US" sz="1600" b="1" i="1" dirty="0">
                <a:solidFill>
                  <a:schemeClr val="tx1"/>
                </a:solidFill>
              </a:rPr>
              <a:t>Z = 58</a:t>
            </a:r>
          </a:p>
        </p:txBody>
      </p:sp>
      <p:sp>
        <p:nvSpPr>
          <p:cNvPr id="20" name="Content Placeholder 2">
            <a:extLst>
              <a:ext uri="{FF2B5EF4-FFF2-40B4-BE49-F238E27FC236}">
                <a16:creationId xmlns:a16="http://schemas.microsoft.com/office/drawing/2014/main" id="{6256C063-7210-46F7-AC39-7D9AF10B2039}"/>
              </a:ext>
            </a:extLst>
          </p:cNvPr>
          <p:cNvSpPr txBox="1">
            <a:spLocks/>
          </p:cNvSpPr>
          <p:nvPr/>
        </p:nvSpPr>
        <p:spPr>
          <a:xfrm>
            <a:off x="8533802" y="2982207"/>
            <a:ext cx="2217932" cy="67301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600" b="1" i="1" dirty="0">
                <a:solidFill>
                  <a:schemeClr val="tx1"/>
                </a:solidFill>
              </a:rPr>
              <a:t>Since solution has non-integers, there is  need for further Branching</a:t>
            </a:r>
            <a:endParaRPr lang="en-US" sz="1400" b="1" i="1" dirty="0">
              <a:solidFill>
                <a:schemeClr val="tx1"/>
              </a:solidFill>
            </a:endParaRPr>
          </a:p>
          <a:p>
            <a:pPr marL="0" indent="0" algn="ctr">
              <a:buFont typeface="Wingdings 3" charset="2"/>
              <a:buNone/>
            </a:pPr>
            <a:endParaRPr lang="en-US" sz="1400" b="1" i="1" dirty="0">
              <a:solidFill>
                <a:schemeClr val="tx1"/>
              </a:solidFill>
            </a:endParaRPr>
          </a:p>
        </p:txBody>
      </p:sp>
      <p:sp>
        <p:nvSpPr>
          <p:cNvPr id="15" name="Freeform: Shape 14">
            <a:extLst>
              <a:ext uri="{FF2B5EF4-FFF2-40B4-BE49-F238E27FC236}">
                <a16:creationId xmlns:a16="http://schemas.microsoft.com/office/drawing/2014/main" id="{97606F36-0196-4BE6-BC02-B94620F4E649}"/>
              </a:ext>
            </a:extLst>
          </p:cNvPr>
          <p:cNvSpPr/>
          <p:nvPr/>
        </p:nvSpPr>
        <p:spPr>
          <a:xfrm>
            <a:off x="7429580" y="4202712"/>
            <a:ext cx="1200324" cy="535285"/>
          </a:xfrm>
          <a:custGeom>
            <a:avLst/>
            <a:gdLst/>
            <a:ahLst/>
            <a:cxnLst/>
            <a:rect l="0" t="0" r="0" b="0"/>
            <a:pathLst>
              <a:path>
                <a:moveTo>
                  <a:pt x="0" y="0"/>
                </a:moveTo>
                <a:lnTo>
                  <a:pt x="0" y="319112"/>
                </a:lnTo>
                <a:lnTo>
                  <a:pt x="1200324" y="319112"/>
                </a:lnTo>
                <a:lnTo>
                  <a:pt x="1200324" y="535285"/>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sp>
      <p:sp>
        <p:nvSpPr>
          <p:cNvPr id="16" name="Freeform: Shape 15">
            <a:extLst>
              <a:ext uri="{FF2B5EF4-FFF2-40B4-BE49-F238E27FC236}">
                <a16:creationId xmlns:a16="http://schemas.microsoft.com/office/drawing/2014/main" id="{521E1A52-1CFB-4115-88AC-830D9BCB9AC3}"/>
              </a:ext>
            </a:extLst>
          </p:cNvPr>
          <p:cNvSpPr/>
          <p:nvPr/>
        </p:nvSpPr>
        <p:spPr>
          <a:xfrm>
            <a:off x="6229255" y="4202712"/>
            <a:ext cx="1200324" cy="535285"/>
          </a:xfrm>
          <a:custGeom>
            <a:avLst/>
            <a:gdLst/>
            <a:ahLst/>
            <a:cxnLst/>
            <a:rect l="0" t="0" r="0" b="0"/>
            <a:pathLst>
              <a:path>
                <a:moveTo>
                  <a:pt x="1200324" y="0"/>
                </a:moveTo>
                <a:lnTo>
                  <a:pt x="1200324" y="319112"/>
                </a:lnTo>
                <a:lnTo>
                  <a:pt x="0" y="319112"/>
                </a:lnTo>
                <a:lnTo>
                  <a:pt x="0" y="535285"/>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sp>
      <p:sp>
        <p:nvSpPr>
          <p:cNvPr id="17" name="Rectangle: Rounded Corners 16">
            <a:extLst>
              <a:ext uri="{FF2B5EF4-FFF2-40B4-BE49-F238E27FC236}">
                <a16:creationId xmlns:a16="http://schemas.microsoft.com/office/drawing/2014/main" id="{C879F8A6-6760-4E93-AE89-1F41E7EB3711}"/>
              </a:ext>
            </a:extLst>
          </p:cNvPr>
          <p:cNvSpPr/>
          <p:nvPr/>
        </p:nvSpPr>
        <p:spPr>
          <a:xfrm>
            <a:off x="5167312" y="473564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8" name="Freeform: Shape 17">
            <a:extLst>
              <a:ext uri="{FF2B5EF4-FFF2-40B4-BE49-F238E27FC236}">
                <a16:creationId xmlns:a16="http://schemas.microsoft.com/office/drawing/2014/main" id="{A4DABDBB-27D0-42A5-A1CA-31265BCFD0B6}"/>
              </a:ext>
            </a:extLst>
          </p:cNvPr>
          <p:cNvSpPr/>
          <p:nvPr/>
        </p:nvSpPr>
        <p:spPr>
          <a:xfrm>
            <a:off x="5399484" y="495621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4</a:t>
            </a:r>
          </a:p>
          <a:p>
            <a:r>
              <a:rPr lang="en-US" sz="1600" b="1" i="1" dirty="0">
                <a:solidFill>
                  <a:schemeClr val="tx1"/>
                </a:solidFill>
              </a:rPr>
              <a:t>No Feasible Solution</a:t>
            </a:r>
          </a:p>
        </p:txBody>
      </p:sp>
      <p:sp>
        <p:nvSpPr>
          <p:cNvPr id="19" name="Rectangle: Rounded Corners 18">
            <a:extLst>
              <a:ext uri="{FF2B5EF4-FFF2-40B4-BE49-F238E27FC236}">
                <a16:creationId xmlns:a16="http://schemas.microsoft.com/office/drawing/2014/main" id="{785F1BF5-598F-43DF-8245-F8622E85923D}"/>
              </a:ext>
            </a:extLst>
          </p:cNvPr>
          <p:cNvSpPr/>
          <p:nvPr/>
        </p:nvSpPr>
        <p:spPr>
          <a:xfrm>
            <a:off x="7745725" y="4767285"/>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21" name="Freeform: Shape 20">
            <a:extLst>
              <a:ext uri="{FF2B5EF4-FFF2-40B4-BE49-F238E27FC236}">
                <a16:creationId xmlns:a16="http://schemas.microsoft.com/office/drawing/2014/main" id="{4BCF3BE7-3D0E-404C-B8B2-97BA36A8B1FF}"/>
              </a:ext>
            </a:extLst>
          </p:cNvPr>
          <p:cNvSpPr/>
          <p:nvPr/>
        </p:nvSpPr>
        <p:spPr>
          <a:xfrm>
            <a:off x="7977897" y="4987849"/>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5</a:t>
            </a:r>
          </a:p>
        </p:txBody>
      </p:sp>
    </p:spTree>
    <p:extLst>
      <p:ext uri="{BB962C8B-B14F-4D97-AF65-F5344CB8AC3E}">
        <p14:creationId xmlns:p14="http://schemas.microsoft.com/office/powerpoint/2010/main" val="2566513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57D4D4C3-65FC-4530-8475-7E0F20BE24F0}"/>
              </a:ext>
            </a:extLst>
          </p:cNvPr>
          <p:cNvSpPr/>
          <p:nvPr/>
        </p:nvSpPr>
        <p:spPr>
          <a:xfrm>
            <a:off x="8254945" y="2594335"/>
            <a:ext cx="2513767" cy="38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4" name="Chart 53">
            <a:extLst>
              <a:ext uri="{FF2B5EF4-FFF2-40B4-BE49-F238E27FC236}">
                <a16:creationId xmlns:a16="http://schemas.microsoft.com/office/drawing/2014/main" id="{6F4CBB8C-6C51-4AC3-A972-D09D86F0D289}"/>
              </a:ext>
            </a:extLst>
          </p:cNvPr>
          <p:cNvGraphicFramePr/>
          <p:nvPr>
            <p:extLst>
              <p:ext uri="{D42A27DB-BD31-4B8C-83A1-F6EECF244321}">
                <p14:modId xmlns:p14="http://schemas.microsoft.com/office/powerpoint/2010/main" val="3202444867"/>
              </p:ext>
            </p:extLst>
          </p:nvPr>
        </p:nvGraphicFramePr>
        <p:xfrm>
          <a:off x="571689" y="870207"/>
          <a:ext cx="4655403" cy="4415777"/>
        </p:xfrm>
        <a:graphic>
          <a:graphicData uri="http://schemas.openxmlformats.org/drawingml/2006/chart">
            <c:chart xmlns:c="http://schemas.openxmlformats.org/drawingml/2006/chart" xmlns:r="http://schemas.openxmlformats.org/officeDocument/2006/relationships" r:id="rId2"/>
          </a:graphicData>
        </a:graphic>
      </p:graphicFrame>
      <p:sp>
        <p:nvSpPr>
          <p:cNvPr id="55" name="Content Placeholder 2">
            <a:extLst>
              <a:ext uri="{FF2B5EF4-FFF2-40B4-BE49-F238E27FC236}">
                <a16:creationId xmlns:a16="http://schemas.microsoft.com/office/drawing/2014/main" id="{7DA59440-37BC-482C-AA22-ED936AB5328A}"/>
              </a:ext>
            </a:extLst>
          </p:cNvPr>
          <p:cNvSpPr txBox="1">
            <a:spLocks/>
          </p:cNvSpPr>
          <p:nvPr/>
        </p:nvSpPr>
        <p:spPr>
          <a:xfrm>
            <a:off x="981275" y="4388560"/>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1</a:t>
            </a:r>
          </a:p>
        </p:txBody>
      </p:sp>
      <p:sp>
        <p:nvSpPr>
          <p:cNvPr id="56" name="Content Placeholder 2">
            <a:extLst>
              <a:ext uri="{FF2B5EF4-FFF2-40B4-BE49-F238E27FC236}">
                <a16:creationId xmlns:a16="http://schemas.microsoft.com/office/drawing/2014/main" id="{EC72387B-6ADB-4506-B0EC-FE265EF04E76}"/>
              </a:ext>
            </a:extLst>
          </p:cNvPr>
          <p:cNvSpPr txBox="1">
            <a:spLocks/>
          </p:cNvSpPr>
          <p:nvPr/>
        </p:nvSpPr>
        <p:spPr>
          <a:xfrm>
            <a:off x="825216" y="1338795"/>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2</a:t>
            </a:r>
          </a:p>
        </p:txBody>
      </p:sp>
      <p:sp>
        <p:nvSpPr>
          <p:cNvPr id="21" name="Content Placeholder 2">
            <a:extLst>
              <a:ext uri="{FF2B5EF4-FFF2-40B4-BE49-F238E27FC236}">
                <a16:creationId xmlns:a16="http://schemas.microsoft.com/office/drawing/2014/main" id="{732D78DB-77E4-4136-8E88-457E6D69A81D}"/>
              </a:ext>
            </a:extLst>
          </p:cNvPr>
          <p:cNvSpPr txBox="1">
            <a:spLocks/>
          </p:cNvSpPr>
          <p:nvPr/>
        </p:nvSpPr>
        <p:spPr>
          <a:xfrm>
            <a:off x="2103378" y="1268486"/>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3</a:t>
            </a:r>
          </a:p>
        </p:txBody>
      </p:sp>
      <p:grpSp>
        <p:nvGrpSpPr>
          <p:cNvPr id="33" name="Group 32">
            <a:extLst>
              <a:ext uri="{FF2B5EF4-FFF2-40B4-BE49-F238E27FC236}">
                <a16:creationId xmlns:a16="http://schemas.microsoft.com/office/drawing/2014/main" id="{B3DFB6ED-2E9E-4899-9121-93D698CB910A}"/>
              </a:ext>
            </a:extLst>
          </p:cNvPr>
          <p:cNvGrpSpPr/>
          <p:nvPr/>
        </p:nvGrpSpPr>
        <p:grpSpPr>
          <a:xfrm rot="21411025">
            <a:off x="996716" y="4609428"/>
            <a:ext cx="1209579" cy="288099"/>
            <a:chOff x="6493929" y="5561556"/>
            <a:chExt cx="1209579" cy="288099"/>
          </a:xfrm>
        </p:grpSpPr>
        <p:cxnSp>
          <p:nvCxnSpPr>
            <p:cNvPr id="34" name="Straight Arrow Connector 33">
              <a:extLst>
                <a:ext uri="{FF2B5EF4-FFF2-40B4-BE49-F238E27FC236}">
                  <a16:creationId xmlns:a16="http://schemas.microsoft.com/office/drawing/2014/main" id="{F1F07807-6A80-4D0F-B348-47F60BEF8A62}"/>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5" name="Straight Connector 34">
              <a:extLst>
                <a:ext uri="{FF2B5EF4-FFF2-40B4-BE49-F238E27FC236}">
                  <a16:creationId xmlns:a16="http://schemas.microsoft.com/office/drawing/2014/main" id="{97837384-F487-49B4-B98F-26CD684B1538}"/>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FFFC553C-353A-45E3-879E-85B48FD975EC}"/>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A1E677F2-F92F-4A06-A18D-C07CE48BC65B}"/>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64EAA961-16D2-44BD-A36B-C32441C68EBF}"/>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349FAB16-ABEA-440B-9179-147D82C16293}"/>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07CF6063-5CB7-45E8-A50C-44AB50DAAA50}"/>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C5301998-B959-4C47-B672-23BA9F71ACC8}"/>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3ABF26CC-869F-4920-8C1C-3F2F5B9268E9}"/>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6553DA54-168C-489F-9A16-80A57E120D1C}"/>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44" name="Group 43">
            <a:extLst>
              <a:ext uri="{FF2B5EF4-FFF2-40B4-BE49-F238E27FC236}">
                <a16:creationId xmlns:a16="http://schemas.microsoft.com/office/drawing/2014/main" id="{FDD5E59C-5CD2-400E-ACEC-68BDA586918A}"/>
              </a:ext>
            </a:extLst>
          </p:cNvPr>
          <p:cNvGrpSpPr/>
          <p:nvPr/>
        </p:nvGrpSpPr>
        <p:grpSpPr>
          <a:xfrm rot="5400000">
            <a:off x="1482336" y="3477066"/>
            <a:ext cx="1209579" cy="288099"/>
            <a:chOff x="6493929" y="5561556"/>
            <a:chExt cx="1209579" cy="288099"/>
          </a:xfrm>
        </p:grpSpPr>
        <p:cxnSp>
          <p:nvCxnSpPr>
            <p:cNvPr id="45" name="Straight Arrow Connector 44">
              <a:extLst>
                <a:ext uri="{FF2B5EF4-FFF2-40B4-BE49-F238E27FC236}">
                  <a16:creationId xmlns:a16="http://schemas.microsoft.com/office/drawing/2014/main" id="{ED51C6D3-2C13-41FA-BBBB-902C54A1E205}"/>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6" name="Straight Connector 45">
              <a:extLst>
                <a:ext uri="{FF2B5EF4-FFF2-40B4-BE49-F238E27FC236}">
                  <a16:creationId xmlns:a16="http://schemas.microsoft.com/office/drawing/2014/main" id="{F6D67A47-C5BF-43C0-9585-A815F0ACE5F5}"/>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22010D7B-F02B-4300-AE74-BB6F144F6FA7}"/>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6C6206FF-FC5E-450D-89AA-90E83F16D68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7CF5EE16-0C3B-4399-B128-D206976270C6}"/>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9AE33266-85EC-4CAE-9D51-546D5F16740E}"/>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1" name="Straight Arrow Connector 50">
              <a:extLst>
                <a:ext uri="{FF2B5EF4-FFF2-40B4-BE49-F238E27FC236}">
                  <a16:creationId xmlns:a16="http://schemas.microsoft.com/office/drawing/2014/main" id="{89DC71C9-D7D8-4314-9C62-EAE6EC393FA6}"/>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5A0B3306-175F-4BD1-BFC2-30BC0160C8ED}"/>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3" name="Straight Arrow Connector 52">
              <a:extLst>
                <a:ext uri="{FF2B5EF4-FFF2-40B4-BE49-F238E27FC236}">
                  <a16:creationId xmlns:a16="http://schemas.microsoft.com/office/drawing/2014/main" id="{EBA33204-88C8-4486-8EDE-207E95A68279}"/>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58" name="Straight Arrow Connector 57">
              <a:extLst>
                <a:ext uri="{FF2B5EF4-FFF2-40B4-BE49-F238E27FC236}">
                  <a16:creationId xmlns:a16="http://schemas.microsoft.com/office/drawing/2014/main" id="{4D0E1AA2-7488-49EB-BB36-B21E41F7AC8F}"/>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83" name="Group 82">
            <a:extLst>
              <a:ext uri="{FF2B5EF4-FFF2-40B4-BE49-F238E27FC236}">
                <a16:creationId xmlns:a16="http://schemas.microsoft.com/office/drawing/2014/main" id="{87ED5AB6-D368-4077-8EB3-02F56F187AB8}"/>
              </a:ext>
            </a:extLst>
          </p:cNvPr>
          <p:cNvGrpSpPr/>
          <p:nvPr/>
        </p:nvGrpSpPr>
        <p:grpSpPr>
          <a:xfrm rot="3739811">
            <a:off x="665226" y="2411464"/>
            <a:ext cx="1209579" cy="288099"/>
            <a:chOff x="6493929" y="5561556"/>
            <a:chExt cx="1209579" cy="288099"/>
          </a:xfrm>
        </p:grpSpPr>
        <p:cxnSp>
          <p:nvCxnSpPr>
            <p:cNvPr id="84" name="Straight Arrow Connector 83">
              <a:extLst>
                <a:ext uri="{FF2B5EF4-FFF2-40B4-BE49-F238E27FC236}">
                  <a16:creationId xmlns:a16="http://schemas.microsoft.com/office/drawing/2014/main" id="{2736389F-FE05-45D6-B0E7-B3DF6B182784}"/>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5" name="Straight Connector 84">
              <a:extLst>
                <a:ext uri="{FF2B5EF4-FFF2-40B4-BE49-F238E27FC236}">
                  <a16:creationId xmlns:a16="http://schemas.microsoft.com/office/drawing/2014/main" id="{6604032B-7BB0-46A5-B68D-7E02AAA9D07B}"/>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86" name="Straight Arrow Connector 85">
              <a:extLst>
                <a:ext uri="{FF2B5EF4-FFF2-40B4-BE49-F238E27FC236}">
                  <a16:creationId xmlns:a16="http://schemas.microsoft.com/office/drawing/2014/main" id="{74FD972D-7BE0-4FC6-BF81-0A25398F67E1}"/>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7" name="Straight Arrow Connector 86">
              <a:extLst>
                <a:ext uri="{FF2B5EF4-FFF2-40B4-BE49-F238E27FC236}">
                  <a16:creationId xmlns:a16="http://schemas.microsoft.com/office/drawing/2014/main" id="{EB7525BF-C8C1-461A-96F6-EDA6B1B31E5C}"/>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8" name="Straight Arrow Connector 87">
              <a:extLst>
                <a:ext uri="{FF2B5EF4-FFF2-40B4-BE49-F238E27FC236}">
                  <a16:creationId xmlns:a16="http://schemas.microsoft.com/office/drawing/2014/main" id="{3CBCACA8-7FC3-44F9-88E4-F1C4556A0C72}"/>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89" name="Straight Arrow Connector 88">
              <a:extLst>
                <a:ext uri="{FF2B5EF4-FFF2-40B4-BE49-F238E27FC236}">
                  <a16:creationId xmlns:a16="http://schemas.microsoft.com/office/drawing/2014/main" id="{0FB5CC76-3589-45C2-9BEA-6ADB9A326CA6}"/>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0" name="Straight Arrow Connector 89">
              <a:extLst>
                <a:ext uri="{FF2B5EF4-FFF2-40B4-BE49-F238E27FC236}">
                  <a16:creationId xmlns:a16="http://schemas.microsoft.com/office/drawing/2014/main" id="{7436E379-07D9-4ED3-8D8E-A538A5C28304}"/>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1" name="Straight Arrow Connector 90">
              <a:extLst>
                <a:ext uri="{FF2B5EF4-FFF2-40B4-BE49-F238E27FC236}">
                  <a16:creationId xmlns:a16="http://schemas.microsoft.com/office/drawing/2014/main" id="{40E9687C-7187-4EA9-A661-05B1F767A6A8}"/>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2" name="Straight Arrow Connector 91">
              <a:extLst>
                <a:ext uri="{FF2B5EF4-FFF2-40B4-BE49-F238E27FC236}">
                  <a16:creationId xmlns:a16="http://schemas.microsoft.com/office/drawing/2014/main" id="{C650CA33-AC42-4666-B073-87D57BA8C054}"/>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3" name="Straight Arrow Connector 92">
              <a:extLst>
                <a:ext uri="{FF2B5EF4-FFF2-40B4-BE49-F238E27FC236}">
                  <a16:creationId xmlns:a16="http://schemas.microsoft.com/office/drawing/2014/main" id="{DBFE86EF-0DF6-47BB-919A-7BA6E27FC02F}"/>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94" name="Group 93">
            <a:extLst>
              <a:ext uri="{FF2B5EF4-FFF2-40B4-BE49-F238E27FC236}">
                <a16:creationId xmlns:a16="http://schemas.microsoft.com/office/drawing/2014/main" id="{6D7E1EB8-447C-4717-B3D3-D0A2B472399C}"/>
              </a:ext>
            </a:extLst>
          </p:cNvPr>
          <p:cNvGrpSpPr/>
          <p:nvPr/>
        </p:nvGrpSpPr>
        <p:grpSpPr>
          <a:xfrm rot="3727007">
            <a:off x="1259815" y="3554951"/>
            <a:ext cx="1209579" cy="288099"/>
            <a:chOff x="6493929" y="5561556"/>
            <a:chExt cx="1209579" cy="288099"/>
          </a:xfrm>
        </p:grpSpPr>
        <p:cxnSp>
          <p:nvCxnSpPr>
            <p:cNvPr id="95" name="Straight Arrow Connector 94">
              <a:extLst>
                <a:ext uri="{FF2B5EF4-FFF2-40B4-BE49-F238E27FC236}">
                  <a16:creationId xmlns:a16="http://schemas.microsoft.com/office/drawing/2014/main" id="{9B2B788F-56F9-4C25-9EAF-8E45ED1C33A2}"/>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6" name="Straight Connector 95">
              <a:extLst>
                <a:ext uri="{FF2B5EF4-FFF2-40B4-BE49-F238E27FC236}">
                  <a16:creationId xmlns:a16="http://schemas.microsoft.com/office/drawing/2014/main" id="{8BDD0953-F65A-4D8B-A246-508D00216097}"/>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97" name="Straight Arrow Connector 96">
              <a:extLst>
                <a:ext uri="{FF2B5EF4-FFF2-40B4-BE49-F238E27FC236}">
                  <a16:creationId xmlns:a16="http://schemas.microsoft.com/office/drawing/2014/main" id="{E8EE42D7-4BAB-4CFE-9B57-DF693F7C5164}"/>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8" name="Straight Arrow Connector 97">
              <a:extLst>
                <a:ext uri="{FF2B5EF4-FFF2-40B4-BE49-F238E27FC236}">
                  <a16:creationId xmlns:a16="http://schemas.microsoft.com/office/drawing/2014/main" id="{9257D854-A04F-4B1D-B280-198DC2351F66}"/>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99" name="Straight Arrow Connector 98">
              <a:extLst>
                <a:ext uri="{FF2B5EF4-FFF2-40B4-BE49-F238E27FC236}">
                  <a16:creationId xmlns:a16="http://schemas.microsoft.com/office/drawing/2014/main" id="{D4424D2A-EA05-4CC2-8B53-83C2B53B2285}"/>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0" name="Straight Arrow Connector 99">
              <a:extLst>
                <a:ext uri="{FF2B5EF4-FFF2-40B4-BE49-F238E27FC236}">
                  <a16:creationId xmlns:a16="http://schemas.microsoft.com/office/drawing/2014/main" id="{39186B56-C730-449E-9FA0-AB9703F99567}"/>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1" name="Straight Arrow Connector 100">
              <a:extLst>
                <a:ext uri="{FF2B5EF4-FFF2-40B4-BE49-F238E27FC236}">
                  <a16:creationId xmlns:a16="http://schemas.microsoft.com/office/drawing/2014/main" id="{68B52066-C489-44F6-97BB-9040F727D832}"/>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2" name="Straight Arrow Connector 101">
              <a:extLst>
                <a:ext uri="{FF2B5EF4-FFF2-40B4-BE49-F238E27FC236}">
                  <a16:creationId xmlns:a16="http://schemas.microsoft.com/office/drawing/2014/main" id="{45F1228E-A06F-4043-B0D6-789503C9DFE1}"/>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3" name="Straight Arrow Connector 102">
              <a:extLst>
                <a:ext uri="{FF2B5EF4-FFF2-40B4-BE49-F238E27FC236}">
                  <a16:creationId xmlns:a16="http://schemas.microsoft.com/office/drawing/2014/main" id="{A1D26866-F330-4C9C-9CD5-6C9B40A29207}"/>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04" name="Straight Arrow Connector 103">
              <a:extLst>
                <a:ext uri="{FF2B5EF4-FFF2-40B4-BE49-F238E27FC236}">
                  <a16:creationId xmlns:a16="http://schemas.microsoft.com/office/drawing/2014/main" id="{08814139-2C51-43BB-8AA2-3EDF5A041BD4}"/>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16" name="Group 115">
            <a:extLst>
              <a:ext uri="{FF2B5EF4-FFF2-40B4-BE49-F238E27FC236}">
                <a16:creationId xmlns:a16="http://schemas.microsoft.com/office/drawing/2014/main" id="{B0ABA629-D78E-4AB6-A831-2CCC5E261D39}"/>
              </a:ext>
            </a:extLst>
          </p:cNvPr>
          <p:cNvGrpSpPr/>
          <p:nvPr/>
        </p:nvGrpSpPr>
        <p:grpSpPr>
          <a:xfrm rot="5400000">
            <a:off x="1491154" y="2191380"/>
            <a:ext cx="1209579" cy="288099"/>
            <a:chOff x="6493929" y="5561556"/>
            <a:chExt cx="1209579" cy="288099"/>
          </a:xfrm>
        </p:grpSpPr>
        <p:cxnSp>
          <p:nvCxnSpPr>
            <p:cNvPr id="117" name="Straight Arrow Connector 116">
              <a:extLst>
                <a:ext uri="{FF2B5EF4-FFF2-40B4-BE49-F238E27FC236}">
                  <a16:creationId xmlns:a16="http://schemas.microsoft.com/office/drawing/2014/main" id="{F8210A28-9267-4190-90E4-892F932B87BD}"/>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8" name="Straight Connector 117">
              <a:extLst>
                <a:ext uri="{FF2B5EF4-FFF2-40B4-BE49-F238E27FC236}">
                  <a16:creationId xmlns:a16="http://schemas.microsoft.com/office/drawing/2014/main" id="{1DCF3BEE-A7F0-44C7-8B0F-0DCA6E71C9ED}"/>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19" name="Straight Arrow Connector 118">
              <a:extLst>
                <a:ext uri="{FF2B5EF4-FFF2-40B4-BE49-F238E27FC236}">
                  <a16:creationId xmlns:a16="http://schemas.microsoft.com/office/drawing/2014/main" id="{0FA82494-4127-4343-B1A0-27A0DF1B76B2}"/>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0" name="Straight Arrow Connector 119">
              <a:extLst>
                <a:ext uri="{FF2B5EF4-FFF2-40B4-BE49-F238E27FC236}">
                  <a16:creationId xmlns:a16="http://schemas.microsoft.com/office/drawing/2014/main" id="{AAEC8570-43CA-44F5-A919-873F99851C25}"/>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1" name="Straight Arrow Connector 120">
              <a:extLst>
                <a:ext uri="{FF2B5EF4-FFF2-40B4-BE49-F238E27FC236}">
                  <a16:creationId xmlns:a16="http://schemas.microsoft.com/office/drawing/2014/main" id="{BE270607-1A6F-4F1B-B614-F8A178FCC6F7}"/>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2" name="Straight Arrow Connector 121">
              <a:extLst>
                <a:ext uri="{FF2B5EF4-FFF2-40B4-BE49-F238E27FC236}">
                  <a16:creationId xmlns:a16="http://schemas.microsoft.com/office/drawing/2014/main" id="{380483A3-09BE-4339-B0DA-4D7BA55583BB}"/>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3" name="Straight Arrow Connector 122">
              <a:extLst>
                <a:ext uri="{FF2B5EF4-FFF2-40B4-BE49-F238E27FC236}">
                  <a16:creationId xmlns:a16="http://schemas.microsoft.com/office/drawing/2014/main" id="{CB600AFD-C366-4A55-9D8B-BAC2C167D154}"/>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4" name="Straight Arrow Connector 123">
              <a:extLst>
                <a:ext uri="{FF2B5EF4-FFF2-40B4-BE49-F238E27FC236}">
                  <a16:creationId xmlns:a16="http://schemas.microsoft.com/office/drawing/2014/main" id="{C909804A-4B39-4D20-A3D0-E40670B72276}"/>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5" name="Straight Arrow Connector 124">
              <a:extLst>
                <a:ext uri="{FF2B5EF4-FFF2-40B4-BE49-F238E27FC236}">
                  <a16:creationId xmlns:a16="http://schemas.microsoft.com/office/drawing/2014/main" id="{A99C0B74-E496-4B67-AE5B-EBBB0431C856}"/>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6" name="Straight Arrow Connector 125">
              <a:extLst>
                <a:ext uri="{FF2B5EF4-FFF2-40B4-BE49-F238E27FC236}">
                  <a16:creationId xmlns:a16="http://schemas.microsoft.com/office/drawing/2014/main" id="{350CDEB7-0F06-4E5F-B593-EDC6F34E630E}"/>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sp>
        <p:nvSpPr>
          <p:cNvPr id="128" name="Title 1">
            <a:extLst>
              <a:ext uri="{FF2B5EF4-FFF2-40B4-BE49-F238E27FC236}">
                <a16:creationId xmlns:a16="http://schemas.microsoft.com/office/drawing/2014/main" id="{C05FD364-EB96-45E6-AD46-4A7F3E3C9807}"/>
              </a:ext>
            </a:extLst>
          </p:cNvPr>
          <p:cNvSpPr>
            <a:spLocks noGrp="1"/>
          </p:cNvSpPr>
          <p:nvPr>
            <p:ph type="title"/>
          </p:nvPr>
        </p:nvSpPr>
        <p:spPr>
          <a:xfrm>
            <a:off x="151241" y="87584"/>
            <a:ext cx="9205702" cy="731520"/>
          </a:xfrm>
        </p:spPr>
        <p:txBody>
          <a:bodyPr>
            <a:noAutofit/>
          </a:bodyPr>
          <a:lstStyle/>
          <a:p>
            <a:r>
              <a:rPr lang="en-US" dirty="0"/>
              <a:t>Branch and Bound Example – Sub Problem 5</a:t>
            </a:r>
          </a:p>
        </p:txBody>
      </p:sp>
      <p:sp>
        <p:nvSpPr>
          <p:cNvPr id="127" name="Content Placeholder 2">
            <a:extLst>
              <a:ext uri="{FF2B5EF4-FFF2-40B4-BE49-F238E27FC236}">
                <a16:creationId xmlns:a16="http://schemas.microsoft.com/office/drawing/2014/main" id="{ACA5795F-6683-474A-968F-DE5D4746DBAA}"/>
              </a:ext>
            </a:extLst>
          </p:cNvPr>
          <p:cNvSpPr txBox="1">
            <a:spLocks/>
          </p:cNvSpPr>
          <p:nvPr/>
        </p:nvSpPr>
        <p:spPr>
          <a:xfrm>
            <a:off x="3999844" y="4225905"/>
            <a:ext cx="629394" cy="37486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Eq 4</a:t>
            </a:r>
          </a:p>
        </p:txBody>
      </p:sp>
      <p:grpSp>
        <p:nvGrpSpPr>
          <p:cNvPr id="129" name="Group 128">
            <a:extLst>
              <a:ext uri="{FF2B5EF4-FFF2-40B4-BE49-F238E27FC236}">
                <a16:creationId xmlns:a16="http://schemas.microsoft.com/office/drawing/2014/main" id="{17C2FF13-EC38-4656-927B-F378F0D332C9}"/>
              </a:ext>
            </a:extLst>
          </p:cNvPr>
          <p:cNvGrpSpPr/>
          <p:nvPr/>
        </p:nvGrpSpPr>
        <p:grpSpPr>
          <a:xfrm>
            <a:off x="980648" y="4575129"/>
            <a:ext cx="1209579" cy="288099"/>
            <a:chOff x="6493929" y="5561556"/>
            <a:chExt cx="1209579" cy="288099"/>
          </a:xfrm>
        </p:grpSpPr>
        <p:cxnSp>
          <p:nvCxnSpPr>
            <p:cNvPr id="141" name="Straight Arrow Connector 140">
              <a:extLst>
                <a:ext uri="{FF2B5EF4-FFF2-40B4-BE49-F238E27FC236}">
                  <a16:creationId xmlns:a16="http://schemas.microsoft.com/office/drawing/2014/main" id="{2935072B-B60E-446F-A5A0-A7D49E7AFF0D}"/>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2" name="Straight Connector 141">
              <a:extLst>
                <a:ext uri="{FF2B5EF4-FFF2-40B4-BE49-F238E27FC236}">
                  <a16:creationId xmlns:a16="http://schemas.microsoft.com/office/drawing/2014/main" id="{0967817A-274A-4182-ADD6-90DAD993FFBA}"/>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43" name="Straight Arrow Connector 142">
              <a:extLst>
                <a:ext uri="{FF2B5EF4-FFF2-40B4-BE49-F238E27FC236}">
                  <a16:creationId xmlns:a16="http://schemas.microsoft.com/office/drawing/2014/main" id="{245D7CC9-04F2-4A6A-B252-D0797F4FB6A1}"/>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4" name="Straight Arrow Connector 143">
              <a:extLst>
                <a:ext uri="{FF2B5EF4-FFF2-40B4-BE49-F238E27FC236}">
                  <a16:creationId xmlns:a16="http://schemas.microsoft.com/office/drawing/2014/main" id="{9B606138-E33F-4534-B76C-D725687869D0}"/>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5" name="Straight Arrow Connector 144">
              <a:extLst>
                <a:ext uri="{FF2B5EF4-FFF2-40B4-BE49-F238E27FC236}">
                  <a16:creationId xmlns:a16="http://schemas.microsoft.com/office/drawing/2014/main" id="{DE47DC20-05B0-45EB-9254-F88FF619D92C}"/>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6" name="Straight Arrow Connector 145">
              <a:extLst>
                <a:ext uri="{FF2B5EF4-FFF2-40B4-BE49-F238E27FC236}">
                  <a16:creationId xmlns:a16="http://schemas.microsoft.com/office/drawing/2014/main" id="{53C37850-5BDD-444A-AB4D-466782691543}"/>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7" name="Straight Arrow Connector 146">
              <a:extLst>
                <a:ext uri="{FF2B5EF4-FFF2-40B4-BE49-F238E27FC236}">
                  <a16:creationId xmlns:a16="http://schemas.microsoft.com/office/drawing/2014/main" id="{E0AD4FCC-3D59-48B3-9B76-F715E17F9EFF}"/>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8" name="Straight Arrow Connector 147">
              <a:extLst>
                <a:ext uri="{FF2B5EF4-FFF2-40B4-BE49-F238E27FC236}">
                  <a16:creationId xmlns:a16="http://schemas.microsoft.com/office/drawing/2014/main" id="{14F8AC49-CF65-45D7-98CC-0A491F0280E6}"/>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49" name="Straight Arrow Connector 148">
              <a:extLst>
                <a:ext uri="{FF2B5EF4-FFF2-40B4-BE49-F238E27FC236}">
                  <a16:creationId xmlns:a16="http://schemas.microsoft.com/office/drawing/2014/main" id="{64D80437-BFFD-44E9-B149-91771429E536}"/>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0" name="Straight Arrow Connector 149">
              <a:extLst>
                <a:ext uri="{FF2B5EF4-FFF2-40B4-BE49-F238E27FC236}">
                  <a16:creationId xmlns:a16="http://schemas.microsoft.com/office/drawing/2014/main" id="{E4AC046C-E83E-4313-BF56-FB88BD70E7BC}"/>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151" name="Group 150">
            <a:extLst>
              <a:ext uri="{FF2B5EF4-FFF2-40B4-BE49-F238E27FC236}">
                <a16:creationId xmlns:a16="http://schemas.microsoft.com/office/drawing/2014/main" id="{CE77D90B-939F-4D16-BBFC-FC7335DA4EAF}"/>
              </a:ext>
            </a:extLst>
          </p:cNvPr>
          <p:cNvGrpSpPr/>
          <p:nvPr/>
        </p:nvGrpSpPr>
        <p:grpSpPr>
          <a:xfrm>
            <a:off x="2365842" y="4590122"/>
            <a:ext cx="1209579" cy="288099"/>
            <a:chOff x="6493929" y="5561556"/>
            <a:chExt cx="1209579" cy="288099"/>
          </a:xfrm>
        </p:grpSpPr>
        <p:cxnSp>
          <p:nvCxnSpPr>
            <p:cNvPr id="152" name="Straight Arrow Connector 151">
              <a:extLst>
                <a:ext uri="{FF2B5EF4-FFF2-40B4-BE49-F238E27FC236}">
                  <a16:creationId xmlns:a16="http://schemas.microsoft.com/office/drawing/2014/main" id="{31785E63-EEE1-4CF1-86AD-E036F9546D1B}"/>
                </a:ext>
              </a:extLst>
            </p:cNvPr>
            <p:cNvCxnSpPr>
              <a:cxnSpLocks/>
            </p:cNvCxnSpPr>
            <p:nvPr/>
          </p:nvCxnSpPr>
          <p:spPr>
            <a:xfrm>
              <a:off x="64939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3" name="Straight Connector 152">
              <a:extLst>
                <a:ext uri="{FF2B5EF4-FFF2-40B4-BE49-F238E27FC236}">
                  <a16:creationId xmlns:a16="http://schemas.microsoft.com/office/drawing/2014/main" id="{833165BC-AB77-46D9-BB0D-980F92AE908B}"/>
                </a:ext>
              </a:extLst>
            </p:cNvPr>
            <p:cNvCxnSpPr>
              <a:cxnSpLocks/>
            </p:cNvCxnSpPr>
            <p:nvPr/>
          </p:nvCxnSpPr>
          <p:spPr>
            <a:xfrm flipH="1">
              <a:off x="6493929" y="5561556"/>
              <a:ext cx="1209579" cy="0"/>
            </a:xfrm>
            <a:prstGeom prst="line">
              <a:avLst/>
            </a:prstGeom>
            <a:ln w="28575">
              <a:solidFill>
                <a:srgbClr val="FFC000"/>
              </a:solidFill>
            </a:ln>
          </p:spPr>
          <p:style>
            <a:lnRef idx="1">
              <a:schemeClr val="accent2"/>
            </a:lnRef>
            <a:fillRef idx="0">
              <a:schemeClr val="accent2"/>
            </a:fillRef>
            <a:effectRef idx="0">
              <a:schemeClr val="accent2"/>
            </a:effectRef>
            <a:fontRef idx="minor">
              <a:schemeClr val="tx1"/>
            </a:fontRef>
          </p:style>
        </p:cxnSp>
        <p:cxnSp>
          <p:nvCxnSpPr>
            <p:cNvPr id="154" name="Straight Arrow Connector 153">
              <a:extLst>
                <a:ext uri="{FF2B5EF4-FFF2-40B4-BE49-F238E27FC236}">
                  <a16:creationId xmlns:a16="http://schemas.microsoft.com/office/drawing/2014/main" id="{B3407D83-D79B-43C6-9C46-B5573DF82073}"/>
                </a:ext>
              </a:extLst>
            </p:cNvPr>
            <p:cNvCxnSpPr>
              <a:cxnSpLocks/>
            </p:cNvCxnSpPr>
            <p:nvPr/>
          </p:nvCxnSpPr>
          <p:spPr>
            <a:xfrm>
              <a:off x="6646329"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5" name="Straight Arrow Connector 154">
              <a:extLst>
                <a:ext uri="{FF2B5EF4-FFF2-40B4-BE49-F238E27FC236}">
                  <a16:creationId xmlns:a16="http://schemas.microsoft.com/office/drawing/2014/main" id="{5B6A1B0A-998D-405F-89A5-7B77FBCA0E9A}"/>
                </a:ext>
              </a:extLst>
            </p:cNvPr>
            <p:cNvCxnSpPr>
              <a:cxnSpLocks/>
            </p:cNvCxnSpPr>
            <p:nvPr/>
          </p:nvCxnSpPr>
          <p:spPr>
            <a:xfrm>
              <a:off x="684312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6" name="Straight Arrow Connector 155">
              <a:extLst>
                <a:ext uri="{FF2B5EF4-FFF2-40B4-BE49-F238E27FC236}">
                  <a16:creationId xmlns:a16="http://schemas.microsoft.com/office/drawing/2014/main" id="{7C85AEE0-E642-4634-B12A-7C2A63D8C1F1}"/>
                </a:ext>
              </a:extLst>
            </p:cNvPr>
            <p:cNvCxnSpPr>
              <a:cxnSpLocks/>
            </p:cNvCxnSpPr>
            <p:nvPr/>
          </p:nvCxnSpPr>
          <p:spPr>
            <a:xfrm>
              <a:off x="699705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7" name="Straight Arrow Connector 156">
              <a:extLst>
                <a:ext uri="{FF2B5EF4-FFF2-40B4-BE49-F238E27FC236}">
                  <a16:creationId xmlns:a16="http://schemas.microsoft.com/office/drawing/2014/main" id="{D8406267-12F6-4EA7-BE0D-3EE54EDE8D94}"/>
                </a:ext>
              </a:extLst>
            </p:cNvPr>
            <p:cNvCxnSpPr>
              <a:cxnSpLocks/>
            </p:cNvCxnSpPr>
            <p:nvPr/>
          </p:nvCxnSpPr>
          <p:spPr>
            <a:xfrm>
              <a:off x="7171232"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8" name="Straight Arrow Connector 157">
              <a:extLst>
                <a:ext uri="{FF2B5EF4-FFF2-40B4-BE49-F238E27FC236}">
                  <a16:creationId xmlns:a16="http://schemas.microsoft.com/office/drawing/2014/main" id="{35587F77-BF08-4333-BF4B-17F32C66285F}"/>
                </a:ext>
              </a:extLst>
            </p:cNvPr>
            <p:cNvCxnSpPr>
              <a:cxnSpLocks/>
            </p:cNvCxnSpPr>
            <p:nvPr/>
          </p:nvCxnSpPr>
          <p:spPr>
            <a:xfrm>
              <a:off x="7335260"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59" name="Straight Arrow Connector 158">
              <a:extLst>
                <a:ext uri="{FF2B5EF4-FFF2-40B4-BE49-F238E27FC236}">
                  <a16:creationId xmlns:a16="http://schemas.microsoft.com/office/drawing/2014/main" id="{461148FB-6068-4B4D-B8B2-D69175AAB643}"/>
                </a:ext>
              </a:extLst>
            </p:cNvPr>
            <p:cNvCxnSpPr>
              <a:cxnSpLocks/>
            </p:cNvCxnSpPr>
            <p:nvPr/>
          </p:nvCxnSpPr>
          <p:spPr>
            <a:xfrm>
              <a:off x="7473046" y="5575091"/>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60" name="Straight Arrow Connector 159">
              <a:extLst>
                <a:ext uri="{FF2B5EF4-FFF2-40B4-BE49-F238E27FC236}">
                  <a16:creationId xmlns:a16="http://schemas.microsoft.com/office/drawing/2014/main" id="{997CCBF7-DE35-4743-8D00-180A7CFFB866}"/>
                </a:ext>
              </a:extLst>
            </p:cNvPr>
            <p:cNvCxnSpPr>
              <a:cxnSpLocks/>
            </p:cNvCxnSpPr>
            <p:nvPr/>
          </p:nvCxnSpPr>
          <p:spPr>
            <a:xfrm>
              <a:off x="7703507"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61" name="Straight Arrow Connector 160">
              <a:extLst>
                <a:ext uri="{FF2B5EF4-FFF2-40B4-BE49-F238E27FC236}">
                  <a16:creationId xmlns:a16="http://schemas.microsoft.com/office/drawing/2014/main" id="{A941CEBA-CF81-4229-BF2E-30A3DB2EACD3}"/>
                </a:ext>
              </a:extLst>
            </p:cNvPr>
            <p:cNvCxnSpPr>
              <a:cxnSpLocks/>
            </p:cNvCxnSpPr>
            <p:nvPr/>
          </p:nvCxnSpPr>
          <p:spPr>
            <a:xfrm>
              <a:off x="7573888" y="5588626"/>
              <a:ext cx="0" cy="261029"/>
            </a:xfrm>
            <a:prstGeom prst="straightConnector1">
              <a:avLst/>
            </a:prstGeom>
            <a:ln w="28575">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sp>
        <p:nvSpPr>
          <p:cNvPr id="105" name="Content Placeholder 2">
            <a:extLst>
              <a:ext uri="{FF2B5EF4-FFF2-40B4-BE49-F238E27FC236}">
                <a16:creationId xmlns:a16="http://schemas.microsoft.com/office/drawing/2014/main" id="{8E544078-3D86-434E-9C5E-46151ADCEA0B}"/>
              </a:ext>
            </a:extLst>
          </p:cNvPr>
          <p:cNvSpPr txBox="1">
            <a:spLocks/>
          </p:cNvSpPr>
          <p:nvPr/>
        </p:nvSpPr>
        <p:spPr>
          <a:xfrm>
            <a:off x="5537807" y="935752"/>
            <a:ext cx="3184222" cy="230206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tx1"/>
                </a:solidFill>
              </a:rPr>
              <a:t>Max Z = 7 x1 + 9 x2</a:t>
            </a:r>
          </a:p>
          <a:p>
            <a:pPr marL="0" indent="0">
              <a:buFont typeface="Wingdings 3" charset="2"/>
              <a:buNone/>
            </a:pPr>
            <a:r>
              <a:rPr lang="en-US" dirty="0"/>
              <a:t>Subject to</a:t>
            </a:r>
            <a:endParaRPr lang="en-US" b="1" dirty="0"/>
          </a:p>
          <a:p>
            <a:pPr marL="0" indent="0">
              <a:buFont typeface="Wingdings 3" charset="2"/>
              <a:buNone/>
            </a:pPr>
            <a:r>
              <a:rPr lang="en-US" sz="2000" i="1" dirty="0"/>
              <a:t>- x1 + 3 x2 &lt;= 6</a:t>
            </a:r>
          </a:p>
          <a:p>
            <a:pPr marL="0" indent="0">
              <a:buFont typeface="Wingdings 3" charset="2"/>
              <a:buNone/>
            </a:pPr>
            <a:r>
              <a:rPr lang="en-US" sz="2000" i="1" dirty="0"/>
              <a:t>7 x1 +  x2 &lt;= 35</a:t>
            </a:r>
          </a:p>
          <a:p>
            <a:pPr marL="0" indent="0">
              <a:buFont typeface="Wingdings 3" charset="2"/>
              <a:buNone/>
            </a:pPr>
            <a:r>
              <a:rPr lang="en-US" sz="2000" i="1" dirty="0"/>
              <a:t> x1 &lt;= 4</a:t>
            </a:r>
          </a:p>
          <a:p>
            <a:pPr marL="0" indent="0">
              <a:buFont typeface="Wingdings 3" charset="2"/>
              <a:buNone/>
            </a:pPr>
            <a:r>
              <a:rPr lang="en-US" sz="2000" i="1" dirty="0">
                <a:highlight>
                  <a:srgbClr val="FFFF00"/>
                </a:highlight>
              </a:rPr>
              <a:t> x2 &lt;= 3  </a:t>
            </a:r>
          </a:p>
        </p:txBody>
      </p:sp>
      <p:sp>
        <p:nvSpPr>
          <p:cNvPr id="106" name="Callout: Line 105">
            <a:extLst>
              <a:ext uri="{FF2B5EF4-FFF2-40B4-BE49-F238E27FC236}">
                <a16:creationId xmlns:a16="http://schemas.microsoft.com/office/drawing/2014/main" id="{701E3EB6-89F6-4A06-8CE3-BD1FFD978525}"/>
              </a:ext>
            </a:extLst>
          </p:cNvPr>
          <p:cNvSpPr/>
          <p:nvPr/>
        </p:nvSpPr>
        <p:spPr>
          <a:xfrm>
            <a:off x="1130392" y="5435432"/>
            <a:ext cx="1038069" cy="188242"/>
          </a:xfrm>
          <a:prstGeom prst="borderCallout1">
            <a:avLst>
              <a:gd name="adj1" fmla="val 18750"/>
              <a:gd name="adj2" fmla="val -8333"/>
              <a:gd name="adj3" fmla="val -382745"/>
              <a:gd name="adj4" fmla="val 569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Most feasible</a:t>
            </a:r>
          </a:p>
        </p:txBody>
      </p:sp>
      <p:cxnSp>
        <p:nvCxnSpPr>
          <p:cNvPr id="107" name="Straight Arrow Connector 106">
            <a:extLst>
              <a:ext uri="{FF2B5EF4-FFF2-40B4-BE49-F238E27FC236}">
                <a16:creationId xmlns:a16="http://schemas.microsoft.com/office/drawing/2014/main" id="{A3028E1B-8794-4ED5-AEAA-2F5576C3DDC6}"/>
              </a:ext>
            </a:extLst>
          </p:cNvPr>
          <p:cNvCxnSpPr>
            <a:cxnSpLocks/>
          </p:cNvCxnSpPr>
          <p:nvPr/>
        </p:nvCxnSpPr>
        <p:spPr>
          <a:xfrm flipH="1">
            <a:off x="2307578" y="3867047"/>
            <a:ext cx="1077689" cy="70937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08" name="Content Placeholder 2">
            <a:extLst>
              <a:ext uri="{FF2B5EF4-FFF2-40B4-BE49-F238E27FC236}">
                <a16:creationId xmlns:a16="http://schemas.microsoft.com/office/drawing/2014/main" id="{CA84062B-D3CA-4BC0-B2C7-4AD57F09B580}"/>
              </a:ext>
            </a:extLst>
          </p:cNvPr>
          <p:cNvSpPr txBox="1">
            <a:spLocks/>
          </p:cNvSpPr>
          <p:nvPr/>
        </p:nvSpPr>
        <p:spPr>
          <a:xfrm>
            <a:off x="3293339" y="3637676"/>
            <a:ext cx="673726" cy="30549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b="1" i="1" dirty="0">
                <a:solidFill>
                  <a:srgbClr val="FFFF00"/>
                </a:solidFill>
              </a:rPr>
              <a:t>(4/3)</a:t>
            </a:r>
          </a:p>
        </p:txBody>
      </p:sp>
      <p:sp>
        <p:nvSpPr>
          <p:cNvPr id="110" name="Content Placeholder 2">
            <a:extLst>
              <a:ext uri="{FF2B5EF4-FFF2-40B4-BE49-F238E27FC236}">
                <a16:creationId xmlns:a16="http://schemas.microsoft.com/office/drawing/2014/main" id="{78DB6C46-97F2-472F-ABFB-7A1AFBCA62D1}"/>
              </a:ext>
            </a:extLst>
          </p:cNvPr>
          <p:cNvSpPr txBox="1">
            <a:spLocks/>
          </p:cNvSpPr>
          <p:nvPr/>
        </p:nvSpPr>
        <p:spPr>
          <a:xfrm>
            <a:off x="9756553" y="1578723"/>
            <a:ext cx="824629" cy="1426411"/>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Z = 0 </a:t>
            </a:r>
          </a:p>
          <a:p>
            <a:pPr marL="0" indent="0">
              <a:buFont typeface="Wingdings 3" charset="2"/>
              <a:buNone/>
            </a:pPr>
            <a:r>
              <a:rPr lang="en-US" sz="1400" b="1" i="1" dirty="0">
                <a:solidFill>
                  <a:schemeClr val="tx1"/>
                </a:solidFill>
              </a:rPr>
              <a:t>Z = 35</a:t>
            </a:r>
          </a:p>
          <a:p>
            <a:pPr marL="0" indent="0">
              <a:buFont typeface="Wingdings 3" charset="2"/>
              <a:buNone/>
            </a:pPr>
            <a:r>
              <a:rPr lang="en-US" sz="1400" b="1" i="1" dirty="0">
                <a:solidFill>
                  <a:schemeClr val="tx1"/>
                </a:solidFill>
              </a:rPr>
              <a:t>Z = 28</a:t>
            </a:r>
          </a:p>
          <a:p>
            <a:pPr marL="0" indent="0">
              <a:buFont typeface="Wingdings 3" charset="2"/>
              <a:buNone/>
            </a:pPr>
            <a:r>
              <a:rPr lang="en-US" sz="1400" b="1" i="1" dirty="0">
                <a:solidFill>
                  <a:schemeClr val="tx1"/>
                </a:solidFill>
              </a:rPr>
              <a:t>Z = 55</a:t>
            </a:r>
          </a:p>
        </p:txBody>
      </p:sp>
      <p:sp>
        <p:nvSpPr>
          <p:cNvPr id="109" name="Content Placeholder 2">
            <a:extLst>
              <a:ext uri="{FF2B5EF4-FFF2-40B4-BE49-F238E27FC236}">
                <a16:creationId xmlns:a16="http://schemas.microsoft.com/office/drawing/2014/main" id="{C8E1D76B-CA9E-417C-A531-C9CAF271ECD7}"/>
              </a:ext>
            </a:extLst>
          </p:cNvPr>
          <p:cNvSpPr txBox="1">
            <a:spLocks/>
          </p:cNvSpPr>
          <p:nvPr/>
        </p:nvSpPr>
        <p:spPr>
          <a:xfrm>
            <a:off x="8288307" y="1005755"/>
            <a:ext cx="3327399" cy="1606352"/>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400" b="1" i="1" dirty="0">
                <a:solidFill>
                  <a:schemeClr val="tx1"/>
                </a:solidFill>
              </a:rPr>
              <a:t>Find the Max Z in the most feasible area, </a:t>
            </a:r>
          </a:p>
          <a:p>
            <a:pPr marL="0" indent="0">
              <a:buFont typeface="Wingdings 3" charset="2"/>
              <a:buNone/>
            </a:pPr>
            <a:r>
              <a:rPr lang="en-US" sz="1400" b="1" i="1" dirty="0">
                <a:solidFill>
                  <a:schemeClr val="tx1"/>
                </a:solidFill>
              </a:rPr>
              <a:t>x1, x2 = 0, 0</a:t>
            </a:r>
          </a:p>
          <a:p>
            <a:pPr marL="0" indent="0">
              <a:buNone/>
            </a:pPr>
            <a:r>
              <a:rPr lang="en-US" sz="1400" b="1" i="1" dirty="0">
                <a:solidFill>
                  <a:schemeClr val="tx1"/>
                </a:solidFill>
              </a:rPr>
              <a:t>x1, x2 = 0, 2</a:t>
            </a:r>
          </a:p>
          <a:p>
            <a:pPr marL="0" indent="0">
              <a:buNone/>
            </a:pPr>
            <a:r>
              <a:rPr lang="en-US" sz="1400" b="1" i="1" dirty="0">
                <a:solidFill>
                  <a:schemeClr val="tx1"/>
                </a:solidFill>
              </a:rPr>
              <a:t>x1, x2 = 4, 0</a:t>
            </a:r>
          </a:p>
          <a:p>
            <a:pPr marL="0" indent="0">
              <a:buNone/>
            </a:pPr>
            <a:r>
              <a:rPr lang="en-US" sz="1400" b="1" i="1" dirty="0">
                <a:solidFill>
                  <a:schemeClr val="tx1"/>
                </a:solidFill>
              </a:rPr>
              <a:t>x1, x2 = 4, 3</a:t>
            </a:r>
          </a:p>
          <a:p>
            <a:pPr marL="0" indent="0">
              <a:buNone/>
            </a:pPr>
            <a:endParaRPr lang="en-US" sz="1400" b="1" i="1" dirty="0">
              <a:solidFill>
                <a:schemeClr val="tx1"/>
              </a:solidFill>
            </a:endParaRPr>
          </a:p>
        </p:txBody>
      </p:sp>
    </p:spTree>
    <p:extLst>
      <p:ext uri="{BB962C8B-B14F-4D97-AF65-F5344CB8AC3E}">
        <p14:creationId xmlns:p14="http://schemas.microsoft.com/office/powerpoint/2010/main" val="207978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83"/>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9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4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1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129"/>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5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106"/>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1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105" grpId="0"/>
      <p:bldP spid="106" grpId="0" animBg="1"/>
      <p:bldP spid="106" grpId="1" animBg="1"/>
      <p:bldP spid="108" grpId="0"/>
      <p:bldP spid="110" grpId="0"/>
      <p:bldP spid="10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C0AF18-7AC6-4784-9966-532E7FE69B6B}"/>
              </a:ext>
            </a:extLst>
          </p:cNvPr>
          <p:cNvSpPr>
            <a:spLocks noGrp="1"/>
          </p:cNvSpPr>
          <p:nvPr>
            <p:ph type="title"/>
          </p:nvPr>
        </p:nvSpPr>
        <p:spPr>
          <a:xfrm>
            <a:off x="677334" y="138688"/>
            <a:ext cx="8596668" cy="731520"/>
          </a:xfrm>
        </p:spPr>
        <p:txBody>
          <a:bodyPr/>
          <a:lstStyle/>
          <a:p>
            <a:r>
              <a:rPr lang="en-US" dirty="0"/>
              <a:t>Tree Diagram of IPP</a:t>
            </a:r>
          </a:p>
        </p:txBody>
      </p:sp>
      <p:sp>
        <p:nvSpPr>
          <p:cNvPr id="6" name="Freeform: Shape 5">
            <a:extLst>
              <a:ext uri="{FF2B5EF4-FFF2-40B4-BE49-F238E27FC236}">
                <a16:creationId xmlns:a16="http://schemas.microsoft.com/office/drawing/2014/main" id="{708221BF-D8F5-4EB3-BB99-ED0DC33B1A5D}"/>
              </a:ext>
            </a:extLst>
          </p:cNvPr>
          <p:cNvSpPr/>
          <p:nvPr/>
        </p:nvSpPr>
        <p:spPr>
          <a:xfrm>
            <a:off x="5979914" y="2047576"/>
            <a:ext cx="1276945" cy="607709"/>
          </a:xfrm>
          <a:custGeom>
            <a:avLst/>
            <a:gdLst/>
            <a:ahLst/>
            <a:cxnLst/>
            <a:rect l="0" t="0" r="0" b="0"/>
            <a:pathLst>
              <a:path>
                <a:moveTo>
                  <a:pt x="0" y="0"/>
                </a:moveTo>
                <a:lnTo>
                  <a:pt x="0" y="414136"/>
                </a:lnTo>
                <a:lnTo>
                  <a:pt x="1276945" y="414136"/>
                </a:lnTo>
                <a:lnTo>
                  <a:pt x="1276945"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7" name="Freeform: Shape 6">
            <a:extLst>
              <a:ext uri="{FF2B5EF4-FFF2-40B4-BE49-F238E27FC236}">
                <a16:creationId xmlns:a16="http://schemas.microsoft.com/office/drawing/2014/main" id="{42F5677B-1C81-43A5-9220-AFC2C1C5E2AF}"/>
              </a:ext>
            </a:extLst>
          </p:cNvPr>
          <p:cNvSpPr/>
          <p:nvPr/>
        </p:nvSpPr>
        <p:spPr>
          <a:xfrm>
            <a:off x="4702968" y="2047576"/>
            <a:ext cx="1276945" cy="607709"/>
          </a:xfrm>
          <a:custGeom>
            <a:avLst/>
            <a:gdLst/>
            <a:ahLst/>
            <a:cxnLst/>
            <a:rect l="0" t="0" r="0" b="0"/>
            <a:pathLst>
              <a:path>
                <a:moveTo>
                  <a:pt x="1276945" y="0"/>
                </a:moveTo>
                <a:lnTo>
                  <a:pt x="1276945" y="414136"/>
                </a:lnTo>
                <a:lnTo>
                  <a:pt x="0" y="414136"/>
                </a:lnTo>
                <a:lnTo>
                  <a:pt x="0" y="607709"/>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8" name="Rectangle: Rounded Corners 7">
            <a:extLst>
              <a:ext uri="{FF2B5EF4-FFF2-40B4-BE49-F238E27FC236}">
                <a16:creationId xmlns:a16="http://schemas.microsoft.com/office/drawing/2014/main" id="{04FFB954-673E-4317-84F4-874FB4F4D16F}"/>
              </a:ext>
            </a:extLst>
          </p:cNvPr>
          <p:cNvSpPr/>
          <p:nvPr/>
        </p:nvSpPr>
        <p:spPr>
          <a:xfrm>
            <a:off x="4935140" y="720714"/>
            <a:ext cx="2089546" cy="1326862"/>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9" name="Freeform: Shape 8">
            <a:extLst>
              <a:ext uri="{FF2B5EF4-FFF2-40B4-BE49-F238E27FC236}">
                <a16:creationId xmlns:a16="http://schemas.microsoft.com/office/drawing/2014/main" id="{A615EF24-971B-42E6-BC88-031A5AB4A7A0}"/>
              </a:ext>
            </a:extLst>
          </p:cNvPr>
          <p:cNvSpPr/>
          <p:nvPr/>
        </p:nvSpPr>
        <p:spPr>
          <a:xfrm>
            <a:off x="5167312" y="941277"/>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1</a:t>
            </a:r>
          </a:p>
          <a:p>
            <a:r>
              <a:rPr lang="en-US" sz="1600" b="1" i="1" dirty="0">
                <a:solidFill>
                  <a:schemeClr val="tx1"/>
                </a:solidFill>
              </a:rPr>
              <a:t>x1= 9/2 </a:t>
            </a:r>
          </a:p>
          <a:p>
            <a:r>
              <a:rPr lang="en-US" sz="1600" b="1" i="1" dirty="0">
                <a:solidFill>
                  <a:schemeClr val="tx1"/>
                </a:solidFill>
              </a:rPr>
              <a:t>x2 = 7/2 </a:t>
            </a:r>
          </a:p>
          <a:p>
            <a:r>
              <a:rPr lang="en-US" sz="1600" b="1" i="1" dirty="0">
                <a:solidFill>
                  <a:schemeClr val="tx1"/>
                </a:solidFill>
              </a:rPr>
              <a:t>Z = 63</a:t>
            </a:r>
          </a:p>
        </p:txBody>
      </p:sp>
      <p:sp>
        <p:nvSpPr>
          <p:cNvPr id="10" name="Rectangle: Rounded Corners 9">
            <a:extLst>
              <a:ext uri="{FF2B5EF4-FFF2-40B4-BE49-F238E27FC236}">
                <a16:creationId xmlns:a16="http://schemas.microsoft.com/office/drawing/2014/main" id="{BBC9FA31-AE9E-4344-8E2F-06CBBBF6B210}"/>
              </a:ext>
            </a:extLst>
          </p:cNvPr>
          <p:cNvSpPr/>
          <p:nvPr/>
        </p:nvSpPr>
        <p:spPr>
          <a:xfrm>
            <a:off x="365819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1" name="Freeform: Shape 10">
            <a:extLst>
              <a:ext uri="{FF2B5EF4-FFF2-40B4-BE49-F238E27FC236}">
                <a16:creationId xmlns:a16="http://schemas.microsoft.com/office/drawing/2014/main" id="{F732362F-DF91-4A7F-89E4-6D952AE0D70F}"/>
              </a:ext>
            </a:extLst>
          </p:cNvPr>
          <p:cNvSpPr/>
          <p:nvPr/>
        </p:nvSpPr>
        <p:spPr>
          <a:xfrm>
            <a:off x="389036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2</a:t>
            </a:r>
          </a:p>
          <a:p>
            <a:r>
              <a:rPr lang="en-US" sz="1600" b="1" i="1" dirty="0">
                <a:solidFill>
                  <a:schemeClr val="tx1"/>
                </a:solidFill>
              </a:rPr>
              <a:t>x1= 5 </a:t>
            </a:r>
          </a:p>
          <a:p>
            <a:r>
              <a:rPr lang="en-US" sz="1600" b="1" i="1" dirty="0">
                <a:solidFill>
                  <a:schemeClr val="tx1"/>
                </a:solidFill>
              </a:rPr>
              <a:t>x2 = 0 </a:t>
            </a:r>
          </a:p>
          <a:p>
            <a:r>
              <a:rPr lang="en-US" sz="1600" b="1" i="1" dirty="0">
                <a:solidFill>
                  <a:schemeClr val="tx1"/>
                </a:solidFill>
              </a:rPr>
              <a:t>Z = 35</a:t>
            </a:r>
          </a:p>
        </p:txBody>
      </p:sp>
      <p:sp>
        <p:nvSpPr>
          <p:cNvPr id="12" name="Rectangle: Rounded Corners 11">
            <a:extLst>
              <a:ext uri="{FF2B5EF4-FFF2-40B4-BE49-F238E27FC236}">
                <a16:creationId xmlns:a16="http://schemas.microsoft.com/office/drawing/2014/main" id="{815559D8-CFE6-4E93-9B26-0815D872828F}"/>
              </a:ext>
            </a:extLst>
          </p:cNvPr>
          <p:cNvSpPr/>
          <p:nvPr/>
        </p:nvSpPr>
        <p:spPr>
          <a:xfrm>
            <a:off x="6212085" y="265528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3" name="Freeform: Shape 12">
            <a:extLst>
              <a:ext uri="{FF2B5EF4-FFF2-40B4-BE49-F238E27FC236}">
                <a16:creationId xmlns:a16="http://schemas.microsoft.com/office/drawing/2014/main" id="{B0481F9C-DA05-4CDA-A12F-F1459E453191}"/>
              </a:ext>
            </a:extLst>
          </p:cNvPr>
          <p:cNvSpPr/>
          <p:nvPr/>
        </p:nvSpPr>
        <p:spPr>
          <a:xfrm>
            <a:off x="6444257" y="287585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3</a:t>
            </a:r>
          </a:p>
          <a:p>
            <a:r>
              <a:rPr lang="en-US" sz="1600" b="1" i="1" dirty="0">
                <a:solidFill>
                  <a:schemeClr val="tx1"/>
                </a:solidFill>
              </a:rPr>
              <a:t>x1= 4 </a:t>
            </a:r>
          </a:p>
          <a:p>
            <a:r>
              <a:rPr lang="en-US" sz="1600" b="1" i="1" dirty="0">
                <a:solidFill>
                  <a:schemeClr val="tx1"/>
                </a:solidFill>
              </a:rPr>
              <a:t>x2 = 10/3 </a:t>
            </a:r>
          </a:p>
          <a:p>
            <a:r>
              <a:rPr lang="en-US" sz="1600" b="1" i="1" dirty="0">
                <a:solidFill>
                  <a:schemeClr val="tx1"/>
                </a:solidFill>
              </a:rPr>
              <a:t>Z = 58</a:t>
            </a:r>
          </a:p>
        </p:txBody>
      </p:sp>
      <p:sp>
        <p:nvSpPr>
          <p:cNvPr id="20" name="Content Placeholder 2">
            <a:extLst>
              <a:ext uri="{FF2B5EF4-FFF2-40B4-BE49-F238E27FC236}">
                <a16:creationId xmlns:a16="http://schemas.microsoft.com/office/drawing/2014/main" id="{6256C063-7210-46F7-AC39-7D9AF10B2039}"/>
              </a:ext>
            </a:extLst>
          </p:cNvPr>
          <p:cNvSpPr txBox="1">
            <a:spLocks/>
          </p:cNvSpPr>
          <p:nvPr/>
        </p:nvSpPr>
        <p:spPr>
          <a:xfrm>
            <a:off x="10104838" y="5318074"/>
            <a:ext cx="1582029" cy="673019"/>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600" b="1" i="1" dirty="0">
                <a:solidFill>
                  <a:schemeClr val="tx1"/>
                </a:solidFill>
              </a:rPr>
              <a:t>Final Solution of the Problem</a:t>
            </a:r>
            <a:endParaRPr lang="en-US" sz="1400" b="1" i="1" dirty="0">
              <a:solidFill>
                <a:schemeClr val="tx1"/>
              </a:solidFill>
            </a:endParaRPr>
          </a:p>
          <a:p>
            <a:pPr marL="0" indent="0" algn="ctr">
              <a:buFont typeface="Wingdings 3" charset="2"/>
              <a:buNone/>
            </a:pPr>
            <a:endParaRPr lang="en-US" sz="1400" b="1" i="1" dirty="0">
              <a:solidFill>
                <a:schemeClr val="tx1"/>
              </a:solidFill>
            </a:endParaRPr>
          </a:p>
        </p:txBody>
      </p:sp>
      <p:sp>
        <p:nvSpPr>
          <p:cNvPr id="15" name="Freeform: Shape 14">
            <a:extLst>
              <a:ext uri="{FF2B5EF4-FFF2-40B4-BE49-F238E27FC236}">
                <a16:creationId xmlns:a16="http://schemas.microsoft.com/office/drawing/2014/main" id="{97606F36-0196-4BE6-BC02-B94620F4E649}"/>
              </a:ext>
            </a:extLst>
          </p:cNvPr>
          <p:cNvSpPr/>
          <p:nvPr/>
        </p:nvSpPr>
        <p:spPr>
          <a:xfrm>
            <a:off x="7429580" y="4202712"/>
            <a:ext cx="1200324" cy="535285"/>
          </a:xfrm>
          <a:custGeom>
            <a:avLst/>
            <a:gdLst/>
            <a:ahLst/>
            <a:cxnLst/>
            <a:rect l="0" t="0" r="0" b="0"/>
            <a:pathLst>
              <a:path>
                <a:moveTo>
                  <a:pt x="0" y="0"/>
                </a:moveTo>
                <a:lnTo>
                  <a:pt x="0" y="319112"/>
                </a:lnTo>
                <a:lnTo>
                  <a:pt x="1200324" y="319112"/>
                </a:lnTo>
                <a:lnTo>
                  <a:pt x="1200324" y="535285"/>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sp>
      <p:sp>
        <p:nvSpPr>
          <p:cNvPr id="16" name="Freeform: Shape 15">
            <a:extLst>
              <a:ext uri="{FF2B5EF4-FFF2-40B4-BE49-F238E27FC236}">
                <a16:creationId xmlns:a16="http://schemas.microsoft.com/office/drawing/2014/main" id="{521E1A52-1CFB-4115-88AC-830D9BCB9AC3}"/>
              </a:ext>
            </a:extLst>
          </p:cNvPr>
          <p:cNvSpPr/>
          <p:nvPr/>
        </p:nvSpPr>
        <p:spPr>
          <a:xfrm>
            <a:off x="6229255" y="4202712"/>
            <a:ext cx="1200324" cy="535285"/>
          </a:xfrm>
          <a:custGeom>
            <a:avLst/>
            <a:gdLst/>
            <a:ahLst/>
            <a:cxnLst/>
            <a:rect l="0" t="0" r="0" b="0"/>
            <a:pathLst>
              <a:path>
                <a:moveTo>
                  <a:pt x="1200324" y="0"/>
                </a:moveTo>
                <a:lnTo>
                  <a:pt x="1200324" y="319112"/>
                </a:lnTo>
                <a:lnTo>
                  <a:pt x="0" y="319112"/>
                </a:lnTo>
                <a:lnTo>
                  <a:pt x="0" y="535285"/>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sp>
      <p:sp>
        <p:nvSpPr>
          <p:cNvPr id="17" name="Rectangle: Rounded Corners 16">
            <a:extLst>
              <a:ext uri="{FF2B5EF4-FFF2-40B4-BE49-F238E27FC236}">
                <a16:creationId xmlns:a16="http://schemas.microsoft.com/office/drawing/2014/main" id="{C879F8A6-6760-4E93-AE89-1F41E7EB3711}"/>
              </a:ext>
            </a:extLst>
          </p:cNvPr>
          <p:cNvSpPr/>
          <p:nvPr/>
        </p:nvSpPr>
        <p:spPr>
          <a:xfrm>
            <a:off x="5167312" y="4735646"/>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8" name="Freeform: Shape 17">
            <a:extLst>
              <a:ext uri="{FF2B5EF4-FFF2-40B4-BE49-F238E27FC236}">
                <a16:creationId xmlns:a16="http://schemas.microsoft.com/office/drawing/2014/main" id="{A4DABDBB-27D0-42A5-A1CA-31265BCFD0B6}"/>
              </a:ext>
            </a:extLst>
          </p:cNvPr>
          <p:cNvSpPr/>
          <p:nvPr/>
        </p:nvSpPr>
        <p:spPr>
          <a:xfrm>
            <a:off x="5399484" y="4956210"/>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4</a:t>
            </a:r>
          </a:p>
          <a:p>
            <a:r>
              <a:rPr lang="en-US" sz="1600" b="1" i="1" dirty="0">
                <a:solidFill>
                  <a:schemeClr val="tx1"/>
                </a:solidFill>
              </a:rPr>
              <a:t>No Feasible Solution</a:t>
            </a:r>
          </a:p>
        </p:txBody>
      </p:sp>
      <p:sp>
        <p:nvSpPr>
          <p:cNvPr id="19" name="Rectangle: Rounded Corners 18">
            <a:extLst>
              <a:ext uri="{FF2B5EF4-FFF2-40B4-BE49-F238E27FC236}">
                <a16:creationId xmlns:a16="http://schemas.microsoft.com/office/drawing/2014/main" id="{785F1BF5-598F-43DF-8245-F8622E85923D}"/>
              </a:ext>
            </a:extLst>
          </p:cNvPr>
          <p:cNvSpPr/>
          <p:nvPr/>
        </p:nvSpPr>
        <p:spPr>
          <a:xfrm>
            <a:off x="7745725" y="4767285"/>
            <a:ext cx="2089546" cy="1326862"/>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21" name="Freeform: Shape 20">
            <a:extLst>
              <a:ext uri="{FF2B5EF4-FFF2-40B4-BE49-F238E27FC236}">
                <a16:creationId xmlns:a16="http://schemas.microsoft.com/office/drawing/2014/main" id="{4BCF3BE7-3D0E-404C-B8B2-97BA36A8B1FF}"/>
              </a:ext>
            </a:extLst>
          </p:cNvPr>
          <p:cNvSpPr/>
          <p:nvPr/>
        </p:nvSpPr>
        <p:spPr>
          <a:xfrm>
            <a:off x="7977897" y="4987849"/>
            <a:ext cx="2089546" cy="1326862"/>
          </a:xfrm>
          <a:custGeom>
            <a:avLst/>
            <a:gdLst>
              <a:gd name="connsiteX0" fmla="*/ 0 w 2089546"/>
              <a:gd name="connsiteY0" fmla="*/ 132686 h 1326862"/>
              <a:gd name="connsiteX1" fmla="*/ 132686 w 2089546"/>
              <a:gd name="connsiteY1" fmla="*/ 0 h 1326862"/>
              <a:gd name="connsiteX2" fmla="*/ 1956860 w 2089546"/>
              <a:gd name="connsiteY2" fmla="*/ 0 h 1326862"/>
              <a:gd name="connsiteX3" fmla="*/ 2089546 w 2089546"/>
              <a:gd name="connsiteY3" fmla="*/ 132686 h 1326862"/>
              <a:gd name="connsiteX4" fmla="*/ 2089546 w 2089546"/>
              <a:gd name="connsiteY4" fmla="*/ 1194176 h 1326862"/>
              <a:gd name="connsiteX5" fmla="*/ 1956860 w 2089546"/>
              <a:gd name="connsiteY5" fmla="*/ 1326862 h 1326862"/>
              <a:gd name="connsiteX6" fmla="*/ 132686 w 2089546"/>
              <a:gd name="connsiteY6" fmla="*/ 1326862 h 1326862"/>
              <a:gd name="connsiteX7" fmla="*/ 0 w 2089546"/>
              <a:gd name="connsiteY7" fmla="*/ 1194176 h 1326862"/>
              <a:gd name="connsiteX8" fmla="*/ 0 w 2089546"/>
              <a:gd name="connsiteY8" fmla="*/ 132686 h 132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9546" h="1326862">
                <a:moveTo>
                  <a:pt x="0" y="132686"/>
                </a:moveTo>
                <a:cubicBezTo>
                  <a:pt x="0" y="59406"/>
                  <a:pt x="59406" y="0"/>
                  <a:pt x="132686" y="0"/>
                </a:cubicBezTo>
                <a:lnTo>
                  <a:pt x="1956860" y="0"/>
                </a:lnTo>
                <a:cubicBezTo>
                  <a:pt x="2030140" y="0"/>
                  <a:pt x="2089546" y="59406"/>
                  <a:pt x="2089546" y="132686"/>
                </a:cubicBezTo>
                <a:lnTo>
                  <a:pt x="2089546" y="1194176"/>
                </a:lnTo>
                <a:cubicBezTo>
                  <a:pt x="2089546" y="1267456"/>
                  <a:pt x="2030140" y="1326862"/>
                  <a:pt x="1956860" y="1326862"/>
                </a:cubicBezTo>
                <a:lnTo>
                  <a:pt x="132686" y="1326862"/>
                </a:lnTo>
                <a:cubicBezTo>
                  <a:pt x="59406" y="1326862"/>
                  <a:pt x="0" y="1267456"/>
                  <a:pt x="0" y="1194176"/>
                </a:cubicBezTo>
                <a:lnTo>
                  <a:pt x="0" y="132686"/>
                </a:lnTo>
                <a:close/>
              </a:path>
            </a:pathLst>
          </a:custGeom>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3652" tIns="263652" rIns="263652" bIns="263652" numCol="1" spcCol="1270" anchor="ctr" anchorCtr="0">
            <a:noAutofit/>
          </a:bodyPr>
          <a:lstStyle/>
          <a:p>
            <a:r>
              <a:rPr lang="en-US" sz="1600" b="1" i="1" dirty="0">
                <a:solidFill>
                  <a:schemeClr val="tx1"/>
                </a:solidFill>
              </a:rPr>
              <a:t>Solution of </a:t>
            </a:r>
            <a:r>
              <a:rPr lang="en-US" sz="1600" b="1" i="1" dirty="0">
                <a:solidFill>
                  <a:srgbClr val="00B0F0"/>
                </a:solidFill>
              </a:rPr>
              <a:t>SUB PROBLEM 5</a:t>
            </a:r>
          </a:p>
          <a:p>
            <a:r>
              <a:rPr lang="en-US" sz="1600" b="1" i="1" dirty="0">
                <a:solidFill>
                  <a:schemeClr val="tx1"/>
                </a:solidFill>
              </a:rPr>
              <a:t>x1= 4 </a:t>
            </a:r>
          </a:p>
          <a:p>
            <a:r>
              <a:rPr lang="en-US" sz="1600" b="1" i="1" dirty="0">
                <a:solidFill>
                  <a:schemeClr val="tx1"/>
                </a:solidFill>
              </a:rPr>
              <a:t>x2 = 3 </a:t>
            </a:r>
          </a:p>
          <a:p>
            <a:r>
              <a:rPr lang="en-US" sz="1600" b="1" i="1" dirty="0">
                <a:solidFill>
                  <a:schemeClr val="tx1"/>
                </a:solidFill>
              </a:rPr>
              <a:t>Z = 55</a:t>
            </a:r>
          </a:p>
        </p:txBody>
      </p:sp>
      <p:sp>
        <p:nvSpPr>
          <p:cNvPr id="2" name="Oval 1">
            <a:extLst>
              <a:ext uri="{FF2B5EF4-FFF2-40B4-BE49-F238E27FC236}">
                <a16:creationId xmlns:a16="http://schemas.microsoft.com/office/drawing/2014/main" id="{59D068DF-D6B2-4D1F-BA59-C540E394A503}"/>
              </a:ext>
            </a:extLst>
          </p:cNvPr>
          <p:cNvSpPr/>
          <p:nvPr/>
        </p:nvSpPr>
        <p:spPr>
          <a:xfrm>
            <a:off x="7877036" y="4735645"/>
            <a:ext cx="2217932" cy="1866243"/>
          </a:xfrm>
          <a:prstGeom prst="ellipse">
            <a:avLst/>
          </a:prstGeom>
          <a:noFill/>
          <a:ln w="571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5082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4" name="Picture 3">
            <a:extLst>
              <a:ext uri="{FF2B5EF4-FFF2-40B4-BE49-F238E27FC236}">
                <a16:creationId xmlns:a16="http://schemas.microsoft.com/office/drawing/2014/main" id="{0566188A-4CC9-4D67-AC82-F34B93182A45}"/>
              </a:ext>
            </a:extLst>
          </p:cNvPr>
          <p:cNvPicPr>
            <a:picLocks noChangeAspect="1"/>
          </p:cNvPicPr>
          <p:nvPr/>
        </p:nvPicPr>
        <p:blipFill>
          <a:blip r:embed="rId2"/>
          <a:stretch>
            <a:fillRect/>
          </a:stretch>
        </p:blipFill>
        <p:spPr>
          <a:xfrm rot="21164964">
            <a:off x="1888892" y="1550080"/>
            <a:ext cx="7478946" cy="3402920"/>
          </a:xfrm>
          <a:prstGeom prst="rect">
            <a:avLst/>
          </a:prstGeom>
        </p:spPr>
      </p:pic>
    </p:spTree>
    <p:extLst>
      <p:ext uri="{BB962C8B-B14F-4D97-AF65-F5344CB8AC3E}">
        <p14:creationId xmlns:p14="http://schemas.microsoft.com/office/powerpoint/2010/main" val="8600584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E71CFA69A98247845C383A00253C40" ma:contentTypeVersion="2" ma:contentTypeDescription="Create a new document." ma:contentTypeScope="" ma:versionID="f72964e7bbe5712c818c7fedd9512191">
  <xsd:schema xmlns:xsd="http://www.w3.org/2001/XMLSchema" xmlns:xs="http://www.w3.org/2001/XMLSchema" xmlns:p="http://schemas.microsoft.com/office/2006/metadata/properties" xmlns:ns2="df63d6c3-3097-4dac-9e01-3e35a00a78b2" targetNamespace="http://schemas.microsoft.com/office/2006/metadata/properties" ma:root="true" ma:fieldsID="ddd1b32bd9dd0fd619750b9a6d7097df" ns2:_="">
    <xsd:import namespace="df63d6c3-3097-4dac-9e01-3e35a00a78b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3d6c3-3097-4dac-9e01-3e35a00a78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41DCF24-1BEA-4624-83BD-764CC08EE58D}"/>
</file>

<file path=customXml/itemProps2.xml><?xml version="1.0" encoding="utf-8"?>
<ds:datastoreItem xmlns:ds="http://schemas.openxmlformats.org/officeDocument/2006/customXml" ds:itemID="{D49B4571-F518-4CA4-A21B-7C6768939004}"/>
</file>

<file path=customXml/itemProps3.xml><?xml version="1.0" encoding="utf-8"?>
<ds:datastoreItem xmlns:ds="http://schemas.openxmlformats.org/officeDocument/2006/customXml" ds:itemID="{B200F3D7-EFF3-46A6-A41D-68BAFD962730}"/>
</file>

<file path=docProps/app.xml><?xml version="1.0" encoding="utf-8"?>
<Properties xmlns="http://schemas.openxmlformats.org/officeDocument/2006/extended-properties" xmlns:vt="http://schemas.openxmlformats.org/officeDocument/2006/docPropsVTypes">
  <TotalTime>41</TotalTime>
  <Words>4461</Words>
  <Application>Microsoft Office PowerPoint</Application>
  <PresentationFormat>Widescreen</PresentationFormat>
  <Paragraphs>764</Paragraphs>
  <Slides>46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Trebuchet MS</vt:lpstr>
      <vt:lpstr>Wingdings 3</vt:lpstr>
      <vt:lpstr>Facet</vt:lpstr>
      <vt:lpstr>OPERATIONAL RESEARCH</vt:lpstr>
      <vt:lpstr>Integer Programming Problem</vt:lpstr>
      <vt:lpstr>Types of Integer Programming Problems</vt:lpstr>
      <vt:lpstr>Example – Pure Integer Problem</vt:lpstr>
      <vt:lpstr>Formulate</vt:lpstr>
      <vt:lpstr>Methods to Solve the IPP</vt:lpstr>
      <vt:lpstr>Gomory’s Cutting Plane Method</vt:lpstr>
      <vt:lpstr>Gomory’s Cutting Plane Method - Steps</vt:lpstr>
      <vt:lpstr>Gomory’s Cutting Plane Method - Example</vt:lpstr>
      <vt:lpstr>Gomory’s Cutting Plane Method - Steps</vt:lpstr>
      <vt:lpstr>Develop Simplex Table 1</vt:lpstr>
      <vt:lpstr>Develop Simplex Table 2</vt:lpstr>
      <vt:lpstr>Develop Simplex Table 3</vt:lpstr>
      <vt:lpstr>Gomory’s Cutting Plane Method - Steps</vt:lpstr>
      <vt:lpstr>Step 4 </vt:lpstr>
      <vt:lpstr>Gomory’s Cutting Plane Method - Steps</vt:lpstr>
      <vt:lpstr>PowerPoint Presentation</vt:lpstr>
      <vt:lpstr>PowerPoint Presentation</vt:lpstr>
      <vt:lpstr>Gomory’s Cutting Plane Method - Steps</vt:lpstr>
      <vt:lpstr>PowerPoint Presentation</vt:lpstr>
      <vt:lpstr>PowerPoint Presentation</vt:lpstr>
      <vt:lpstr>Develop Simplex Table 4 – With Gomory Equation</vt:lpstr>
      <vt:lpstr>PowerPoint Presentation</vt:lpstr>
      <vt:lpstr>Develop Simplex Table 5 – DUAL SIMPLEX</vt:lpstr>
      <vt:lpstr>Develop Simplex Table 6 – DUAL SIMPLEX</vt:lpstr>
      <vt:lpstr>Gomory’s Cutting Plane Method - Steps</vt:lpstr>
      <vt:lpstr>Branch and Bound Method</vt:lpstr>
      <vt:lpstr>Branch and Bound Method</vt:lpstr>
      <vt:lpstr>Branch and Bound Example</vt:lpstr>
      <vt:lpstr>Branch and Bound Example – Sub Problem 1</vt:lpstr>
      <vt:lpstr>Branch and Bound Example – Sub Problem 1 </vt:lpstr>
      <vt:lpstr>Branch and Bound Example – Sub Problem 1</vt:lpstr>
      <vt:lpstr>Tree Diagram of IPP</vt:lpstr>
      <vt:lpstr>Branch and Bound Example – Sub Problem 1</vt:lpstr>
      <vt:lpstr>Branch and Bound Example – Sub Problem 1</vt:lpstr>
      <vt:lpstr>Branch and Bound Example – Sub Problem 2</vt:lpstr>
      <vt:lpstr>Tree Diagram of IPP</vt:lpstr>
      <vt:lpstr>Branch and Bound Example – Sub Problem 3</vt:lpstr>
      <vt:lpstr>Branch and Bound Example – Sub Problem 3</vt:lpstr>
      <vt:lpstr>Tree Diagram of IPP</vt:lpstr>
      <vt:lpstr>Branch and Bound Example – Sub Problem 3</vt:lpstr>
      <vt:lpstr>Branch and Bound Example – Sub Problem 4</vt:lpstr>
      <vt:lpstr>Tree Diagram of IPP</vt:lpstr>
      <vt:lpstr>Branch and Bound Example – Sub Problem 5</vt:lpstr>
      <vt:lpstr>Tree Diagram of IPP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Umesh Zemse</dc:creator>
  <cp:lastModifiedBy>Umesh Zemse</cp:lastModifiedBy>
  <cp:revision>1</cp:revision>
  <dcterms:created xsi:type="dcterms:W3CDTF">2020-09-04T13:52:56Z</dcterms:created>
  <dcterms:modified xsi:type="dcterms:W3CDTF">2020-09-05T04:02:07Z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0x0101008BE71CFA69A98247845C383A00253C40</vt:lpwstr>
  </property>
  <property fmtid="{D5CDD505-2E9C-101B-9397-08002B2CF9AE}" pid="3" name="Order">
    <vt:r8>1593200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ies>
</file>